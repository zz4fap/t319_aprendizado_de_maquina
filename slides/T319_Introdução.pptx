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handoutMasterIdLst>
    <p:handoutMasterId r:id="rId51"/>
  </p:handoutMasterIdLst>
  <p:sldIdLst>
    <p:sldId id="256" r:id="rId2"/>
    <p:sldId id="314" r:id="rId3"/>
    <p:sldId id="325" r:id="rId4"/>
    <p:sldId id="257" r:id="rId5"/>
    <p:sldId id="335" r:id="rId6"/>
    <p:sldId id="430" r:id="rId7"/>
    <p:sldId id="264" r:id="rId8"/>
    <p:sldId id="358" r:id="rId9"/>
    <p:sldId id="357" r:id="rId10"/>
    <p:sldId id="425" r:id="rId11"/>
    <p:sldId id="359" r:id="rId12"/>
    <p:sldId id="340" r:id="rId13"/>
    <p:sldId id="360" r:id="rId14"/>
    <p:sldId id="431" r:id="rId15"/>
    <p:sldId id="361" r:id="rId16"/>
    <p:sldId id="362" r:id="rId17"/>
    <p:sldId id="367" r:id="rId18"/>
    <p:sldId id="364" r:id="rId19"/>
    <p:sldId id="426" r:id="rId20"/>
    <p:sldId id="409" r:id="rId21"/>
    <p:sldId id="427" r:id="rId22"/>
    <p:sldId id="328" r:id="rId23"/>
    <p:sldId id="412" r:id="rId24"/>
    <p:sldId id="411" r:id="rId25"/>
    <p:sldId id="343" r:id="rId26"/>
    <p:sldId id="349" r:id="rId27"/>
    <p:sldId id="275" r:id="rId28"/>
    <p:sldId id="350" r:id="rId29"/>
    <p:sldId id="414" r:id="rId30"/>
    <p:sldId id="351" r:id="rId31"/>
    <p:sldId id="417" r:id="rId32"/>
    <p:sldId id="352" r:id="rId33"/>
    <p:sldId id="419" r:id="rId34"/>
    <p:sldId id="354" r:id="rId35"/>
    <p:sldId id="309" r:id="rId36"/>
    <p:sldId id="422" r:id="rId37"/>
    <p:sldId id="424" r:id="rId38"/>
    <p:sldId id="413" r:id="rId39"/>
    <p:sldId id="298" r:id="rId40"/>
    <p:sldId id="363" r:id="rId41"/>
    <p:sldId id="324" r:id="rId42"/>
    <p:sldId id="306" r:id="rId43"/>
    <p:sldId id="305" r:id="rId44"/>
    <p:sldId id="299" r:id="rId45"/>
    <p:sldId id="304" r:id="rId46"/>
    <p:sldId id="338" r:id="rId47"/>
    <p:sldId id="420" r:id="rId48"/>
    <p:sldId id="421" r:id="rId49"/>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68" autoAdjust="0"/>
    <p:restoredTop sz="84746" autoAdjust="0"/>
  </p:normalViewPr>
  <p:slideViewPr>
    <p:cSldViewPr snapToGrid="0">
      <p:cViewPr varScale="1">
        <p:scale>
          <a:sx n="96" d="100"/>
          <a:sy n="96" d="100"/>
        </p:scale>
        <p:origin x="1188" y="84"/>
      </p:cViewPr>
      <p:guideLst/>
    </p:cSldViewPr>
  </p:slideViewPr>
  <p:outlineViewPr>
    <p:cViewPr>
      <p:scale>
        <a:sx n="33" d="100"/>
        <a:sy n="33" d="100"/>
      </p:scale>
      <p:origin x="0" y="-6714"/>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31/07/2026</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‹nº›</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31/07/2026</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‹nº›</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arxiv.org/ftp/arxiv/papers/1909/1909.11315.pdf"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imdb.com/title/tt0084787/"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www.imdb.com/title/tt0182789/"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www.imdb.com/title/tt0084787/"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www.imdb.com/title/tt0182789/"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cartacampinas.com.br/2020/04/faculdade-particular-usa-robo-para-corrigir-provas-e-dar-nota-aos-alunos/"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www.correiobraziliense.com.br/app/noticia/ciencia-e-saude/2020/08/04/interna_ciencia_saude,878353/inteligencia-artificial-ajuda-em-diagnostico-da-covid-19-no-brasil.shtml" TargetMode="External"/><Relationship Id="rId5" Type="http://schemas.openxmlformats.org/officeDocument/2006/relationships/hyperlink" Target="https://eos.org/opinions/artificial-intelligence-may-be-key-to-better-weather-forecasts" TargetMode="External"/><Relationship Id="rId4" Type="http://schemas.openxmlformats.org/officeDocument/2006/relationships/hyperlink" Target="https://www.ibm.com/analytics/fraud-prediction"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rive.google.com/drive/folders/1IyIIMu1w6POBhrVnw11yqXXy6BjC439j?usp=sharing"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3</a:t>
            </a:fld>
            <a:endParaRPr lang="pt-BR"/>
          </a:p>
        </p:txBody>
      </p:sp>
    </p:spTree>
    <p:extLst>
      <p:ext uri="{BB962C8B-B14F-4D97-AF65-F5344CB8AC3E}">
        <p14:creationId xmlns:p14="http://schemas.microsoft.com/office/powerpoint/2010/main" val="4211426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a:t>
            </a:fld>
            <a:endParaRPr lang="pt-BR"/>
          </a:p>
        </p:txBody>
      </p:sp>
    </p:spTree>
    <p:extLst>
      <p:ext uri="{BB962C8B-B14F-4D97-AF65-F5344CB8AC3E}">
        <p14:creationId xmlns:p14="http://schemas.microsoft.com/office/powerpoint/2010/main" val="4155676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defTabSz="1686336">
              <a:defRPr/>
            </a:pPr>
            <a:r>
              <a:rPr lang="pt-BR" b="1" dirty="0"/>
              <a:t>P</a:t>
            </a:r>
            <a:r>
              <a:rPr lang="pt-BR" b="1" i="0" dirty="0">
                <a:effectLst/>
              </a:rPr>
              <a:t>rocessar grandes volumes de dados para extração de </a:t>
            </a:r>
            <a:r>
              <a:rPr lang="pt-BR" b="1" i="1" dirty="0">
                <a:effectLst/>
              </a:rPr>
              <a:t>insights</a:t>
            </a:r>
            <a:endParaRPr lang="pt-BR" b="1" dirty="0"/>
          </a:p>
          <a:p>
            <a:pPr defTabSz="1686336">
              <a:defRPr/>
            </a:pPr>
            <a:r>
              <a:rPr lang="pt-BR" dirty="0"/>
              <a:t>A utilização de IA para processar grandes volumes de dados tem como objetivo identificar padrões, tendências ou relações ocultas nos dados. Esse processo vai além da capacidade humana de análise manual, permitindo que a IA descubra insights significativos de forma mais rápida e precisa. Ao extrair insights dos dados, as organizações podem obter informações estratégicas para tomada de decisões informadas. Isso inclui identificar oportunidades de mercado, compreender o comportamento do cliente, otimizar processos operacionais e antecipar tendências futuras.</a:t>
            </a:r>
            <a:endParaRPr lang="pt-BR" b="0" i="0" dirty="0">
              <a:solidFill>
                <a:srgbClr val="0D0D0D"/>
              </a:solidFill>
              <a:effectLst/>
              <a:latin typeface="Söhne"/>
            </a:endParaRPr>
          </a:p>
          <a:p>
            <a:pPr defTabSz="1686336">
              <a:defRPr/>
            </a:pPr>
            <a:endParaRPr lang="pt-BR" b="0" i="0" dirty="0">
              <a:solidFill>
                <a:srgbClr val="0D0D0D"/>
              </a:solidFill>
              <a:effectLst/>
              <a:latin typeface="Söhne"/>
            </a:endParaRPr>
          </a:p>
          <a:p>
            <a:pPr marL="0" marR="0" lvl="0" indent="0" algn="l" defTabSz="1686336" rtl="0" eaLnBrk="1" fontAlgn="auto" latinLnBrk="0" hangingPunct="1">
              <a:lnSpc>
                <a:spcPct val="100000"/>
              </a:lnSpc>
              <a:spcBef>
                <a:spcPts val="0"/>
              </a:spcBef>
              <a:spcAft>
                <a:spcPts val="0"/>
              </a:spcAft>
              <a:buClrTx/>
              <a:buSzTx/>
              <a:buFontTx/>
              <a:buNone/>
              <a:tabLst/>
              <a:defRPr/>
            </a:pPr>
            <a:r>
              <a:rPr lang="pt-BR" b="1" i="0" dirty="0">
                <a:effectLst/>
              </a:rPr>
              <a:t>Criar experiências personalizadas para seus clientes</a:t>
            </a:r>
            <a:endParaRPr lang="pt-BR" b="1" i="0" dirty="0">
              <a:solidFill>
                <a:srgbClr val="0D0D0D"/>
              </a:solidFill>
              <a:effectLst/>
              <a:latin typeface="Söhne"/>
            </a:endParaRPr>
          </a:p>
          <a:p>
            <a:pPr defTabSz="1686336">
              <a:defRPr/>
            </a:pPr>
            <a:r>
              <a:rPr lang="pt-BR" b="0" i="0" dirty="0">
                <a:solidFill>
                  <a:srgbClr val="0D0D0D"/>
                </a:solidFill>
                <a:effectLst/>
                <a:latin typeface="Söhne"/>
              </a:rPr>
              <a:t>Ao empregar IA para criar experiências personalizadas, as empresas podem analisar dados sobre o comportamento, preferências e histórico de compra de cada cliente. </a:t>
            </a:r>
          </a:p>
          <a:p>
            <a:pPr defTabSz="1686336">
              <a:defRPr/>
            </a:pPr>
            <a:r>
              <a:rPr lang="pt-BR" b="0" i="0" dirty="0">
                <a:solidFill>
                  <a:srgbClr val="0D0D0D"/>
                </a:solidFill>
                <a:effectLst/>
                <a:latin typeface="Söhne"/>
              </a:rPr>
              <a:t>Com base nessa análise, a IA pode recomendar produtos ou serviços específicos, personalizar ofertas, ajustar interfaces de usuário e adaptar interações em tempo real. Isso resulta em uma experiência mais relevante e agradável para o cliente, aumentando a satisfação e fortalecendo o relacionamento entre a empresa e seus consumidores.</a:t>
            </a:r>
          </a:p>
          <a:p>
            <a:pPr defTabSz="1686336">
              <a:defRPr/>
            </a:pPr>
            <a:r>
              <a:rPr lang="pt-BR" b="0" i="0" dirty="0">
                <a:solidFill>
                  <a:srgbClr val="0D0D0D"/>
                </a:solidFill>
                <a:effectLst/>
                <a:latin typeface="Söhne"/>
              </a:rPr>
              <a:t>Por exemplo, Netflix faz recomendações de files e séries. A Amazon de produtos que você pode gostar.</a:t>
            </a:r>
            <a:endParaRPr lang="en-US" sz="1200" b="0" i="0" kern="1200" dirty="0">
              <a:solidFill>
                <a:schemeClr val="tx1"/>
              </a:solidFill>
              <a:effectLst/>
              <a:latin typeface="+mn-lt"/>
              <a:ea typeface="+mn-ea"/>
              <a:cs typeface="+mn-cs"/>
            </a:endParaRP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7</a:t>
            </a:fld>
            <a:endParaRPr lang="pt-BR"/>
          </a:p>
        </p:txBody>
      </p:sp>
    </p:spTree>
    <p:extLst>
      <p:ext uri="{BB962C8B-B14F-4D97-AF65-F5344CB8AC3E}">
        <p14:creationId xmlns:p14="http://schemas.microsoft.com/office/powerpoint/2010/main" val="3404677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A inteligência artificial (IA) está se tornando cada vez mais presente em diversos setores da economia, o que está abrindo oportunidades em várias profissões relacionadas. Algumas das principais profissões que trabalham com IA incluem:</a:t>
            </a:r>
          </a:p>
          <a:p>
            <a:pPr algn="l">
              <a:buFont typeface="+mj-lt"/>
              <a:buAutoNum type="arabicPeriod"/>
            </a:pPr>
            <a:r>
              <a:rPr lang="pt-BR" b="0" i="0" dirty="0">
                <a:solidFill>
                  <a:srgbClr val="374151"/>
                </a:solidFill>
                <a:effectLst/>
                <a:latin typeface="Söhne"/>
              </a:rPr>
              <a:t>Cientista de Dados: Responsável por coletar, analisar e interpretar grandes volumes de dados para desenvolver modelos e algoritmos de IA.</a:t>
            </a:r>
          </a:p>
          <a:p>
            <a:pPr algn="l">
              <a:buFont typeface="+mj-lt"/>
              <a:buAutoNum type="arabicPeriod"/>
            </a:pPr>
            <a:r>
              <a:rPr lang="pt-BR" b="0" i="0" dirty="0">
                <a:solidFill>
                  <a:srgbClr val="374151"/>
                </a:solidFill>
                <a:effectLst/>
                <a:latin typeface="Söhne"/>
              </a:rPr>
              <a:t>Engenheiro de </a:t>
            </a:r>
            <a:r>
              <a:rPr lang="pt-BR" b="0" i="0" dirty="0" err="1">
                <a:solidFill>
                  <a:srgbClr val="374151"/>
                </a:solidFill>
                <a:effectLst/>
                <a:latin typeface="Söhne"/>
              </a:rPr>
              <a:t>Machine</a:t>
            </a:r>
            <a:r>
              <a:rPr lang="pt-BR" b="0" i="0" dirty="0">
                <a:solidFill>
                  <a:srgbClr val="374151"/>
                </a:solidFill>
                <a:effectLst/>
                <a:latin typeface="Söhne"/>
              </a:rPr>
              <a:t> Learning: Desenvolve algoritmos e sistemas de aprendizado de máquina para capacitar a IA a aprender e tomar decisões.</a:t>
            </a:r>
          </a:p>
          <a:p>
            <a:pPr algn="l">
              <a:buFont typeface="+mj-lt"/>
              <a:buAutoNum type="arabicPeriod"/>
            </a:pPr>
            <a:r>
              <a:rPr lang="pt-BR" b="0" i="0" dirty="0">
                <a:solidFill>
                  <a:srgbClr val="374151"/>
                </a:solidFill>
                <a:effectLst/>
                <a:latin typeface="Söhne"/>
              </a:rPr>
              <a:t>Desenvolvedor de IA: Cria e implementa sistemas e aplicativos que utilizam tecnologias de IA.</a:t>
            </a:r>
          </a:p>
          <a:p>
            <a:pPr algn="l">
              <a:buFont typeface="+mj-lt"/>
              <a:buAutoNum type="arabicPeriod"/>
            </a:pPr>
            <a:r>
              <a:rPr lang="pt-BR" b="0" i="0" dirty="0">
                <a:solidFill>
                  <a:srgbClr val="374151"/>
                </a:solidFill>
                <a:effectLst/>
                <a:latin typeface="Söhne"/>
              </a:rPr>
              <a:t>Pesquisador em IA: Realiza pesquisas para avançar o conhecimento em inteligência artificial e desenvolver novos conceitos e técnicas.</a:t>
            </a:r>
          </a:p>
          <a:p>
            <a:pPr algn="l">
              <a:buFont typeface="+mj-lt"/>
              <a:buAutoNum type="arabicPeriod"/>
            </a:pPr>
            <a:r>
              <a:rPr lang="pt-BR" b="0" i="0" dirty="0">
                <a:solidFill>
                  <a:srgbClr val="374151"/>
                </a:solidFill>
                <a:effectLst/>
                <a:latin typeface="Söhne"/>
              </a:rPr>
              <a:t>Especialista em Processamento de Linguagem Natural (NLP): Trabalha no desenvolvimento de sistemas capazes de entender, interpretar e responder a linguagem humana de forma natural.</a:t>
            </a:r>
          </a:p>
          <a:p>
            <a:pPr algn="l">
              <a:buFont typeface="+mj-lt"/>
              <a:buAutoNum type="arabicPeriod"/>
            </a:pPr>
            <a:r>
              <a:rPr lang="pt-BR" b="0" i="0" dirty="0">
                <a:solidFill>
                  <a:srgbClr val="374151"/>
                </a:solidFill>
                <a:effectLst/>
                <a:latin typeface="Söhne"/>
              </a:rPr>
              <a:t>Engenheiro de Visão Computacional: Desenvolve sistemas que permitem que as máquinas "vejam" e compreendam imagens e vídeos.</a:t>
            </a:r>
          </a:p>
          <a:p>
            <a:pPr algn="l">
              <a:buFont typeface="+mj-lt"/>
              <a:buAutoNum type="arabicPeriod"/>
            </a:pPr>
            <a:r>
              <a:rPr lang="pt-BR" b="0" i="0" dirty="0">
                <a:solidFill>
                  <a:srgbClr val="374151"/>
                </a:solidFill>
                <a:effectLst/>
                <a:latin typeface="Söhne"/>
              </a:rPr>
              <a:t>Analista de Dados: Responsável por coletar, limpar e organizar dados para utilização em projetos de IA.</a:t>
            </a:r>
          </a:p>
          <a:p>
            <a:pPr algn="l">
              <a:buFont typeface="+mj-lt"/>
              <a:buAutoNum type="arabicPeriod"/>
            </a:pPr>
            <a:r>
              <a:rPr lang="pt-BR" b="0" i="0" dirty="0">
                <a:solidFill>
                  <a:srgbClr val="374151"/>
                </a:solidFill>
                <a:effectLst/>
                <a:latin typeface="Söhne"/>
              </a:rPr>
              <a:t>Arquiteto de Dados: Projetista de infraestruturas de dados que apoiam as aplicações de IA.</a:t>
            </a:r>
          </a:p>
          <a:p>
            <a:pPr algn="l">
              <a:buFont typeface="+mj-lt"/>
              <a:buAutoNum type="arabicPeriod"/>
            </a:pPr>
            <a:r>
              <a:rPr lang="pt-BR" b="0" i="0" dirty="0">
                <a:solidFill>
                  <a:srgbClr val="374151"/>
                </a:solidFill>
                <a:effectLst/>
                <a:latin typeface="Söhne"/>
              </a:rPr>
              <a:t>Engenheiro de Robótica: Projeta e desenvolve robôs com capacidades de IA e aprendizado autônomo.</a:t>
            </a:r>
          </a:p>
          <a:p>
            <a:pPr algn="l">
              <a:buFont typeface="+mj-lt"/>
              <a:buAutoNum type="arabicPeriod"/>
            </a:pPr>
            <a:r>
              <a:rPr lang="pt-BR" b="0" i="0" dirty="0">
                <a:solidFill>
                  <a:srgbClr val="374151"/>
                </a:solidFill>
                <a:effectLst/>
                <a:latin typeface="Söhne"/>
              </a:rPr>
              <a:t>Especialista em Ética de IA: Trabalha para garantir que os sistemas de IA sejam desenvolvidos e utilizados de maneira ética e responsável.</a:t>
            </a:r>
          </a:p>
          <a:p>
            <a:pPr algn="l">
              <a:buFont typeface="+mj-lt"/>
              <a:buAutoNum type="arabicPeriod"/>
            </a:pPr>
            <a:r>
              <a:rPr lang="pt-BR" b="0" i="0" dirty="0">
                <a:solidFill>
                  <a:srgbClr val="374151"/>
                </a:solidFill>
                <a:effectLst/>
                <a:latin typeface="Söhne"/>
              </a:rPr>
              <a:t>Especialista em Automação de Processos Robóticos (RPA): Implementa soluções de automação usando IA para otimizar processos de negócios.</a:t>
            </a:r>
          </a:p>
          <a:p>
            <a:pPr algn="l">
              <a:buFont typeface="+mj-lt"/>
              <a:buAutoNum type="arabicPeriod"/>
            </a:pPr>
            <a:r>
              <a:rPr lang="pt-BR" b="0" i="0" dirty="0">
                <a:solidFill>
                  <a:srgbClr val="374151"/>
                </a:solidFill>
                <a:effectLst/>
                <a:latin typeface="Söhne"/>
              </a:rPr>
              <a:t>Especialista em IA para Saúde: Aplica a IA no diagnóstico médico, descoberta de medicamentos e assistência ao paciente.</a:t>
            </a:r>
          </a:p>
          <a:p>
            <a:pPr algn="l">
              <a:buFont typeface="+mj-lt"/>
              <a:buAutoNum type="arabicPeriod"/>
            </a:pPr>
            <a:r>
              <a:rPr lang="pt-BR" b="0" i="0" dirty="0">
                <a:solidFill>
                  <a:srgbClr val="374151"/>
                </a:solidFill>
                <a:effectLst/>
                <a:latin typeface="Söhne"/>
              </a:rPr>
              <a:t>Engenheiro de IA para veículos autônomos: Trabalha na concepção e desenvolvimento de sistemas de IA para veículos sem motorista.</a:t>
            </a:r>
          </a:p>
          <a:p>
            <a:pPr defTabSz="1686336">
              <a:defRPr/>
            </a:pPr>
            <a:endParaRPr lang="en-US" sz="1200" b="0" i="0" kern="1200" dirty="0">
              <a:solidFill>
                <a:schemeClr val="tx1"/>
              </a:solidFill>
              <a:effectLst/>
              <a:latin typeface="+mn-lt"/>
              <a:ea typeface="+mn-ea"/>
              <a:cs typeface="+mn-cs"/>
            </a:endParaRP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8</a:t>
            </a:fld>
            <a:endParaRPr lang="pt-BR"/>
          </a:p>
        </p:txBody>
      </p:sp>
    </p:spTree>
    <p:extLst>
      <p:ext uri="{BB962C8B-B14F-4D97-AF65-F5344CB8AC3E}">
        <p14:creationId xmlns:p14="http://schemas.microsoft.com/office/powerpoint/2010/main" val="113567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defTabSz="1686336">
              <a:defRPr/>
            </a:pPr>
            <a:r>
              <a:rPr lang="pt-BR" sz="1200" b="1" dirty="0"/>
              <a:t>Referências</a:t>
            </a:r>
            <a:r>
              <a:rPr lang="pt-BR" sz="1200" dirty="0"/>
              <a:t>:</a:t>
            </a:r>
          </a:p>
          <a:p>
            <a:pPr defTabSz="1686336">
              <a:defRPr/>
            </a:pPr>
            <a:r>
              <a:rPr lang="pt-BR" sz="1200" dirty="0"/>
              <a:t>[1] Matti Latva-aho ad Kari Leppänen (editors)</a:t>
            </a:r>
            <a:r>
              <a:rPr lang="en-US" sz="1200" dirty="0"/>
              <a:t>, KEY DRIVERS AND RESEARCH CHALLENGES FOR 6G UBIQUITOUS WIRELESS INTELLIGENCE, 6G Flagship, University of Oulu, Oulu,</a:t>
            </a:r>
            <a:r>
              <a:rPr lang="en-US" sz="1200" baseline="0" dirty="0"/>
              <a:t> </a:t>
            </a:r>
            <a:r>
              <a:rPr lang="en-US" sz="1200" baseline="0" dirty="0" err="1"/>
              <a:t>disponível</a:t>
            </a:r>
            <a:r>
              <a:rPr lang="en-US" sz="1200" baseline="0" dirty="0"/>
              <a:t> online </a:t>
            </a:r>
            <a:r>
              <a:rPr lang="en-US" sz="1200" baseline="0" dirty="0" err="1"/>
              <a:t>em</a:t>
            </a:r>
            <a:r>
              <a:rPr lang="en-US" sz="1200" baseline="0" dirty="0"/>
              <a:t>: http://jultika.oulu.fi/files/isbn9789526223544.pdf</a:t>
            </a:r>
          </a:p>
          <a:p>
            <a:pPr marL="0" marR="0" lvl="0" indent="0" algn="l" defTabSz="1686336" rtl="0" eaLnBrk="1" fontAlgn="auto" latinLnBrk="0" hangingPunct="1">
              <a:lnSpc>
                <a:spcPct val="100000"/>
              </a:lnSpc>
              <a:spcBef>
                <a:spcPts val="0"/>
              </a:spcBef>
              <a:spcAft>
                <a:spcPts val="0"/>
              </a:spcAft>
              <a:buClrTx/>
              <a:buSzTx/>
              <a:buFontTx/>
              <a:buNone/>
              <a:tabLst/>
              <a:defRPr/>
            </a:pPr>
            <a:r>
              <a:rPr lang="en-US" sz="1200" baseline="0" dirty="0"/>
              <a:t>[2] </a:t>
            </a:r>
            <a:r>
              <a:rPr lang="pt-BR" sz="1200" dirty="0"/>
              <a:t>Mostafa Zaman Chowdhury, Md. Shahjalal, Shakil Ahmed, Yeong Min Jang, “</a:t>
            </a:r>
            <a:r>
              <a:rPr lang="en-US" sz="1200" b="0" i="0" kern="1200" dirty="0">
                <a:solidFill>
                  <a:schemeClr val="tx1"/>
                </a:solidFill>
                <a:effectLst/>
                <a:latin typeface="+mn-lt"/>
                <a:ea typeface="+mn-ea"/>
                <a:cs typeface="+mn-cs"/>
              </a:rPr>
              <a:t>6G Wireless Communication Systems: Applications, Requirements, Technologies, Challenges, and Research Directions”, </a:t>
            </a:r>
            <a:r>
              <a:rPr lang="pt-BR" sz="1200" dirty="0">
                <a:hlinkClick r:id="rId3"/>
              </a:rPr>
              <a:t>https://arxiv.org/ftp/arxiv/papers/1909/1909.11315.pdf</a:t>
            </a:r>
            <a:endParaRPr lang="en-US" sz="1200" b="0" i="0" kern="1200" dirty="0">
              <a:solidFill>
                <a:schemeClr val="tx1"/>
              </a:solidFill>
              <a:effectLst/>
              <a:latin typeface="+mn-lt"/>
              <a:ea typeface="+mn-ea"/>
              <a:cs typeface="+mn-cs"/>
            </a:endParaRP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9</a:t>
            </a:fld>
            <a:endParaRPr lang="pt-BR"/>
          </a:p>
        </p:txBody>
      </p:sp>
    </p:spTree>
    <p:extLst>
      <p:ext uri="{BB962C8B-B14F-4D97-AF65-F5344CB8AC3E}">
        <p14:creationId xmlns:p14="http://schemas.microsoft.com/office/powerpoint/2010/main" val="1291918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lvl="0">
              <a:buFont typeface="Wingdings" panose="05000000000000000000" pitchFamily="2" charset="2"/>
              <a:buChar char="§"/>
            </a:pPr>
            <a:r>
              <a:rPr lang="pt-BR" b="1" noProof="0" dirty="0"/>
              <a:t>Percepção</a:t>
            </a:r>
            <a:r>
              <a:rPr lang="pt-BR" noProof="0" dirty="0"/>
              <a:t> (visão, audição, olfato, paladar, tato) </a:t>
            </a:r>
          </a:p>
          <a:p>
            <a:pPr lvl="0">
              <a:buFont typeface="Wingdings" panose="05000000000000000000" pitchFamily="2" charset="2"/>
              <a:buChar char="§"/>
            </a:pPr>
            <a:r>
              <a:rPr lang="pt-BR" b="1" noProof="0" dirty="0"/>
              <a:t>Aprendizagem</a:t>
            </a:r>
            <a:r>
              <a:rPr lang="pt-BR" noProof="0" dirty="0"/>
              <a:t> (aprender com experiências) </a:t>
            </a:r>
          </a:p>
          <a:p>
            <a:pPr lvl="0">
              <a:buFont typeface="Wingdings" panose="05000000000000000000" pitchFamily="2" charset="2"/>
              <a:buChar char="§"/>
            </a:pPr>
            <a:r>
              <a:rPr lang="pt-BR" b="1" noProof="0" dirty="0"/>
              <a:t>Raciocínio</a:t>
            </a:r>
            <a:r>
              <a:rPr lang="pt-BR" noProof="0" dirty="0"/>
              <a:t> (resolver problemas) </a:t>
            </a:r>
          </a:p>
          <a:p>
            <a:pPr lvl="0">
              <a:buFont typeface="Wingdings" panose="05000000000000000000" pitchFamily="2" charset="2"/>
              <a:buChar char="§"/>
            </a:pPr>
            <a:r>
              <a:rPr lang="pt-BR" b="1" noProof="0" dirty="0"/>
              <a:t>Planejamento</a:t>
            </a:r>
            <a:r>
              <a:rPr lang="pt-BR" noProof="0" dirty="0"/>
              <a:t> (definir ações para atingir objetivos) </a:t>
            </a:r>
          </a:p>
          <a:p>
            <a:pPr lvl="0">
              <a:buFont typeface="Wingdings" panose="05000000000000000000" pitchFamily="2" charset="2"/>
              <a:buChar char="§"/>
            </a:pPr>
            <a:r>
              <a:rPr lang="pt-BR" b="1" noProof="0" dirty="0"/>
              <a:t>Compreensão e geração de linguagem</a:t>
            </a:r>
            <a:r>
              <a:rPr lang="pt-BR" noProof="0" dirty="0"/>
              <a:t> (ler, escrever, conversar) </a:t>
            </a:r>
          </a:p>
          <a:p>
            <a:pPr lvl="0">
              <a:buFont typeface="Wingdings" panose="05000000000000000000" pitchFamily="2" charset="2"/>
              <a:buChar char="§"/>
            </a:pPr>
            <a:r>
              <a:rPr lang="pt-BR" b="1" noProof="0" dirty="0"/>
              <a:t>Tomada de decisão </a:t>
            </a:r>
            <a:r>
              <a:rPr lang="pt-BR" noProof="0" dirty="0"/>
              <a:t>(escolher a melhor ação)</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11</a:t>
            </a:fld>
            <a:endParaRPr lang="pt-BR"/>
          </a:p>
        </p:txBody>
      </p:sp>
    </p:spTree>
    <p:extLst>
      <p:ext uri="{BB962C8B-B14F-4D97-AF65-F5344CB8AC3E}">
        <p14:creationId xmlns:p14="http://schemas.microsoft.com/office/powerpoint/2010/main" val="3559374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171450" indent="-171450">
              <a:buFont typeface="Arial" panose="020B0604020202020204" pitchFamily="34" charset="0"/>
              <a:buChar char="•"/>
            </a:pPr>
            <a:r>
              <a:rPr lang="pt-BR" sz="1200" b="1" dirty="0"/>
              <a:t>Objetivo</a:t>
            </a:r>
            <a:r>
              <a:rPr lang="pt-BR" sz="1200" dirty="0"/>
              <a:t>: Criar máquinas que </a:t>
            </a:r>
            <a:r>
              <a:rPr lang="pt-BR" sz="1200" i="1" dirty="0"/>
              <a:t>imitem</a:t>
            </a:r>
            <a:r>
              <a:rPr lang="pt-BR" sz="1200" dirty="0"/>
              <a:t> nossa capacidade mental para uma determinada tarefa. </a:t>
            </a:r>
            <a:endParaRPr lang="pt-BR" sz="1200" dirty="0">
              <a:cs typeface="Calibri"/>
            </a:endParaRPr>
          </a:p>
          <a:p>
            <a:pPr marL="171450" indent="-171450">
              <a:buFont typeface="Arial" panose="020B0604020202020204" pitchFamily="34" charset="0"/>
              <a:buChar char="•"/>
            </a:pPr>
            <a:r>
              <a:rPr lang="pt-BR" sz="1200" dirty="0"/>
              <a:t>Porém, esta </a:t>
            </a:r>
            <a:r>
              <a:rPr lang="pt-BR" sz="1200" i="1" dirty="0"/>
              <a:t>imitação</a:t>
            </a:r>
            <a:r>
              <a:rPr lang="pt-BR" sz="1200" dirty="0"/>
              <a:t> não será perfeita dado que somos construídos de matéria viva e até o momento não fomos capazes de criar nada semelhante ao nosso cérebro. </a:t>
            </a:r>
          </a:p>
          <a:p>
            <a:pPr marL="171450" indent="-171450">
              <a:buFont typeface="Arial" panose="020B0604020202020204" pitchFamily="34" charset="0"/>
              <a:buChar char="•"/>
            </a:pPr>
            <a:r>
              <a:rPr lang="pt-BR" sz="1200" dirty="0"/>
              <a:t>Essa </a:t>
            </a:r>
            <a:r>
              <a:rPr lang="pt-BR" sz="1200" i="1" dirty="0"/>
              <a:t>imitação</a:t>
            </a:r>
            <a:r>
              <a:rPr lang="pt-BR" sz="1200" dirty="0"/>
              <a:t> é, portanto, apenas uma aproximação. É por isso que em IA fala-se da criação de máquinas que são </a:t>
            </a:r>
            <a:r>
              <a:rPr lang="pt-BR" sz="1200" i="1" dirty="0"/>
              <a:t>modelos</a:t>
            </a:r>
            <a:r>
              <a:rPr lang="pt-BR" sz="1200" dirty="0"/>
              <a:t> de nossa capacidade de aprender, raciocinar, enxergar, falar, ouvir, etc.</a:t>
            </a:r>
            <a:endParaRPr lang="en-US" sz="1200" dirty="0"/>
          </a:p>
          <a:p>
            <a:pPr rtl="0"/>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t>A IA fraca concentra-se na realização de uma tarefa específica, como responder a perguntas com base na entrada do usuário ou jogar xadrez. Carros autônomos e assistentes virtuais, como Siri, são exemplos de IA fraca.</a:t>
            </a:r>
            <a:r>
              <a:rPr lang="pt-BR" sz="1200" baseline="0" dirty="0"/>
              <a:t> </a:t>
            </a:r>
            <a:r>
              <a:rPr lang="pt-BR" sz="1200" dirty="0"/>
              <a:t>IA forte pode realizar uma variedade de tarefas, eventualmente ensinando-se a resolver novos problemas. A IA fraca depende da interferência humana para definir os parâmetros de seus algoritmos de aprendizagem e fornecer os dados de treinamento relevantes para garantir a precisão. Embora a entrada humana acelere a fase de crescimento da IA forte, ela não é necessária e, com o tempo, desenvolve uma consciência semelhante à humana em vez de simulá-la, como a IA fraca. </a:t>
            </a:r>
          </a:p>
          <a:p>
            <a:endParaRPr lang="en-US"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12</a:t>
            </a:fld>
            <a:endParaRPr lang="pt-BR"/>
          </a:p>
        </p:txBody>
      </p:sp>
    </p:spTree>
    <p:extLst>
      <p:ext uri="{BB962C8B-B14F-4D97-AF65-F5344CB8AC3E}">
        <p14:creationId xmlns:p14="http://schemas.microsoft.com/office/powerpoint/2010/main" val="38980636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Emular as habilidades/capacidades humanas. Emulação é o processo de replicar o comportamento de um sistema usando um sistema diferente</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13</a:t>
            </a:fld>
            <a:endParaRPr lang="pt-BR"/>
          </a:p>
        </p:txBody>
      </p:sp>
    </p:spTree>
    <p:extLst>
      <p:ext uri="{BB962C8B-B14F-4D97-AF65-F5344CB8AC3E}">
        <p14:creationId xmlns:p14="http://schemas.microsoft.com/office/powerpoint/2010/main" val="30449569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t>AI is a broader concept to create intelligent machines that can </a:t>
            </a:r>
            <a:r>
              <a:rPr lang="en-US" sz="1200" b="1" i="1" dirty="0"/>
              <a:t>simulate</a:t>
            </a:r>
            <a:r>
              <a:rPr lang="en-US" sz="1200" i="1" dirty="0"/>
              <a:t> human thinking capability and behavior, whereas, machine learning is an application or subset of AI that allows machines to learn from data without being programmed explicitly.</a:t>
            </a:r>
            <a:endParaRPr lang="pt-BR" sz="1200" b="1" dirty="0">
              <a:cs typeface="Calibri"/>
            </a:endParaRPr>
          </a:p>
          <a:p>
            <a:pPr marL="0" indent="0">
              <a:buFont typeface="Arial" panose="020B0604020202020204" pitchFamily="34" charset="0"/>
              <a:buNone/>
            </a:pPr>
            <a:endParaRPr lang="pt-BR" sz="1200" b="1" dirty="0">
              <a:cs typeface="Calibri"/>
            </a:endParaRPr>
          </a:p>
          <a:p>
            <a:pPr marL="0" indent="0">
              <a:buFont typeface="Arial" panose="020B0604020202020204" pitchFamily="34" charset="0"/>
              <a:buNone/>
            </a:pPr>
            <a:r>
              <a:rPr lang="pt-BR" sz="1200" b="1" dirty="0">
                <a:cs typeface="Calibri"/>
              </a:rPr>
              <a:t>Processamento de linguagem natural</a:t>
            </a:r>
            <a:r>
              <a:rPr lang="pt-BR" sz="1200" b="0" dirty="0">
                <a:cs typeface="Calibri"/>
              </a:rPr>
              <a:t>: criação automática de resumos,</a:t>
            </a:r>
            <a:r>
              <a:rPr lang="pt-BR" sz="1200" b="0" baseline="0" dirty="0">
                <a:cs typeface="Calibri"/>
              </a:rPr>
              <a:t> tradução de textos, reconhecimento de fala, etc.</a:t>
            </a:r>
          </a:p>
          <a:p>
            <a:pPr marL="0" indent="0">
              <a:buFont typeface="Arial" panose="020B0604020202020204" pitchFamily="34" charset="0"/>
              <a:buNone/>
            </a:pPr>
            <a:r>
              <a:rPr lang="pt-BR" sz="1200" b="1" baseline="0" dirty="0">
                <a:cs typeface="Calibri"/>
              </a:rPr>
              <a:t>Representação do conhecimento</a:t>
            </a:r>
            <a:r>
              <a:rPr lang="pt-BR" sz="1200" b="0" baseline="0" dirty="0">
                <a:cs typeface="Calibri"/>
              </a:rPr>
              <a:t>: lida com problemas de como criar (extrair, absorver) e armazenar conhecimento do mundo. É um campo da inteligência artificial que se concentra no design de representações computacionais que capturam informações sobre o mundo.</a:t>
            </a:r>
          </a:p>
          <a:p>
            <a:pPr marL="0" indent="0">
              <a:buFont typeface="Arial" panose="020B0604020202020204" pitchFamily="34" charset="0"/>
              <a:buNone/>
            </a:pPr>
            <a:r>
              <a:rPr lang="pt-BR" sz="1200" b="1" baseline="0" dirty="0">
                <a:cs typeface="Calibri"/>
              </a:rPr>
              <a:t>Raciocínio automatizado</a:t>
            </a:r>
            <a:r>
              <a:rPr lang="pt-BR" sz="1200" b="0" baseline="0" dirty="0">
                <a:cs typeface="Calibri"/>
              </a:rPr>
              <a:t>: utiliza o conhecimento armazenado por computadores para resolver problemas complexos, como por exemplo, provar teoremas matemáticos.</a:t>
            </a:r>
          </a:p>
          <a:p>
            <a:pPr marL="0" indent="0">
              <a:buFont typeface="Arial" panose="020B0604020202020204" pitchFamily="34" charset="0"/>
              <a:buNone/>
            </a:pPr>
            <a:r>
              <a:rPr lang="pt-BR" sz="1200" b="1" baseline="0" dirty="0">
                <a:cs typeface="Calibri"/>
              </a:rPr>
              <a:t>Planejamento</a:t>
            </a:r>
            <a:r>
              <a:rPr lang="pt-BR" sz="1200" b="0" baseline="0" dirty="0">
                <a:cs typeface="Calibri"/>
              </a:rPr>
              <a:t>: </a:t>
            </a:r>
            <a:r>
              <a:rPr lang="pt-BR" dirty="0"/>
              <a:t>tem como objetivo encontrar um plano que permita uma</a:t>
            </a:r>
            <a:r>
              <a:rPr lang="pt-BR" baseline="0" dirty="0"/>
              <a:t> máquina </a:t>
            </a:r>
            <a:r>
              <a:rPr lang="pt-BR" dirty="0"/>
              <a:t>executar uma tarefa, a partir de uma situação inicial.</a:t>
            </a:r>
            <a:endParaRPr lang="pt-BR" sz="1200" b="0" baseline="0" dirty="0">
              <a:cs typeface="Calibri"/>
            </a:endParaRPr>
          </a:p>
          <a:p>
            <a:pPr marL="0" indent="0">
              <a:buFont typeface="Arial" panose="020B0604020202020204" pitchFamily="34" charset="0"/>
              <a:buNone/>
            </a:pPr>
            <a:r>
              <a:rPr lang="pt-BR" sz="1200" b="1" baseline="0" dirty="0">
                <a:cs typeface="Calibri"/>
              </a:rPr>
              <a:t>Visão computacional</a:t>
            </a:r>
            <a:r>
              <a:rPr lang="pt-BR" sz="1200" b="0" baseline="0" dirty="0">
                <a:cs typeface="Calibri"/>
              </a:rPr>
              <a:t>: desenvolvimento de máquinas inteligentes que obtém informação de imagens e vídeos. Exemplos: reconhecimento de faces, controle de qualidade em industrias, carros autônomos, etc.</a:t>
            </a:r>
          </a:p>
          <a:p>
            <a:pPr marL="0" indent="0">
              <a:buFont typeface="Arial" panose="020B0604020202020204" pitchFamily="34" charset="0"/>
              <a:buNone/>
            </a:pPr>
            <a:r>
              <a:rPr lang="pt-BR" sz="1200" b="1" baseline="0" dirty="0">
                <a:cs typeface="Calibri"/>
              </a:rPr>
              <a:t>Robótica</a:t>
            </a:r>
            <a:r>
              <a:rPr lang="pt-BR" sz="1200" b="0" baseline="0" dirty="0">
                <a:cs typeface="Calibri"/>
              </a:rPr>
              <a:t>: lida com o projeto, construção e operação de robôs que repliquem ações humanas. Exemplos: robôs militares, industriais, médicos, etc.</a:t>
            </a:r>
          </a:p>
          <a:p>
            <a:pPr marL="0" indent="0">
              <a:buFont typeface="Arial" panose="020B0604020202020204" pitchFamily="34" charset="0"/>
              <a:buNone/>
            </a:pPr>
            <a:r>
              <a:rPr lang="pt-BR" sz="1200" b="1" baseline="0" dirty="0">
                <a:cs typeface="Calibri"/>
              </a:rPr>
              <a:t>Aprendizado de máquina</a:t>
            </a:r>
            <a:r>
              <a:rPr lang="pt-BR" sz="1200" b="0" baseline="0" dirty="0">
                <a:cs typeface="Calibri"/>
              </a:rPr>
              <a:t>: lida com o design e construção de máquinas que executam uma tarefa específica sem terem sido explicitamente programadas para isso. Exemplos: algoritmo de recomendações do </a:t>
            </a:r>
            <a:r>
              <a:rPr lang="pt-BR" sz="1200" b="0" baseline="0" dirty="0" err="1">
                <a:cs typeface="Calibri"/>
              </a:rPr>
              <a:t>netflix</a:t>
            </a:r>
            <a:r>
              <a:rPr lang="pt-BR" sz="1200" b="0" baseline="0" dirty="0">
                <a:cs typeface="Calibri"/>
              </a:rPr>
              <a:t>, carro autômato, etc. Esses </a:t>
            </a:r>
            <a:r>
              <a:rPr lang="pt-BR" sz="1200" b="0" baseline="0" dirty="0" err="1">
                <a:cs typeface="Calibri"/>
              </a:rPr>
              <a:t>algortimos</a:t>
            </a:r>
            <a:r>
              <a:rPr lang="pt-BR" sz="1200" b="0" baseline="0" dirty="0">
                <a:cs typeface="Calibri"/>
              </a:rPr>
              <a:t> aprendem através da experiência.</a:t>
            </a:r>
          </a:p>
          <a:p>
            <a:pPr marL="0" indent="0">
              <a:buFont typeface="Arial" panose="020B0604020202020204" pitchFamily="34" charset="0"/>
              <a:buNone/>
            </a:pPr>
            <a:r>
              <a:rPr lang="pt-PT" sz="1200" b="1" i="0" dirty="0"/>
              <a:t>Inteligência artificial geral</a:t>
            </a:r>
            <a:r>
              <a:rPr lang="pt-PT" sz="1200" i="1" dirty="0"/>
              <a:t>: </a:t>
            </a:r>
            <a:r>
              <a:rPr lang="pt-BR" sz="1200" b="0" i="0" kern="1200" dirty="0">
                <a:solidFill>
                  <a:schemeClr val="tx1"/>
                </a:solidFill>
                <a:effectLst/>
                <a:latin typeface="+mn-lt"/>
                <a:ea typeface="+mn-ea"/>
                <a:cs typeface="+mn-cs"/>
              </a:rPr>
              <a:t>máquinas que possuem</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consciência e sentimentos, capazes de oferecer soluções para qualquer tipo de problema.</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IAG é a meta dos pesquisadores da inteligência artificial. Somente com ela, a IA poderá resolver problemas chamados de “transversais”, aqueles que exigem mais de uma habilidade e variadas tomadas de decisão. Em resumo,</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é uma máquina com a mesma capacidade intelectual de um ser humano, podendo realizar qualquer atividade inteligente que o homem domine.</a:t>
            </a:r>
            <a:endParaRPr lang="en-US" sz="1200" dirty="0"/>
          </a:p>
          <a:p>
            <a:endParaRPr lang="pt-BR" sz="1200" dirty="0"/>
          </a:p>
          <a:p>
            <a:r>
              <a:rPr lang="en-US" sz="1200" dirty="0"/>
              <a:t>KR&amp;R: Knowledge representation and reasoning</a:t>
            </a:r>
          </a:p>
          <a:p>
            <a:endParaRPr lang="en-US" sz="1200" dirty="0"/>
          </a:p>
          <a:p>
            <a:endParaRPr lang="en-US" sz="1200" dirty="0"/>
          </a:p>
          <a:p>
            <a:pPr rtl="0"/>
            <a:r>
              <a:rPr lang="en-US" sz="1200" dirty="0"/>
              <a:t>First of all, </a:t>
            </a:r>
            <a:r>
              <a:rPr lang="en-US" sz="1200" b="1" dirty="0"/>
              <a:t>leave the terms artificial and machine aside</a:t>
            </a:r>
            <a:r>
              <a:rPr lang="en-US" sz="1200" dirty="0"/>
              <a:t>. We will try to understand the words intelligence and learning one-by-one. Think of how one can solve a given (mathematical and not real life) problem. There are two possibilities - </a:t>
            </a:r>
            <a:r>
              <a:rPr lang="en-US" sz="1200" i="1" dirty="0"/>
              <a:t>either</a:t>
            </a:r>
          </a:p>
          <a:p>
            <a:pPr rtl="0"/>
            <a:endParaRPr lang="en-US" sz="1200" dirty="0"/>
          </a:p>
          <a:p>
            <a:r>
              <a:rPr lang="en-US" sz="1200" dirty="0"/>
              <a:t>Method 1: he/she/it has solved such a problem before and has </a:t>
            </a:r>
            <a:r>
              <a:rPr lang="en-US" sz="1200" b="1" i="1" dirty="0"/>
              <a:t>learned</a:t>
            </a:r>
            <a:r>
              <a:rPr lang="en-US" sz="1200" dirty="0"/>
              <a:t> how to solve such problems </a:t>
            </a:r>
            <a:r>
              <a:rPr lang="en-US" sz="1200" i="1" dirty="0"/>
              <a:t>or</a:t>
            </a:r>
          </a:p>
          <a:p>
            <a:endParaRPr lang="en-US" sz="1200" dirty="0"/>
          </a:p>
          <a:p>
            <a:r>
              <a:rPr lang="en-US" sz="1200" dirty="0"/>
              <a:t>Method 2: (it is first time he/she/it faced this type of problem and)</a:t>
            </a:r>
            <a:r>
              <a:rPr lang="en-US" sz="1200" i="1" dirty="0"/>
              <a:t> </a:t>
            </a:r>
            <a:r>
              <a:rPr lang="en-US" sz="1200" dirty="0"/>
              <a:t>he/she/it is </a:t>
            </a:r>
            <a:r>
              <a:rPr lang="en-US" sz="1200" b="1" i="1" dirty="0"/>
              <a:t>actually intelligent</a:t>
            </a:r>
            <a:r>
              <a:rPr lang="en-US" sz="1200" dirty="0"/>
              <a:t> to think of possibilities of how to solve the problem based on what he/she/it </a:t>
            </a:r>
            <a:r>
              <a:rPr lang="en-US" sz="1200" b="1" i="1" dirty="0"/>
              <a:t>knows</a:t>
            </a:r>
            <a:r>
              <a:rPr lang="en-US" sz="1200" dirty="0"/>
              <a:t>, right?</a:t>
            </a:r>
          </a:p>
          <a:p>
            <a:pPr rtl="0"/>
            <a:endParaRPr lang="en-US" sz="1200" dirty="0"/>
          </a:p>
          <a:p>
            <a:pPr rtl="0"/>
            <a:r>
              <a:rPr lang="en-US" sz="1200" dirty="0"/>
              <a:t>The former is called </a:t>
            </a:r>
            <a:r>
              <a:rPr lang="en-US" sz="1200" b="1" dirty="0"/>
              <a:t>learning </a:t>
            </a:r>
            <a:r>
              <a:rPr lang="en-US" sz="1200" dirty="0"/>
              <a:t>and the latter is called </a:t>
            </a:r>
            <a:r>
              <a:rPr lang="en-US" sz="1200" b="1" dirty="0"/>
              <a:t>knowledge</a:t>
            </a:r>
            <a:r>
              <a:rPr lang="en-US" sz="1200" dirty="0"/>
              <a:t> (along with intelligence). So, in short, to solve a problem, one needs either of these two. Hence, </a:t>
            </a:r>
            <a:r>
              <a:rPr lang="en-US" sz="1200" b="1" dirty="0"/>
              <a:t>learning is a part of intelligence</a:t>
            </a:r>
            <a:r>
              <a:rPr lang="en-US" sz="1200" dirty="0"/>
              <a:t>. </a:t>
            </a:r>
          </a:p>
          <a:p>
            <a:endParaRPr lang="pt-BR" sz="1200" dirty="0"/>
          </a:p>
          <a:p>
            <a:endParaRPr lang="pt-BR" dirty="0"/>
          </a:p>
          <a:p>
            <a:pPr fontAlgn="base"/>
            <a:r>
              <a:rPr lang="pt-BR" sz="1200" b="1" i="0" kern="1200" dirty="0">
                <a:solidFill>
                  <a:schemeClr val="tx1"/>
                </a:solidFill>
                <a:effectLst/>
                <a:latin typeface="+mn-lt"/>
                <a:ea typeface="+mn-ea"/>
                <a:cs typeface="+mn-cs"/>
              </a:rPr>
              <a:t>Simulação</a:t>
            </a:r>
            <a:r>
              <a:rPr lang="pt-BR" sz="1200" b="0" i="0" kern="1200" dirty="0">
                <a:solidFill>
                  <a:schemeClr val="tx1"/>
                </a:solidFill>
                <a:effectLst/>
                <a:latin typeface="+mn-lt"/>
                <a:ea typeface="+mn-ea"/>
                <a:cs typeface="+mn-cs"/>
              </a:rPr>
              <a:t> tem a ver com a possibilidade de imitar o comportamento de um sistema sem necessariamente reproduzir seus componentes ou saber como ele funciona internamente.</a:t>
            </a:r>
          </a:p>
          <a:p>
            <a:pPr fontAlgn="base"/>
            <a:r>
              <a:rPr lang="pt-BR" sz="1200" b="1" i="0" kern="1200" dirty="0">
                <a:solidFill>
                  <a:schemeClr val="tx1"/>
                </a:solidFill>
                <a:effectLst/>
                <a:latin typeface="+mn-lt"/>
                <a:ea typeface="+mn-ea"/>
                <a:cs typeface="+mn-cs"/>
              </a:rPr>
              <a:t>Emulação</a:t>
            </a:r>
            <a:r>
              <a:rPr lang="pt-BR" sz="1200" b="0" i="0" kern="1200" dirty="0">
                <a:solidFill>
                  <a:schemeClr val="tx1"/>
                </a:solidFill>
                <a:effectLst/>
                <a:latin typeface="+mn-lt"/>
                <a:ea typeface="+mn-ea"/>
                <a:cs typeface="+mn-cs"/>
              </a:rPr>
              <a:t> tem a ver com a possibilidade de reconstruir um sistema a partir do entendimento do funcionamento do mesmo, de forma que o resultado seja bastante semelhante ao original.</a:t>
            </a:r>
          </a:p>
          <a:p>
            <a:pPr fontAlgn="base"/>
            <a:r>
              <a:rPr lang="pt-BR" sz="1200" b="0" i="0" kern="1200" dirty="0">
                <a:solidFill>
                  <a:schemeClr val="tx1"/>
                </a:solidFill>
                <a:effectLst/>
                <a:latin typeface="+mn-lt"/>
                <a:ea typeface="+mn-ea"/>
                <a:cs typeface="+mn-cs"/>
              </a:rPr>
              <a:t>Um exemplo ilustrativo: No filme "</a:t>
            </a:r>
            <a:r>
              <a:rPr lang="pt-BR" sz="1200" b="0" i="0" u="sng" kern="1200" dirty="0">
                <a:solidFill>
                  <a:schemeClr val="tx1"/>
                </a:solidFill>
                <a:effectLst/>
                <a:latin typeface="+mn-lt"/>
                <a:ea typeface="+mn-ea"/>
                <a:cs typeface="+mn-cs"/>
                <a:hlinkClick r:id="rId3"/>
              </a:rPr>
              <a:t>Enigma de Outro Mundo</a:t>
            </a:r>
            <a:r>
              <a:rPr lang="pt-BR" sz="1200" b="0" i="0" kern="1200" dirty="0">
                <a:solidFill>
                  <a:schemeClr val="tx1"/>
                </a:solidFill>
                <a:effectLst/>
                <a:latin typeface="+mn-lt"/>
                <a:ea typeface="+mn-ea"/>
                <a:cs typeface="+mn-cs"/>
              </a:rPr>
              <a:t>", o alienígena tem um processo de reprodução que a partir do DNA da sua vítima replica uma nova pessoa, imitando quase que completamente seus órgãos, tecidos, etc. Isso seria uma </a:t>
            </a:r>
            <a:r>
              <a:rPr lang="pt-BR" sz="1200" b="1" i="0" kern="1200" dirty="0">
                <a:solidFill>
                  <a:schemeClr val="tx1"/>
                </a:solidFill>
                <a:effectLst/>
                <a:latin typeface="+mn-lt"/>
                <a:ea typeface="+mn-ea"/>
                <a:cs typeface="+mn-cs"/>
              </a:rPr>
              <a:t>emulação</a:t>
            </a:r>
            <a:r>
              <a:rPr lang="pt-BR" sz="1200" b="0" i="0" kern="1200" dirty="0">
                <a:solidFill>
                  <a:schemeClr val="tx1"/>
                </a:solidFill>
                <a:effectLst/>
                <a:latin typeface="+mn-lt"/>
                <a:ea typeface="+mn-ea"/>
                <a:cs typeface="+mn-cs"/>
              </a:rPr>
              <a:t>. Já no filme "</a:t>
            </a:r>
            <a:r>
              <a:rPr lang="pt-BR" sz="1200" b="0" i="0" u="sng" kern="1200" dirty="0">
                <a:solidFill>
                  <a:schemeClr val="tx1"/>
                </a:solidFill>
                <a:effectLst/>
                <a:latin typeface="+mn-lt"/>
                <a:ea typeface="+mn-ea"/>
                <a:cs typeface="+mn-cs"/>
                <a:hlinkClick r:id="rId4"/>
              </a:rPr>
              <a:t>Homem Bicentenário</a:t>
            </a:r>
            <a:r>
              <a:rPr lang="pt-BR" sz="1200" b="0" i="0" kern="1200" dirty="0">
                <a:solidFill>
                  <a:schemeClr val="tx1"/>
                </a:solidFill>
                <a:effectLst/>
                <a:latin typeface="+mn-lt"/>
                <a:ea typeface="+mn-ea"/>
                <a:cs typeface="+mn-cs"/>
              </a:rPr>
              <a:t>", um robô tenta imitar a aparência e comportamento dos humanos. Isso seria uma </a:t>
            </a:r>
            <a:r>
              <a:rPr lang="pt-BR" sz="1200" b="1" i="0" kern="1200" dirty="0">
                <a:solidFill>
                  <a:schemeClr val="tx1"/>
                </a:solidFill>
                <a:effectLst/>
                <a:latin typeface="+mn-lt"/>
                <a:ea typeface="+mn-ea"/>
                <a:cs typeface="+mn-cs"/>
              </a:rPr>
              <a:t>simulação</a:t>
            </a:r>
            <a:r>
              <a:rPr lang="pt-BR" sz="1200" b="0" i="0" kern="1200" dirty="0">
                <a:solidFill>
                  <a:schemeClr val="tx1"/>
                </a:solidFill>
                <a:effectLst/>
                <a:latin typeface="+mn-lt"/>
                <a:ea typeface="+mn-ea"/>
                <a:cs typeface="+mn-cs"/>
              </a:rPr>
              <a:t>.</a:t>
            </a:r>
          </a:p>
          <a:p>
            <a:pPr fontAlgn="base"/>
            <a:r>
              <a:rPr lang="pt-BR" sz="1200" b="0" i="0" kern="1200" dirty="0">
                <a:solidFill>
                  <a:schemeClr val="tx1"/>
                </a:solidFill>
                <a:effectLst/>
                <a:latin typeface="+mn-lt"/>
                <a:ea typeface="+mn-ea"/>
                <a:cs typeface="+mn-cs"/>
              </a:rPr>
              <a:t>No seu caso, o programa que reproduz o comportamento do dispositivo Android é um emulador porque você pode colocar seu código que roda no dispositivo real e ele funcionará da mesma forma. Já, se a aplicação rodando no browser for uma aplicação completamente diferente da que roda no dispositivo, porém o resultado para o usuário é o mesmo, então a aplicação é um simulador.</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15</a:t>
            </a:fld>
            <a:endParaRPr lang="pt-BR"/>
          </a:p>
        </p:txBody>
      </p:sp>
    </p:spTree>
    <p:extLst>
      <p:ext uri="{BB962C8B-B14F-4D97-AF65-F5344CB8AC3E}">
        <p14:creationId xmlns:p14="http://schemas.microsoft.com/office/powerpoint/2010/main" val="502341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t>AI is a broader concept to create intelligent machines that can </a:t>
            </a:r>
            <a:r>
              <a:rPr lang="en-US" sz="1200" b="1" i="1" dirty="0"/>
              <a:t>simulate</a:t>
            </a:r>
            <a:r>
              <a:rPr lang="en-US" sz="1200" i="1" dirty="0"/>
              <a:t> human thinking capability and behavior, whereas, machine learning is an application or subset of AI that allows machines to learn from data without being programmed explicitly.</a:t>
            </a:r>
            <a:endParaRPr lang="pt-BR" sz="1200" b="1" dirty="0">
              <a:cs typeface="Calibri"/>
            </a:endParaRPr>
          </a:p>
          <a:p>
            <a:pPr marL="0" indent="0">
              <a:buFont typeface="Arial" panose="020B0604020202020204" pitchFamily="34" charset="0"/>
              <a:buNone/>
            </a:pPr>
            <a:endParaRPr lang="pt-BR" sz="1200" b="1" dirty="0">
              <a:cs typeface="Calibri"/>
            </a:endParaRPr>
          </a:p>
          <a:p>
            <a:pPr marL="0" indent="0">
              <a:buFont typeface="Arial" panose="020B0604020202020204" pitchFamily="34" charset="0"/>
              <a:buNone/>
            </a:pPr>
            <a:r>
              <a:rPr lang="pt-BR" sz="1200" b="1" dirty="0">
                <a:cs typeface="Calibri"/>
              </a:rPr>
              <a:t>Processamento de linguagem natural</a:t>
            </a:r>
            <a:r>
              <a:rPr lang="pt-BR" sz="1200" b="0" dirty="0">
                <a:cs typeface="Calibri"/>
              </a:rPr>
              <a:t>: criação automática de resumos,</a:t>
            </a:r>
            <a:r>
              <a:rPr lang="pt-BR" sz="1200" b="0" baseline="0" dirty="0">
                <a:cs typeface="Calibri"/>
              </a:rPr>
              <a:t> tradução de textos em uma língua para outra, reconhecimento de fala, etc.</a:t>
            </a:r>
          </a:p>
          <a:p>
            <a:pPr marL="0" indent="0">
              <a:buFont typeface="Arial" panose="020B0604020202020204" pitchFamily="34" charset="0"/>
              <a:buNone/>
            </a:pPr>
            <a:r>
              <a:rPr lang="pt-BR" sz="1200" b="1" baseline="0" dirty="0">
                <a:cs typeface="Calibri"/>
              </a:rPr>
              <a:t>Representação do conhecimento</a:t>
            </a:r>
            <a:r>
              <a:rPr lang="pt-BR" sz="1200" b="0" baseline="0" dirty="0">
                <a:cs typeface="Calibri"/>
              </a:rPr>
              <a:t>: lida com problemas de como criar (extrair, absorver) e armazenar conhecimento do mundo. É um campo da inteligência artificial que se concentra no design de representações computacionais que capturam informações sobre o mundo.</a:t>
            </a:r>
          </a:p>
          <a:p>
            <a:pPr marL="0" indent="0">
              <a:buFont typeface="Arial" panose="020B0604020202020204" pitchFamily="34" charset="0"/>
              <a:buNone/>
            </a:pPr>
            <a:r>
              <a:rPr lang="pt-BR" sz="1200" b="1" baseline="0" dirty="0">
                <a:cs typeface="Calibri"/>
              </a:rPr>
              <a:t>Raciocínio automatizado</a:t>
            </a:r>
            <a:r>
              <a:rPr lang="pt-BR" sz="1200" b="0" baseline="0" dirty="0">
                <a:cs typeface="Calibri"/>
              </a:rPr>
              <a:t>: utiliza o conhecimento armazenado por computadores para resolver problemas complexos, como por exemplo, provar teoremas matemáticos.</a:t>
            </a:r>
          </a:p>
          <a:p>
            <a:pPr marL="0" indent="0">
              <a:buFont typeface="Arial" panose="020B0604020202020204" pitchFamily="34" charset="0"/>
              <a:buNone/>
            </a:pPr>
            <a:r>
              <a:rPr lang="pt-BR" sz="1200" b="1" baseline="0" dirty="0">
                <a:cs typeface="Calibri"/>
              </a:rPr>
              <a:t>Planejamento</a:t>
            </a:r>
            <a:r>
              <a:rPr lang="pt-BR" sz="1200" b="0" baseline="0" dirty="0">
                <a:cs typeface="Calibri"/>
              </a:rPr>
              <a:t>: </a:t>
            </a:r>
            <a:r>
              <a:rPr lang="pt-BR" dirty="0"/>
              <a:t>tem como objetivo encontrar um plano que permita uma</a:t>
            </a:r>
            <a:r>
              <a:rPr lang="pt-BR" baseline="0" dirty="0"/>
              <a:t> máquina </a:t>
            </a:r>
            <a:r>
              <a:rPr lang="pt-BR" dirty="0"/>
              <a:t>executar uma tarefa, a partir de uma situação inicial.</a:t>
            </a:r>
            <a:endParaRPr lang="pt-BR" sz="1200" b="0" baseline="0" dirty="0">
              <a:cs typeface="Calibri"/>
            </a:endParaRPr>
          </a:p>
          <a:p>
            <a:pPr marL="0" indent="0">
              <a:buFont typeface="Arial" panose="020B0604020202020204" pitchFamily="34" charset="0"/>
              <a:buNone/>
            </a:pPr>
            <a:r>
              <a:rPr lang="pt-BR" sz="1200" b="1" baseline="0" dirty="0">
                <a:cs typeface="Calibri"/>
              </a:rPr>
              <a:t>Visão computacional</a:t>
            </a:r>
            <a:r>
              <a:rPr lang="pt-BR" sz="1200" b="0" baseline="0" dirty="0">
                <a:cs typeface="Calibri"/>
              </a:rPr>
              <a:t>: desenvolvimento de máquinas inteligentes que obtém informação de imagens e vídeos. Exemplos: reconhecimento de faces, controle de qualidade em industrias, carros autônomos, etc.</a:t>
            </a:r>
          </a:p>
          <a:p>
            <a:pPr marL="0" indent="0">
              <a:buFont typeface="Arial" panose="020B0604020202020204" pitchFamily="34" charset="0"/>
              <a:buNone/>
            </a:pPr>
            <a:r>
              <a:rPr lang="pt-BR" sz="1200" b="1" baseline="0" dirty="0">
                <a:cs typeface="Calibri"/>
              </a:rPr>
              <a:t>Robótica</a:t>
            </a:r>
            <a:r>
              <a:rPr lang="pt-BR" sz="1200" b="0" baseline="0" dirty="0">
                <a:cs typeface="Calibri"/>
              </a:rPr>
              <a:t>: lida com o projeto, construção e operação de robôs que repliquem ações humanas. Exemplos: robôs militares, industriais, médicos, etc.</a:t>
            </a:r>
          </a:p>
          <a:p>
            <a:pPr marL="0" indent="0">
              <a:buFont typeface="Arial" panose="020B0604020202020204" pitchFamily="34" charset="0"/>
              <a:buNone/>
            </a:pPr>
            <a:r>
              <a:rPr lang="pt-BR" sz="1200" b="1" baseline="0" dirty="0">
                <a:cs typeface="Calibri"/>
              </a:rPr>
              <a:t>Aprendizado de máquina</a:t>
            </a:r>
            <a:r>
              <a:rPr lang="pt-BR" sz="1200" b="0" baseline="0" dirty="0">
                <a:cs typeface="Calibri"/>
              </a:rPr>
              <a:t>: lida com o design e construção de máquinas que executam uma tarefa específica sem terem sido explicitamente programadas para isso. Exemplos: algoritmo de recomendações do </a:t>
            </a:r>
            <a:r>
              <a:rPr lang="pt-BR" sz="1200" b="0" baseline="0" dirty="0" err="1">
                <a:cs typeface="Calibri"/>
              </a:rPr>
              <a:t>netflix</a:t>
            </a:r>
            <a:r>
              <a:rPr lang="pt-BR" sz="1200" b="0" baseline="0" dirty="0">
                <a:cs typeface="Calibri"/>
              </a:rPr>
              <a:t>, carro autômato, etc. Esses </a:t>
            </a:r>
            <a:r>
              <a:rPr lang="pt-BR" sz="1200" b="0" baseline="0" dirty="0" err="1">
                <a:cs typeface="Calibri"/>
              </a:rPr>
              <a:t>algortimos</a:t>
            </a:r>
            <a:r>
              <a:rPr lang="pt-BR" sz="1200" b="0" baseline="0" dirty="0">
                <a:cs typeface="Calibri"/>
              </a:rPr>
              <a:t> aprendem através da experiência.</a:t>
            </a:r>
          </a:p>
          <a:p>
            <a:pPr marL="0" indent="0">
              <a:buFont typeface="Arial" panose="020B0604020202020204" pitchFamily="34" charset="0"/>
              <a:buNone/>
            </a:pPr>
            <a:r>
              <a:rPr lang="pt-PT" sz="1200" b="1" i="0" dirty="0"/>
              <a:t>Inteligência artificial geral</a:t>
            </a:r>
            <a:r>
              <a:rPr lang="pt-PT" sz="1200" i="1" dirty="0"/>
              <a:t>: </a:t>
            </a:r>
            <a:r>
              <a:rPr lang="pt-BR" sz="1200" b="0" i="0" kern="1200" dirty="0">
                <a:solidFill>
                  <a:schemeClr val="tx1"/>
                </a:solidFill>
                <a:effectLst/>
                <a:latin typeface="+mn-lt"/>
                <a:ea typeface="+mn-ea"/>
                <a:cs typeface="+mn-cs"/>
              </a:rPr>
              <a:t>máquinas que possuem</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consciência e sentimentos, capazes de oferecer soluções para qualquer tipo de problema.</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IAG é a meta dos pesquisadores da inteligência artificial. Somente com ela, a IA poderá resolver problemas chamados de “transversais”, aqueles que exigem mais de uma habilidade e variadas tomadas de decisão. Em resumo,</a:t>
            </a:r>
            <a:r>
              <a:rPr lang="pt-BR" sz="1200" b="0" i="0" kern="1200" baseline="0" dirty="0">
                <a:solidFill>
                  <a:schemeClr val="tx1"/>
                </a:solidFill>
                <a:effectLst/>
                <a:latin typeface="+mn-lt"/>
                <a:ea typeface="+mn-ea"/>
                <a:cs typeface="+mn-cs"/>
              </a:rPr>
              <a:t> </a:t>
            </a:r>
            <a:r>
              <a:rPr lang="pt-BR" sz="1200" b="0" i="0" kern="1200" dirty="0">
                <a:solidFill>
                  <a:schemeClr val="tx1"/>
                </a:solidFill>
                <a:effectLst/>
                <a:latin typeface="+mn-lt"/>
                <a:ea typeface="+mn-ea"/>
                <a:cs typeface="+mn-cs"/>
              </a:rPr>
              <a:t>é uma máquina com a mesma capacidade intelectual de um ser humano, podendo realizar qualquer atividade inteligente que o homem domine.</a:t>
            </a:r>
            <a:endParaRPr lang="en-US" sz="1200" dirty="0"/>
          </a:p>
          <a:p>
            <a:endParaRPr lang="pt-BR" sz="1200" dirty="0"/>
          </a:p>
          <a:p>
            <a:r>
              <a:rPr lang="en-US" sz="1200" dirty="0"/>
              <a:t>KR&amp;R: Knowledge representation and reasoning</a:t>
            </a:r>
          </a:p>
          <a:p>
            <a:endParaRPr lang="en-US" sz="1200" dirty="0"/>
          </a:p>
          <a:p>
            <a:endParaRPr lang="en-US" sz="1200" dirty="0"/>
          </a:p>
          <a:p>
            <a:pPr rtl="0"/>
            <a:r>
              <a:rPr lang="en-US" sz="1200" dirty="0"/>
              <a:t>First of all, </a:t>
            </a:r>
            <a:r>
              <a:rPr lang="en-US" sz="1200" b="1" dirty="0"/>
              <a:t>leave the terms artificial and machine aside</a:t>
            </a:r>
            <a:r>
              <a:rPr lang="en-US" sz="1200" dirty="0"/>
              <a:t>. We will try to understand the words intelligence and learning one-by-one. Think of how one can solve a given (mathematical and not real life) problem. There are two possibilities - </a:t>
            </a:r>
            <a:r>
              <a:rPr lang="en-US" sz="1200" i="1" dirty="0"/>
              <a:t>either</a:t>
            </a:r>
          </a:p>
          <a:p>
            <a:pPr rtl="0"/>
            <a:endParaRPr lang="en-US" sz="1200" dirty="0"/>
          </a:p>
          <a:p>
            <a:r>
              <a:rPr lang="en-US" sz="1200" dirty="0"/>
              <a:t>Method 1: he/she/it has solved such a problem before and has </a:t>
            </a:r>
            <a:r>
              <a:rPr lang="en-US" sz="1200" b="1" i="1" dirty="0"/>
              <a:t>learned</a:t>
            </a:r>
            <a:r>
              <a:rPr lang="en-US" sz="1200" dirty="0"/>
              <a:t> how to solve such problems </a:t>
            </a:r>
            <a:r>
              <a:rPr lang="en-US" sz="1200" i="1" dirty="0"/>
              <a:t>or</a:t>
            </a:r>
          </a:p>
          <a:p>
            <a:endParaRPr lang="en-US" sz="1200" dirty="0"/>
          </a:p>
          <a:p>
            <a:r>
              <a:rPr lang="en-US" sz="1200" dirty="0"/>
              <a:t>Method 2: (it is first time he/she/it faced this type of problem and)</a:t>
            </a:r>
            <a:r>
              <a:rPr lang="en-US" sz="1200" i="1" dirty="0"/>
              <a:t> </a:t>
            </a:r>
            <a:r>
              <a:rPr lang="en-US" sz="1200" dirty="0"/>
              <a:t>he/she/it is </a:t>
            </a:r>
            <a:r>
              <a:rPr lang="en-US" sz="1200" b="1" i="1" dirty="0"/>
              <a:t>actually intelligent</a:t>
            </a:r>
            <a:r>
              <a:rPr lang="en-US" sz="1200" dirty="0"/>
              <a:t> to think of possibilities of how to solve the problem based on what he/she/it </a:t>
            </a:r>
            <a:r>
              <a:rPr lang="en-US" sz="1200" b="1" i="1" dirty="0"/>
              <a:t>knows</a:t>
            </a:r>
            <a:r>
              <a:rPr lang="en-US" sz="1200" dirty="0"/>
              <a:t>, right?</a:t>
            </a:r>
          </a:p>
          <a:p>
            <a:pPr rtl="0"/>
            <a:endParaRPr lang="en-US" sz="1200" dirty="0"/>
          </a:p>
          <a:p>
            <a:pPr rtl="0"/>
            <a:r>
              <a:rPr lang="en-US" sz="1200" dirty="0"/>
              <a:t>The former is called </a:t>
            </a:r>
            <a:r>
              <a:rPr lang="en-US" sz="1200" b="1" dirty="0"/>
              <a:t>learning </a:t>
            </a:r>
            <a:r>
              <a:rPr lang="en-US" sz="1200" dirty="0"/>
              <a:t>and the latter is called </a:t>
            </a:r>
            <a:r>
              <a:rPr lang="en-US" sz="1200" b="1" dirty="0"/>
              <a:t>knowledge</a:t>
            </a:r>
            <a:r>
              <a:rPr lang="en-US" sz="1200" dirty="0"/>
              <a:t> (along with intelligence). So, in short, to solve a problem, one needs either of these two. Hence, </a:t>
            </a:r>
            <a:r>
              <a:rPr lang="en-US" sz="1200" b="1" dirty="0"/>
              <a:t>learning is a part of intelligence</a:t>
            </a:r>
            <a:r>
              <a:rPr lang="en-US" sz="1200" dirty="0"/>
              <a:t>. </a:t>
            </a:r>
          </a:p>
          <a:p>
            <a:endParaRPr lang="pt-BR" sz="1200" dirty="0"/>
          </a:p>
          <a:p>
            <a:endParaRPr lang="pt-BR" dirty="0"/>
          </a:p>
          <a:p>
            <a:pPr fontAlgn="base"/>
            <a:r>
              <a:rPr lang="pt-BR" sz="1200" b="1" i="0" kern="1200" dirty="0">
                <a:solidFill>
                  <a:schemeClr val="tx1"/>
                </a:solidFill>
                <a:effectLst/>
                <a:latin typeface="+mn-lt"/>
                <a:ea typeface="+mn-ea"/>
                <a:cs typeface="+mn-cs"/>
              </a:rPr>
              <a:t>Simulação</a:t>
            </a:r>
            <a:r>
              <a:rPr lang="pt-BR" sz="1200" b="0" i="0" kern="1200" dirty="0">
                <a:solidFill>
                  <a:schemeClr val="tx1"/>
                </a:solidFill>
                <a:effectLst/>
                <a:latin typeface="+mn-lt"/>
                <a:ea typeface="+mn-ea"/>
                <a:cs typeface="+mn-cs"/>
              </a:rPr>
              <a:t> tem a ver com a possibilidade de imitar o comportamento de um sistema sem necessariamente reproduzir seus componentes ou saber como ele funciona internamente.</a:t>
            </a:r>
          </a:p>
          <a:p>
            <a:pPr fontAlgn="base"/>
            <a:r>
              <a:rPr lang="pt-BR" sz="1200" b="1" i="0" kern="1200" dirty="0">
                <a:solidFill>
                  <a:schemeClr val="tx1"/>
                </a:solidFill>
                <a:effectLst/>
                <a:latin typeface="+mn-lt"/>
                <a:ea typeface="+mn-ea"/>
                <a:cs typeface="+mn-cs"/>
              </a:rPr>
              <a:t>Emulação</a:t>
            </a:r>
            <a:r>
              <a:rPr lang="pt-BR" sz="1200" b="0" i="0" kern="1200" dirty="0">
                <a:solidFill>
                  <a:schemeClr val="tx1"/>
                </a:solidFill>
                <a:effectLst/>
                <a:latin typeface="+mn-lt"/>
                <a:ea typeface="+mn-ea"/>
                <a:cs typeface="+mn-cs"/>
              </a:rPr>
              <a:t> tem a ver com a possibilidade de reconstruir um sistema a partir do entendimento do funcionamento do mesmo, de forma que o resultado seja bastante semelhante ao original.</a:t>
            </a:r>
          </a:p>
          <a:p>
            <a:pPr fontAlgn="base"/>
            <a:r>
              <a:rPr lang="pt-BR" sz="1200" b="0" i="0" kern="1200" dirty="0">
                <a:solidFill>
                  <a:schemeClr val="tx1"/>
                </a:solidFill>
                <a:effectLst/>
                <a:latin typeface="+mn-lt"/>
                <a:ea typeface="+mn-ea"/>
                <a:cs typeface="+mn-cs"/>
              </a:rPr>
              <a:t>Um exemplo ilustrativo: No filme "</a:t>
            </a:r>
            <a:r>
              <a:rPr lang="pt-BR" sz="1200" b="0" i="0" u="sng" kern="1200" dirty="0">
                <a:solidFill>
                  <a:schemeClr val="tx1"/>
                </a:solidFill>
                <a:effectLst/>
                <a:latin typeface="+mn-lt"/>
                <a:ea typeface="+mn-ea"/>
                <a:cs typeface="+mn-cs"/>
                <a:hlinkClick r:id="rId3"/>
              </a:rPr>
              <a:t>Enigma de Outro Mundo</a:t>
            </a:r>
            <a:r>
              <a:rPr lang="pt-BR" sz="1200" b="0" i="0" kern="1200" dirty="0">
                <a:solidFill>
                  <a:schemeClr val="tx1"/>
                </a:solidFill>
                <a:effectLst/>
                <a:latin typeface="+mn-lt"/>
                <a:ea typeface="+mn-ea"/>
                <a:cs typeface="+mn-cs"/>
              </a:rPr>
              <a:t>", o alienígena tem um processo de reprodução que a partir do DNA da sua vítima replica uma nova pessoa, imitando quase que completamente seus órgãos, tecidos, etc. Isso seria uma </a:t>
            </a:r>
            <a:r>
              <a:rPr lang="pt-BR" sz="1200" b="1" i="0" kern="1200" dirty="0">
                <a:solidFill>
                  <a:schemeClr val="tx1"/>
                </a:solidFill>
                <a:effectLst/>
                <a:latin typeface="+mn-lt"/>
                <a:ea typeface="+mn-ea"/>
                <a:cs typeface="+mn-cs"/>
              </a:rPr>
              <a:t>emulação</a:t>
            </a:r>
            <a:r>
              <a:rPr lang="pt-BR" sz="1200" b="0" i="0" kern="1200" dirty="0">
                <a:solidFill>
                  <a:schemeClr val="tx1"/>
                </a:solidFill>
                <a:effectLst/>
                <a:latin typeface="+mn-lt"/>
                <a:ea typeface="+mn-ea"/>
                <a:cs typeface="+mn-cs"/>
              </a:rPr>
              <a:t>. Já no filme "</a:t>
            </a:r>
            <a:r>
              <a:rPr lang="pt-BR" sz="1200" b="0" i="0" u="sng" kern="1200" dirty="0">
                <a:solidFill>
                  <a:schemeClr val="tx1"/>
                </a:solidFill>
                <a:effectLst/>
                <a:latin typeface="+mn-lt"/>
                <a:ea typeface="+mn-ea"/>
                <a:cs typeface="+mn-cs"/>
                <a:hlinkClick r:id="rId4"/>
              </a:rPr>
              <a:t>Homem Bicentenário</a:t>
            </a:r>
            <a:r>
              <a:rPr lang="pt-BR" sz="1200" b="0" i="0" kern="1200" dirty="0">
                <a:solidFill>
                  <a:schemeClr val="tx1"/>
                </a:solidFill>
                <a:effectLst/>
                <a:latin typeface="+mn-lt"/>
                <a:ea typeface="+mn-ea"/>
                <a:cs typeface="+mn-cs"/>
              </a:rPr>
              <a:t>", um robô tenta imitar a aparência e comportamento dos humanos. Isso seria uma </a:t>
            </a:r>
            <a:r>
              <a:rPr lang="pt-BR" sz="1200" b="1" i="0" kern="1200" dirty="0">
                <a:solidFill>
                  <a:schemeClr val="tx1"/>
                </a:solidFill>
                <a:effectLst/>
                <a:latin typeface="+mn-lt"/>
                <a:ea typeface="+mn-ea"/>
                <a:cs typeface="+mn-cs"/>
              </a:rPr>
              <a:t>simulação</a:t>
            </a:r>
            <a:r>
              <a:rPr lang="pt-BR" sz="1200" b="0" i="0" kern="1200" dirty="0">
                <a:solidFill>
                  <a:schemeClr val="tx1"/>
                </a:solidFill>
                <a:effectLst/>
                <a:latin typeface="+mn-lt"/>
                <a:ea typeface="+mn-ea"/>
                <a:cs typeface="+mn-cs"/>
              </a:rPr>
              <a:t>.</a:t>
            </a:r>
          </a:p>
          <a:p>
            <a:pPr fontAlgn="base"/>
            <a:r>
              <a:rPr lang="pt-BR" sz="1200" b="0" i="0" kern="1200" dirty="0">
                <a:solidFill>
                  <a:schemeClr val="tx1"/>
                </a:solidFill>
                <a:effectLst/>
                <a:latin typeface="+mn-lt"/>
                <a:ea typeface="+mn-ea"/>
                <a:cs typeface="+mn-cs"/>
              </a:rPr>
              <a:t>No seu caso, o programa que reproduz o comportamento do dispositivo Android é um emulador porque você pode colocar seu código que roda no dispositivo real e ele funcionará da mesma forma. Já, se a aplicação rodando no browser for uma aplicação completamente diferente da que roda no dispositivo, porém o resultado para o usuário é o mesmo, então a aplicação é um simulador.</a:t>
            </a:r>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16</a:t>
            </a:fld>
            <a:endParaRPr lang="pt-BR"/>
          </a:p>
        </p:txBody>
      </p:sp>
    </p:spTree>
    <p:extLst>
      <p:ext uri="{BB962C8B-B14F-4D97-AF65-F5344CB8AC3E}">
        <p14:creationId xmlns:p14="http://schemas.microsoft.com/office/powerpoint/2010/main" val="15794469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indent="0">
              <a:buFont typeface="Arial" panose="020B0604020202020204" pitchFamily="34" charset="0"/>
              <a:buNone/>
            </a:pPr>
            <a:r>
              <a:rPr lang="pt-BR" sz="1200" dirty="0"/>
              <a:t>Foco do curso: estudo dos principais algoritmos de </a:t>
            </a:r>
            <a:r>
              <a:rPr lang="pt-BR" sz="1200" b="1" i="1" dirty="0"/>
              <a:t>Aprendizado de Máquina</a:t>
            </a:r>
            <a:r>
              <a:rPr lang="pt-BR" sz="1200" dirty="0"/>
              <a:t>. Por quê?</a:t>
            </a:r>
          </a:p>
          <a:p>
            <a:pPr marL="628650" lvl="1" indent="-171450">
              <a:buFont typeface="Arial" panose="020B0604020202020204" pitchFamily="34" charset="0"/>
              <a:buChar char="•"/>
            </a:pPr>
            <a:r>
              <a:rPr lang="pt-BR" sz="1200" dirty="0"/>
              <a:t>ML oferece ferramentas importantes para a solução eficiente de vários problemas em várias</a:t>
            </a:r>
            <a:r>
              <a:rPr lang="pt-BR" sz="1200" baseline="0" dirty="0"/>
              <a:t> áreas do conhecimento.</a:t>
            </a:r>
          </a:p>
          <a:p>
            <a:pPr marL="457200" lvl="1" indent="0">
              <a:buFont typeface="Arial" panose="020B0604020202020204" pitchFamily="34" charset="0"/>
              <a:buNone/>
            </a:pPr>
            <a:endParaRPr lang="pt-BR" sz="12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ML is a learning technique where machines </a:t>
            </a:r>
            <a:r>
              <a:rPr lang="en-US" sz="1200" i="1" dirty="0"/>
              <a:t>learn</a:t>
            </a:r>
            <a:r>
              <a:rPr lang="en-US" sz="1200" dirty="0"/>
              <a:t> from huge data sets.</a:t>
            </a:r>
          </a:p>
          <a:p>
            <a:endParaRPr lang="pt-BR" sz="1200" b="0" i="0" dirty="0"/>
          </a:p>
          <a:p>
            <a:r>
              <a:rPr lang="en-US" sz="1200" dirty="0"/>
              <a:t>Weak AI is the form of AI where programs are developed to perform specific tasks, for instance, Machine learning, Planning, Computer vision, etc.</a:t>
            </a:r>
          </a:p>
          <a:p>
            <a:endParaRPr lang="en-US" sz="1200" dirty="0"/>
          </a:p>
          <a:p>
            <a:endParaRPr lang="en-US" sz="1200" dirty="0"/>
          </a:p>
          <a:p>
            <a:endParaRPr lang="en-US"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18</a:t>
            </a:fld>
            <a:endParaRPr lang="pt-BR"/>
          </a:p>
        </p:txBody>
      </p:sp>
    </p:spTree>
    <p:extLst>
      <p:ext uri="{BB962C8B-B14F-4D97-AF65-F5344CB8AC3E}">
        <p14:creationId xmlns:p14="http://schemas.microsoft.com/office/powerpoint/2010/main" val="2784744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termo </a:t>
            </a:r>
            <a:r>
              <a:rPr lang="pt-BR" b="1" dirty="0"/>
              <a:t>“Machine Learning” (Aprendizado de Máquina)</a:t>
            </a:r>
            <a:r>
              <a:rPr lang="pt-BR" dirty="0"/>
              <a:t> foi cunhado por:</a:t>
            </a:r>
          </a:p>
          <a:p>
            <a:r>
              <a:rPr lang="pt-BR" b="1" dirty="0"/>
              <a:t>🧠 Arthur Samuel</a:t>
            </a:r>
          </a:p>
          <a:p>
            <a:r>
              <a:rPr lang="pt-BR" dirty="0"/>
              <a:t>Ele utilizou a expressão pela primeira vez em </a:t>
            </a:r>
            <a:r>
              <a:rPr lang="pt-BR" b="1" dirty="0"/>
              <a:t>1959</a:t>
            </a:r>
            <a:r>
              <a:rPr lang="pt-BR" dirty="0"/>
              <a:t>, enquanto trabalhava na </a:t>
            </a:r>
            <a:r>
              <a:rPr lang="pt-BR" b="1" dirty="0"/>
              <a:t>IBM</a:t>
            </a:r>
            <a:r>
              <a:rPr lang="pt-BR" dirty="0"/>
              <a:t>.</a:t>
            </a:r>
          </a:p>
          <a:p>
            <a:r>
              <a:rPr lang="pt-BR" dirty="0"/>
              <a:t>Samuel definiu aprendizado de máquina como:</a:t>
            </a:r>
          </a:p>
          <a:p>
            <a:r>
              <a:rPr lang="pt-BR" dirty="0"/>
              <a:t>“O campo de estudo que dá aos computadores a habilidade de aprender sem serem explicitamente programados.”</a:t>
            </a:r>
          </a:p>
          <a:p>
            <a:r>
              <a:rPr lang="pt-BR" dirty="0"/>
              <a:t>Ele ficou especialmente conhecido por desenvolver um programa de </a:t>
            </a:r>
            <a:r>
              <a:rPr lang="pt-BR" b="1" dirty="0"/>
              <a:t>damas (</a:t>
            </a:r>
            <a:r>
              <a:rPr lang="pt-BR" b="1" dirty="0" err="1"/>
              <a:t>checkers</a:t>
            </a:r>
            <a:r>
              <a:rPr lang="pt-BR" b="1" dirty="0"/>
              <a:t>)</a:t>
            </a:r>
            <a:r>
              <a:rPr lang="pt-BR" dirty="0"/>
              <a:t> que aprendia a melhorar seu desempenho jogando contra si mesmo — um dos primeiros exemplos práticos de aprendizado automático.</a:t>
            </a:r>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20</a:t>
            </a:fld>
            <a:endParaRPr lang="pt-BR"/>
          </a:p>
        </p:txBody>
      </p:sp>
    </p:spTree>
    <p:extLst>
      <p:ext uri="{BB962C8B-B14F-4D97-AF65-F5344CB8AC3E}">
        <p14:creationId xmlns:p14="http://schemas.microsoft.com/office/powerpoint/2010/main" val="3353594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63A1B-C747-1989-0EF8-CB08121EC28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769483E-72FB-56E8-4E25-C799CE67CA6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F3168CD-4E40-C6B2-22CC-408C17D873B1}"/>
              </a:ext>
            </a:extLst>
          </p:cNvPr>
          <p:cNvSpPr>
            <a:spLocks noGrp="1"/>
          </p:cNvSpPr>
          <p:nvPr>
            <p:ph type="body" idx="1"/>
          </p:nvPr>
        </p:nvSpPr>
        <p:spPr/>
        <p:txBody>
          <a:bodyPr/>
          <a:lstStyle/>
          <a:p>
            <a:r>
              <a:rPr lang="pt-BR" sz="1200" dirty="0"/>
              <a:t>ML: técnicas e algoritmos orientadas a dados: aprendem automaticamente a partir de grandes volumes de dados.</a:t>
            </a:r>
          </a:p>
          <a:p>
            <a:endParaRPr lang="en-US" sz="1200" b="1" dirty="0"/>
          </a:p>
          <a:p>
            <a:r>
              <a:rPr lang="pt-BR" sz="1200" b="0" dirty="0"/>
              <a:t>O aprendizado de máquina pode ser definido como o processo de </a:t>
            </a:r>
            <a:r>
              <a:rPr lang="pt-BR" sz="1200" b="1" dirty="0"/>
              <a:t>induzir</a:t>
            </a:r>
            <a:r>
              <a:rPr lang="pt-BR" sz="1200" b="0" dirty="0"/>
              <a:t> inteligência em uma</a:t>
            </a:r>
            <a:r>
              <a:rPr lang="pt-BR" sz="1200" b="0" baseline="0" dirty="0"/>
              <a:t> </a:t>
            </a:r>
            <a:r>
              <a:rPr lang="pt-BR" sz="1200" b="0" dirty="0"/>
              <a:t>máquina </a:t>
            </a:r>
            <a:r>
              <a:rPr lang="pt-BR" sz="1200" b="1" dirty="0"/>
              <a:t>sem que ela</a:t>
            </a:r>
            <a:r>
              <a:rPr lang="pt-BR" sz="1200" b="1" baseline="0" dirty="0"/>
              <a:t> seja explicitamente</a:t>
            </a:r>
            <a:r>
              <a:rPr lang="pt-BR" sz="1200" b="1" dirty="0"/>
              <a:t> programada</a:t>
            </a:r>
            <a:r>
              <a:rPr lang="pt-BR" sz="1200" b="0" dirty="0"/>
              <a:t>.</a:t>
            </a:r>
            <a:endParaRPr lang="en-US" sz="1200" b="0" dirty="0"/>
          </a:p>
          <a:p>
            <a:endParaRPr lang="en-US" sz="1200" b="1" dirty="0"/>
          </a:p>
          <a:p>
            <a:r>
              <a:rPr lang="pt-BR" sz="1200" b="0" dirty="0"/>
              <a:t>Por exemplo, o filtro de spam do </a:t>
            </a:r>
            <a:r>
              <a:rPr lang="pt-BR" sz="1200" b="0" dirty="0" err="1"/>
              <a:t>gmail</a:t>
            </a:r>
            <a:r>
              <a:rPr lang="pt-BR" sz="1200" b="0" dirty="0"/>
              <a:t> utiliza aprendizado de máquina para aprender se</a:t>
            </a:r>
            <a:r>
              <a:rPr lang="pt-BR" sz="1200" b="0" baseline="0" dirty="0"/>
              <a:t> um email é </a:t>
            </a:r>
            <a:r>
              <a:rPr lang="pt-BR" sz="1200" b="0" dirty="0"/>
              <a:t>spam</a:t>
            </a:r>
            <a:r>
              <a:rPr lang="pt-BR" sz="1200" b="0" baseline="0" dirty="0"/>
              <a:t> </a:t>
            </a:r>
            <a:r>
              <a:rPr lang="pt-BR" sz="1200" b="0" dirty="0"/>
              <a:t>(por exemplo, sinalizados por usuários) e exemplos de </a:t>
            </a:r>
            <a:r>
              <a:rPr lang="pt-BR" sz="1200" b="0" dirty="0" err="1"/>
              <a:t>emails</a:t>
            </a:r>
            <a:r>
              <a:rPr lang="pt-BR" sz="1200" b="0" dirty="0"/>
              <a:t> regulares (não spam, também chamados de “</a:t>
            </a:r>
            <a:r>
              <a:rPr lang="pt-BR" sz="1200" b="0" dirty="0" err="1"/>
              <a:t>ham</a:t>
            </a:r>
            <a:r>
              <a:rPr lang="pt-BR" sz="1200" b="0" dirty="0"/>
              <a:t>"). </a:t>
            </a:r>
          </a:p>
          <a:p>
            <a:endParaRPr lang="pt-BR" sz="1200" b="0" dirty="0"/>
          </a:p>
          <a:p>
            <a:r>
              <a:rPr lang="pt-BR" sz="1200" b="0" dirty="0"/>
              <a:t>Os exemplos que o modelo usa para aprender são chamados de </a:t>
            </a:r>
            <a:r>
              <a:rPr lang="pt-BR" sz="1200" b="1" dirty="0"/>
              <a:t>conjunto de treinamento</a:t>
            </a:r>
            <a:r>
              <a:rPr lang="pt-BR" sz="1200" b="0" dirty="0"/>
              <a:t>. Cada </a:t>
            </a:r>
            <a:r>
              <a:rPr lang="pt-BR" sz="1200" b="1" dirty="0"/>
              <a:t>exemplo de treinamento </a:t>
            </a:r>
            <a:r>
              <a:rPr lang="pt-BR" sz="1200" b="0" dirty="0"/>
              <a:t>é chamado de </a:t>
            </a:r>
            <a:r>
              <a:rPr lang="pt-BR" sz="1200" b="1" dirty="0"/>
              <a:t>instância de treinamento </a:t>
            </a:r>
            <a:r>
              <a:rPr lang="pt-BR" sz="1200" b="0" dirty="0"/>
              <a:t>(ou amostra).</a:t>
            </a:r>
          </a:p>
          <a:p>
            <a:endParaRPr lang="pt-BR" sz="1200" b="0" dirty="0"/>
          </a:p>
          <a:p>
            <a:r>
              <a:rPr lang="pt-BR" sz="1200" b="0" dirty="0"/>
              <a:t>Induzir conhecimento através da apresentação de experiências prévias.</a:t>
            </a:r>
          </a:p>
          <a:p>
            <a:endParaRPr lang="pt-BR"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Induzir</a:t>
            </a:r>
            <a:r>
              <a:rPr lang="pt-BR" dirty="0"/>
              <a:t> conhecimento através de experiências prévias.</a:t>
            </a:r>
          </a:p>
          <a:p>
            <a:endParaRPr lang="en-US" sz="1200" b="0" dirty="0"/>
          </a:p>
          <a:p>
            <a:endParaRPr lang="pt-BR" dirty="0"/>
          </a:p>
          <a:p>
            <a:r>
              <a:rPr lang="pt-BR" dirty="0"/>
              <a:t>Através de experiências prévias, induz-se</a:t>
            </a:r>
            <a:r>
              <a:rPr lang="pt-BR" baseline="0" dirty="0"/>
              <a:t> conhecimento nas máquinas</a:t>
            </a:r>
            <a:endParaRPr lang="en-US" dirty="0"/>
          </a:p>
        </p:txBody>
      </p:sp>
      <p:sp>
        <p:nvSpPr>
          <p:cNvPr id="4" name="Espaço Reservado para Número de Slide 3">
            <a:extLst>
              <a:ext uri="{FF2B5EF4-FFF2-40B4-BE49-F238E27FC236}">
                <a16:creationId xmlns:a16="http://schemas.microsoft.com/office/drawing/2014/main" id="{49AD93DE-44EA-D528-1877-4284C88D889C}"/>
              </a:ext>
            </a:extLst>
          </p:cNvPr>
          <p:cNvSpPr>
            <a:spLocks noGrp="1"/>
          </p:cNvSpPr>
          <p:nvPr>
            <p:ph type="sldNum" sz="quarter" idx="10"/>
          </p:nvPr>
        </p:nvSpPr>
        <p:spPr/>
        <p:txBody>
          <a:bodyPr/>
          <a:lstStyle/>
          <a:p>
            <a:fld id="{6FC8D850-966F-45A6-8DE7-15B891E7D40D}" type="slidenum">
              <a:rPr lang="pt-BR" smtClean="0"/>
              <a:t>21</a:t>
            </a:fld>
            <a:endParaRPr lang="pt-BR"/>
          </a:p>
        </p:txBody>
      </p:sp>
    </p:spTree>
    <p:extLst>
      <p:ext uri="{BB962C8B-B14F-4D97-AF65-F5344CB8AC3E}">
        <p14:creationId xmlns:p14="http://schemas.microsoft.com/office/powerpoint/2010/main" val="21064226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Através de treinamento com o conjunto de</a:t>
            </a:r>
            <a:r>
              <a:rPr lang="pt-BR" baseline="0" dirty="0"/>
              <a:t> dados</a:t>
            </a:r>
            <a:r>
              <a:rPr lang="pt-BR" dirty="0"/>
              <a:t>, </a:t>
            </a:r>
          </a:p>
          <a:p>
            <a:endParaRPr lang="pt-BR" dirty="0"/>
          </a:p>
          <a:p>
            <a:r>
              <a:rPr lang="pt-BR" dirty="0"/>
              <a:t>A tradução para "</a:t>
            </a:r>
            <a:r>
              <a:rPr lang="pt-BR" dirty="0" err="1"/>
              <a:t>human</a:t>
            </a:r>
            <a:r>
              <a:rPr lang="pt-BR" dirty="0"/>
              <a:t> </a:t>
            </a:r>
            <a:r>
              <a:rPr lang="pt-BR" dirty="0" err="1"/>
              <a:t>engineered</a:t>
            </a:r>
            <a:r>
              <a:rPr lang="pt-BR" dirty="0"/>
              <a:t>" é "projetado por humanos" ou "desenvolvido por humanos". o algoritmo de ML aprende um modelo que reproduz os resultados esperados e generaliza para entradas não vistas durante o treinamento.</a:t>
            </a:r>
          </a:p>
          <a:p>
            <a:endParaRPr lang="en-US"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22</a:t>
            </a:fld>
            <a:endParaRPr lang="pt-BR"/>
          </a:p>
        </p:txBody>
      </p:sp>
    </p:spTree>
    <p:extLst>
      <p:ext uri="{BB962C8B-B14F-4D97-AF65-F5344CB8AC3E}">
        <p14:creationId xmlns:p14="http://schemas.microsoft.com/office/powerpoint/2010/main" val="639208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Através de treinamento com o conjunto de</a:t>
            </a:r>
            <a:r>
              <a:rPr lang="pt-BR" baseline="0" dirty="0"/>
              <a:t> dados</a:t>
            </a:r>
            <a:r>
              <a:rPr lang="pt-BR" dirty="0"/>
              <a:t>, o algoritmo de ML aprende um modelo que reproduz os resultados esperados e generaliza para entradas não vistas durante o treinamento.</a:t>
            </a:r>
          </a:p>
          <a:p>
            <a:endParaRPr lang="pt-BR" dirty="0"/>
          </a:p>
          <a:p>
            <a:r>
              <a:rPr lang="pt-BR" dirty="0"/>
              <a:t>Então, em vez de você tentar descobrir as regras que agem sobre os dados para lhe dar uma resposta, e se você fizer o contrário e fornecer as respostas com os dados e tiver um computador que pode descobrir as regras que irão combiná-los juntos?</a:t>
            </a:r>
            <a:endParaRPr lang="en-US"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23</a:t>
            </a:fld>
            <a:endParaRPr lang="pt-BR"/>
          </a:p>
        </p:txBody>
      </p:sp>
    </p:spTree>
    <p:extLst>
      <p:ext uri="{BB962C8B-B14F-4D97-AF65-F5344CB8AC3E}">
        <p14:creationId xmlns:p14="http://schemas.microsoft.com/office/powerpoint/2010/main" val="303382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No contexto de aprendizado de máquina, a generalização refere-se à capacidade de um modelo treinado em um conjunto de dados específico de realizar predições precisas e acuradas em dados que nunca foram vistos durante o processo de treinamento.</a:t>
            </a:r>
          </a:p>
          <a:p>
            <a:pPr algn="l"/>
            <a:r>
              <a:rPr lang="pt-BR" b="0" i="0" dirty="0">
                <a:solidFill>
                  <a:srgbClr val="374151"/>
                </a:solidFill>
                <a:effectLst/>
                <a:latin typeface="Söhne"/>
              </a:rPr>
              <a:t>Quando um modelo é treinado em um conjunto de dados, ele busca aprender padrões e regras que governam os relacionamentos entre as entradas e as saídas desse conjunto. A generalização ocorre quando o modelo consegue aplicar esse conhecimento aprendido para fazer predições em novos dados que não foram usados durante o treinamento. Em outras palavras, um modelo generalizado é capaz de "generalizar" o conhecimento adquirido com o conjunto de treinamento para realizar previsões precisas em situações desconhecidas.</a:t>
            </a:r>
          </a:p>
          <a:p>
            <a:pPr algn="l"/>
            <a:r>
              <a:rPr lang="pt-BR" b="0" i="0" dirty="0">
                <a:solidFill>
                  <a:srgbClr val="374151"/>
                </a:solidFill>
                <a:effectLst/>
                <a:latin typeface="Söhne"/>
              </a:rPr>
              <a:t>A generalização é um aspecto crítico do aprendizado de máquina, pois o objetivo é que o modelo seja capaz de lidar efetivamente com dados do mundo real, que podem ser diferentes ou conter variações em relação ao conjunto de treinamento. Um modelo que generaliza bem evita problemas de </a:t>
            </a:r>
            <a:r>
              <a:rPr lang="pt-BR" b="0" i="0" dirty="0" err="1">
                <a:solidFill>
                  <a:srgbClr val="374151"/>
                </a:solidFill>
                <a:effectLst/>
                <a:latin typeface="Söhne"/>
              </a:rPr>
              <a:t>superajuste</a:t>
            </a:r>
            <a:r>
              <a:rPr lang="pt-BR" b="0" i="0" dirty="0">
                <a:solidFill>
                  <a:srgbClr val="374151"/>
                </a:solidFill>
                <a:effectLst/>
                <a:latin typeface="Söhne"/>
              </a:rPr>
              <a:t> (</a:t>
            </a:r>
            <a:r>
              <a:rPr lang="pt-BR" b="0" i="0" dirty="0" err="1">
                <a:solidFill>
                  <a:srgbClr val="374151"/>
                </a:solidFill>
                <a:effectLst/>
                <a:latin typeface="Söhne"/>
              </a:rPr>
              <a:t>overfitting</a:t>
            </a:r>
            <a:r>
              <a:rPr lang="pt-BR" b="0" i="0" dirty="0">
                <a:solidFill>
                  <a:srgbClr val="374151"/>
                </a:solidFill>
                <a:effectLst/>
                <a:latin typeface="Söhne"/>
              </a:rPr>
              <a:t>), onde ele se torna muito específico para o conjunto de treinamento e tem um desempenho inferior em novos dados, ou problemas de </a:t>
            </a:r>
            <a:r>
              <a:rPr lang="pt-BR" b="0" i="0" dirty="0" err="1">
                <a:solidFill>
                  <a:srgbClr val="374151"/>
                </a:solidFill>
                <a:effectLst/>
                <a:latin typeface="Söhne"/>
              </a:rPr>
              <a:t>subajuste</a:t>
            </a:r>
            <a:r>
              <a:rPr lang="pt-BR" b="0" i="0" dirty="0">
                <a:solidFill>
                  <a:srgbClr val="374151"/>
                </a:solidFill>
                <a:effectLst/>
                <a:latin typeface="Söhne"/>
              </a:rPr>
              <a:t> (</a:t>
            </a:r>
            <a:r>
              <a:rPr lang="pt-BR" b="0" i="0" dirty="0" err="1">
                <a:solidFill>
                  <a:srgbClr val="374151"/>
                </a:solidFill>
                <a:effectLst/>
                <a:latin typeface="Söhne"/>
              </a:rPr>
              <a:t>underfitting</a:t>
            </a:r>
            <a:r>
              <a:rPr lang="pt-BR" b="0" i="0" dirty="0">
                <a:solidFill>
                  <a:srgbClr val="374151"/>
                </a:solidFill>
                <a:effectLst/>
                <a:latin typeface="Söhne"/>
              </a:rPr>
              <a:t>), onde ele não captura adequadamente os padrões do conjunto de treinamento e também não tem um desempenho satisfatório em novos dados.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24</a:t>
            </a:fld>
            <a:endParaRPr lang="pt-BR"/>
          </a:p>
        </p:txBody>
      </p:sp>
    </p:spTree>
    <p:extLst>
      <p:ext uri="{BB962C8B-B14F-4D97-AF65-F5344CB8AC3E}">
        <p14:creationId xmlns:p14="http://schemas.microsoft.com/office/powerpoint/2010/main" val="18296323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dirty="0"/>
              <a:t>Recomendação de produtos: IA extrai conhecimento através do comportamento dos clientes e com isso consegue recomendar produtos específicos/customizados para os clientes.</a:t>
            </a:r>
          </a:p>
          <a:p>
            <a:endParaRPr lang="pt-BR" sz="1200" dirty="0"/>
          </a:p>
          <a:p>
            <a:r>
              <a:rPr lang="pt-BR" sz="1200" dirty="0"/>
              <a:t>“Faculdade particular usa robô para corrigir provas e dar nota aos alunos”, </a:t>
            </a:r>
            <a:r>
              <a:rPr lang="pt-BR" sz="1200" dirty="0">
                <a:hlinkClick r:id="rId3"/>
              </a:rPr>
              <a:t>https://cartacampinas.com.br/2020/04/faculdade-particular-usa-robo-para-corrigir-provas-e-dar-nota-aos-alunos/</a:t>
            </a:r>
            <a:endParaRPr lang="pt-BR" sz="1200" dirty="0"/>
          </a:p>
          <a:p>
            <a:endParaRPr lang="pt-BR" sz="1200" dirty="0"/>
          </a:p>
          <a:p>
            <a:r>
              <a:rPr lang="pt-BR" sz="1200" dirty="0"/>
              <a:t>“</a:t>
            </a:r>
            <a:r>
              <a:rPr lang="en-US" sz="1200" dirty="0"/>
              <a:t>Artificial Intelligence May Be Key to Better Weather Forecasts</a:t>
            </a:r>
            <a:r>
              <a:rPr lang="pt-BR" sz="1200" dirty="0"/>
              <a:t>”, https://eos.org/opinions/artificial-intelligence-may-be-key-to-better-we</a:t>
            </a:r>
          </a:p>
          <a:p>
            <a:endParaRPr lang="pt-BR" sz="1200" dirty="0"/>
          </a:p>
          <a:p>
            <a:r>
              <a:rPr lang="pt-BR" sz="1200" dirty="0"/>
              <a:t>“</a:t>
            </a:r>
            <a:r>
              <a:rPr lang="en-US" sz="1200" dirty="0"/>
              <a:t>AI improves fraud detection, prediction and prevention</a:t>
            </a:r>
            <a:r>
              <a:rPr lang="pt-BR" sz="1200" dirty="0"/>
              <a:t>”,</a:t>
            </a:r>
            <a:r>
              <a:rPr lang="pt-BR" sz="1200" baseline="0" dirty="0"/>
              <a:t> </a:t>
            </a:r>
            <a:r>
              <a:rPr lang="pt-BR" sz="1200" dirty="0">
                <a:hlinkClick r:id="rId4"/>
              </a:rPr>
              <a:t>https://www.ibm.com/analytics/fraud-prediction</a:t>
            </a:r>
            <a:r>
              <a:rPr lang="pt-BR" sz="1200" dirty="0">
                <a:hlinkClick r:id="rId5"/>
              </a:rPr>
              <a:t>ather-forecasts</a:t>
            </a:r>
            <a:endParaRPr lang="pt-BR" sz="1200" dirty="0"/>
          </a:p>
          <a:p>
            <a:endParaRPr lang="pt-BR" sz="1200" dirty="0"/>
          </a:p>
          <a:p>
            <a:r>
              <a:rPr lang="pt-BR" sz="1200" dirty="0"/>
              <a:t>“Inteligência artificial ajuda em diagnóstico da covid-19 no Brasil”, </a:t>
            </a:r>
            <a:r>
              <a:rPr lang="pt-BR" sz="1200" dirty="0">
                <a:hlinkClick r:id="rId6"/>
              </a:rPr>
              <a:t>https://www.correiobraziliense.com.br/app/noticia/ciencia-e-saude/2020/08/04/interna_ciencia_saude,878353/inteligencia-artificial-ajuda-em-diagnostico-da-covid-19-no-brasil.shtml</a:t>
            </a:r>
            <a:endParaRPr lang="nl-BE" sz="1200" dirty="0"/>
          </a:p>
          <a:p>
            <a:endParaRPr lang="pt-BR" dirty="0"/>
          </a:p>
          <a:p>
            <a:endParaRPr lang="en-US"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25</a:t>
            </a:fld>
            <a:endParaRPr lang="pt-BR"/>
          </a:p>
        </p:txBody>
      </p:sp>
    </p:spTree>
    <p:extLst>
      <p:ext uri="{BB962C8B-B14F-4D97-AF65-F5344CB8AC3E}">
        <p14:creationId xmlns:p14="http://schemas.microsoft.com/office/powerpoint/2010/main" val="3991930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dirty="0"/>
              <a:t>Estamos vivendo na era da informação. Nessa era, um volume sem precedentes de dados (de </a:t>
            </a:r>
            <a:r>
              <a:rPr lang="pt-BR" sz="1200" dirty="0" err="1"/>
              <a:t>tera</a:t>
            </a:r>
            <a:r>
              <a:rPr lang="pt-BR" sz="1200" dirty="0"/>
              <a:t> a </a:t>
            </a:r>
            <a:r>
              <a:rPr lang="pt-BR" sz="1200" dirty="0" err="1"/>
              <a:t>petabytes</a:t>
            </a:r>
            <a:r>
              <a:rPr lang="pt-BR" sz="1200" dirty="0"/>
              <a:t>) está disponível, impossibilitando sua análise por nós seres humanos. Porém, para modelos de ML, quanto mais dados melhor será o aprendizado.</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Hoje em dia, dados são preciosíssimos e a extração de novas informações (úteis) vale ouro.</a:t>
            </a:r>
            <a:endParaRPr lang="pt-BR" sz="1200" dirty="0"/>
          </a:p>
          <a:p>
            <a:r>
              <a:rPr lang="pt-BR" sz="1200" dirty="0"/>
              <a:t>Surgimento de recursos computacionais poderosos tais como </a:t>
            </a:r>
            <a:r>
              <a:rPr lang="pt-BR" sz="1200" dirty="0" err="1"/>
              <a:t>GPUs</a:t>
            </a:r>
            <a:r>
              <a:rPr lang="pt-BR" sz="1200" dirty="0"/>
              <a:t>, </a:t>
            </a:r>
            <a:r>
              <a:rPr lang="pt-BR" sz="1200" dirty="0" err="1"/>
              <a:t>FPGAs</a:t>
            </a:r>
            <a:r>
              <a:rPr lang="pt-BR" sz="1200" dirty="0"/>
              <a:t>, </a:t>
            </a:r>
            <a:r>
              <a:rPr lang="pt-BR" sz="1200" dirty="0" err="1"/>
              <a:t>CPUs</a:t>
            </a:r>
            <a:r>
              <a:rPr lang="pt-BR" sz="1200" dirty="0"/>
              <a:t> com múltiplos cores.</a:t>
            </a:r>
          </a:p>
          <a:p>
            <a:r>
              <a:rPr lang="pt-BR" sz="1200" dirty="0"/>
              <a:t>Surgimento de novas estratégias de treinamento (i.e., aprendizagem).</a:t>
            </a:r>
          </a:p>
          <a:p>
            <a:r>
              <a:rPr lang="pt-BR" sz="1200" dirty="0"/>
              <a:t>Existência de frameworks e bibliotecas que facilitam o desenvolvimento de soluções com ML.</a:t>
            </a:r>
          </a:p>
          <a:p>
            <a:endParaRPr lang="pt-BR" sz="1200" dirty="0"/>
          </a:p>
          <a:p>
            <a:r>
              <a:rPr lang="pt-BR" sz="1200" b="1" dirty="0"/>
              <a:t>TensorFlow</a:t>
            </a:r>
            <a:r>
              <a:rPr lang="pt-BR" sz="1200" dirty="0"/>
              <a:t> é uma biblioteca de software livre e de código aberto para fluxo de dados e programação diferenciável. É uma biblioteca matemática simbólica e também é usada para aplicativos de aprendizado de máquina, como redes neurais.</a:t>
            </a:r>
          </a:p>
          <a:p>
            <a:endParaRPr lang="pt-BR" sz="1200" dirty="0"/>
          </a:p>
          <a:p>
            <a:r>
              <a:rPr lang="pt-BR" sz="1200" b="1" dirty="0" err="1"/>
              <a:t>Theano</a:t>
            </a:r>
            <a:r>
              <a:rPr lang="pt-BR" sz="1200" dirty="0"/>
              <a:t> é uma biblioteca de computação científica. Foi desenvolvido pela </a:t>
            </a:r>
            <a:r>
              <a:rPr lang="pt-BR" sz="1200" dirty="0" err="1"/>
              <a:t>Université</a:t>
            </a:r>
            <a:r>
              <a:rPr lang="pt-BR" sz="1200" dirty="0"/>
              <a:t> de Montréal e está disponível desde 2007.</a:t>
            </a:r>
          </a:p>
          <a:p>
            <a:endParaRPr lang="pt-BR" sz="1200" dirty="0"/>
          </a:p>
          <a:p>
            <a:r>
              <a:rPr lang="pt-BR" sz="1200" b="1" dirty="0" err="1"/>
              <a:t>PyTorch</a:t>
            </a:r>
            <a:r>
              <a:rPr lang="pt-BR" sz="1200" dirty="0"/>
              <a:t> é uma biblioteca de aprendizado de máquina de código aberto baseada na biblioteca </a:t>
            </a:r>
            <a:r>
              <a:rPr lang="pt-BR" sz="1200" dirty="0" err="1"/>
              <a:t>Torch</a:t>
            </a:r>
            <a:r>
              <a:rPr lang="pt-BR" sz="1200" baseline="0" dirty="0"/>
              <a:t> </a:t>
            </a:r>
            <a:r>
              <a:rPr lang="pt-BR" sz="1200" dirty="0"/>
              <a:t>usada</a:t>
            </a:r>
            <a:r>
              <a:rPr lang="pt-BR" sz="1200" baseline="0" dirty="0"/>
              <a:t> em aplicações de </a:t>
            </a:r>
            <a:r>
              <a:rPr lang="pt-BR" sz="1200" dirty="0"/>
              <a:t>visão computacional e processamento de linguagem natural.</a:t>
            </a:r>
          </a:p>
          <a:p>
            <a:endParaRPr lang="pt-BR" sz="1200" dirty="0"/>
          </a:p>
          <a:p>
            <a:r>
              <a:rPr lang="pt-BR" sz="1200" b="1" dirty="0" err="1"/>
              <a:t>Scikit-learn</a:t>
            </a:r>
            <a:r>
              <a:rPr lang="pt-BR" sz="1200" dirty="0"/>
              <a:t> é uma biblioteca de aprendizado de máquina de software livre para a linguagem de programação Python.</a:t>
            </a:r>
          </a:p>
          <a:p>
            <a:endParaRPr lang="pt-BR" sz="1200" dirty="0"/>
          </a:p>
          <a:p>
            <a:r>
              <a:rPr lang="pt-BR" sz="1200" b="1" dirty="0"/>
              <a:t>Keras</a:t>
            </a:r>
            <a:r>
              <a:rPr lang="pt-BR" sz="1200" dirty="0"/>
              <a:t> é uma biblioteca de rede neural de código aberto escrita em Python. É capaz de rodar sobre TensorFlow, Microsoft </a:t>
            </a:r>
            <a:r>
              <a:rPr lang="pt-BR" sz="1200" dirty="0" err="1"/>
              <a:t>Cognitive</a:t>
            </a:r>
            <a:r>
              <a:rPr lang="pt-BR" sz="1200" dirty="0"/>
              <a:t> Toolkit, R, </a:t>
            </a:r>
            <a:r>
              <a:rPr lang="pt-BR" sz="1200" dirty="0" err="1"/>
              <a:t>Theano</a:t>
            </a:r>
            <a:r>
              <a:rPr lang="pt-BR" sz="1200" dirty="0"/>
              <a:t> ou </a:t>
            </a:r>
            <a:r>
              <a:rPr lang="pt-BR" sz="1200" dirty="0" err="1"/>
              <a:t>PlaidML</a:t>
            </a:r>
            <a:r>
              <a:rPr lang="pt-BR" sz="1200" dirty="0"/>
              <a:t>. Keras foi projetado para permitir experimentação rápida com redes neurais profundas, ele se concentra em ser fácil de usar, modular e extensível.</a:t>
            </a:r>
          </a:p>
          <a:p>
            <a:endParaRPr lang="pt-BR" sz="1200" dirty="0"/>
          </a:p>
          <a:p>
            <a:r>
              <a:rPr lang="pt-BR" sz="1200" b="1" dirty="0"/>
              <a:t>Pandas</a:t>
            </a:r>
            <a:r>
              <a:rPr lang="pt-BR" sz="1200" dirty="0"/>
              <a:t> é uma biblioteca de código aberto criada para a linguagem de programação Python para manipulação e análise de dados. Em particular, oferece estruturas e operações de dados para manipulação de tabelas e séries temporais.</a:t>
            </a:r>
          </a:p>
          <a:p>
            <a:endParaRPr lang="pt-BR" sz="1200" dirty="0"/>
          </a:p>
          <a:p>
            <a:endParaRPr lang="pt-BR" sz="1200" dirty="0"/>
          </a:p>
          <a:p>
            <a:endParaRPr lang="en-US"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26</a:t>
            </a:fld>
            <a:endParaRPr lang="pt-BR"/>
          </a:p>
        </p:txBody>
      </p:sp>
    </p:spTree>
    <p:extLst>
      <p:ext uri="{BB962C8B-B14F-4D97-AF65-F5344CB8AC3E}">
        <p14:creationId xmlns:p14="http://schemas.microsoft.com/office/powerpoint/2010/main" val="38703392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Os algortimos de ML podem ser agrupados de acordo com o tipo de aprendizado que</a:t>
            </a:r>
            <a:r>
              <a:rPr lang="nl-BE" baseline="0" dirty="0"/>
              <a:t> realizam:</a:t>
            </a:r>
          </a:p>
          <a:p>
            <a:r>
              <a:rPr lang="pt-BR" sz="2800" dirty="0"/>
              <a:t>Supervisionado</a:t>
            </a:r>
          </a:p>
          <a:p>
            <a:r>
              <a:rPr lang="pt-BR" sz="2800" dirty="0"/>
              <a:t>Não-Supervisionado</a:t>
            </a:r>
          </a:p>
          <a:p>
            <a:r>
              <a:rPr lang="pt-BR" sz="2800" dirty="0"/>
              <a:t>Semi-Supervisionado</a:t>
            </a:r>
          </a:p>
          <a:p>
            <a:r>
              <a:rPr lang="pt-BR" sz="2800" dirty="0"/>
              <a:t>Por Reforço</a:t>
            </a:r>
          </a:p>
          <a:p>
            <a:r>
              <a:rPr lang="pt-BR" sz="2800" dirty="0" err="1"/>
              <a:t>Metaheurístico</a:t>
            </a:r>
            <a:endParaRPr lang="pt-BR" sz="2800" dirty="0"/>
          </a:p>
          <a:p>
            <a:endParaRPr lang="nl-BE" dirty="0"/>
          </a:p>
        </p:txBody>
      </p:sp>
      <p:sp>
        <p:nvSpPr>
          <p:cNvPr id="4" name="Slide Number Placeholder 3"/>
          <p:cNvSpPr>
            <a:spLocks noGrp="1"/>
          </p:cNvSpPr>
          <p:nvPr>
            <p:ph type="sldNum" sz="quarter" idx="10"/>
          </p:nvPr>
        </p:nvSpPr>
        <p:spPr/>
        <p:txBody>
          <a:bodyPr/>
          <a:lstStyle/>
          <a:p>
            <a:fld id="{6FC8D850-966F-45A6-8DE7-15B891E7D40D}" type="slidenum">
              <a:rPr lang="pt-BR" smtClean="0"/>
              <a:t>27</a:t>
            </a:fld>
            <a:endParaRPr lang="pt-BR"/>
          </a:p>
        </p:txBody>
      </p:sp>
    </p:spTree>
    <p:extLst>
      <p:ext uri="{BB962C8B-B14F-4D97-AF65-F5344CB8AC3E}">
        <p14:creationId xmlns:p14="http://schemas.microsoft.com/office/powerpoint/2010/main" val="18525261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sz="1200" dirty="0"/>
              <a:t>Aprendizado supervisionado é o processo de aprendizado quando a</a:t>
            </a:r>
            <a:r>
              <a:rPr lang="pt-BR" sz="1200" baseline="0" dirty="0"/>
              <a:t> máquina </a:t>
            </a:r>
            <a:r>
              <a:rPr lang="pt-BR" sz="1200" dirty="0"/>
              <a:t>sabe o que aprender, ou seja, os </a:t>
            </a:r>
            <a:r>
              <a:rPr lang="pt-BR" sz="1200" b="1" i="1" dirty="0"/>
              <a:t>rótulos</a:t>
            </a:r>
            <a:r>
              <a:rPr lang="pt-BR" sz="1200" dirty="0"/>
              <a:t> são o que a máquina deve aprender.</a:t>
            </a:r>
          </a:p>
          <a:p>
            <a:pPr marL="171450" indent="-171450">
              <a:buFont typeface="Arial" panose="020B0604020202020204" pitchFamily="34" charset="0"/>
              <a:buChar char="•"/>
            </a:pPr>
            <a:r>
              <a:rPr lang="pt-BR" sz="1200" dirty="0"/>
              <a:t>No </a:t>
            </a:r>
            <a:r>
              <a:rPr lang="pt-BR" sz="1200" b="1" dirty="0"/>
              <a:t>aprendizado supervisionado</a:t>
            </a:r>
            <a:r>
              <a:rPr lang="pt-BR" sz="1200" dirty="0"/>
              <a:t>, os dados de treinamento que você alimenta para o algoritmo incluem as soluções desejadas, chamadas de rótulos</a:t>
            </a:r>
            <a:endParaRPr lang="pt-BR" sz="1200" dirty="0">
              <a:cs typeface="Calibri"/>
            </a:endParaRPr>
          </a:p>
          <a:p>
            <a:pPr marL="171450" indent="-171450">
              <a:buFont typeface="Arial" panose="020B0604020202020204" pitchFamily="34" charset="0"/>
              <a:buChar char="•"/>
            </a:pPr>
            <a:r>
              <a:rPr lang="pt-BR" sz="1200" dirty="0"/>
              <a:t>Por exemplo, a algoritmo de ML do filtro de spam, tem como entrada o email (</a:t>
            </a:r>
            <a:r>
              <a:rPr lang="pt-BR" sz="1200" b="1" dirty="0"/>
              <a:t>atributos</a:t>
            </a:r>
            <a:r>
              <a:rPr lang="pt-BR" sz="1200" dirty="0"/>
              <a:t> são: remetente, assunto, corpo do email, horário recebido) e um </a:t>
            </a:r>
            <a:r>
              <a:rPr lang="pt-BR" sz="1200" b="1" dirty="0"/>
              <a:t>rótulo</a:t>
            </a:r>
            <a:r>
              <a:rPr lang="pt-BR" sz="1200" dirty="0"/>
              <a:t> dizendo se aquele é ou não um spam.</a:t>
            </a:r>
          </a:p>
          <a:p>
            <a:pPr marL="171450" indent="-171450">
              <a:buFont typeface="Arial" panose="020B0604020202020204" pitchFamily="34" charset="0"/>
              <a:buChar char="•"/>
            </a:pPr>
            <a:r>
              <a:rPr lang="pt-BR" sz="1200" dirty="0"/>
              <a:t>Analogia com trabalho, onde você tem alguém supervisionando seu trabalho e dizendo se o que foi feito está ou não correto.</a:t>
            </a:r>
          </a:p>
          <a:p>
            <a:pPr marL="171450" indent="-171450">
              <a:buFont typeface="Arial" panose="020B0604020202020204" pitchFamily="34" charset="0"/>
              <a:buChar char="•"/>
            </a:pPr>
            <a:r>
              <a:rPr lang="pt-BR" sz="1200" dirty="0"/>
              <a:t>Exemplos de </a:t>
            </a:r>
            <a:r>
              <a:rPr lang="pt-BR" sz="1200" b="1" dirty="0"/>
              <a:t>regressão</a:t>
            </a:r>
            <a:r>
              <a:rPr lang="pt-BR" sz="1200" dirty="0"/>
              <a:t>: predição de quando o número de leitos de UTI vão se esgotar devido a uma pandemia, predição do preço de ações, predição do preço de imóveis, no caso de engenharia aproximação da PDF de uma variável aleatória com PDF desconhecida, predição do path-loss.</a:t>
            </a:r>
          </a:p>
          <a:p>
            <a:pPr marL="316188" indent="-316188">
              <a:buFont typeface="Arial" panose="020B0604020202020204" pitchFamily="34" charset="0"/>
              <a:buChar char="•"/>
            </a:pPr>
            <a:endParaRPr lang="pt-BR" sz="1200" u="none" dirty="0"/>
          </a:p>
          <a:p>
            <a:endParaRPr lang="pt-BR" dirty="0"/>
          </a:p>
        </p:txBody>
      </p:sp>
      <p:sp>
        <p:nvSpPr>
          <p:cNvPr id="4" name="Slide Number Placeholder 3"/>
          <p:cNvSpPr>
            <a:spLocks noGrp="1"/>
          </p:cNvSpPr>
          <p:nvPr>
            <p:ph type="sldNum" sz="quarter" idx="10"/>
          </p:nvPr>
        </p:nvSpPr>
        <p:spPr/>
        <p:txBody>
          <a:bodyPr/>
          <a:lstStyle/>
          <a:p>
            <a:fld id="{6FC8D850-966F-45A6-8DE7-15B891E7D40D}" type="slidenum">
              <a:rPr lang="pt-BR" smtClean="0"/>
              <a:t>28</a:t>
            </a:fld>
            <a:endParaRPr lang="pt-BR"/>
          </a:p>
        </p:txBody>
      </p:sp>
    </p:spTree>
    <p:extLst>
      <p:ext uri="{BB962C8B-B14F-4D97-AF65-F5344CB8AC3E}">
        <p14:creationId xmlns:p14="http://schemas.microsoft.com/office/powerpoint/2010/main" val="9694167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sz="1200" dirty="0"/>
              <a:t>Aprendizado supervisionado é o processo de aprendizado quando a</a:t>
            </a:r>
            <a:r>
              <a:rPr lang="pt-BR" sz="1200" baseline="0" dirty="0"/>
              <a:t> máquina </a:t>
            </a:r>
            <a:r>
              <a:rPr lang="pt-BR" sz="1200" dirty="0"/>
              <a:t>sabe o que aprender, ou seja, os </a:t>
            </a:r>
            <a:r>
              <a:rPr lang="pt-BR" sz="1200" b="1" i="1" dirty="0"/>
              <a:t>rótulos</a:t>
            </a:r>
            <a:r>
              <a:rPr lang="pt-BR" sz="1200" dirty="0"/>
              <a:t> são o que a máquina deve aprender.</a:t>
            </a:r>
          </a:p>
          <a:p>
            <a:pPr marL="171450" indent="-171450">
              <a:buFont typeface="Arial" panose="020B0604020202020204" pitchFamily="34" charset="0"/>
              <a:buChar char="•"/>
            </a:pPr>
            <a:r>
              <a:rPr lang="pt-BR" sz="1200" dirty="0"/>
              <a:t>No </a:t>
            </a:r>
            <a:r>
              <a:rPr lang="pt-BR" sz="1200" b="1" dirty="0"/>
              <a:t>aprendizado supervisionado</a:t>
            </a:r>
            <a:r>
              <a:rPr lang="pt-BR" sz="1200" dirty="0"/>
              <a:t>, os dados de treinamento que você alimenta para o algoritmo incluem as soluções desejadas, chamadas de rótulos</a:t>
            </a:r>
            <a:endParaRPr lang="pt-BR" sz="1200" dirty="0">
              <a:cs typeface="Calibri"/>
            </a:endParaRPr>
          </a:p>
          <a:p>
            <a:pPr marL="171450" indent="-171450">
              <a:buFont typeface="Arial" panose="020B0604020202020204" pitchFamily="34" charset="0"/>
              <a:buChar char="•"/>
            </a:pPr>
            <a:r>
              <a:rPr lang="pt-BR" sz="1200" dirty="0"/>
              <a:t>Por exemplo, a algoritmo de ML do filtro de spam, tem como entrada o email (</a:t>
            </a:r>
            <a:r>
              <a:rPr lang="pt-BR" sz="1200" b="1" dirty="0"/>
              <a:t>atributos</a:t>
            </a:r>
            <a:r>
              <a:rPr lang="pt-BR" sz="1200" dirty="0"/>
              <a:t> são: remetente, assunto, corpo do email, horário recebido) e um </a:t>
            </a:r>
            <a:r>
              <a:rPr lang="pt-BR" sz="1200" b="1" dirty="0"/>
              <a:t>rótulo</a:t>
            </a:r>
            <a:r>
              <a:rPr lang="pt-BR" sz="1200" dirty="0"/>
              <a:t> dizendo se aquele é ou não um spam.</a:t>
            </a:r>
          </a:p>
          <a:p>
            <a:pPr marL="171450" indent="-171450">
              <a:buFont typeface="Arial" panose="020B0604020202020204" pitchFamily="34" charset="0"/>
              <a:buChar char="•"/>
            </a:pPr>
            <a:r>
              <a:rPr lang="pt-BR" sz="1200" dirty="0"/>
              <a:t>Analogia com trabalho, onde você tem alguém supervisionando seu trabalho e dizendo se o que foi feito está ou não correto.</a:t>
            </a:r>
          </a:p>
          <a:p>
            <a:pPr marL="171450" indent="-171450">
              <a:buFont typeface="Arial" panose="020B0604020202020204" pitchFamily="34" charset="0"/>
              <a:buChar char="•"/>
            </a:pPr>
            <a:r>
              <a:rPr lang="pt-BR" sz="1200" dirty="0"/>
              <a:t>Exemplos de </a:t>
            </a:r>
            <a:r>
              <a:rPr lang="pt-BR" sz="1200" b="1" dirty="0"/>
              <a:t>regressão</a:t>
            </a:r>
            <a:r>
              <a:rPr lang="pt-BR" sz="1200" dirty="0"/>
              <a:t>: predição de quando o número de leitos de UTI vão se esgotar devido a uma pandemia, predição do preço de ações, predição do preço de imóveis, no caso de engenharia aproximação da PDF de uma variável aleatória com PDF desconhecida, predição do path-loss.</a:t>
            </a:r>
          </a:p>
          <a:p>
            <a:pPr marL="316188" indent="-316188">
              <a:buFont typeface="Arial" panose="020B0604020202020204" pitchFamily="34" charset="0"/>
              <a:buChar char="•"/>
            </a:pPr>
            <a:endParaRPr lang="pt-BR" sz="1200" u="none" dirty="0"/>
          </a:p>
          <a:p>
            <a:endParaRPr lang="pt-BR" dirty="0"/>
          </a:p>
        </p:txBody>
      </p:sp>
      <p:sp>
        <p:nvSpPr>
          <p:cNvPr id="4" name="Slide Number Placeholder 3"/>
          <p:cNvSpPr>
            <a:spLocks noGrp="1"/>
          </p:cNvSpPr>
          <p:nvPr>
            <p:ph type="sldNum" sz="quarter" idx="10"/>
          </p:nvPr>
        </p:nvSpPr>
        <p:spPr/>
        <p:txBody>
          <a:bodyPr/>
          <a:lstStyle/>
          <a:p>
            <a:fld id="{6FC8D850-966F-45A6-8DE7-15B891E7D40D}" type="slidenum">
              <a:rPr lang="pt-BR" smtClean="0"/>
              <a:t>29</a:t>
            </a:fld>
            <a:endParaRPr lang="pt-BR"/>
          </a:p>
        </p:txBody>
      </p:sp>
    </p:spTree>
    <p:extLst>
      <p:ext uri="{BB962C8B-B14F-4D97-AF65-F5344CB8AC3E}">
        <p14:creationId xmlns:p14="http://schemas.microsoft.com/office/powerpoint/2010/main" val="39263849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171450" indent="-171450">
              <a:buFont typeface="Arial" panose="020B0604020202020204" pitchFamily="34" charset="0"/>
              <a:buChar char="•"/>
            </a:pPr>
            <a:r>
              <a:rPr lang="pt-BR" sz="1200" b="1" dirty="0"/>
              <a:t>Clusterização: </a:t>
            </a:r>
            <a:r>
              <a:rPr lang="pt-BR" sz="1200" dirty="0"/>
              <a:t>tarefa de agrupar automaticamente os dados de entrada (i.e., features) em grupos</a:t>
            </a:r>
            <a:r>
              <a:rPr lang="pt-BR" sz="1200" baseline="0" dirty="0"/>
              <a:t>/clusters</a:t>
            </a:r>
            <a:r>
              <a:rPr lang="pt-BR" sz="1200" dirty="0"/>
              <a:t>. O</a:t>
            </a:r>
            <a:r>
              <a:rPr lang="pt-BR" sz="1200" baseline="0" dirty="0"/>
              <a:t> grupo </a:t>
            </a:r>
            <a:r>
              <a:rPr lang="pt-BR" sz="1200" dirty="0"/>
              <a:t>é o rótulo que é determinado para os dados de entrada fornecidos. Ou seja, podemos dizer que a clusterização tem como objetivo fazer com que a máquina aprenda/encontre classes/grupos e</a:t>
            </a:r>
            <a:r>
              <a:rPr lang="pt-BR" sz="1200" baseline="0" dirty="0"/>
              <a:t> rotule as features.</a:t>
            </a:r>
          </a:p>
          <a:p>
            <a:pPr marL="628650" lvl="1" indent="-171450">
              <a:buFont typeface="Arial" panose="020B0604020202020204" pitchFamily="34" charset="0"/>
              <a:buChar char="•"/>
            </a:pPr>
            <a:r>
              <a:rPr lang="pt-BR" sz="1200" b="1" baseline="0" dirty="0"/>
              <a:t>Exemplo de aplicação</a:t>
            </a:r>
            <a:r>
              <a:rPr lang="pt-BR" sz="1200" baseline="0" dirty="0"/>
              <a:t>: Agrupar/encontrar grupos de clientes que são similares em termos de comportamento ou características para envio de propaganda personalizada.</a:t>
            </a:r>
          </a:p>
          <a:p>
            <a:pPr marL="171450" indent="-171450">
              <a:buFont typeface="Arial" panose="020B0604020202020204" pitchFamily="34" charset="0"/>
              <a:buChar char="•"/>
            </a:pPr>
            <a:r>
              <a:rPr lang="pt-BR" sz="1200" b="1" baseline="0" dirty="0"/>
              <a:t>Redução de dimensionalidade</a:t>
            </a:r>
            <a:r>
              <a:rPr lang="pt-BR" sz="1200" baseline="0" dirty="0"/>
              <a:t>: como o próprio nome já diz, tem por objetivo encontrar formas eficientes de representação das entradas/features, ou seja, aprender vetores de saída com menor dimensão mas que ainda representem bem o vetor de entrada.</a:t>
            </a:r>
          </a:p>
          <a:p>
            <a:pPr marL="628650" lvl="1" indent="-171450">
              <a:buFont typeface="Arial" panose="020B0604020202020204" pitchFamily="34" charset="0"/>
              <a:buChar char="•"/>
            </a:pPr>
            <a:r>
              <a:rPr lang="pt-BR" sz="1200" b="1" baseline="0" dirty="0"/>
              <a:t>Exemplo de aplicação</a:t>
            </a:r>
            <a:r>
              <a:rPr lang="pt-BR" sz="1200" b="0" baseline="0" dirty="0"/>
              <a:t>: Em reconhecimento de faces, os atributos possuem grandes dimensões (ou seja, são vetores grandes ) o que dificulta o treinamento de algoritmos de ML, portanto, diminuindo-se a dimensão das features pode-se diminuir o tempo de treinamento sem afetar muito a performance do algoritmo utilizado.</a:t>
            </a:r>
          </a:p>
          <a:p>
            <a:pPr marL="171450" indent="-171450">
              <a:buFont typeface="Arial" panose="020B0604020202020204" pitchFamily="34" charset="0"/>
              <a:buChar char="•"/>
            </a:pPr>
            <a:r>
              <a:rPr lang="pt-BR" sz="1200" b="1" baseline="0" dirty="0"/>
              <a:t>Aumento de dimensionalidade</a:t>
            </a:r>
            <a:r>
              <a:rPr lang="pt-BR" sz="1200" baseline="0" dirty="0"/>
              <a:t>: aprender vetores de saída que possuam uma dimensão maior, aumentando a quantidade de informação sobre aquele vetor.</a:t>
            </a:r>
          </a:p>
          <a:p>
            <a:pPr marL="628650" lvl="1" indent="-171450">
              <a:buFont typeface="Arial" panose="020B0604020202020204" pitchFamily="34" charset="0"/>
              <a:buChar char="•"/>
            </a:pPr>
            <a:r>
              <a:rPr lang="pt-BR" sz="1200" b="1" baseline="0" dirty="0"/>
              <a:t>Exemplo de aplicação</a:t>
            </a:r>
            <a:r>
              <a:rPr lang="pt-BR" sz="1200" b="0" baseline="0" dirty="0"/>
              <a:t>: Em sistemas de comunicação digital o aumento de dimensionalidade é utilizado para encontrar </a:t>
            </a:r>
            <a:r>
              <a:rPr lang="pt-BR" sz="1200" b="0" i="1" baseline="0" dirty="0"/>
              <a:t>palavras código (code words)</a:t>
            </a:r>
            <a:r>
              <a:rPr lang="pt-BR" sz="1200" b="0" i="0" baseline="0" dirty="0"/>
              <a:t> ótimas para um canal sem fio, ou seja, esse tipo de aprendizado encontra um vetor que possui informações adicionais (redundância) que consequentemente aumenta a chances de decodificação bem sucedida da mensagem transmitida. </a:t>
            </a:r>
            <a:endParaRPr lang="pt-BR" sz="1200" b="0" i="1" baseline="0" dirty="0"/>
          </a:p>
          <a:p>
            <a:pPr marL="171450" lvl="0" indent="-171450">
              <a:buFont typeface="Arial" panose="020B0604020202020204" pitchFamily="34" charset="0"/>
              <a:buChar char="•"/>
            </a:pPr>
            <a:r>
              <a:rPr lang="pt-BR" sz="1200" b="1" baseline="0" dirty="0"/>
              <a:t>Detecção de Anomalias</a:t>
            </a:r>
            <a:r>
              <a:rPr lang="pt-BR" sz="1200" baseline="0" dirty="0"/>
              <a:t>: detecta se uma nova observação (i.e., atributos ou exemplos) pertence à mesma distribuição que as observações anteriores. Identificação de features que levantam suspeitas por serem significativamente diferentes da maioria dos dados. </a:t>
            </a:r>
          </a:p>
          <a:p>
            <a:pPr marL="628650" lvl="1" indent="-171450">
              <a:buFont typeface="Arial" panose="020B0604020202020204" pitchFamily="34" charset="0"/>
              <a:buChar char="•"/>
            </a:pPr>
            <a:r>
              <a:rPr lang="pt-BR" sz="1200" b="1" baseline="0" dirty="0"/>
              <a:t>Exemplo de aplicação</a:t>
            </a:r>
            <a:r>
              <a:rPr lang="pt-BR" sz="1200" baseline="0" dirty="0"/>
              <a:t>: detecção de </a:t>
            </a:r>
            <a:r>
              <a:rPr lang="pt-BR" sz="1200" dirty="0"/>
              <a:t>fraude bancária, fake news, defeito estrutural, problemas médicos, erros em um texto, controle de qualidade em fábricas, etc.</a:t>
            </a:r>
          </a:p>
          <a:p>
            <a:pPr marL="171450" indent="-171450">
              <a:buFont typeface="Arial" panose="020B0604020202020204" pitchFamily="34" charset="0"/>
              <a:buChar char="•"/>
            </a:pPr>
            <a:r>
              <a:rPr lang="pt-BR" sz="1200" b="1" dirty="0">
                <a:cs typeface="Calibri"/>
              </a:rPr>
              <a:t>Regras de associação</a:t>
            </a:r>
            <a:r>
              <a:rPr lang="pt-BR" sz="1200" dirty="0">
                <a:cs typeface="Calibri"/>
              </a:rPr>
              <a:t>: tarefa de associar as entradas (i.e., atributos ou exemplos), encontrando regras que descrevam os dados de entrada.</a:t>
            </a:r>
          </a:p>
          <a:p>
            <a:pPr marL="628650" lvl="1" indent="-171450">
              <a:buFont typeface="Arial" panose="020B0604020202020204" pitchFamily="34" charset="0"/>
              <a:buChar char="•"/>
            </a:pPr>
            <a:r>
              <a:rPr lang="pt-BR" sz="1200" b="1" baseline="0" dirty="0"/>
              <a:t>Exemplo de aplicação</a:t>
            </a:r>
            <a:r>
              <a:rPr lang="pt-BR" sz="1200" baseline="0" dirty="0"/>
              <a:t>: Localização de itens em supermercados. Por exemplo, o algoritmo pode encontrar uma regra de associação que diz que mais de 70% dos clientes que compram leite também compram pão e portanto, o supermercado pode colocar ambos produtos próximos uns dos outros, aumentando a chance da venda desses produtos.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dirty="0"/>
              <a:t>Num supermercado, baseado em várias características do que foi comprado o algoritmo poderia encontrar um cluster/grupo de homens que compram fraldas e que também compram cerveja, e o supermercado poderia colocar essas mercadorias juntas.</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30</a:t>
            </a:fld>
            <a:endParaRPr lang="pt-BR"/>
          </a:p>
        </p:txBody>
      </p:sp>
    </p:spTree>
    <p:extLst>
      <p:ext uri="{BB962C8B-B14F-4D97-AF65-F5344CB8AC3E}">
        <p14:creationId xmlns:p14="http://schemas.microsoft.com/office/powerpoint/2010/main" val="35447294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171450" indent="-171450">
              <a:buFont typeface="Arial" panose="020B0604020202020204" pitchFamily="34" charset="0"/>
              <a:buChar char="•"/>
            </a:pPr>
            <a:r>
              <a:rPr lang="pt-BR" sz="1200" b="1" dirty="0"/>
              <a:t>Clusterização: </a:t>
            </a:r>
            <a:r>
              <a:rPr lang="pt-BR" sz="1200" dirty="0"/>
              <a:t>tarefa de agrupar automaticamente os dados de entrada (i.e., </a:t>
            </a:r>
            <a:r>
              <a:rPr lang="pt-BR" sz="1200" dirty="0" err="1"/>
              <a:t>features</a:t>
            </a:r>
            <a:r>
              <a:rPr lang="pt-BR" sz="1200" dirty="0"/>
              <a:t>) em grupos</a:t>
            </a:r>
            <a:r>
              <a:rPr lang="pt-BR" sz="1200" baseline="0" dirty="0"/>
              <a:t>/clusters</a:t>
            </a:r>
            <a:r>
              <a:rPr lang="pt-BR" sz="1200" dirty="0"/>
              <a:t>. O</a:t>
            </a:r>
            <a:r>
              <a:rPr lang="pt-BR" sz="1200" baseline="0" dirty="0"/>
              <a:t> grupo </a:t>
            </a:r>
            <a:r>
              <a:rPr lang="pt-BR" sz="1200" dirty="0"/>
              <a:t>é o rótulo que é determinado para os dados de entrada fornecidos. Ou seja, podemos dizer que a clusterização tem como objetivo fazer com que a máquina aprenda/encontre classes/grupos e</a:t>
            </a:r>
            <a:r>
              <a:rPr lang="pt-BR" sz="1200" baseline="0" dirty="0"/>
              <a:t> rotule as </a:t>
            </a:r>
            <a:r>
              <a:rPr lang="pt-BR" sz="1200" baseline="0" dirty="0" err="1"/>
              <a:t>features</a:t>
            </a:r>
            <a:r>
              <a:rPr lang="pt-BR" sz="1200" baseline="0" dirty="0"/>
              <a:t>.</a:t>
            </a:r>
          </a:p>
          <a:p>
            <a:pPr marL="628650" lvl="1" indent="-171450">
              <a:buFont typeface="Arial" panose="020B0604020202020204" pitchFamily="34" charset="0"/>
              <a:buChar char="•"/>
            </a:pPr>
            <a:r>
              <a:rPr lang="pt-BR" sz="1200" b="1" baseline="0" dirty="0"/>
              <a:t>Exemplo de aplicação</a:t>
            </a:r>
            <a:r>
              <a:rPr lang="pt-BR" sz="1200" baseline="0" dirty="0"/>
              <a:t>: Agrupar/encontrar grupos de clientes que são similares em termos de comportamento ou características para envio de propaganda personalizada.</a:t>
            </a:r>
          </a:p>
          <a:p>
            <a:pPr marL="171450" indent="-171450">
              <a:buFont typeface="Arial" panose="020B0604020202020204" pitchFamily="34" charset="0"/>
              <a:buChar char="•"/>
            </a:pPr>
            <a:r>
              <a:rPr lang="pt-BR" sz="1200" b="1" baseline="0" dirty="0"/>
              <a:t>Redução de dimensionalidade</a:t>
            </a:r>
            <a:r>
              <a:rPr lang="pt-BR" sz="1200" baseline="0" dirty="0"/>
              <a:t>: como o próprio nome já diz, tem por objetivo encontrar formas eficientes de representação das entradas/</a:t>
            </a:r>
            <a:r>
              <a:rPr lang="pt-BR" sz="1200" baseline="0" dirty="0" err="1"/>
              <a:t>features</a:t>
            </a:r>
            <a:r>
              <a:rPr lang="pt-BR" sz="1200" baseline="0" dirty="0"/>
              <a:t>, ou seja, aprender vetores de saída com menor dimensão mas que ainda representem bem o vetor de entrada (ou seja, sem perder muito da informação contida nos dados originais).</a:t>
            </a:r>
          </a:p>
          <a:p>
            <a:pPr marL="628650" lvl="1" indent="-171450">
              <a:buFont typeface="Arial" panose="020B0604020202020204" pitchFamily="34" charset="0"/>
              <a:buChar char="•"/>
            </a:pPr>
            <a:r>
              <a:rPr lang="pt-BR" sz="1200" b="1" baseline="0" dirty="0"/>
              <a:t>Exemplo de aplicação</a:t>
            </a:r>
            <a:r>
              <a:rPr lang="pt-BR" sz="1200" b="0" baseline="0" dirty="0"/>
              <a:t>: Em reconhecimento de faces, os atributos possuem grandes dimensões (ou seja, são vetores grandes ) o que dificulta o treinamento de algoritmos de ML, portanto, diminuindo-se a dimensão das </a:t>
            </a:r>
            <a:r>
              <a:rPr lang="pt-BR" sz="1200" b="0" baseline="0" dirty="0" err="1"/>
              <a:t>features</a:t>
            </a:r>
            <a:r>
              <a:rPr lang="pt-BR" sz="1200" b="0" baseline="0" dirty="0"/>
              <a:t> pode-se diminuir o tempo de treinamento sem afetar muito a performance do algoritmo utilizado.</a:t>
            </a:r>
          </a:p>
          <a:p>
            <a:pPr marL="171450" indent="-171450">
              <a:buFont typeface="Arial" panose="020B0604020202020204" pitchFamily="34" charset="0"/>
              <a:buChar char="•"/>
            </a:pPr>
            <a:r>
              <a:rPr lang="pt-BR" sz="1200" b="1" baseline="0" dirty="0"/>
              <a:t>Aumento de dimensionalidade</a:t>
            </a:r>
            <a:r>
              <a:rPr lang="pt-BR" sz="1200" baseline="0" dirty="0"/>
              <a:t>: aprender vetores de saída que possuam uma dimensão maior, aumentando a quantidade de informação sobre aquele vetor.</a:t>
            </a:r>
          </a:p>
          <a:p>
            <a:pPr marL="628650" lvl="1" indent="-171450">
              <a:buFont typeface="Arial" panose="020B0604020202020204" pitchFamily="34" charset="0"/>
              <a:buChar char="•"/>
            </a:pPr>
            <a:r>
              <a:rPr lang="pt-BR" sz="1200" b="1" baseline="0" dirty="0"/>
              <a:t>Exemplo de aplicação</a:t>
            </a:r>
            <a:r>
              <a:rPr lang="pt-BR" sz="1200" b="0" baseline="0" dirty="0"/>
              <a:t>: Em sistemas de comunicação digital o aumento de dimensionalidade é utilizado para encontrar </a:t>
            </a:r>
            <a:r>
              <a:rPr lang="pt-BR" sz="1200" b="0" i="1" baseline="0" dirty="0"/>
              <a:t>palavras código (</a:t>
            </a:r>
            <a:r>
              <a:rPr lang="pt-BR" sz="1200" b="0" i="1" baseline="0" dirty="0" err="1"/>
              <a:t>code</a:t>
            </a:r>
            <a:r>
              <a:rPr lang="pt-BR" sz="1200" b="0" i="1" baseline="0" dirty="0"/>
              <a:t> words)</a:t>
            </a:r>
            <a:r>
              <a:rPr lang="pt-BR" sz="1200" b="0" i="0" baseline="0" dirty="0"/>
              <a:t> ótimas para um canal sem fio, ou seja, esse tipo de aprendizado encontra um vetor que possui informações adicionais (redundância) que consequentemente aumenta a chances de decodificação bem sucedida da mensagem transmitida. </a:t>
            </a:r>
            <a:endParaRPr lang="pt-BR" sz="1200" b="0" i="1" baseline="0" dirty="0"/>
          </a:p>
          <a:p>
            <a:pPr marL="171450" lvl="0" indent="-171450">
              <a:buFont typeface="Arial" panose="020B0604020202020204" pitchFamily="34" charset="0"/>
              <a:buChar char="•"/>
            </a:pPr>
            <a:r>
              <a:rPr lang="pt-BR" sz="1200" b="1" baseline="0" dirty="0"/>
              <a:t>Detecção de Anomalias</a:t>
            </a:r>
            <a:r>
              <a:rPr lang="pt-BR" sz="1200" baseline="0" dirty="0"/>
              <a:t>: detecta se uma nova observação (i.e., atributos ou exemplos) pertence à mesma distribuição que as observações anteriores. Identificação de </a:t>
            </a:r>
            <a:r>
              <a:rPr lang="pt-BR" sz="1200" baseline="0" dirty="0" err="1"/>
              <a:t>features</a:t>
            </a:r>
            <a:r>
              <a:rPr lang="pt-BR" sz="1200" baseline="0" dirty="0"/>
              <a:t> que levantam suspeitas por serem significativamente diferentes da maioria dos dados. </a:t>
            </a:r>
          </a:p>
          <a:p>
            <a:pPr marL="628650" lvl="1" indent="-171450">
              <a:buFont typeface="Arial" panose="020B0604020202020204" pitchFamily="34" charset="0"/>
              <a:buChar char="•"/>
            </a:pPr>
            <a:r>
              <a:rPr lang="pt-BR" sz="1200" b="1" baseline="0" dirty="0"/>
              <a:t>Exemplo de aplicação</a:t>
            </a:r>
            <a:r>
              <a:rPr lang="pt-BR" sz="1200" baseline="0" dirty="0"/>
              <a:t>: detecção de </a:t>
            </a:r>
            <a:r>
              <a:rPr lang="pt-BR" sz="1200" dirty="0"/>
              <a:t>fraude bancária, fake </a:t>
            </a:r>
            <a:r>
              <a:rPr lang="pt-BR" sz="1200" dirty="0" err="1"/>
              <a:t>news</a:t>
            </a:r>
            <a:r>
              <a:rPr lang="pt-BR" sz="1200" dirty="0"/>
              <a:t>, defeito estrutural, problemas médicos, erros em um texto, controle de qualidade em fábricas, etc.</a:t>
            </a:r>
          </a:p>
          <a:p>
            <a:pPr marL="171450" indent="-171450">
              <a:buFont typeface="Arial" panose="020B0604020202020204" pitchFamily="34" charset="0"/>
              <a:buChar char="•"/>
            </a:pPr>
            <a:r>
              <a:rPr lang="pt-BR" sz="1200" b="1" dirty="0">
                <a:cs typeface="Calibri"/>
              </a:rPr>
              <a:t>Regras de associação</a:t>
            </a:r>
            <a:r>
              <a:rPr lang="pt-BR" sz="1200" dirty="0">
                <a:cs typeface="Calibri"/>
              </a:rPr>
              <a:t>: tarefa de associar as entradas (i.e., atributos ou exemplos), encontrando regras que descrevam os dados de entrada.</a:t>
            </a:r>
          </a:p>
          <a:p>
            <a:pPr marL="628650" lvl="1" indent="-171450">
              <a:buFont typeface="Arial" panose="020B0604020202020204" pitchFamily="34" charset="0"/>
              <a:buChar char="•"/>
            </a:pPr>
            <a:r>
              <a:rPr lang="pt-BR" sz="1200" b="1" baseline="0" dirty="0"/>
              <a:t>Exemplo de aplicação</a:t>
            </a:r>
            <a:r>
              <a:rPr lang="pt-BR" sz="1200" baseline="0" dirty="0"/>
              <a:t>: Localização de itens em supermercados. Por exemplo, o algoritmo pode encontrar uma regra de associação que diz que mais de 70% dos clientes que compram leite também compram pão e portanto, o supermercado pode colocar ambos produtos próximos uns dos outros, aumentando a chance da venda desses produtos.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dirty="0"/>
              <a:t>Num supermercado, baseado em várias características do que foi comprado o algoritmo poderia encontrar um cluster/grupo de homens que compram fraldas e que também compram cerveja, e o supermercado poderia colocar essas mercadorias juntas.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31</a:t>
            </a:fld>
            <a:endParaRPr lang="pt-BR"/>
          </a:p>
        </p:txBody>
      </p:sp>
    </p:spTree>
    <p:extLst>
      <p:ext uri="{BB962C8B-B14F-4D97-AF65-F5344CB8AC3E}">
        <p14:creationId xmlns:p14="http://schemas.microsoft.com/office/powerpoint/2010/main" val="35911727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sz="1200" b="0" i="0" dirty="0"/>
              <a:t>Aprendizado por reforço pode ser entendido como o problema em que um </a:t>
            </a:r>
            <a:r>
              <a:rPr lang="pt-BR" sz="1200" b="1" i="1" dirty="0"/>
              <a:t>agente</a:t>
            </a:r>
            <a:r>
              <a:rPr lang="pt-BR" sz="1200" b="0" i="0" dirty="0"/>
              <a:t> deve aprender como se comportar em um </a:t>
            </a:r>
            <a:r>
              <a:rPr lang="pt-BR" sz="1200" b="1" i="1" dirty="0"/>
              <a:t>ambiente</a:t>
            </a:r>
            <a:r>
              <a:rPr lang="pt-BR" sz="1200" b="0" i="0" dirty="0"/>
              <a:t> através de interações do tipo “tentativa e erro”.</a:t>
            </a:r>
          </a:p>
          <a:p>
            <a:pPr marL="171450" indent="-171450">
              <a:buFont typeface="Arial" panose="020B0604020202020204" pitchFamily="34" charset="0"/>
              <a:buChar char="•"/>
            </a:pPr>
            <a:r>
              <a:rPr lang="pt-BR" sz="1200" b="0" i="0" dirty="0"/>
              <a:t>O</a:t>
            </a:r>
            <a:r>
              <a:rPr lang="pt-BR" sz="1200" b="0" i="0" baseline="0" dirty="0"/>
              <a:t> </a:t>
            </a:r>
            <a:r>
              <a:rPr lang="pt-BR" sz="1200" b="1" i="1" baseline="0" dirty="0"/>
              <a:t>agente</a:t>
            </a:r>
            <a:r>
              <a:rPr lang="pt-BR" sz="1200" b="0" i="0" baseline="0" dirty="0"/>
              <a:t> tem como objetivo aprender/construir um modelo do ambiente em que está inserido através de interações do tipo “tentativa e erro”, ou seja, ele observa o ambiente, escolhe uma ação e aguarda o resultado da ação (reforço positivo ou negativo).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dirty="0"/>
              <a:t>O algoritmo aprende a escolher </a:t>
            </a:r>
            <a:r>
              <a:rPr lang="pt-BR" sz="1200" b="1" i="1" dirty="0"/>
              <a:t>ações</a:t>
            </a:r>
            <a:r>
              <a:rPr lang="pt-BR" sz="1200" dirty="0"/>
              <a:t> apenas interagindo com o </a:t>
            </a:r>
            <a:r>
              <a:rPr lang="pt-BR" sz="1200" b="1" i="1" dirty="0"/>
              <a:t>ambiente</a:t>
            </a:r>
            <a:r>
              <a:rPr lang="pt-BR" sz="1200" dirty="0"/>
              <a:t>.</a:t>
            </a:r>
            <a:endParaRPr lang="pt-BR" sz="1200" b="0" i="0" baseline="0" dirty="0"/>
          </a:p>
          <a:p>
            <a:pPr marL="171450" indent="-171450">
              <a:buFont typeface="Arial" panose="020B0604020202020204" pitchFamily="34" charset="0"/>
              <a:buChar char="•"/>
            </a:pPr>
            <a:r>
              <a:rPr lang="pt-BR" sz="1200" b="1" i="0" dirty="0"/>
              <a:t>Problema da aprendizagem por reforço</a:t>
            </a:r>
            <a:r>
              <a:rPr lang="pt-BR" sz="1200" b="0" i="0" dirty="0"/>
              <a:t>:</a:t>
            </a:r>
            <a:r>
              <a:rPr lang="pt-BR" sz="1200" b="0" i="0" baseline="0" dirty="0"/>
              <a:t> </a:t>
            </a:r>
            <a:r>
              <a:rPr lang="pt-BR" sz="1200" b="0" i="0" dirty="0"/>
              <a:t>Como escolher uma </a:t>
            </a:r>
            <a:r>
              <a:rPr lang="pt-BR" sz="1200" b="1" i="1" dirty="0"/>
              <a:t>estratégia</a:t>
            </a:r>
            <a:r>
              <a:rPr lang="pt-BR" sz="1200" b="0" i="0" dirty="0"/>
              <a:t> (conhecida como </a:t>
            </a:r>
            <a:r>
              <a:rPr lang="pt-BR" sz="1200" b="1" i="1" dirty="0"/>
              <a:t>política)</a:t>
            </a:r>
            <a:r>
              <a:rPr lang="pt-BR" sz="1200" b="0" i="0" dirty="0"/>
              <a:t> de </a:t>
            </a:r>
            <a:r>
              <a:rPr lang="pt-BR" sz="1200" b="1" i="1" dirty="0"/>
              <a:t>ações</a:t>
            </a:r>
            <a:r>
              <a:rPr lang="pt-BR" sz="1200" b="0" i="0" dirty="0"/>
              <a:t> que maximize o</a:t>
            </a:r>
            <a:r>
              <a:rPr lang="pt-BR" sz="1200" b="0" i="0" baseline="0" dirty="0"/>
              <a:t> </a:t>
            </a:r>
            <a:r>
              <a:rPr lang="pt-BR" sz="1200" b="0" i="0" dirty="0"/>
              <a:t>total de </a:t>
            </a:r>
            <a:r>
              <a:rPr lang="pt-BR" sz="1200" b="1" i="1" dirty="0"/>
              <a:t>recompensas</a:t>
            </a:r>
            <a:r>
              <a:rPr lang="pt-BR" sz="1200" b="0" i="0" dirty="0"/>
              <a:t> recebidas pelo </a:t>
            </a:r>
            <a:r>
              <a:rPr lang="pt-BR" sz="1200" b="1" i="1" dirty="0"/>
              <a:t>agente</a:t>
            </a:r>
            <a:r>
              <a:rPr lang="pt-BR" sz="1200" b="0" i="0" dirty="0"/>
              <a:t>.</a:t>
            </a:r>
          </a:p>
          <a:p>
            <a:pPr marL="171450" indent="-171450">
              <a:buFont typeface="Arial" panose="020B0604020202020204" pitchFamily="34" charset="0"/>
              <a:buChar char="•"/>
            </a:pPr>
            <a:r>
              <a:rPr lang="pt-BR" sz="1200" b="0" i="0" dirty="0"/>
              <a:t>A </a:t>
            </a:r>
            <a:r>
              <a:rPr lang="pt-BR" sz="1200" b="1" i="0" dirty="0"/>
              <a:t>política</a:t>
            </a:r>
            <a:r>
              <a:rPr lang="pt-BR" sz="1200" b="0" i="0" dirty="0"/>
              <a:t> pode ser entendida como sendo</a:t>
            </a:r>
            <a:r>
              <a:rPr lang="pt-BR" sz="1200" b="0" i="0" baseline="0" dirty="0"/>
              <a:t> a função que mapeia os </a:t>
            </a:r>
            <a:r>
              <a:rPr lang="pt-BR" sz="1200" b="1" i="1" baseline="0" dirty="0"/>
              <a:t>estados</a:t>
            </a:r>
            <a:r>
              <a:rPr lang="pt-BR" sz="1200" b="0" i="0" baseline="0" dirty="0"/>
              <a:t> do </a:t>
            </a:r>
            <a:r>
              <a:rPr lang="pt-BR" sz="1200" b="1" i="1" baseline="0" dirty="0"/>
              <a:t>ambiente</a:t>
            </a:r>
            <a:r>
              <a:rPr lang="pt-BR" sz="1200" b="0" i="0" baseline="0" dirty="0"/>
              <a:t> em </a:t>
            </a:r>
            <a:r>
              <a:rPr lang="pt-BR" sz="1200" b="1" i="1" baseline="0" dirty="0"/>
              <a:t>ações</a:t>
            </a:r>
            <a:r>
              <a:rPr lang="pt-BR" sz="1200" b="0" i="0" baseline="0" dirty="0"/>
              <a:t> que o </a:t>
            </a:r>
            <a:r>
              <a:rPr lang="pt-BR" sz="1200" b="1" i="1" baseline="0" dirty="0"/>
              <a:t>agente</a:t>
            </a:r>
            <a:r>
              <a:rPr lang="pt-BR" sz="1200" b="0" i="0" baseline="0" dirty="0"/>
              <a:t> deve tomar: ∏(s) = a, de forma que o </a:t>
            </a:r>
            <a:r>
              <a:rPr lang="pt-BR" sz="1200" b="1" i="1" baseline="0" dirty="0"/>
              <a:t>total de recompensas</a:t>
            </a:r>
            <a:r>
              <a:rPr lang="pt-BR" sz="1200" b="0" i="0" baseline="0" dirty="0"/>
              <a:t> seja maximizado.</a:t>
            </a:r>
          </a:p>
          <a:p>
            <a:pPr marL="171450" indent="-171450">
              <a:buFont typeface="Arial" panose="020B0604020202020204" pitchFamily="34" charset="0"/>
              <a:buChar char="•"/>
            </a:pPr>
            <a:endParaRPr lang="pt-BR" sz="1200" b="0" i="0" baseline="0" dirty="0"/>
          </a:p>
          <a:p>
            <a:pPr marL="171450" indent="-171450">
              <a:buFont typeface="Arial" panose="020B0604020202020204" pitchFamily="34" charset="0"/>
              <a:buChar char="•"/>
            </a:pPr>
            <a:r>
              <a:rPr lang="pt-BR" sz="1200" b="1" dirty="0"/>
              <a:t>Exemplos</a:t>
            </a:r>
            <a:r>
              <a:rPr lang="pt-BR" sz="1200" dirty="0"/>
              <a:t>: </a:t>
            </a:r>
          </a:p>
          <a:p>
            <a:pPr marL="628650" lvl="1" indent="-171450">
              <a:buFont typeface="Arial" panose="020B0604020202020204" pitchFamily="34" charset="0"/>
              <a:buChar char="•"/>
            </a:pPr>
            <a:r>
              <a:rPr lang="pt-BR" sz="1200" dirty="0"/>
              <a:t>Algoritmo </a:t>
            </a:r>
            <a:r>
              <a:rPr lang="pt-BR" sz="1200" baseline="0" dirty="0"/>
              <a:t>muito utilizado em jogos.</a:t>
            </a:r>
          </a:p>
          <a:p>
            <a:pPr marL="1085850" lvl="2" indent="-171450">
              <a:buFont typeface="Arial" panose="020B0604020202020204" pitchFamily="34" charset="0"/>
              <a:buChar char="•"/>
            </a:pPr>
            <a:r>
              <a:rPr lang="pt-BR" sz="1200" dirty="0"/>
              <a:t>O programa AlphaGo da Google (DeepMind)</a:t>
            </a:r>
            <a:r>
              <a:rPr lang="pt-BR" sz="1200" baseline="0" dirty="0"/>
              <a:t> utilizou aprendizado por reforço (Deep reinforcement learning) para aprender a jogar Go e derrotar o campeão mundial de Go.</a:t>
            </a:r>
          </a:p>
          <a:p>
            <a:pPr marL="1085850" lvl="2" indent="-171450">
              <a:buFont typeface="Arial" panose="020B0604020202020204" pitchFamily="34" charset="0"/>
              <a:buChar char="•"/>
            </a:pPr>
            <a:r>
              <a:rPr lang="pt-BR" sz="1200" baseline="0" dirty="0"/>
              <a:t>Agente jogador de damas</a:t>
            </a:r>
          </a:p>
          <a:p>
            <a:pPr marL="1543050" lvl="3" indent="-171450">
              <a:buFont typeface="Arial" panose="020B0604020202020204" pitchFamily="34" charset="0"/>
              <a:buChar char="•"/>
            </a:pPr>
            <a:r>
              <a:rPr lang="pt-BR" sz="1200" b="1" baseline="0" dirty="0"/>
              <a:t>Estados</a:t>
            </a:r>
            <a:r>
              <a:rPr lang="pt-BR" sz="1200" baseline="0" dirty="0"/>
              <a:t>: as diferentes configurações do tabuleiro.</a:t>
            </a:r>
          </a:p>
          <a:p>
            <a:pPr marL="1543050" lvl="3" indent="-171450">
              <a:buFont typeface="Arial" panose="020B0604020202020204" pitchFamily="34" charset="0"/>
              <a:buChar char="•"/>
            </a:pPr>
            <a:r>
              <a:rPr lang="pt-BR" sz="1200" b="1" baseline="0" dirty="0"/>
              <a:t>Ações</a:t>
            </a:r>
            <a:r>
              <a:rPr lang="pt-BR" sz="1200" baseline="0" dirty="0"/>
              <a:t>: mover uma determinada peça.</a:t>
            </a:r>
          </a:p>
          <a:p>
            <a:pPr marL="1543050" lvl="3" indent="-171450">
              <a:buFont typeface="Arial" panose="020B0604020202020204" pitchFamily="34" charset="0"/>
              <a:buChar char="•"/>
            </a:pPr>
            <a:r>
              <a:rPr lang="pt-BR" sz="1200" b="1" baseline="0" dirty="0"/>
              <a:t>Recompensas</a:t>
            </a:r>
            <a:r>
              <a:rPr lang="pt-BR" sz="1200" baseline="0" dirty="0"/>
              <a:t>: número de capturas de peças vs. número de perdas.</a:t>
            </a:r>
          </a:p>
          <a:p>
            <a:pPr marL="628650" lvl="1" indent="-171450">
              <a:buFont typeface="Arial" panose="020B0604020202020204" pitchFamily="34" charset="0"/>
              <a:buChar char="•"/>
            </a:pPr>
            <a:r>
              <a:rPr lang="pt-BR" sz="1200" dirty="0"/>
              <a:t>Robô aspirador de pó que precisa aprender a limpar uma casa de forma ótima.</a:t>
            </a:r>
          </a:p>
          <a:p>
            <a:pPr marL="0" indent="0">
              <a:buFont typeface="Arial" panose="020B0604020202020204" pitchFamily="34" charset="0"/>
              <a:buNone/>
            </a:pPr>
            <a:endParaRPr lang="nl-BE" sz="1200" dirty="0"/>
          </a:p>
          <a:p>
            <a:pPr marL="171450" indent="-171450">
              <a:buFont typeface="Arial" panose="020B0604020202020204" pitchFamily="34" charset="0"/>
              <a:buChar char="•"/>
            </a:pPr>
            <a:r>
              <a:rPr lang="pt-BR" sz="1200" dirty="0"/>
              <a:t>Os algoritmos de aprendizado por reforço tentam encontrar a </a:t>
            </a:r>
            <a:r>
              <a:rPr lang="pt-BR" sz="1200" b="1" i="1" dirty="0"/>
              <a:t>política</a:t>
            </a:r>
            <a:r>
              <a:rPr lang="pt-BR" sz="1200" dirty="0"/>
              <a:t> que mapeia os </a:t>
            </a:r>
            <a:r>
              <a:rPr lang="pt-BR" sz="1200" b="1" i="1" dirty="0"/>
              <a:t>estados</a:t>
            </a:r>
            <a:r>
              <a:rPr lang="pt-BR" sz="1200" dirty="0"/>
              <a:t> do </a:t>
            </a:r>
            <a:r>
              <a:rPr lang="pt-BR" sz="1200" b="1" i="1" dirty="0"/>
              <a:t>ambiente</a:t>
            </a:r>
            <a:r>
              <a:rPr lang="pt-BR" sz="1200" dirty="0"/>
              <a:t> às </a:t>
            </a:r>
            <a:r>
              <a:rPr lang="pt-BR" sz="1200" b="1" i="1" dirty="0"/>
              <a:t>ações</a:t>
            </a:r>
            <a:r>
              <a:rPr lang="pt-BR" sz="1200" dirty="0"/>
              <a:t> que o </a:t>
            </a:r>
            <a:r>
              <a:rPr lang="pt-BR" sz="1200" b="1" i="1" dirty="0"/>
              <a:t>agente</a:t>
            </a:r>
            <a:r>
              <a:rPr lang="pt-BR" sz="1200" dirty="0"/>
              <a:t> deve tomar nesses </a:t>
            </a:r>
            <a:r>
              <a:rPr lang="pt-BR" sz="1200" b="1" i="1" dirty="0"/>
              <a:t>estados</a:t>
            </a:r>
            <a:r>
              <a:rPr lang="pt-BR" sz="1200" b="0" i="0" dirty="0"/>
              <a:t>.</a:t>
            </a:r>
          </a:p>
          <a:p>
            <a:pPr marL="171450" indent="-171450">
              <a:buFont typeface="Arial" panose="020B0604020202020204" pitchFamily="34" charset="0"/>
              <a:buChar char="•"/>
            </a:pPr>
            <a:r>
              <a:rPr lang="pt-BR" sz="1200" b="0" i="0" dirty="0"/>
              <a:t>Como um algoritmo de aprendizagem aprende a escolher ações apenas</a:t>
            </a:r>
            <a:r>
              <a:rPr lang="pt-BR" sz="1200" b="0" i="0" baseline="0" dirty="0"/>
              <a:t> </a:t>
            </a:r>
            <a:r>
              <a:rPr lang="pt-BR" sz="1200" b="0" i="0" dirty="0"/>
              <a:t>interagindo com o ambiente?</a:t>
            </a:r>
          </a:p>
          <a:p>
            <a:pPr marL="628650" lvl="1" indent="-171450">
              <a:buFont typeface="Arial" panose="020B0604020202020204" pitchFamily="34" charset="0"/>
              <a:buChar char="•"/>
            </a:pPr>
            <a:r>
              <a:rPr lang="pt-BR" sz="1200" b="0" i="0" dirty="0"/>
              <a:t>Muitas vezes, é impraticável o uso de aprendizage</a:t>
            </a:r>
            <a:r>
              <a:rPr lang="pt-BR" sz="1200" b="0" i="0" baseline="0" dirty="0"/>
              <a:t>m </a:t>
            </a:r>
            <a:r>
              <a:rPr lang="pt-BR" sz="1200" b="0" i="0" dirty="0"/>
              <a:t>supervisionada.</a:t>
            </a:r>
          </a:p>
          <a:p>
            <a:pPr marL="1085850" lvl="2" indent="-171450">
              <a:buFont typeface="Arial" panose="020B0604020202020204" pitchFamily="34" charset="0"/>
              <a:buChar char="•"/>
            </a:pPr>
            <a:r>
              <a:rPr lang="pt-BR" sz="1200" b="0" i="0" dirty="0"/>
              <a:t>Como obter exemplos do comportamento correto e</a:t>
            </a:r>
            <a:r>
              <a:rPr lang="pt-BR" sz="1200" b="0" i="0" baseline="0" dirty="0"/>
              <a:t> </a:t>
            </a:r>
            <a:r>
              <a:rPr lang="pt-BR" sz="1200" b="0" i="0" dirty="0"/>
              <a:t>representativo para qualquer situação?</a:t>
            </a:r>
          </a:p>
          <a:p>
            <a:pPr marL="1085850" lvl="2" indent="-171450">
              <a:buFont typeface="Arial" panose="020B0604020202020204" pitchFamily="34" charset="0"/>
              <a:buChar char="•"/>
            </a:pPr>
            <a:r>
              <a:rPr lang="pt-BR" sz="1200" b="0" i="0" dirty="0"/>
              <a:t>E se o agente for atuar em um ambiente desconhecido? </a:t>
            </a:r>
          </a:p>
          <a:p>
            <a:pPr marL="0" indent="0">
              <a:buFont typeface="Arial" panose="020B0604020202020204" pitchFamily="34" charset="0"/>
              <a:buNone/>
            </a:pPr>
            <a:endParaRPr lang="nl-BE" sz="1200" dirty="0"/>
          </a:p>
        </p:txBody>
      </p:sp>
      <p:sp>
        <p:nvSpPr>
          <p:cNvPr id="4" name="Slide Number Placeholder 3"/>
          <p:cNvSpPr>
            <a:spLocks noGrp="1"/>
          </p:cNvSpPr>
          <p:nvPr>
            <p:ph type="sldNum" sz="quarter" idx="10"/>
          </p:nvPr>
        </p:nvSpPr>
        <p:spPr/>
        <p:txBody>
          <a:bodyPr/>
          <a:lstStyle/>
          <a:p>
            <a:fld id="{6FC8D850-966F-45A6-8DE7-15B891E7D40D}" type="slidenum">
              <a:rPr lang="pt-BR" smtClean="0"/>
              <a:t>32</a:t>
            </a:fld>
            <a:endParaRPr lang="pt-BR"/>
          </a:p>
        </p:txBody>
      </p:sp>
    </p:spTree>
    <p:extLst>
      <p:ext uri="{BB962C8B-B14F-4D97-AF65-F5344CB8AC3E}">
        <p14:creationId xmlns:p14="http://schemas.microsoft.com/office/powerpoint/2010/main" val="24118326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sz="1200" b="0" i="0" dirty="0"/>
              <a:t>Aprendizado por reforço pode ser entendido como o problema em que um </a:t>
            </a:r>
            <a:r>
              <a:rPr lang="pt-BR" sz="1200" b="1" i="1" dirty="0"/>
              <a:t>agente</a:t>
            </a:r>
            <a:r>
              <a:rPr lang="pt-BR" sz="1200" b="0" i="0" dirty="0"/>
              <a:t> deve aprender como se comportar em um </a:t>
            </a:r>
            <a:r>
              <a:rPr lang="pt-BR" sz="1200" b="1" i="1" dirty="0"/>
              <a:t>ambiente</a:t>
            </a:r>
            <a:r>
              <a:rPr lang="pt-BR" sz="1200" b="0" i="0" dirty="0"/>
              <a:t> através de interações do tipo “tentativa e erro”.</a:t>
            </a:r>
          </a:p>
          <a:p>
            <a:pPr marL="171450" indent="-171450">
              <a:buFont typeface="Arial" panose="020B0604020202020204" pitchFamily="34" charset="0"/>
              <a:buChar char="•"/>
            </a:pPr>
            <a:r>
              <a:rPr lang="pt-BR" sz="1200" b="0" i="0" dirty="0"/>
              <a:t>O</a:t>
            </a:r>
            <a:r>
              <a:rPr lang="pt-BR" sz="1200" b="0" i="0" baseline="0" dirty="0"/>
              <a:t> </a:t>
            </a:r>
            <a:r>
              <a:rPr lang="pt-BR" sz="1200" b="1" i="1" baseline="0" dirty="0"/>
              <a:t>agente</a:t>
            </a:r>
            <a:r>
              <a:rPr lang="pt-BR" sz="1200" b="0" i="0" baseline="0" dirty="0"/>
              <a:t> tem como objetivo aprender/construir um modelo do ambiente em que está inserido através de interações do tipo “tentativa e erro”, ou seja, ele observa o ambiente, escolhe uma ação e aguarda o resultado da ação (reforço positivo ou negativo).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200" dirty="0"/>
              <a:t>O algoritmo aprende a escolher </a:t>
            </a:r>
            <a:r>
              <a:rPr lang="pt-BR" sz="1200" b="1" i="1" dirty="0"/>
              <a:t>ações</a:t>
            </a:r>
            <a:r>
              <a:rPr lang="pt-BR" sz="1200" dirty="0"/>
              <a:t> apenas interagindo com o </a:t>
            </a:r>
            <a:r>
              <a:rPr lang="pt-BR" sz="1200" b="1" i="1" dirty="0"/>
              <a:t>ambiente</a:t>
            </a:r>
            <a:r>
              <a:rPr lang="pt-BR" sz="1200" dirty="0"/>
              <a:t>.</a:t>
            </a:r>
            <a:endParaRPr lang="pt-BR" sz="1200" b="0" i="0" baseline="0" dirty="0"/>
          </a:p>
          <a:p>
            <a:pPr marL="171450" indent="-171450">
              <a:buFont typeface="Arial" panose="020B0604020202020204" pitchFamily="34" charset="0"/>
              <a:buChar char="•"/>
            </a:pPr>
            <a:r>
              <a:rPr lang="pt-BR" sz="1200" b="1" i="0" dirty="0"/>
              <a:t>Problema da aprendizagem por reforço</a:t>
            </a:r>
            <a:r>
              <a:rPr lang="pt-BR" sz="1200" b="0" i="0" dirty="0"/>
              <a:t>:</a:t>
            </a:r>
            <a:r>
              <a:rPr lang="pt-BR" sz="1200" b="0" i="0" baseline="0" dirty="0"/>
              <a:t> </a:t>
            </a:r>
            <a:r>
              <a:rPr lang="pt-BR" sz="1200" b="0" i="0" dirty="0"/>
              <a:t>Como escolher uma </a:t>
            </a:r>
            <a:r>
              <a:rPr lang="pt-BR" sz="1200" b="1" i="1" dirty="0"/>
              <a:t>estratégia</a:t>
            </a:r>
            <a:r>
              <a:rPr lang="pt-BR" sz="1200" b="0" i="0" dirty="0"/>
              <a:t> (conhecida como </a:t>
            </a:r>
            <a:r>
              <a:rPr lang="pt-BR" sz="1200" b="1" i="1" dirty="0"/>
              <a:t>política)</a:t>
            </a:r>
            <a:r>
              <a:rPr lang="pt-BR" sz="1200" b="0" i="0" dirty="0"/>
              <a:t> de </a:t>
            </a:r>
            <a:r>
              <a:rPr lang="pt-BR" sz="1200" b="1" i="1" dirty="0"/>
              <a:t>ações</a:t>
            </a:r>
            <a:r>
              <a:rPr lang="pt-BR" sz="1200" b="0" i="0" dirty="0"/>
              <a:t> que maximize o</a:t>
            </a:r>
            <a:r>
              <a:rPr lang="pt-BR" sz="1200" b="0" i="0" baseline="0" dirty="0"/>
              <a:t> </a:t>
            </a:r>
            <a:r>
              <a:rPr lang="pt-BR" sz="1200" b="0" i="0" dirty="0"/>
              <a:t>total de </a:t>
            </a:r>
            <a:r>
              <a:rPr lang="pt-BR" sz="1200" b="1" i="1" dirty="0"/>
              <a:t>recompensas</a:t>
            </a:r>
            <a:r>
              <a:rPr lang="pt-BR" sz="1200" b="0" i="0" dirty="0"/>
              <a:t> recebidas pelo </a:t>
            </a:r>
            <a:r>
              <a:rPr lang="pt-BR" sz="1200" b="1" i="1" dirty="0"/>
              <a:t>agente</a:t>
            </a:r>
            <a:r>
              <a:rPr lang="pt-BR" sz="1200" b="0" i="0" dirty="0"/>
              <a:t>.</a:t>
            </a:r>
          </a:p>
          <a:p>
            <a:pPr marL="171450" indent="-171450">
              <a:buFont typeface="Arial" panose="020B0604020202020204" pitchFamily="34" charset="0"/>
              <a:buChar char="•"/>
            </a:pPr>
            <a:r>
              <a:rPr lang="pt-BR" sz="1200" b="0" i="0" dirty="0"/>
              <a:t>A </a:t>
            </a:r>
            <a:r>
              <a:rPr lang="pt-BR" sz="1200" b="1" i="0" dirty="0"/>
              <a:t>política</a:t>
            </a:r>
            <a:r>
              <a:rPr lang="pt-BR" sz="1200" b="0" i="0" dirty="0"/>
              <a:t> pode ser entendida como sendo</a:t>
            </a:r>
            <a:r>
              <a:rPr lang="pt-BR" sz="1200" b="0" i="0" baseline="0" dirty="0"/>
              <a:t> a função que mapeia os </a:t>
            </a:r>
            <a:r>
              <a:rPr lang="pt-BR" sz="1200" b="1" i="1" baseline="0" dirty="0"/>
              <a:t>estados</a:t>
            </a:r>
            <a:r>
              <a:rPr lang="pt-BR" sz="1200" b="0" i="0" baseline="0" dirty="0"/>
              <a:t> do </a:t>
            </a:r>
            <a:r>
              <a:rPr lang="pt-BR" sz="1200" b="1" i="1" baseline="0" dirty="0"/>
              <a:t>ambiente</a:t>
            </a:r>
            <a:r>
              <a:rPr lang="pt-BR" sz="1200" b="0" i="0" baseline="0" dirty="0"/>
              <a:t> em </a:t>
            </a:r>
            <a:r>
              <a:rPr lang="pt-BR" sz="1200" b="1" i="1" baseline="0" dirty="0"/>
              <a:t>ações</a:t>
            </a:r>
            <a:r>
              <a:rPr lang="pt-BR" sz="1200" b="0" i="0" baseline="0" dirty="0"/>
              <a:t> que o </a:t>
            </a:r>
            <a:r>
              <a:rPr lang="pt-BR" sz="1200" b="1" i="1" baseline="0" dirty="0"/>
              <a:t>agente</a:t>
            </a:r>
            <a:r>
              <a:rPr lang="pt-BR" sz="1200" b="0" i="0" baseline="0" dirty="0"/>
              <a:t> deve tomar: ∏(s) = a, de forma que o </a:t>
            </a:r>
            <a:r>
              <a:rPr lang="pt-BR" sz="1200" b="1" i="1" baseline="0" dirty="0"/>
              <a:t>total de recompensas</a:t>
            </a:r>
            <a:r>
              <a:rPr lang="pt-BR" sz="1200" b="0" i="0" baseline="0" dirty="0"/>
              <a:t> seja maximizado.</a:t>
            </a:r>
          </a:p>
          <a:p>
            <a:pPr marL="171450" indent="-171450">
              <a:buFont typeface="Arial" panose="020B0604020202020204" pitchFamily="34" charset="0"/>
              <a:buChar char="•"/>
            </a:pPr>
            <a:endParaRPr lang="pt-BR" sz="1200" b="0" i="0" baseline="0" dirty="0"/>
          </a:p>
          <a:p>
            <a:pPr marL="171450" indent="-171450">
              <a:buFont typeface="Arial" panose="020B0604020202020204" pitchFamily="34" charset="0"/>
              <a:buChar char="•"/>
            </a:pPr>
            <a:r>
              <a:rPr lang="pt-BR" sz="1200" b="1" dirty="0"/>
              <a:t>Exemplos</a:t>
            </a:r>
            <a:r>
              <a:rPr lang="pt-BR" sz="1200" dirty="0"/>
              <a:t>: </a:t>
            </a:r>
          </a:p>
          <a:p>
            <a:pPr marL="628650" lvl="1" indent="-171450">
              <a:buFont typeface="Arial" panose="020B0604020202020204" pitchFamily="34" charset="0"/>
              <a:buChar char="•"/>
            </a:pPr>
            <a:r>
              <a:rPr lang="pt-BR" sz="1200" dirty="0"/>
              <a:t>Algoritmo </a:t>
            </a:r>
            <a:r>
              <a:rPr lang="pt-BR" sz="1200" baseline="0" dirty="0"/>
              <a:t>muito utilizado em jogos.</a:t>
            </a:r>
          </a:p>
          <a:p>
            <a:pPr marL="1085850" lvl="2" indent="-171450">
              <a:buFont typeface="Arial" panose="020B0604020202020204" pitchFamily="34" charset="0"/>
              <a:buChar char="•"/>
            </a:pPr>
            <a:r>
              <a:rPr lang="pt-BR" sz="1200" dirty="0"/>
              <a:t>O programa AlphaGo da Google (DeepMind)</a:t>
            </a:r>
            <a:r>
              <a:rPr lang="pt-BR" sz="1200" baseline="0" dirty="0"/>
              <a:t> utilizou aprendizado por reforço (Deep reinforcement learning) para aprender a jogar Go e derrotar o campeão mundial de Go.</a:t>
            </a:r>
          </a:p>
          <a:p>
            <a:pPr marL="1085850" lvl="2" indent="-171450">
              <a:buFont typeface="Arial" panose="020B0604020202020204" pitchFamily="34" charset="0"/>
              <a:buChar char="•"/>
            </a:pPr>
            <a:r>
              <a:rPr lang="pt-BR" sz="1200" baseline="0" dirty="0"/>
              <a:t>Agente jogador de damas</a:t>
            </a:r>
          </a:p>
          <a:p>
            <a:pPr marL="1543050" lvl="3" indent="-171450">
              <a:buFont typeface="Arial" panose="020B0604020202020204" pitchFamily="34" charset="0"/>
              <a:buChar char="•"/>
            </a:pPr>
            <a:r>
              <a:rPr lang="pt-BR" sz="1200" b="1" baseline="0" dirty="0"/>
              <a:t>Estados</a:t>
            </a:r>
            <a:r>
              <a:rPr lang="pt-BR" sz="1200" baseline="0" dirty="0"/>
              <a:t>: as diferentes configurações do tabuleiro.</a:t>
            </a:r>
          </a:p>
          <a:p>
            <a:pPr marL="1543050" lvl="3" indent="-171450">
              <a:buFont typeface="Arial" panose="020B0604020202020204" pitchFamily="34" charset="0"/>
              <a:buChar char="•"/>
            </a:pPr>
            <a:r>
              <a:rPr lang="pt-BR" sz="1200" b="1" baseline="0" dirty="0"/>
              <a:t>Ações</a:t>
            </a:r>
            <a:r>
              <a:rPr lang="pt-BR" sz="1200" baseline="0" dirty="0"/>
              <a:t>: mover uma determinada peça.</a:t>
            </a:r>
          </a:p>
          <a:p>
            <a:pPr marL="1543050" lvl="3" indent="-171450">
              <a:buFont typeface="Arial" panose="020B0604020202020204" pitchFamily="34" charset="0"/>
              <a:buChar char="•"/>
            </a:pPr>
            <a:r>
              <a:rPr lang="pt-BR" sz="1200" b="1" baseline="0" dirty="0"/>
              <a:t>Recompensas</a:t>
            </a:r>
            <a:r>
              <a:rPr lang="pt-BR" sz="1200" baseline="0" dirty="0"/>
              <a:t>: número de capturas de peças vs. número de perdas.</a:t>
            </a:r>
          </a:p>
          <a:p>
            <a:pPr marL="628650" lvl="1" indent="-171450">
              <a:buFont typeface="Arial" panose="020B0604020202020204" pitchFamily="34" charset="0"/>
              <a:buChar char="•"/>
            </a:pPr>
            <a:r>
              <a:rPr lang="pt-BR" sz="1200" dirty="0"/>
              <a:t>Robô aspirador de pó que precisa aprender a limpar uma casa de forma ótima.</a:t>
            </a:r>
          </a:p>
          <a:p>
            <a:pPr marL="0" indent="0">
              <a:buFont typeface="Arial" panose="020B0604020202020204" pitchFamily="34" charset="0"/>
              <a:buNone/>
            </a:pPr>
            <a:endParaRPr lang="nl-BE" sz="1200" dirty="0"/>
          </a:p>
          <a:p>
            <a:pPr marL="171450" indent="-171450">
              <a:buFont typeface="Arial" panose="020B0604020202020204" pitchFamily="34" charset="0"/>
              <a:buChar char="•"/>
            </a:pPr>
            <a:r>
              <a:rPr lang="pt-BR" sz="1200" dirty="0"/>
              <a:t>Os algoritmos de aprendizado por reforço tentam encontrar a </a:t>
            </a:r>
            <a:r>
              <a:rPr lang="pt-BR" sz="1200" b="1" i="1" dirty="0"/>
              <a:t>política</a:t>
            </a:r>
            <a:r>
              <a:rPr lang="pt-BR" sz="1200" dirty="0"/>
              <a:t> que mapeia os </a:t>
            </a:r>
            <a:r>
              <a:rPr lang="pt-BR" sz="1200" b="1" i="1" dirty="0"/>
              <a:t>estados</a:t>
            </a:r>
            <a:r>
              <a:rPr lang="pt-BR" sz="1200" dirty="0"/>
              <a:t> do </a:t>
            </a:r>
            <a:r>
              <a:rPr lang="pt-BR" sz="1200" b="1" i="1" dirty="0"/>
              <a:t>ambiente</a:t>
            </a:r>
            <a:r>
              <a:rPr lang="pt-BR" sz="1200" dirty="0"/>
              <a:t> às </a:t>
            </a:r>
            <a:r>
              <a:rPr lang="pt-BR" sz="1200" b="1" i="1" dirty="0"/>
              <a:t>ações</a:t>
            </a:r>
            <a:r>
              <a:rPr lang="pt-BR" sz="1200" dirty="0"/>
              <a:t> que o </a:t>
            </a:r>
            <a:r>
              <a:rPr lang="pt-BR" sz="1200" b="1" i="1" dirty="0"/>
              <a:t>agente</a:t>
            </a:r>
            <a:r>
              <a:rPr lang="pt-BR" sz="1200" dirty="0"/>
              <a:t> deve tomar nesses </a:t>
            </a:r>
            <a:r>
              <a:rPr lang="pt-BR" sz="1200" b="1" i="1" dirty="0"/>
              <a:t>estados</a:t>
            </a:r>
            <a:r>
              <a:rPr lang="pt-BR" sz="1200" b="0" i="0" dirty="0"/>
              <a:t>.</a:t>
            </a:r>
          </a:p>
          <a:p>
            <a:pPr marL="171450" indent="-171450">
              <a:buFont typeface="Arial" panose="020B0604020202020204" pitchFamily="34" charset="0"/>
              <a:buChar char="•"/>
            </a:pPr>
            <a:r>
              <a:rPr lang="pt-BR" sz="1200" b="0" i="0" dirty="0"/>
              <a:t>Como um algoritmo de aprendizagem aprende a escolher ações apenas</a:t>
            </a:r>
            <a:r>
              <a:rPr lang="pt-BR" sz="1200" b="0" i="0" baseline="0" dirty="0"/>
              <a:t> </a:t>
            </a:r>
            <a:r>
              <a:rPr lang="pt-BR" sz="1200" b="0" i="0" dirty="0"/>
              <a:t>interagindo com o ambiente?</a:t>
            </a:r>
          </a:p>
          <a:p>
            <a:pPr marL="628650" lvl="1" indent="-171450">
              <a:buFont typeface="Arial" panose="020B0604020202020204" pitchFamily="34" charset="0"/>
              <a:buChar char="•"/>
            </a:pPr>
            <a:r>
              <a:rPr lang="pt-BR" sz="1200" b="0" i="0" dirty="0"/>
              <a:t>Muitas vezes, é impraticável o uso de aprendizage</a:t>
            </a:r>
            <a:r>
              <a:rPr lang="pt-BR" sz="1200" b="0" i="0" baseline="0" dirty="0"/>
              <a:t>m </a:t>
            </a:r>
            <a:r>
              <a:rPr lang="pt-BR" sz="1200" b="0" i="0" dirty="0"/>
              <a:t>supervisionada.</a:t>
            </a:r>
          </a:p>
          <a:p>
            <a:pPr marL="1085850" lvl="2" indent="-171450">
              <a:buFont typeface="Arial" panose="020B0604020202020204" pitchFamily="34" charset="0"/>
              <a:buChar char="•"/>
            </a:pPr>
            <a:r>
              <a:rPr lang="pt-BR" sz="1200" b="0" i="0" dirty="0"/>
              <a:t>Como obter exemplos do comportamento correto e</a:t>
            </a:r>
            <a:r>
              <a:rPr lang="pt-BR" sz="1200" b="0" i="0" baseline="0" dirty="0"/>
              <a:t> </a:t>
            </a:r>
            <a:r>
              <a:rPr lang="pt-BR" sz="1200" b="0" i="0" dirty="0"/>
              <a:t>representativo para qualquer situação?</a:t>
            </a:r>
          </a:p>
          <a:p>
            <a:pPr marL="1085850" lvl="2" indent="-171450">
              <a:buFont typeface="Arial" panose="020B0604020202020204" pitchFamily="34" charset="0"/>
              <a:buChar char="•"/>
            </a:pPr>
            <a:r>
              <a:rPr lang="pt-BR" sz="1200" b="0" i="0" dirty="0"/>
              <a:t>E se o agente for atuar em um ambiente desconhecido? </a:t>
            </a:r>
          </a:p>
          <a:p>
            <a:pPr marL="0" indent="0">
              <a:buFont typeface="Arial" panose="020B0604020202020204" pitchFamily="34" charset="0"/>
              <a:buNone/>
            </a:pPr>
            <a:endParaRPr lang="nl-BE" sz="1200" dirty="0"/>
          </a:p>
        </p:txBody>
      </p:sp>
      <p:sp>
        <p:nvSpPr>
          <p:cNvPr id="4" name="Slide Number Placeholder 3"/>
          <p:cNvSpPr>
            <a:spLocks noGrp="1"/>
          </p:cNvSpPr>
          <p:nvPr>
            <p:ph type="sldNum" sz="quarter" idx="10"/>
          </p:nvPr>
        </p:nvSpPr>
        <p:spPr/>
        <p:txBody>
          <a:bodyPr/>
          <a:lstStyle/>
          <a:p>
            <a:fld id="{6FC8D850-966F-45A6-8DE7-15B891E7D40D}" type="slidenum">
              <a:rPr lang="pt-BR" smtClean="0"/>
              <a:t>33</a:t>
            </a:fld>
            <a:endParaRPr lang="pt-BR"/>
          </a:p>
        </p:txBody>
      </p:sp>
    </p:spTree>
    <p:extLst>
      <p:ext uri="{BB962C8B-B14F-4D97-AF65-F5344CB8AC3E}">
        <p14:creationId xmlns:p14="http://schemas.microsoft.com/office/powerpoint/2010/main" val="18482943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que é um ambiente computacional gratuito executado na nuvem.</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34</a:t>
            </a:fld>
            <a:endParaRPr lang="pt-BR"/>
          </a:p>
        </p:txBody>
      </p:sp>
    </p:spTree>
    <p:extLst>
      <p:ext uri="{BB962C8B-B14F-4D97-AF65-F5344CB8AC3E}">
        <p14:creationId xmlns:p14="http://schemas.microsoft.com/office/powerpoint/2010/main" val="15385013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22C95BDF-3569-47B8-94AF-1B1E7FD31817}" type="slidenum">
              <a:rPr lang="pt-BR" smtClean="0"/>
              <a:t>35</a:t>
            </a:fld>
            <a:endParaRPr lang="pt-BR"/>
          </a:p>
        </p:txBody>
      </p:sp>
    </p:spTree>
    <p:extLst>
      <p:ext uri="{BB962C8B-B14F-4D97-AF65-F5344CB8AC3E}">
        <p14:creationId xmlns:p14="http://schemas.microsoft.com/office/powerpoint/2010/main" val="506202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09B4-1F27-7B7E-FA5E-9F729024475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B62AF70-8F73-DFF7-DF78-2E21073E201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7CEC195-A9DD-1071-B731-84117F717DB2}"/>
              </a:ext>
            </a:extLst>
          </p:cNvPr>
          <p:cNvSpPr>
            <a:spLocks noGrp="1"/>
          </p:cNvSpPr>
          <p:nvPr>
            <p:ph type="body" idx="1"/>
          </p:nvPr>
        </p:nvSpPr>
        <p:spPr/>
        <p:txBody>
          <a:bodyPr/>
          <a:lstStyle/>
          <a:p>
            <a:pPr marL="0" lvl="0" indent="0" algn="l" rtl="0">
              <a:spcBef>
                <a:spcPts val="0"/>
              </a:spcBef>
              <a:spcAft>
                <a:spcPts val="0"/>
              </a:spcAft>
              <a:buNone/>
            </a:pPr>
            <a:r>
              <a:rPr lang="pt-BR" sz="1200" b="1" dirty="0"/>
              <a:t>Exemplo</a:t>
            </a:r>
            <a:r>
              <a:rPr lang="pt-BR" sz="1200" dirty="0"/>
              <a:t>: </a:t>
            </a:r>
          </a:p>
          <a:p>
            <a:pPr marL="0" lvl="0" indent="0" algn="l" rtl="0">
              <a:spcBef>
                <a:spcPts val="0"/>
              </a:spcBef>
              <a:spcAft>
                <a:spcPts val="0"/>
              </a:spcAft>
              <a:buNone/>
            </a:pPr>
            <a:endParaRPr lang="pt-BR" sz="1200" dirty="0"/>
          </a:p>
          <a:p>
            <a:pPr marL="0" lvl="0" indent="0" algn="l" rtl="0">
              <a:spcBef>
                <a:spcPts val="0"/>
              </a:spcBef>
              <a:spcAft>
                <a:spcPts val="0"/>
              </a:spcAft>
              <a:buNone/>
            </a:pPr>
            <a:r>
              <a:rPr lang="pt-BR" sz="1200" dirty="0" err="1"/>
              <a:t>Binder</a:t>
            </a:r>
            <a:r>
              <a:rPr lang="pt-BR" sz="1200" dirty="0"/>
              <a:t>: https://mybinder.org/v2/gh/zz4fap/t319_aprendizado_de_maquina/main?filepath=notebooks%2Fjupyter%2FFigura_2D.ipynb</a:t>
            </a:r>
          </a:p>
          <a:p>
            <a:pPr marL="0" lvl="0" indent="0" algn="l" rtl="0">
              <a:spcBef>
                <a:spcPts val="0"/>
              </a:spcBef>
              <a:spcAft>
                <a:spcPts val="0"/>
              </a:spcAft>
              <a:buNone/>
            </a:pPr>
            <a:endParaRPr lang="pt-BR" sz="1200" dirty="0"/>
          </a:p>
          <a:p>
            <a:pPr marL="0" lvl="0" indent="0" algn="l" rtl="0">
              <a:spcBef>
                <a:spcPts val="0"/>
              </a:spcBef>
              <a:spcAft>
                <a:spcPts val="0"/>
              </a:spcAft>
              <a:buNone/>
            </a:pPr>
            <a:r>
              <a:rPr lang="pt-BR" sz="1200" dirty="0" err="1"/>
              <a:t>Colab</a:t>
            </a:r>
            <a:r>
              <a:rPr lang="pt-BR" sz="1200" dirty="0"/>
              <a:t>: https://colab.research.google.com/github/zz4fap/t319_aprendizado_de_maquina/blob/main/notebooks/jupyter/Figura_2D.ipynb</a:t>
            </a:r>
          </a:p>
          <a:p>
            <a:endParaRPr lang="en-US" dirty="0"/>
          </a:p>
          <a:p>
            <a:endParaRPr lang="en-US" dirty="0"/>
          </a:p>
        </p:txBody>
      </p:sp>
      <p:sp>
        <p:nvSpPr>
          <p:cNvPr id="4" name="Espaço Reservado para Número de Slide 3">
            <a:extLst>
              <a:ext uri="{FF2B5EF4-FFF2-40B4-BE49-F238E27FC236}">
                <a16:creationId xmlns:a16="http://schemas.microsoft.com/office/drawing/2014/main" id="{00A94584-8BA8-531A-9285-A79543B3A08C}"/>
              </a:ext>
            </a:extLst>
          </p:cNvPr>
          <p:cNvSpPr>
            <a:spLocks noGrp="1"/>
          </p:cNvSpPr>
          <p:nvPr>
            <p:ph type="sldNum" sz="quarter" idx="10"/>
          </p:nvPr>
        </p:nvSpPr>
        <p:spPr/>
        <p:txBody>
          <a:bodyPr/>
          <a:lstStyle/>
          <a:p>
            <a:fld id="{6FC8D850-966F-45A6-8DE7-15B891E7D40D}" type="slidenum">
              <a:rPr lang="pt-BR" smtClean="0"/>
              <a:t>36</a:t>
            </a:fld>
            <a:endParaRPr lang="pt-BR"/>
          </a:p>
        </p:txBody>
      </p:sp>
    </p:spTree>
    <p:extLst>
      <p:ext uri="{BB962C8B-B14F-4D97-AF65-F5344CB8AC3E}">
        <p14:creationId xmlns:p14="http://schemas.microsoft.com/office/powerpoint/2010/main" val="79319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09B4-1F27-7B7E-FA5E-9F729024475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B62AF70-8F73-DFF7-DF78-2E21073E201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7CEC195-A9DD-1071-B731-84117F717DB2}"/>
              </a:ext>
            </a:extLst>
          </p:cNvPr>
          <p:cNvSpPr>
            <a:spLocks noGrp="1"/>
          </p:cNvSpPr>
          <p:nvPr>
            <p:ph type="body" idx="1"/>
          </p:nvPr>
        </p:nvSpPr>
        <p:spPr/>
        <p:txBody>
          <a:bodyPr/>
          <a:lstStyle/>
          <a:p>
            <a:pPr marL="0" lvl="0" indent="0" algn="l" rtl="0">
              <a:spcBef>
                <a:spcPts val="0"/>
              </a:spcBef>
              <a:spcAft>
                <a:spcPts val="0"/>
              </a:spcAft>
              <a:buNone/>
            </a:pPr>
            <a:r>
              <a:rPr lang="pt-BR" dirty="0"/>
              <a:t>Não existe na natureza uma função que explique a relação entre temperatura e número de picolés vendidos.</a:t>
            </a:r>
          </a:p>
          <a:p>
            <a:pPr marL="0" lvl="0" indent="0" algn="l" rtl="0">
              <a:spcBef>
                <a:spcPts val="0"/>
              </a:spcBef>
              <a:spcAft>
                <a:spcPts val="0"/>
              </a:spcAft>
              <a:buNone/>
            </a:pPr>
            <a:r>
              <a:rPr lang="pt-BR" dirty="0"/>
              <a:t>Em regressão, o termo "mapeamento verdadeiro" refere-se à relação real entre as variáveis independentes (ou preditoras) e a variável dependente (ou alvo) que um modelo de regressão tenta capturar. </a:t>
            </a:r>
            <a:endParaRPr lang="pt-BR" sz="1200" b="1" dirty="0"/>
          </a:p>
          <a:p>
            <a:pPr marL="0" lvl="0" indent="0" algn="l" rtl="0">
              <a:spcBef>
                <a:spcPts val="0"/>
              </a:spcBef>
              <a:spcAft>
                <a:spcPts val="0"/>
              </a:spcAft>
              <a:buNone/>
            </a:pPr>
            <a:endParaRPr lang="pt-BR" sz="1200" b="1" dirty="0"/>
          </a:p>
          <a:p>
            <a:pPr marL="0" lvl="0" indent="0" algn="l" rtl="0">
              <a:spcBef>
                <a:spcPts val="0"/>
              </a:spcBef>
              <a:spcAft>
                <a:spcPts val="0"/>
              </a:spcAft>
              <a:buNone/>
            </a:pPr>
            <a:r>
              <a:rPr lang="pt-BR" sz="1200" b="1" dirty="0"/>
              <a:t>Exemplo</a:t>
            </a:r>
            <a:r>
              <a:rPr lang="pt-BR" sz="1200" dirty="0"/>
              <a:t>: </a:t>
            </a:r>
          </a:p>
          <a:p>
            <a:pPr marL="0" lvl="0" indent="0" algn="l" rtl="0">
              <a:spcBef>
                <a:spcPts val="0"/>
              </a:spcBef>
              <a:spcAft>
                <a:spcPts val="0"/>
              </a:spcAft>
              <a:buNone/>
            </a:pPr>
            <a:endParaRPr lang="pt-BR" sz="1200" dirty="0"/>
          </a:p>
          <a:p>
            <a:pPr marL="0" lvl="0" indent="0" algn="l" rtl="0">
              <a:spcBef>
                <a:spcPts val="0"/>
              </a:spcBef>
              <a:spcAft>
                <a:spcPts val="0"/>
              </a:spcAft>
              <a:buNone/>
            </a:pPr>
            <a:r>
              <a:rPr lang="pt-BR" sz="1200" dirty="0" err="1"/>
              <a:t>Binder</a:t>
            </a:r>
            <a:r>
              <a:rPr lang="pt-BR" sz="1200" dirty="0"/>
              <a:t>: https://mybinder.org/v2/gh/zz4fap/t319_aprendizado_de_maquina/main?filepath=notebooks%2Fjupyter%2FFigura_2D.ipynb</a:t>
            </a:r>
          </a:p>
          <a:p>
            <a:pPr marL="0" lvl="0" indent="0" algn="l" rtl="0">
              <a:spcBef>
                <a:spcPts val="0"/>
              </a:spcBef>
              <a:spcAft>
                <a:spcPts val="0"/>
              </a:spcAft>
              <a:buNone/>
            </a:pPr>
            <a:endParaRPr lang="pt-BR" sz="1200" dirty="0"/>
          </a:p>
          <a:p>
            <a:pPr marL="0" lvl="0" indent="0" algn="l" rtl="0">
              <a:spcBef>
                <a:spcPts val="0"/>
              </a:spcBef>
              <a:spcAft>
                <a:spcPts val="0"/>
              </a:spcAft>
              <a:buNone/>
            </a:pPr>
            <a:r>
              <a:rPr lang="pt-BR" sz="1200" dirty="0" err="1"/>
              <a:t>Colab</a:t>
            </a:r>
            <a:r>
              <a:rPr lang="pt-BR" sz="1200" dirty="0"/>
              <a:t>: https://colab.research.google.com/github/zz4fap/t319_aprendizado_de_maquina/blob/main/notebooks/jupyter/Figura_2D.ipynb</a:t>
            </a:r>
          </a:p>
          <a:p>
            <a:endParaRPr lang="en-US" dirty="0"/>
          </a:p>
          <a:p>
            <a:endParaRPr lang="en-US" dirty="0"/>
          </a:p>
        </p:txBody>
      </p:sp>
      <p:sp>
        <p:nvSpPr>
          <p:cNvPr id="4" name="Espaço Reservado para Número de Slide 3">
            <a:extLst>
              <a:ext uri="{FF2B5EF4-FFF2-40B4-BE49-F238E27FC236}">
                <a16:creationId xmlns:a16="http://schemas.microsoft.com/office/drawing/2014/main" id="{00A94584-8BA8-531A-9285-A79543B3A08C}"/>
              </a:ext>
            </a:extLst>
          </p:cNvPr>
          <p:cNvSpPr>
            <a:spLocks noGrp="1"/>
          </p:cNvSpPr>
          <p:nvPr>
            <p:ph type="sldNum" sz="quarter" idx="10"/>
          </p:nvPr>
        </p:nvSpPr>
        <p:spPr/>
        <p:txBody>
          <a:bodyPr/>
          <a:lstStyle/>
          <a:p>
            <a:fld id="{6FC8D850-966F-45A6-8DE7-15B891E7D40D}" type="slidenum">
              <a:rPr lang="pt-BR" smtClean="0"/>
              <a:t>37</a:t>
            </a:fld>
            <a:endParaRPr lang="pt-BR"/>
          </a:p>
        </p:txBody>
      </p:sp>
    </p:spTree>
    <p:extLst>
      <p:ext uri="{BB962C8B-B14F-4D97-AF65-F5344CB8AC3E}">
        <p14:creationId xmlns:p14="http://schemas.microsoft.com/office/powerpoint/2010/main" val="42283137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hlinkClick r:id="rId3"/>
              </a:rPr>
              <a:t>https://drive.google.com/drive/folders/1IyIIMu1w6POBhrVnw11yqXXy6BjC439j?usp=sharing</a:t>
            </a:r>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38</a:t>
            </a:fld>
            <a:endParaRPr lang="pt-BR"/>
          </a:p>
        </p:txBody>
      </p:sp>
    </p:spTree>
    <p:extLst>
      <p:ext uri="{BB962C8B-B14F-4D97-AF65-F5344CB8AC3E}">
        <p14:creationId xmlns:p14="http://schemas.microsoft.com/office/powerpoint/2010/main" val="6471676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1" dirty="0"/>
              <a:t>Laboratório #1</a:t>
            </a:r>
            <a:r>
              <a:rPr lang="pt-BR" sz="1200" dirty="0"/>
              <a:t>: https://mybinder.org/v2/gh/zz4fap/t319_aprendizado_de_maquina/main?filepath=labs%2FLaboratorio1.ipynb</a:t>
            </a:r>
          </a:p>
          <a:p>
            <a:endParaRPr lang="pt-BR" sz="1200" dirty="0"/>
          </a:p>
          <a:p>
            <a:r>
              <a:rPr lang="pt-BR" sz="1200" b="1" dirty="0"/>
              <a:t>Laboratório #1</a:t>
            </a:r>
            <a:r>
              <a:rPr lang="pt-BR" sz="1200" dirty="0"/>
              <a:t>: https://colab.research.google.com/github/zz4fap/t319_aprendizado_de_maquina/blob/main/labs/Laboratorio1.ipynb</a:t>
            </a:r>
          </a:p>
          <a:p>
            <a:endParaRPr lang="pt-BR" sz="1200" dirty="0"/>
          </a:p>
        </p:txBody>
      </p:sp>
      <p:sp>
        <p:nvSpPr>
          <p:cNvPr id="4" name="Slide Number Placeholder 3"/>
          <p:cNvSpPr>
            <a:spLocks noGrp="1"/>
          </p:cNvSpPr>
          <p:nvPr>
            <p:ph type="sldNum" sz="quarter" idx="10"/>
          </p:nvPr>
        </p:nvSpPr>
        <p:spPr/>
        <p:txBody>
          <a:bodyPr/>
          <a:lstStyle/>
          <a:p>
            <a:fld id="{6FC8D850-966F-45A6-8DE7-15B891E7D40D}" type="slidenum">
              <a:rPr lang="pt-BR" smtClean="0"/>
              <a:t>41</a:t>
            </a:fld>
            <a:endParaRPr lang="pt-BR"/>
          </a:p>
        </p:txBody>
      </p:sp>
    </p:spTree>
    <p:extLst>
      <p:ext uri="{BB962C8B-B14F-4D97-AF65-F5344CB8AC3E}">
        <p14:creationId xmlns:p14="http://schemas.microsoft.com/office/powerpoint/2010/main" val="1758614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EDE2778-5372-4104-B96D-968184DA8288}"/>
              </a:ext>
            </a:extLst>
          </p:cNvPr>
          <p:cNvSpPr>
            <a:spLocks noGrp="1"/>
          </p:cNvSpPr>
          <p:nvPr>
            <p:ph type="dt" sz="half" idx="10"/>
          </p:nvPr>
        </p:nvSpPr>
        <p:spPr/>
        <p:txBody>
          <a:bodyPr/>
          <a:lstStyle/>
          <a:p>
            <a:fld id="{63289F7E-B80B-496E-81B4-D396C37C9454}" type="datetimeFigureOut">
              <a:rPr lang="pt-BR" smtClean="0"/>
              <a:t>31/07/2026</a:t>
            </a:fld>
            <a:endParaRPr lang="pt-BR"/>
          </a:p>
        </p:txBody>
      </p:sp>
      <p:sp>
        <p:nvSpPr>
          <p:cNvPr id="5" name="Espaço Reservado para Rodapé 4">
            <a:extLst>
              <a:ext uri="{FF2B5EF4-FFF2-40B4-BE49-F238E27FC236}">
                <a16:creationId xmlns:a16="http://schemas.microsoft.com/office/drawing/2014/main"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7E5967E-D980-431A-A5DB-3F0C5030A81E}"/>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05BE1AF-51EA-425D-B188-DE7BD675009F}"/>
              </a:ext>
            </a:extLst>
          </p:cNvPr>
          <p:cNvSpPr>
            <a:spLocks noGrp="1"/>
          </p:cNvSpPr>
          <p:nvPr>
            <p:ph type="dt" sz="half" idx="10"/>
          </p:nvPr>
        </p:nvSpPr>
        <p:spPr/>
        <p:txBody>
          <a:bodyPr/>
          <a:lstStyle/>
          <a:p>
            <a:fld id="{63289F7E-B80B-496E-81B4-D396C37C9454}" type="datetimeFigureOut">
              <a:rPr lang="pt-BR" smtClean="0"/>
              <a:t>31/07/2026</a:t>
            </a:fld>
            <a:endParaRPr lang="pt-BR"/>
          </a:p>
        </p:txBody>
      </p:sp>
      <p:sp>
        <p:nvSpPr>
          <p:cNvPr id="5" name="Espaço Reservado para Rodapé 4">
            <a:extLst>
              <a:ext uri="{FF2B5EF4-FFF2-40B4-BE49-F238E27FC236}">
                <a16:creationId xmlns:a16="http://schemas.microsoft.com/office/drawing/2014/main"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0CF3DD1-9AEC-4A57-B461-4E4DD86FAC1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50F1D3FB-740A-4EBA-A309-2CE71D12ECFB}"/>
              </a:ext>
            </a:extLst>
          </p:cNvPr>
          <p:cNvSpPr>
            <a:spLocks noGrp="1"/>
          </p:cNvSpPr>
          <p:nvPr>
            <p:ph type="dt" sz="half" idx="10"/>
          </p:nvPr>
        </p:nvSpPr>
        <p:spPr/>
        <p:txBody>
          <a:bodyPr/>
          <a:lstStyle/>
          <a:p>
            <a:fld id="{63289F7E-B80B-496E-81B4-D396C37C9454}" type="datetimeFigureOut">
              <a:rPr lang="pt-BR" smtClean="0"/>
              <a:t>31/07/2026</a:t>
            </a:fld>
            <a:endParaRPr lang="pt-BR"/>
          </a:p>
        </p:txBody>
      </p:sp>
      <p:sp>
        <p:nvSpPr>
          <p:cNvPr id="5" name="Espaço Reservado para Rodapé 4">
            <a:extLst>
              <a:ext uri="{FF2B5EF4-FFF2-40B4-BE49-F238E27FC236}">
                <a16:creationId xmlns:a16="http://schemas.microsoft.com/office/drawing/2014/main"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53466C6-8248-429F-8056-FF040BF509EB}"/>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8070A4-BC2F-4D55-BD8D-DEAF11BB9EE9}"/>
              </a:ext>
            </a:extLst>
          </p:cNvPr>
          <p:cNvSpPr>
            <a:spLocks noGrp="1"/>
          </p:cNvSpPr>
          <p:nvPr>
            <p:ph type="dt" sz="half" idx="10"/>
          </p:nvPr>
        </p:nvSpPr>
        <p:spPr/>
        <p:txBody>
          <a:bodyPr/>
          <a:lstStyle/>
          <a:p>
            <a:fld id="{63289F7E-B80B-496E-81B4-D396C37C9454}" type="datetimeFigureOut">
              <a:rPr lang="pt-BR" smtClean="0"/>
              <a:t>31/07/2026</a:t>
            </a:fld>
            <a:endParaRPr lang="pt-BR"/>
          </a:p>
        </p:txBody>
      </p:sp>
      <p:sp>
        <p:nvSpPr>
          <p:cNvPr id="6" name="Espaço Reservado para Rodapé 5">
            <a:extLst>
              <a:ext uri="{FF2B5EF4-FFF2-40B4-BE49-F238E27FC236}">
                <a16:creationId xmlns:a16="http://schemas.microsoft.com/office/drawing/2014/main"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CC606A8-097B-4040-94E0-CD8C88280D8F}"/>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172C0E5-5AF0-4805-BB51-443733CD2BD5}"/>
              </a:ext>
            </a:extLst>
          </p:cNvPr>
          <p:cNvSpPr>
            <a:spLocks noGrp="1"/>
          </p:cNvSpPr>
          <p:nvPr>
            <p:ph type="dt" sz="half" idx="10"/>
          </p:nvPr>
        </p:nvSpPr>
        <p:spPr/>
        <p:txBody>
          <a:bodyPr/>
          <a:lstStyle/>
          <a:p>
            <a:fld id="{63289F7E-B80B-496E-81B4-D396C37C9454}" type="datetimeFigureOut">
              <a:rPr lang="pt-BR" smtClean="0"/>
              <a:t>31/07/2026</a:t>
            </a:fld>
            <a:endParaRPr lang="pt-BR"/>
          </a:p>
        </p:txBody>
      </p:sp>
      <p:sp>
        <p:nvSpPr>
          <p:cNvPr id="8" name="Espaço Reservado para Rodapé 7">
            <a:extLst>
              <a:ext uri="{FF2B5EF4-FFF2-40B4-BE49-F238E27FC236}">
                <a16:creationId xmlns:a16="http://schemas.microsoft.com/office/drawing/2014/main"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EEE23D32-80E7-4796-A137-66BF842E4B53}"/>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42600A9-7F92-4E22-9D94-E4717252A817}"/>
              </a:ext>
            </a:extLst>
          </p:cNvPr>
          <p:cNvSpPr>
            <a:spLocks noGrp="1"/>
          </p:cNvSpPr>
          <p:nvPr>
            <p:ph type="dt" sz="half" idx="10"/>
          </p:nvPr>
        </p:nvSpPr>
        <p:spPr/>
        <p:txBody>
          <a:bodyPr/>
          <a:lstStyle/>
          <a:p>
            <a:fld id="{63289F7E-B80B-496E-81B4-D396C37C9454}" type="datetimeFigureOut">
              <a:rPr lang="pt-BR" smtClean="0"/>
              <a:t>31/07/2026</a:t>
            </a:fld>
            <a:endParaRPr lang="pt-BR"/>
          </a:p>
        </p:txBody>
      </p:sp>
      <p:sp>
        <p:nvSpPr>
          <p:cNvPr id="4" name="Espaço Reservado para Rodapé 3">
            <a:extLst>
              <a:ext uri="{FF2B5EF4-FFF2-40B4-BE49-F238E27FC236}">
                <a16:creationId xmlns:a16="http://schemas.microsoft.com/office/drawing/2014/main"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6091CC40-A8C4-4063-80EB-CC509962167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D19515C-212C-4EAE-84A3-8FF4BC844F1B}"/>
              </a:ext>
            </a:extLst>
          </p:cNvPr>
          <p:cNvSpPr>
            <a:spLocks noGrp="1"/>
          </p:cNvSpPr>
          <p:nvPr>
            <p:ph type="dt" sz="half" idx="10"/>
          </p:nvPr>
        </p:nvSpPr>
        <p:spPr/>
        <p:txBody>
          <a:bodyPr/>
          <a:lstStyle/>
          <a:p>
            <a:fld id="{63289F7E-B80B-496E-81B4-D396C37C9454}" type="datetimeFigureOut">
              <a:rPr lang="pt-BR" smtClean="0"/>
              <a:t>31/07/2026</a:t>
            </a:fld>
            <a:endParaRPr lang="pt-BR"/>
          </a:p>
        </p:txBody>
      </p:sp>
      <p:sp>
        <p:nvSpPr>
          <p:cNvPr id="3" name="Espaço Reservado para Rodapé 2">
            <a:extLst>
              <a:ext uri="{FF2B5EF4-FFF2-40B4-BE49-F238E27FC236}">
                <a16:creationId xmlns:a16="http://schemas.microsoft.com/office/drawing/2014/main"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2E49B68-FA1B-468B-9F17-D5C09243D454}"/>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4DC363A-5000-472E-8B17-02E7DCB8840A}"/>
              </a:ext>
            </a:extLst>
          </p:cNvPr>
          <p:cNvSpPr>
            <a:spLocks noGrp="1"/>
          </p:cNvSpPr>
          <p:nvPr>
            <p:ph type="dt" sz="half" idx="10"/>
          </p:nvPr>
        </p:nvSpPr>
        <p:spPr/>
        <p:txBody>
          <a:bodyPr/>
          <a:lstStyle/>
          <a:p>
            <a:fld id="{63289F7E-B80B-496E-81B4-D396C37C9454}" type="datetimeFigureOut">
              <a:rPr lang="pt-BR" smtClean="0"/>
              <a:t>31/07/2026</a:t>
            </a:fld>
            <a:endParaRPr lang="pt-BR"/>
          </a:p>
        </p:txBody>
      </p:sp>
      <p:sp>
        <p:nvSpPr>
          <p:cNvPr id="6" name="Espaço Reservado para Rodapé 5">
            <a:extLst>
              <a:ext uri="{FF2B5EF4-FFF2-40B4-BE49-F238E27FC236}">
                <a16:creationId xmlns:a16="http://schemas.microsoft.com/office/drawing/2014/main"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3E9726-E64C-42B2-AE8A-8C235A956B4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2113D81-8665-4516-BD81-C6A1F254EECD}"/>
              </a:ext>
            </a:extLst>
          </p:cNvPr>
          <p:cNvSpPr>
            <a:spLocks noGrp="1"/>
          </p:cNvSpPr>
          <p:nvPr>
            <p:ph type="dt" sz="half" idx="10"/>
          </p:nvPr>
        </p:nvSpPr>
        <p:spPr/>
        <p:txBody>
          <a:bodyPr/>
          <a:lstStyle/>
          <a:p>
            <a:fld id="{63289F7E-B80B-496E-81B4-D396C37C9454}" type="datetimeFigureOut">
              <a:rPr lang="pt-BR" smtClean="0"/>
              <a:t>31/07/2026</a:t>
            </a:fld>
            <a:endParaRPr lang="pt-BR"/>
          </a:p>
        </p:txBody>
      </p:sp>
      <p:sp>
        <p:nvSpPr>
          <p:cNvPr id="6" name="Espaço Reservado para Rodapé 5">
            <a:extLst>
              <a:ext uri="{FF2B5EF4-FFF2-40B4-BE49-F238E27FC236}">
                <a16:creationId xmlns:a16="http://schemas.microsoft.com/office/drawing/2014/main"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04D1A2D-69F7-4B8F-A730-BC26DC340BA6}"/>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9E8855C-D8FD-48F6-B14E-861E0DE4D915}"/>
              </a:ext>
            </a:extLst>
          </p:cNvPr>
          <p:cNvSpPr>
            <a:spLocks noGrp="1"/>
          </p:cNvSpPr>
          <p:nvPr>
            <p:ph type="dt" sz="half" idx="10"/>
          </p:nvPr>
        </p:nvSpPr>
        <p:spPr/>
        <p:txBody>
          <a:bodyPr/>
          <a:lstStyle/>
          <a:p>
            <a:fld id="{63289F7E-B80B-496E-81B4-D396C37C9454}" type="datetimeFigureOut">
              <a:rPr lang="pt-BR" smtClean="0"/>
              <a:t>31/07/2026</a:t>
            </a:fld>
            <a:endParaRPr lang="pt-BR"/>
          </a:p>
        </p:txBody>
      </p:sp>
      <p:sp>
        <p:nvSpPr>
          <p:cNvPr id="5" name="Espaço Reservado para Rodapé 4">
            <a:extLst>
              <a:ext uri="{FF2B5EF4-FFF2-40B4-BE49-F238E27FC236}">
                <a16:creationId xmlns:a16="http://schemas.microsoft.com/office/drawing/2014/main"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CB462B3-1F22-4C05-B4B8-7A279FB7D5E9}"/>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21D5734-7B1F-425D-942F-6EB73344027C}"/>
              </a:ext>
            </a:extLst>
          </p:cNvPr>
          <p:cNvSpPr>
            <a:spLocks noGrp="1"/>
          </p:cNvSpPr>
          <p:nvPr>
            <p:ph type="dt" sz="half" idx="10"/>
          </p:nvPr>
        </p:nvSpPr>
        <p:spPr/>
        <p:txBody>
          <a:bodyPr/>
          <a:lstStyle/>
          <a:p>
            <a:fld id="{63289F7E-B80B-496E-81B4-D396C37C9454}" type="datetimeFigureOut">
              <a:rPr lang="pt-BR" smtClean="0"/>
              <a:t>31/07/2026</a:t>
            </a:fld>
            <a:endParaRPr lang="pt-BR"/>
          </a:p>
        </p:txBody>
      </p:sp>
      <p:sp>
        <p:nvSpPr>
          <p:cNvPr id="5" name="Espaço Reservado para Rodapé 4">
            <a:extLst>
              <a:ext uri="{FF2B5EF4-FFF2-40B4-BE49-F238E27FC236}">
                <a16:creationId xmlns:a16="http://schemas.microsoft.com/office/drawing/2014/main"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A44493-9911-47B2-87A6-C2141A972BC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31/07/2026</a:t>
            </a:fld>
            <a:endParaRPr lang="pt-BR"/>
          </a:p>
        </p:txBody>
      </p:sp>
      <p:sp>
        <p:nvSpPr>
          <p:cNvPr id="5" name="Espaço Reservado para Rodapé 4">
            <a:extLst>
              <a:ext uri="{FF2B5EF4-FFF2-40B4-BE49-F238E27FC236}">
                <a16:creationId xmlns:a16="http://schemas.microsoft.com/office/drawing/2014/main"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‹nº›</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jpg"/><Relationship Id="rId11" Type="http://schemas.openxmlformats.org/officeDocument/2006/relationships/image" Target="../media/image26.jpe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7.jpe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0.jpeg"/><Relationship Id="rId4" Type="http://schemas.openxmlformats.org/officeDocument/2006/relationships/image" Target="../media/image39.jpeg"/></Relationships>
</file>

<file path=ppt/slides/_rels/slide1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image" Target="../media/image57.jpeg"/><Relationship Id="rId7" Type="http://schemas.openxmlformats.org/officeDocument/2006/relationships/image" Target="../media/image61.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jpeg"/><Relationship Id="rId9" Type="http://schemas.openxmlformats.org/officeDocument/2006/relationships/image" Target="../media/image63.png"/></Relationships>
</file>

<file path=ppt/slides/_rels/slide2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70.png"/><Relationship Id="rId7" Type="http://schemas.openxmlformats.org/officeDocument/2006/relationships/image" Target="../media/image7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690.png"/><Relationship Id="rId4" Type="http://schemas.openxmlformats.org/officeDocument/2006/relationships/image" Target="../media/image68.png"/><Relationship Id="rId9" Type="http://schemas.openxmlformats.org/officeDocument/2006/relationships/image" Target="../media/image73.png"/></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3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4.jpeg"/><Relationship Id="rId4" Type="http://schemas.openxmlformats.org/officeDocument/2006/relationships/image" Target="../media/image73.jpeg"/></Relationships>
</file>

<file path=ppt/slides/_rels/slide3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82.jpeg"/><Relationship Id="rId4" Type="http://schemas.openxmlformats.org/officeDocument/2006/relationships/image" Target="../media/image81.png"/></Relationships>
</file>

<file path=ppt/slides/_rels/slide35.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83.jpeg"/></Relationships>
</file>

<file path=ppt/slides/_rels/slide36.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107.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060.png"/><Relationship Id="rId5" Type="http://schemas.openxmlformats.org/officeDocument/2006/relationships/image" Target="../media/image86.png"/><Relationship Id="rId4" Type="http://schemas.openxmlformats.org/officeDocument/2006/relationships/image" Target="../media/image85.png"/></Relationships>
</file>

<file path=ppt/slides/_rels/slide37.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107.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060.png"/><Relationship Id="rId5" Type="http://schemas.openxmlformats.org/officeDocument/2006/relationships/image" Target="../media/image86.png"/><Relationship Id="rId4" Type="http://schemas.openxmlformats.org/officeDocument/2006/relationships/image" Target="../media/image85.png"/></Relationships>
</file>

<file path=ppt/slides/_rels/slide38.xml.rels><?xml version="1.0" encoding="UTF-8" standalone="yes"?>
<Relationships xmlns="http://schemas.openxmlformats.org/package/2006/relationships"><Relationship Id="rId3" Type="http://schemas.openxmlformats.org/officeDocument/2006/relationships/hyperlink" Target="https://www.dca.fee.unicamp.br/~lboccato/ia006_2s2019.html"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hyperlink" Target="https://tinyurl.com/mp64ksye" TargetMode="External"/></Relationships>
</file>

<file path=ppt/slides/_rels/slide39.xml.rels><?xml version="1.0" encoding="UTF-8" standalone="yes"?>
<Relationships xmlns="http://schemas.openxmlformats.org/package/2006/relationships"><Relationship Id="rId2" Type="http://schemas.openxmlformats.org/officeDocument/2006/relationships/hyperlink" Target="https://github.com/zz4fap/t319_aprendizado_de_maquina"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colab.research.google.com/github/zz4fap/t319_aprendizado_de_maquina/blob/main/labs/Laboratorio1.ipynb"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hyperlink" Target="https://github.com/zz4fap/t319_aprendizado_de_maquina/blob/main/docs/Resolu%C3%A7%C3%A3o%20e%20entrega%20dos%20laborat%C3%B3rios.pdf"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66AC8-2E17-4DB4-B0F5-60C640CCFD2E}"/>
              </a:ext>
            </a:extLst>
          </p:cNvPr>
          <p:cNvSpPr>
            <a:spLocks noGrp="1"/>
          </p:cNvSpPr>
          <p:nvPr>
            <p:ph type="ctrTitle"/>
          </p:nvPr>
        </p:nvSpPr>
        <p:spPr>
          <a:xfrm>
            <a:off x="1524000" y="819807"/>
            <a:ext cx="9144000" cy="2690156"/>
          </a:xfrm>
        </p:spPr>
        <p:txBody>
          <a:bodyPr>
            <a:normAutofit/>
          </a:bodyPr>
          <a:lstStyle/>
          <a:p>
            <a:r>
              <a:rPr lang="pt-BR" sz="5400" dirty="0"/>
              <a:t>T319 - Introdução ao Aprendizado de Máquina:</a:t>
            </a:r>
            <a:br>
              <a:rPr lang="pt-BR" dirty="0"/>
            </a:br>
            <a:r>
              <a:rPr lang="pt-BR" b="1" i="1" dirty="0"/>
              <a:t>Introdução</a:t>
            </a:r>
          </a:p>
        </p:txBody>
      </p:sp>
      <p:sp>
        <p:nvSpPr>
          <p:cNvPr id="4" name="CaixaDeTexto 3">
            <a:extLst>
              <a:ext uri="{FF2B5EF4-FFF2-40B4-BE49-F238E27FC236}">
                <a16:creationId xmlns:a16="http://schemas.microsoft.com/office/drawing/2014/main" id="{430EB894-B7D4-434C-9D1A-A14094D9BEEC}"/>
              </a:ext>
            </a:extLst>
          </p:cNvPr>
          <p:cNvSpPr txBox="1"/>
          <p:nvPr/>
        </p:nvSpPr>
        <p:spPr>
          <a:xfrm>
            <a:off x="7915802" y="5519955"/>
            <a:ext cx="4004345" cy="677108"/>
          </a:xfrm>
          <a:prstGeom prst="rect">
            <a:avLst/>
          </a:prstGeom>
          <a:noFill/>
        </p:spPr>
        <p:txBody>
          <a:bodyPr wrap="square" rtlCol="0">
            <a:spAutoFit/>
          </a:bodyPr>
          <a:lstStyle/>
          <a:p>
            <a:r>
              <a:rPr lang="pt-BR" sz="2000" dirty="0"/>
              <a:t>Felipe Augusto Pereira de Figueiredo</a:t>
            </a:r>
          </a:p>
          <a:p>
            <a:r>
              <a:rPr lang="pt-BR" dirty="0"/>
              <a:t>felipe.figueiredo@inatel.br</a:t>
            </a:r>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271853" y="5528345"/>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4965305" y="3426573"/>
            <a:ext cx="2261389" cy="2237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 disciplina</a:t>
            </a:r>
          </a:p>
        </p:txBody>
      </p:sp>
      <p:sp>
        <p:nvSpPr>
          <p:cNvPr id="3" name="Content Placeholder 2"/>
          <p:cNvSpPr>
            <a:spLocks noGrp="1"/>
          </p:cNvSpPr>
          <p:nvPr>
            <p:ph idx="1"/>
          </p:nvPr>
        </p:nvSpPr>
        <p:spPr>
          <a:xfrm>
            <a:off x="838199" y="1825624"/>
            <a:ext cx="11353801" cy="5032376"/>
          </a:xfrm>
        </p:spPr>
        <p:txBody>
          <a:bodyPr>
            <a:normAutofit/>
          </a:bodyPr>
          <a:lstStyle/>
          <a:p>
            <a:r>
              <a:rPr lang="pt-BR" b="1" i="1" dirty="0"/>
              <a:t>Introdução</a:t>
            </a:r>
            <a:r>
              <a:rPr lang="pt-BR" dirty="0"/>
              <a:t> ao aprendizado de máquina.</a:t>
            </a:r>
          </a:p>
          <a:p>
            <a:r>
              <a:rPr lang="pt-BR" dirty="0"/>
              <a:t>Curso onde veremos os </a:t>
            </a:r>
            <a:r>
              <a:rPr lang="pt-BR" b="1" i="1" dirty="0">
                <a:solidFill>
                  <a:srgbClr val="00B050"/>
                </a:solidFill>
              </a:rPr>
              <a:t>conceitos fundamentais</a:t>
            </a:r>
            <a:r>
              <a:rPr lang="pt-BR" b="1" i="1" dirty="0"/>
              <a:t> </a:t>
            </a:r>
            <a:r>
              <a:rPr lang="pt-BR" dirty="0"/>
              <a:t>do funcionamento de alguns </a:t>
            </a:r>
            <a:r>
              <a:rPr lang="pt-BR" b="1" i="1" dirty="0">
                <a:solidFill>
                  <a:srgbClr val="00B050"/>
                </a:solidFill>
              </a:rPr>
              <a:t>algoritmos de aprendizado de máquina</a:t>
            </a:r>
            <a:r>
              <a:rPr lang="pt-BR" dirty="0"/>
              <a:t> ou em inglês, </a:t>
            </a:r>
            <a:r>
              <a:rPr lang="pt-BR" b="1" i="1" dirty="0"/>
              <a:t>machine learning</a:t>
            </a:r>
            <a:r>
              <a:rPr lang="pt-BR" dirty="0"/>
              <a:t> (ML).</a:t>
            </a:r>
          </a:p>
          <a:p>
            <a:r>
              <a:rPr lang="pt-BR" dirty="0"/>
              <a:t>O curso é dividido em duas partes: T319 e T320.</a:t>
            </a:r>
          </a:p>
          <a:p>
            <a:r>
              <a:rPr lang="pt-BR" dirty="0"/>
              <a:t>Teremos sempre uma parte </a:t>
            </a:r>
            <a:r>
              <a:rPr lang="pt-BR" b="1" i="1" dirty="0"/>
              <a:t>expositiva </a:t>
            </a:r>
            <a:r>
              <a:rPr lang="pt-BR" dirty="0"/>
              <a:t>e outra </a:t>
            </a:r>
            <a:r>
              <a:rPr lang="pt-BR" b="1" i="1" dirty="0"/>
              <a:t>prática </a:t>
            </a:r>
            <a:r>
              <a:rPr lang="pt-BR" dirty="0"/>
              <a:t>para fixação dos</a:t>
            </a:r>
            <a:br>
              <a:rPr lang="pt-BR" dirty="0"/>
            </a:br>
            <a:r>
              <a:rPr lang="pt-BR" dirty="0"/>
              <a:t>conceitos introduzidos.</a:t>
            </a:r>
          </a:p>
          <a:p>
            <a:pPr lvl="1">
              <a:buFont typeface="Wingdings" panose="05000000000000000000" pitchFamily="2" charset="2"/>
              <a:buChar char="§"/>
            </a:pPr>
            <a:r>
              <a:rPr lang="pt-BR" dirty="0"/>
              <a:t>Quizzes e exercícios envolvendo o uso dos conceitos discutidos em sala de aula. </a:t>
            </a:r>
          </a:p>
          <a:p>
            <a:r>
              <a:rPr lang="pt-BR" dirty="0"/>
              <a:t>Nós não nos aprofundaremos nos conceitos matemáticos envolvidos.</a:t>
            </a:r>
          </a:p>
          <a:p>
            <a:r>
              <a:rPr lang="pt-BR" dirty="0"/>
              <a:t>Porém, vocês precisam conhecer o básico de </a:t>
            </a:r>
            <a:r>
              <a:rPr lang="pt-BR" b="1" i="1" dirty="0"/>
              <a:t>Python</a:t>
            </a:r>
            <a:r>
              <a:rPr lang="pt-BR" dirty="0"/>
              <a:t> e alguns conceitos simples de </a:t>
            </a:r>
            <a:r>
              <a:rPr lang="pt-BR" b="1" i="1" dirty="0"/>
              <a:t>cálculo, álgebra linear e estatística</a:t>
            </a:r>
            <a:r>
              <a:rPr lang="pt-BR" dirty="0"/>
              <a:t>.</a:t>
            </a:r>
          </a:p>
          <a:p>
            <a:endParaRPr lang="pt-BR" dirty="0"/>
          </a:p>
          <a:p>
            <a:endParaRPr lang="pt-BR" dirty="0"/>
          </a:p>
        </p:txBody>
      </p:sp>
    </p:spTree>
    <p:extLst>
      <p:ext uri="{BB962C8B-B14F-4D97-AF65-F5344CB8AC3E}">
        <p14:creationId xmlns:p14="http://schemas.microsoft.com/office/powerpoint/2010/main" val="193916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Cronograma</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23022458"/>
              </p:ext>
            </p:extLst>
          </p:nvPr>
        </p:nvGraphicFramePr>
        <p:xfrm>
          <a:off x="1343808" y="2436009"/>
          <a:ext cx="9504383" cy="3094188"/>
        </p:xfrm>
        <a:graphic>
          <a:graphicData uri="http://schemas.openxmlformats.org/drawingml/2006/table">
            <a:tbl>
              <a:tblPr/>
              <a:tblGrid>
                <a:gridCol w="634331">
                  <a:extLst>
                    <a:ext uri="{9D8B030D-6E8A-4147-A177-3AD203B41FA5}">
                      <a16:colId xmlns:a16="http://schemas.microsoft.com/office/drawing/2014/main" val="20000"/>
                    </a:ext>
                  </a:extLst>
                </a:gridCol>
                <a:gridCol w="1609105">
                  <a:extLst>
                    <a:ext uri="{9D8B030D-6E8A-4147-A177-3AD203B41FA5}">
                      <a16:colId xmlns:a16="http://schemas.microsoft.com/office/drawing/2014/main" val="20001"/>
                    </a:ext>
                  </a:extLst>
                </a:gridCol>
                <a:gridCol w="1608641">
                  <a:extLst>
                    <a:ext uri="{9D8B030D-6E8A-4147-A177-3AD203B41FA5}">
                      <a16:colId xmlns:a16="http://schemas.microsoft.com/office/drawing/2014/main" val="20002"/>
                    </a:ext>
                  </a:extLst>
                </a:gridCol>
                <a:gridCol w="1930743">
                  <a:extLst>
                    <a:ext uri="{9D8B030D-6E8A-4147-A177-3AD203B41FA5}">
                      <a16:colId xmlns:a16="http://schemas.microsoft.com/office/drawing/2014/main" val="20003"/>
                    </a:ext>
                  </a:extLst>
                </a:gridCol>
                <a:gridCol w="3721563">
                  <a:extLst>
                    <a:ext uri="{9D8B030D-6E8A-4147-A177-3AD203B41FA5}">
                      <a16:colId xmlns:a16="http://schemas.microsoft.com/office/drawing/2014/main" val="20004"/>
                    </a:ext>
                  </a:extLst>
                </a:gridCol>
              </a:tblGrid>
              <a:tr h="196995">
                <a:tc>
                  <a:txBody>
                    <a:bodyPr/>
                    <a:lstStyle/>
                    <a:p>
                      <a:pPr algn="ctr" rtl="0" fontAlgn="b"/>
                      <a:r>
                        <a:rPr lang="pt-BR" sz="1600" b="1" dirty="0">
                          <a:effectLst/>
                        </a:rPr>
                        <a:t>Aula</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600" b="1" dirty="0">
                          <a:effectLst/>
                        </a:rPr>
                        <a:t>Data</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600" b="1" dirty="0">
                          <a:effectLst/>
                        </a:rPr>
                        <a:t>Dia</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600" b="1" dirty="0">
                          <a:effectLst/>
                        </a:rPr>
                        <a:t>Horário</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pt-BR" sz="1600" b="1" dirty="0">
                          <a:effectLst/>
                        </a:rPr>
                        <a:t>Atividade</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0"/>
                  </a:ext>
                </a:extLst>
              </a:tr>
              <a:tr h="202122">
                <a:tc>
                  <a:txBody>
                    <a:bodyPr/>
                    <a:lstStyle/>
                    <a:p>
                      <a:pPr algn="ctr" rtl="0" fontAlgn="b"/>
                      <a:r>
                        <a:rPr lang="pt-BR" sz="1600" dirty="0">
                          <a:effectLst/>
                        </a:rPr>
                        <a:t>1</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algn="ctr" defTabSz="914400" rtl="0" eaLnBrk="1" fontAlgn="b" latinLnBrk="0" hangingPunct="1">
                        <a:buNone/>
                      </a:pPr>
                      <a:r>
                        <a:rPr lang="en-US" sz="1600" kern="1200" dirty="0">
                          <a:solidFill>
                            <a:schemeClr val="tx1"/>
                          </a:solidFill>
                          <a:latin typeface="+mn-lt"/>
                          <a:ea typeface="+mn-ea"/>
                          <a:cs typeface="+mn-cs"/>
                        </a:rPr>
                        <a:t>31/7/2026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10">
                  <a:txBody>
                    <a:bodyPr/>
                    <a:lstStyle/>
                    <a:p>
                      <a:pPr algn="ctr"/>
                      <a:r>
                        <a:rPr lang="pt-BR" sz="1600" dirty="0"/>
                        <a:t>Sexta-feira</a:t>
                      </a:r>
                    </a:p>
                  </a:txBody>
                  <a:tcPr marL="23211" marR="23211" marT="15474" marB="1547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rowSpan="10">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600" dirty="0"/>
                        <a:t>19:30 às 21:10</a:t>
                      </a:r>
                    </a:p>
                  </a:txBody>
                  <a:tcPr marL="23211" marR="23211" marT="15474" marB="15474"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pt-BR" sz="1600" dirty="0"/>
                        <a:t>Introdução ao Aprendizado de Máquina</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02122">
                <a:tc>
                  <a:txBody>
                    <a:bodyPr/>
                    <a:lstStyle/>
                    <a:p>
                      <a:pPr algn="ctr" rtl="0" fontAlgn="b"/>
                      <a:r>
                        <a:rPr lang="pt-BR" sz="1600" dirty="0">
                          <a:effectLst/>
                        </a:rPr>
                        <a:t>2</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algn="ctr" defTabSz="914400" rtl="0" eaLnBrk="1" fontAlgn="b" latinLnBrk="0" hangingPunct="1">
                        <a:buNone/>
                      </a:pPr>
                      <a:r>
                        <a:rPr lang="en-US" sz="1600" kern="1200" dirty="0">
                          <a:solidFill>
                            <a:schemeClr val="tx1"/>
                          </a:solidFill>
                          <a:latin typeface="+mn-lt"/>
                          <a:ea typeface="+mn-ea"/>
                          <a:cs typeface="+mn-cs"/>
                        </a:rPr>
                        <a:t>14/8/2026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pt-BR" sz="1600" dirty="0"/>
                        <a:t>Introdução ao Aprendizado de Máquina</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02122">
                <a:tc>
                  <a:txBody>
                    <a:bodyPr/>
                    <a:lstStyle/>
                    <a:p>
                      <a:pPr algn="ctr" rtl="0" fontAlgn="b"/>
                      <a:r>
                        <a:rPr lang="pt-BR" sz="1600" dirty="0">
                          <a:effectLst/>
                        </a:rPr>
                        <a:t>3</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algn="ctr" defTabSz="914400" rtl="0" eaLnBrk="1" fontAlgn="b" latinLnBrk="0" hangingPunct="1">
                        <a:buNone/>
                      </a:pPr>
                      <a:r>
                        <a:rPr lang="en-US" sz="1600" kern="1200">
                          <a:solidFill>
                            <a:schemeClr val="tx1"/>
                          </a:solidFill>
                          <a:latin typeface="+mn-lt"/>
                          <a:ea typeface="+mn-ea"/>
                          <a:cs typeface="+mn-cs"/>
                        </a:rPr>
                        <a:t>28/8/2026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pt-BR" sz="1600" dirty="0"/>
                        <a:t>Introdução ao Aprendizado de Máquina</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02122">
                <a:tc>
                  <a:txBody>
                    <a:bodyPr/>
                    <a:lstStyle/>
                    <a:p>
                      <a:pPr algn="ctr" rtl="0" fontAlgn="b"/>
                      <a:r>
                        <a:rPr lang="pt-BR" sz="1600" dirty="0">
                          <a:effectLst/>
                        </a:rPr>
                        <a:t>4</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algn="ctr" defTabSz="914400" rtl="0" eaLnBrk="1" fontAlgn="b" latinLnBrk="0" hangingPunct="1">
                        <a:buNone/>
                      </a:pPr>
                      <a:r>
                        <a:rPr lang="en-US" sz="1600" kern="1200" dirty="0">
                          <a:solidFill>
                            <a:schemeClr val="tx1"/>
                          </a:solidFill>
                          <a:latin typeface="+mn-lt"/>
                          <a:ea typeface="+mn-ea"/>
                          <a:cs typeface="+mn-cs"/>
                        </a:rPr>
                        <a:t>11/9/2026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pt-BR" sz="1600" dirty="0"/>
                        <a:t>Introdução ao Aprendizado de Máquina</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02122">
                <a:tc>
                  <a:txBody>
                    <a:bodyPr/>
                    <a:lstStyle/>
                    <a:p>
                      <a:pPr algn="ctr" rtl="0" fontAlgn="b"/>
                      <a:r>
                        <a:rPr lang="pt-BR" sz="1600" dirty="0">
                          <a:effectLst/>
                        </a:rPr>
                        <a:t>5</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algn="ctr" defTabSz="914400" rtl="0" eaLnBrk="1" fontAlgn="b" latinLnBrk="0" hangingPunct="1">
                        <a:buNone/>
                      </a:pPr>
                      <a:r>
                        <a:rPr lang="en-US" sz="1600" kern="1200" dirty="0">
                          <a:solidFill>
                            <a:schemeClr val="tx1"/>
                          </a:solidFill>
                          <a:latin typeface="+mn-lt"/>
                          <a:ea typeface="+mn-ea"/>
                          <a:cs typeface="+mn-cs"/>
                        </a:rPr>
                        <a:t>25/9/2026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pt-BR" sz="1600" dirty="0"/>
                        <a:t>Introdução ao Aprendizado de Máquina</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202122">
                <a:tc>
                  <a:txBody>
                    <a:bodyPr/>
                    <a:lstStyle/>
                    <a:p>
                      <a:pPr algn="ctr" rtl="0" fontAlgn="b"/>
                      <a:r>
                        <a:rPr lang="pt-BR" sz="1600" dirty="0">
                          <a:effectLst/>
                        </a:rPr>
                        <a:t>6</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algn="ctr" defTabSz="914400" rtl="0" eaLnBrk="1" fontAlgn="b" latinLnBrk="0" hangingPunct="1">
                        <a:buNone/>
                      </a:pPr>
                      <a:r>
                        <a:rPr lang="en-US" sz="1600" kern="1200" dirty="0">
                          <a:solidFill>
                            <a:schemeClr val="tx1"/>
                          </a:solidFill>
                          <a:latin typeface="+mn-lt"/>
                          <a:ea typeface="+mn-ea"/>
                          <a:cs typeface="+mn-cs"/>
                        </a:rPr>
                        <a:t>9/10/2026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pt-BR" sz="1600" dirty="0"/>
                        <a:t>Introdução ao Aprendizado de Máquina</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202122">
                <a:tc>
                  <a:txBody>
                    <a:bodyPr/>
                    <a:lstStyle/>
                    <a:p>
                      <a:pPr algn="ctr" rtl="0" fontAlgn="b"/>
                      <a:r>
                        <a:rPr lang="pt-BR" sz="1600" dirty="0">
                          <a:effectLst/>
                        </a:rPr>
                        <a:t>7</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algn="ctr" defTabSz="914400" rtl="0" eaLnBrk="1" fontAlgn="b" latinLnBrk="0" hangingPunct="1">
                        <a:buNone/>
                      </a:pPr>
                      <a:r>
                        <a:rPr lang="en-US" sz="1600" kern="1200" dirty="0">
                          <a:solidFill>
                            <a:schemeClr val="tx1"/>
                          </a:solidFill>
                          <a:latin typeface="+mn-lt"/>
                          <a:ea typeface="+mn-ea"/>
                          <a:cs typeface="+mn-cs"/>
                        </a:rPr>
                        <a:t>23/10/2026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600" dirty="0"/>
                        <a:t>Introdução ao Aprendizado de Máquina</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202122">
                <a:tc>
                  <a:txBody>
                    <a:bodyPr/>
                    <a:lstStyle/>
                    <a:p>
                      <a:pPr algn="ctr" rtl="0" fontAlgn="b"/>
                      <a:r>
                        <a:rPr lang="pt-BR" sz="1600" b="1" dirty="0">
                          <a:solidFill>
                            <a:srgbClr val="00B050"/>
                          </a:solidFill>
                          <a:effectLst/>
                        </a:rPr>
                        <a:t>8</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algn="ctr" defTabSz="914400" rtl="0" eaLnBrk="1" fontAlgn="b" latinLnBrk="0" hangingPunct="1">
                        <a:buNone/>
                      </a:pPr>
                      <a:r>
                        <a:rPr lang="en-US" sz="1600" b="1" kern="1200" dirty="0">
                          <a:solidFill>
                            <a:srgbClr val="00B050"/>
                          </a:solidFill>
                          <a:latin typeface="+mn-lt"/>
                          <a:ea typeface="+mn-ea"/>
                          <a:cs typeface="+mn-cs"/>
                        </a:rPr>
                        <a:t>6/11/2026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pt-BR" sz="1600" b="1" dirty="0">
                          <a:solidFill>
                            <a:srgbClr val="00B050"/>
                          </a:solidFill>
                        </a:rPr>
                        <a:t>Avaliação Presencial (Sala ??)</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202122">
                <a:tc>
                  <a:txBody>
                    <a:bodyPr/>
                    <a:lstStyle/>
                    <a:p>
                      <a:pPr algn="ctr" rtl="0" fontAlgn="b"/>
                      <a:r>
                        <a:rPr lang="pt-BR" sz="1600" b="1" kern="1200" dirty="0">
                          <a:solidFill>
                            <a:schemeClr val="accent5"/>
                          </a:solidFill>
                          <a:latin typeface="+mn-lt"/>
                          <a:ea typeface="+mn-ea"/>
                          <a:cs typeface="+mn-cs"/>
                        </a:rPr>
                        <a:t>9</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algn="ctr" defTabSz="914400" rtl="0" eaLnBrk="1" fontAlgn="b" latinLnBrk="0" hangingPunct="1">
                        <a:buNone/>
                      </a:pPr>
                      <a:r>
                        <a:rPr lang="en-US" sz="1600" b="1" kern="1200" dirty="0">
                          <a:solidFill>
                            <a:schemeClr val="accent5"/>
                          </a:solidFill>
                          <a:latin typeface="+mn-lt"/>
                          <a:ea typeface="+mn-ea"/>
                          <a:cs typeface="+mn-cs"/>
                        </a:rPr>
                        <a:t>20/11/2026*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600" b="1" dirty="0">
                          <a:solidFill>
                            <a:schemeClr val="accent5"/>
                          </a:solidFill>
                        </a:rPr>
                        <a:t>Introdução ao Aprendizado de Máquina</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202122">
                <a:tc>
                  <a:txBody>
                    <a:bodyPr/>
                    <a:lstStyle/>
                    <a:p>
                      <a:pPr algn="ctr" rtl="0" fontAlgn="b"/>
                      <a:r>
                        <a:rPr lang="pt-BR" sz="1600" b="1" dirty="0">
                          <a:solidFill>
                            <a:srgbClr val="7030A0"/>
                          </a:solidFill>
                          <a:effectLst/>
                        </a:rPr>
                        <a:t>10</a:t>
                      </a:r>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algn="ctr" defTabSz="914400" rtl="0" eaLnBrk="1" fontAlgn="b" latinLnBrk="0" hangingPunct="1">
                        <a:buNone/>
                      </a:pPr>
                      <a:r>
                        <a:rPr lang="en-US" sz="1600" b="1" kern="1200" dirty="0">
                          <a:solidFill>
                            <a:srgbClr val="7030A0"/>
                          </a:solidFill>
                          <a:latin typeface="+mn-lt"/>
                          <a:ea typeface="+mn-ea"/>
                          <a:cs typeface="+mn-cs"/>
                        </a:rPr>
                        <a:t>4/12/2026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vMerge="1">
                  <a:txBody>
                    <a:bodyPr/>
                    <a:lstStyle/>
                    <a:p>
                      <a:pPr algn="ctr"/>
                      <a:endParaRPr lang="pt-BR" sz="20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1600" b="1" dirty="0">
                          <a:solidFill>
                            <a:srgbClr val="7030A0"/>
                          </a:solidFill>
                        </a:rPr>
                        <a:t>NP3</a:t>
                      </a:r>
                      <a:endParaRPr lang="pt-BR" sz="1600" dirty="0"/>
                    </a:p>
                  </a:txBody>
                  <a:tcPr marL="23211" marR="23211" marT="15474" marB="15474"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Content Placeholder 2"/>
          <p:cNvSpPr txBox="1">
            <a:spLocks/>
          </p:cNvSpPr>
          <p:nvPr/>
        </p:nvSpPr>
        <p:spPr>
          <a:xfrm>
            <a:off x="838199" y="1825624"/>
            <a:ext cx="11188849" cy="47544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Aulas </a:t>
            </a:r>
            <a:r>
              <a:rPr lang="pt-BR" b="1" i="1" dirty="0">
                <a:solidFill>
                  <a:srgbClr val="00B0F0"/>
                </a:solidFill>
              </a:rPr>
              <a:t>quinzenais</a:t>
            </a:r>
            <a:r>
              <a:rPr lang="pt-BR" dirty="0"/>
              <a:t>, começando sempre às 19:30.</a:t>
            </a:r>
          </a:p>
        </p:txBody>
      </p:sp>
      <p:sp>
        <p:nvSpPr>
          <p:cNvPr id="3" name="TextBox 2">
            <a:extLst>
              <a:ext uri="{FF2B5EF4-FFF2-40B4-BE49-F238E27FC236}">
                <a16:creationId xmlns:a16="http://schemas.microsoft.com/office/drawing/2014/main" id="{09CC31A4-B469-5B5A-CE69-4EA5EF1B395B}"/>
              </a:ext>
            </a:extLst>
          </p:cNvPr>
          <p:cNvSpPr txBox="1"/>
          <p:nvPr/>
        </p:nvSpPr>
        <p:spPr>
          <a:xfrm>
            <a:off x="1343808" y="5593613"/>
            <a:ext cx="2536464" cy="307777"/>
          </a:xfrm>
          <a:prstGeom prst="rect">
            <a:avLst/>
          </a:prstGeom>
          <a:noFill/>
        </p:spPr>
        <p:txBody>
          <a:bodyPr wrap="none" rtlCol="0">
            <a:spAutoFit/>
          </a:bodyPr>
          <a:lstStyle/>
          <a:p>
            <a:r>
              <a:rPr lang="pt-BR" sz="1400" b="1" dirty="0">
                <a:solidFill>
                  <a:schemeClr val="accent5"/>
                </a:solidFill>
              </a:rPr>
              <a:t>*Feriado (reposição assíncrona)</a:t>
            </a:r>
            <a:endParaRPr lang="en-US" sz="1400" b="1" dirty="0">
              <a:solidFill>
                <a:schemeClr val="accent5"/>
              </a:solidFill>
            </a:endParaRPr>
          </a:p>
        </p:txBody>
      </p:sp>
    </p:spTree>
    <p:extLst>
      <p:ext uri="{BB962C8B-B14F-4D97-AF65-F5344CB8AC3E}">
        <p14:creationId xmlns:p14="http://schemas.microsoft.com/office/powerpoint/2010/main" val="730641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F48192-B348-4C3E-8621-D3755D2230F8}"/>
              </a:ext>
            </a:extLst>
          </p:cNvPr>
          <p:cNvSpPr>
            <a:spLocks noGrp="1"/>
          </p:cNvSpPr>
          <p:nvPr>
            <p:ph type="title"/>
          </p:nvPr>
        </p:nvSpPr>
        <p:spPr/>
        <p:txBody>
          <a:bodyPr/>
          <a:lstStyle/>
          <a:p>
            <a:r>
              <a:rPr lang="pt-BR" dirty="0"/>
              <a:t>Objetivo do curso</a:t>
            </a:r>
          </a:p>
        </p:txBody>
      </p:sp>
      <p:sp>
        <p:nvSpPr>
          <p:cNvPr id="3" name="Espaço Reservado para Conteúdo 2">
            <a:extLst>
              <a:ext uri="{FF2B5EF4-FFF2-40B4-BE49-F238E27FC236}">
                <a16:creationId xmlns:a16="http://schemas.microsoft.com/office/drawing/2014/main" id="{E3DECB90-AFD9-4AC6-A356-C93A7442A6E6}"/>
              </a:ext>
            </a:extLst>
          </p:cNvPr>
          <p:cNvSpPr>
            <a:spLocks noGrp="1"/>
          </p:cNvSpPr>
          <p:nvPr>
            <p:ph idx="1"/>
          </p:nvPr>
        </p:nvSpPr>
        <p:spPr>
          <a:xfrm>
            <a:off x="838200" y="1825623"/>
            <a:ext cx="7841343" cy="5032376"/>
          </a:xfrm>
        </p:spPr>
        <p:txBody>
          <a:bodyPr>
            <a:normAutofit/>
          </a:bodyPr>
          <a:lstStyle/>
          <a:p>
            <a:r>
              <a:rPr lang="pt-BR" dirty="0"/>
              <a:t>O objetivo principal do curso é apresentar</a:t>
            </a:r>
          </a:p>
          <a:p>
            <a:pPr lvl="1">
              <a:buFont typeface="Wingdings" panose="05000000000000000000" pitchFamily="2" charset="2"/>
              <a:buChar char="§"/>
            </a:pPr>
            <a:r>
              <a:rPr lang="pt-BR" dirty="0"/>
              <a:t>os </a:t>
            </a:r>
            <a:r>
              <a:rPr lang="pt-BR" b="1" i="1" dirty="0"/>
              <a:t>conceitos fundamentais </a:t>
            </a:r>
            <a:r>
              <a:rPr lang="pt-BR" dirty="0"/>
              <a:t>da teoria do aprendizado de máquina.</a:t>
            </a:r>
          </a:p>
          <a:p>
            <a:pPr lvl="1">
              <a:buFont typeface="Wingdings" panose="05000000000000000000" pitchFamily="2" charset="2"/>
              <a:buChar char="§"/>
            </a:pPr>
            <a:r>
              <a:rPr lang="pt-BR" dirty="0"/>
              <a:t>um </a:t>
            </a:r>
            <a:r>
              <a:rPr lang="pt-BR" b="1" i="1" dirty="0"/>
              <a:t>conjunto de ferramentas </a:t>
            </a:r>
            <a:r>
              <a:rPr lang="pt-BR" dirty="0"/>
              <a:t>(i.e., algoritmos, técnicas, métricas) de aprendizado de máquina para solução de diversos tipos de problemas.</a:t>
            </a:r>
          </a:p>
          <a:p>
            <a:r>
              <a:rPr lang="pt-BR" dirty="0"/>
              <a:t>Ao final do curso vocês devem ser capazes de</a:t>
            </a:r>
          </a:p>
          <a:p>
            <a:pPr lvl="1">
              <a:buFont typeface="Wingdings" panose="05000000000000000000" pitchFamily="2" charset="2"/>
              <a:buChar char="§"/>
            </a:pPr>
            <a:r>
              <a:rPr lang="pt-BR" dirty="0"/>
              <a:t>Entender e discutir os principais algoritmos de ML.</a:t>
            </a:r>
          </a:p>
          <a:p>
            <a:pPr lvl="1">
              <a:buFont typeface="Wingdings" panose="05000000000000000000" pitchFamily="2" charset="2"/>
              <a:buChar char="§"/>
            </a:pPr>
            <a:r>
              <a:rPr lang="pt-BR" dirty="0"/>
              <a:t>Compreender a terminologia utilizada na área.</a:t>
            </a:r>
          </a:p>
          <a:p>
            <a:pPr lvl="1">
              <a:buFont typeface="Wingdings" panose="05000000000000000000" pitchFamily="2" charset="2"/>
              <a:buChar char="§"/>
            </a:pPr>
            <a:r>
              <a:rPr lang="pt-BR" dirty="0"/>
              <a:t>Compreender o funcionamento de novos algoritmos de ML.</a:t>
            </a:r>
          </a:p>
          <a:p>
            <a:pPr lvl="1">
              <a:buFont typeface="Wingdings" panose="05000000000000000000" pitchFamily="2" charset="2"/>
              <a:buChar char="§"/>
            </a:pPr>
            <a:r>
              <a:rPr lang="pt-BR" dirty="0"/>
              <a:t>Aplicar algoritmos de ML à resolução de problemas.</a:t>
            </a:r>
          </a:p>
        </p:txBody>
      </p:sp>
      <p:pic>
        <p:nvPicPr>
          <p:cNvPr id="3074" name="Picture 2" descr="Image result for machine learning">
            <a:extLst>
              <a:ext uri="{FF2B5EF4-FFF2-40B4-BE49-F238E27FC236}">
                <a16:creationId xmlns:a16="http://schemas.microsoft.com/office/drawing/2014/main" id="{78A93243-9634-4B0E-B1B2-37A218EAEAD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2691" y="4573625"/>
            <a:ext cx="3249784" cy="227484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Machine Learning | Informate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9543" y="132931"/>
            <a:ext cx="3512457" cy="1620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791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Critérios de avaliação</a:t>
            </a:r>
          </a:p>
        </p:txBody>
      </p:sp>
      <p:sp>
        <p:nvSpPr>
          <p:cNvPr id="3" name="Content Placeholder 2"/>
          <p:cNvSpPr>
            <a:spLocks noGrp="1"/>
          </p:cNvSpPr>
          <p:nvPr>
            <p:ph idx="1"/>
          </p:nvPr>
        </p:nvSpPr>
        <p:spPr>
          <a:xfrm>
            <a:off x="838199" y="1825624"/>
            <a:ext cx="11028903" cy="5032376"/>
          </a:xfrm>
        </p:spPr>
        <p:txBody>
          <a:bodyPr>
            <a:normAutofit/>
          </a:bodyPr>
          <a:lstStyle/>
          <a:p>
            <a:r>
              <a:rPr lang="pt-BR" b="1" i="1" dirty="0">
                <a:solidFill>
                  <a:srgbClr val="00B050"/>
                </a:solidFill>
              </a:rPr>
              <a:t>Um (1) trabalho </a:t>
            </a:r>
            <a:r>
              <a:rPr lang="pt-BR" dirty="0"/>
              <a:t>em grupo com peso de 85%.</a:t>
            </a:r>
          </a:p>
          <a:p>
            <a:pPr lvl="1">
              <a:buFont typeface="Wingdings" panose="05000000000000000000" pitchFamily="2" charset="2"/>
              <a:buChar char="§"/>
            </a:pPr>
            <a:r>
              <a:rPr lang="pt-BR" dirty="0"/>
              <a:t>Envolvendo questões práticas e/ou teóricas.</a:t>
            </a:r>
          </a:p>
          <a:p>
            <a:pPr lvl="1">
              <a:buFont typeface="Wingdings" panose="05000000000000000000" pitchFamily="2" charset="2"/>
              <a:buChar char="§"/>
            </a:pPr>
            <a:r>
              <a:rPr lang="pt-BR" dirty="0"/>
              <a:t>Uma parte do trabalho será feita </a:t>
            </a:r>
            <a:r>
              <a:rPr lang="pt-BR" b="1" i="1" dirty="0"/>
              <a:t>presencialmente</a:t>
            </a:r>
            <a:r>
              <a:rPr lang="pt-BR" dirty="0"/>
              <a:t>.</a:t>
            </a:r>
          </a:p>
          <a:p>
            <a:r>
              <a:rPr lang="pt-BR" dirty="0"/>
              <a:t>Atividades (</a:t>
            </a:r>
            <a:r>
              <a:rPr lang="pt-BR" b="1" i="1" dirty="0">
                <a:solidFill>
                  <a:srgbClr val="00B050"/>
                </a:solidFill>
              </a:rPr>
              <a:t>quizzes e laboratórios</a:t>
            </a:r>
            <a:r>
              <a:rPr lang="pt-BR" dirty="0"/>
              <a:t>) com peso de 15%.</a:t>
            </a:r>
          </a:p>
          <a:p>
            <a:pPr lvl="1">
              <a:buFont typeface="Wingdings" panose="05000000000000000000" pitchFamily="2" charset="2"/>
              <a:buChar char="§"/>
            </a:pPr>
            <a:r>
              <a:rPr lang="pt-BR" dirty="0"/>
              <a:t>Podem sempre ser entregues até o fim de semana da próxima aula.</a:t>
            </a:r>
          </a:p>
          <a:p>
            <a:pPr lvl="1">
              <a:buFont typeface="Wingdings" panose="05000000000000000000" pitchFamily="2" charset="2"/>
              <a:buChar char="§"/>
            </a:pPr>
            <a:r>
              <a:rPr lang="pt-BR" dirty="0"/>
              <a:t>As atividades podem ser resolvidas em grupos de no máximo 3 alunos.</a:t>
            </a:r>
          </a:p>
          <a:p>
            <a:pPr lvl="1">
              <a:buFont typeface="Wingdings" panose="05000000000000000000" pitchFamily="2" charset="2"/>
              <a:buChar char="§"/>
            </a:pPr>
            <a:r>
              <a:rPr lang="pt-BR" dirty="0"/>
              <a:t>As atividades serão atribuídas e entregues através do MS Teams. </a:t>
            </a:r>
          </a:p>
          <a:p>
            <a:r>
              <a:rPr lang="pt-BR" dirty="0"/>
              <a:t>Extra: 10% da nota da FETIN (</a:t>
            </a:r>
            <a:r>
              <a:rPr lang="pt-BR" b="1" i="1" dirty="0"/>
              <a:t>mas precisa envolver IA</a:t>
            </a:r>
            <a:r>
              <a:rPr lang="pt-BR" dirty="0"/>
              <a:t>).</a:t>
            </a:r>
          </a:p>
          <a:p>
            <a:r>
              <a:rPr lang="pt-BR" b="1" dirty="0"/>
              <a:t>Frequência</a:t>
            </a:r>
          </a:p>
          <a:p>
            <a:pPr lvl="1">
              <a:buFont typeface="Wingdings" panose="05000000000000000000" pitchFamily="2" charset="2"/>
              <a:buChar char="§"/>
            </a:pPr>
            <a:r>
              <a:rPr lang="pt-BR" dirty="0"/>
              <a:t>Gerada automaticamente pelo MS Teams.</a:t>
            </a:r>
          </a:p>
          <a:p>
            <a:pPr lvl="1">
              <a:buFont typeface="Wingdings" panose="05000000000000000000" pitchFamily="2" charset="2"/>
              <a:buChar char="§"/>
            </a:pPr>
            <a:r>
              <a:rPr lang="pt-BR" dirty="0"/>
              <a:t>Por favor, acompanhem suas frequências através do portal. </a:t>
            </a:r>
          </a:p>
        </p:txBody>
      </p:sp>
      <p:pic>
        <p:nvPicPr>
          <p:cNvPr id="4" name="Picture 3"/>
          <p:cNvPicPr>
            <a:picLocks noChangeAspect="1"/>
          </p:cNvPicPr>
          <p:nvPr/>
        </p:nvPicPr>
        <p:blipFill>
          <a:blip r:embed="rId2"/>
          <a:stretch>
            <a:fillRect/>
          </a:stretch>
        </p:blipFill>
        <p:spPr>
          <a:xfrm>
            <a:off x="6300317" y="107531"/>
            <a:ext cx="2188238" cy="1583157"/>
          </a:xfrm>
          <a:prstGeom prst="rect">
            <a:avLst/>
          </a:prstGeom>
        </p:spPr>
      </p:pic>
      <p:pic>
        <p:nvPicPr>
          <p:cNvPr id="5" name="Picture 4"/>
          <p:cNvPicPr>
            <a:picLocks noChangeAspect="1"/>
          </p:cNvPicPr>
          <p:nvPr/>
        </p:nvPicPr>
        <p:blipFill>
          <a:blip r:embed="rId3"/>
          <a:stretch>
            <a:fillRect/>
          </a:stretch>
        </p:blipFill>
        <p:spPr>
          <a:xfrm>
            <a:off x="9022914" y="243602"/>
            <a:ext cx="2214831" cy="1582022"/>
          </a:xfrm>
          <a:prstGeom prst="rect">
            <a:avLst/>
          </a:prstGeom>
        </p:spPr>
      </p:pic>
      <p:pic>
        <p:nvPicPr>
          <p:cNvPr id="6" name="Picture 5"/>
          <p:cNvPicPr>
            <a:picLocks noChangeAspect="1"/>
          </p:cNvPicPr>
          <p:nvPr/>
        </p:nvPicPr>
        <p:blipFill>
          <a:blip r:embed="rId4"/>
          <a:stretch>
            <a:fillRect/>
          </a:stretch>
        </p:blipFill>
        <p:spPr>
          <a:xfrm>
            <a:off x="9341492" y="2014658"/>
            <a:ext cx="2525610" cy="1414342"/>
          </a:xfrm>
          <a:prstGeom prst="rect">
            <a:avLst/>
          </a:prstGeom>
        </p:spPr>
      </p:pic>
      <p:pic>
        <p:nvPicPr>
          <p:cNvPr id="7" name="Picture 6"/>
          <p:cNvPicPr>
            <a:picLocks noChangeAspect="1"/>
          </p:cNvPicPr>
          <p:nvPr/>
        </p:nvPicPr>
        <p:blipFill>
          <a:blip r:embed="rId5"/>
          <a:stretch>
            <a:fillRect/>
          </a:stretch>
        </p:blipFill>
        <p:spPr>
          <a:xfrm>
            <a:off x="9312798" y="5005926"/>
            <a:ext cx="2417102" cy="1608472"/>
          </a:xfrm>
          <a:prstGeom prst="rect">
            <a:avLst/>
          </a:prstGeom>
        </p:spPr>
      </p:pic>
    </p:spTree>
    <p:extLst>
      <p:ext uri="{BB962C8B-B14F-4D97-AF65-F5344CB8AC3E}">
        <p14:creationId xmlns:p14="http://schemas.microsoft.com/office/powerpoint/2010/main" val="953585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85A97DDA-EEB3-F935-68A1-75C5F56F93F6}"/>
              </a:ext>
            </a:extLst>
          </p:cNvPr>
          <p:cNvSpPr>
            <a:spLocks noGrp="1"/>
          </p:cNvSpPr>
          <p:nvPr>
            <p:ph idx="1"/>
          </p:nvPr>
        </p:nvSpPr>
        <p:spPr>
          <a:xfrm>
            <a:off x="838200" y="2950334"/>
            <a:ext cx="10515600" cy="1373188"/>
          </a:xfrm>
        </p:spPr>
        <p:txBody>
          <a:bodyPr>
            <a:normAutofit/>
          </a:bodyPr>
          <a:lstStyle/>
          <a:p>
            <a:pPr marL="0" indent="0" algn="ctr">
              <a:buNone/>
            </a:pPr>
            <a:r>
              <a:rPr lang="pt-BR" sz="6600" i="1" dirty="0"/>
              <a:t>Por que estudar IA?</a:t>
            </a:r>
            <a:endParaRPr lang="en-US" sz="6600" i="1" dirty="0"/>
          </a:p>
        </p:txBody>
      </p:sp>
    </p:spTree>
    <p:extLst>
      <p:ext uri="{BB962C8B-B14F-4D97-AF65-F5344CB8AC3E}">
        <p14:creationId xmlns:p14="http://schemas.microsoft.com/office/powerpoint/2010/main" val="404307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B9288-93D4-4CC5-BE00-B2E741C4A62E}"/>
              </a:ext>
            </a:extLst>
          </p:cNvPr>
          <p:cNvSpPr>
            <a:spLocks noGrp="1"/>
          </p:cNvSpPr>
          <p:nvPr>
            <p:ph type="title"/>
          </p:nvPr>
        </p:nvSpPr>
        <p:spPr/>
        <p:txBody>
          <a:bodyPr/>
          <a:lstStyle/>
          <a:p>
            <a:r>
              <a:rPr lang="pt-BR" dirty="0"/>
              <a:t>Motivação</a:t>
            </a:r>
          </a:p>
        </p:txBody>
      </p:sp>
      <p:sp>
        <p:nvSpPr>
          <p:cNvPr id="3" name="Espaço Reservado para Conteúdo 2">
            <a:extLst>
              <a:ext uri="{FF2B5EF4-FFF2-40B4-BE49-F238E27FC236}">
                <a16:creationId xmlns:a16="http://schemas.microsoft.com/office/drawing/2014/main" id="{C04549A7-FF67-48B8-B0EE-75CF43A83803}"/>
              </a:ext>
            </a:extLst>
          </p:cNvPr>
          <p:cNvSpPr>
            <a:spLocks noGrp="1"/>
          </p:cNvSpPr>
          <p:nvPr>
            <p:ph idx="1"/>
          </p:nvPr>
        </p:nvSpPr>
        <p:spPr>
          <a:xfrm>
            <a:off x="5472227" y="1515474"/>
            <a:ext cx="6719773" cy="5342709"/>
          </a:xfrm>
        </p:spPr>
        <p:txBody>
          <a:bodyPr>
            <a:normAutofit/>
          </a:bodyPr>
          <a:lstStyle/>
          <a:p>
            <a:r>
              <a:rPr lang="pt-BR" b="1" dirty="0">
                <a:solidFill>
                  <a:schemeClr val="accent2"/>
                </a:solidFill>
              </a:rPr>
              <a:t>Emprego</a:t>
            </a:r>
            <a:r>
              <a:rPr lang="pt-BR" dirty="0"/>
              <a:t>: grandes empresas usam IA para </a:t>
            </a:r>
          </a:p>
          <a:p>
            <a:pPr lvl="1">
              <a:buFont typeface="Wingdings" panose="05000000000000000000" pitchFamily="2" charset="2"/>
              <a:buChar char="§"/>
            </a:pPr>
            <a:r>
              <a:rPr lang="pt-BR" b="0" i="0" dirty="0">
                <a:effectLst/>
              </a:rPr>
              <a:t>Automatizar tarefas repetitivas e demoradas.</a:t>
            </a:r>
          </a:p>
          <a:p>
            <a:pPr lvl="1">
              <a:buFont typeface="Wingdings" panose="05000000000000000000" pitchFamily="2" charset="2"/>
              <a:buChar char="§"/>
            </a:pPr>
            <a:r>
              <a:rPr lang="pt-BR" dirty="0"/>
              <a:t>P</a:t>
            </a:r>
            <a:r>
              <a:rPr lang="pt-BR" b="0" i="0" dirty="0">
                <a:effectLst/>
              </a:rPr>
              <a:t>rocessar grandes volumes de dados para extração de </a:t>
            </a:r>
            <a:r>
              <a:rPr lang="pt-BR" b="0" i="1" dirty="0">
                <a:effectLst/>
              </a:rPr>
              <a:t>insights</a:t>
            </a:r>
            <a:r>
              <a:rPr lang="pt-BR" b="0" i="0" dirty="0">
                <a:effectLst/>
              </a:rPr>
              <a:t>.</a:t>
            </a:r>
          </a:p>
          <a:p>
            <a:pPr lvl="1">
              <a:buFont typeface="Wingdings" panose="05000000000000000000" pitchFamily="2" charset="2"/>
              <a:buChar char="§"/>
            </a:pPr>
            <a:r>
              <a:rPr lang="en-US" dirty="0" err="1"/>
              <a:t>Personalizar</a:t>
            </a:r>
            <a:r>
              <a:rPr lang="en-US" dirty="0"/>
              <a:t> </a:t>
            </a:r>
            <a:r>
              <a:rPr lang="en-US" dirty="0" err="1"/>
              <a:t>produtos</a:t>
            </a:r>
            <a:r>
              <a:rPr lang="en-US" dirty="0"/>
              <a:t> e </a:t>
            </a:r>
            <a:r>
              <a:rPr lang="en-US" dirty="0" err="1"/>
              <a:t>serviços</a:t>
            </a:r>
            <a:r>
              <a:rPr lang="pt-BR" b="0" i="0" dirty="0">
                <a:effectLst/>
              </a:rPr>
              <a:t>.</a:t>
            </a:r>
          </a:p>
          <a:p>
            <a:pPr lvl="1">
              <a:buFont typeface="Wingdings" panose="05000000000000000000" pitchFamily="2" charset="2"/>
              <a:buChar char="§"/>
            </a:pPr>
            <a:r>
              <a:rPr lang="pt-BR" dirty="0"/>
              <a:t>Otimizar processos.</a:t>
            </a:r>
          </a:p>
          <a:p>
            <a:pPr lvl="1">
              <a:buFont typeface="Wingdings" panose="05000000000000000000" pitchFamily="2" charset="2"/>
              <a:buChar char="§"/>
            </a:pPr>
            <a:r>
              <a:rPr lang="pt-BR" dirty="0"/>
              <a:t>Apoiar decisões.</a:t>
            </a:r>
          </a:p>
          <a:p>
            <a:r>
              <a:rPr lang="pt-BR" dirty="0"/>
              <a:t>Tudo isso para aumentar a </a:t>
            </a:r>
            <a:r>
              <a:rPr lang="pt-BR" b="1" i="1" dirty="0"/>
              <a:t>produtividade</a:t>
            </a:r>
            <a:r>
              <a:rPr lang="pt-BR" dirty="0"/>
              <a:t>, reduzir </a:t>
            </a:r>
            <a:r>
              <a:rPr lang="pt-BR" b="1" i="1" dirty="0"/>
              <a:t>custos</a:t>
            </a:r>
            <a:r>
              <a:rPr lang="pt-BR" dirty="0"/>
              <a:t> e serem mais </a:t>
            </a:r>
            <a:r>
              <a:rPr lang="pt-BR" b="1" i="1" dirty="0"/>
              <a:t>competitivas</a:t>
            </a:r>
            <a:r>
              <a:rPr lang="pt-BR" dirty="0"/>
              <a:t>.</a:t>
            </a:r>
          </a:p>
          <a:p>
            <a:r>
              <a:rPr lang="pt-BR" b="0" i="0" dirty="0">
                <a:effectLst/>
              </a:rPr>
              <a:t>Além das empresas de </a:t>
            </a:r>
            <a:r>
              <a:rPr lang="pt-BR" b="1" i="1" dirty="0">
                <a:effectLst/>
              </a:rPr>
              <a:t>tecnologia</a:t>
            </a:r>
            <a:r>
              <a:rPr lang="pt-BR" b="0" i="0" dirty="0">
                <a:effectLst/>
              </a:rPr>
              <a:t>, IA é e pode ser empregada em empresas de </a:t>
            </a:r>
            <a:r>
              <a:rPr lang="pt-BR" b="1" i="1" dirty="0">
                <a:solidFill>
                  <a:srgbClr val="00B050"/>
                </a:solidFill>
                <a:effectLst/>
              </a:rPr>
              <a:t>telecom</a:t>
            </a:r>
            <a:r>
              <a:rPr lang="pt-BR" b="0" i="0" dirty="0">
                <a:effectLst/>
              </a:rPr>
              <a:t>, </a:t>
            </a:r>
            <a:r>
              <a:rPr lang="pt-BR" b="1" i="1" dirty="0">
                <a:solidFill>
                  <a:srgbClr val="00B050"/>
                </a:solidFill>
                <a:effectLst/>
              </a:rPr>
              <a:t>saúde</a:t>
            </a:r>
            <a:r>
              <a:rPr lang="pt-BR" b="0" i="0" dirty="0">
                <a:effectLst/>
              </a:rPr>
              <a:t>, </a:t>
            </a:r>
            <a:r>
              <a:rPr lang="pt-BR" b="1" i="1" dirty="0">
                <a:solidFill>
                  <a:srgbClr val="00B050"/>
                </a:solidFill>
                <a:effectLst/>
              </a:rPr>
              <a:t>finanças</a:t>
            </a:r>
            <a:r>
              <a:rPr lang="pt-BR" b="0" i="0" dirty="0">
                <a:effectLst/>
              </a:rPr>
              <a:t>, </a:t>
            </a:r>
            <a:r>
              <a:rPr lang="pt-BR" b="1" i="1" dirty="0">
                <a:solidFill>
                  <a:srgbClr val="00B050"/>
                </a:solidFill>
                <a:effectLst/>
              </a:rPr>
              <a:t>automação</a:t>
            </a:r>
            <a:r>
              <a:rPr lang="pt-BR" dirty="0">
                <a:effectLst/>
              </a:rPr>
              <a:t> etc.</a:t>
            </a:r>
            <a:endParaRPr lang="pt-BR" dirty="0"/>
          </a:p>
        </p:txBody>
      </p:sp>
      <p:pic>
        <p:nvPicPr>
          <p:cNvPr id="2052" name="Picture 4" descr="Image result for google">
            <a:extLst>
              <a:ext uri="{FF2B5EF4-FFF2-40B4-BE49-F238E27FC236}">
                <a16:creationId xmlns:a16="http://schemas.microsoft.com/office/drawing/2014/main" id="{438DFBB1-BCAF-4232-8212-13512A523B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152" t="30120" r="22993" b="25681"/>
          <a:stretch/>
        </p:blipFill>
        <p:spPr bwMode="auto">
          <a:xfrm>
            <a:off x="3418759" y="2203937"/>
            <a:ext cx="1867474" cy="75235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amazon">
            <a:extLst>
              <a:ext uri="{FF2B5EF4-FFF2-40B4-BE49-F238E27FC236}">
                <a16:creationId xmlns:a16="http://schemas.microsoft.com/office/drawing/2014/main" id="{0F346A9F-5169-48E9-BC8D-A7A5601546B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108" t="34383" r="8201" b="34383"/>
          <a:stretch/>
        </p:blipFill>
        <p:spPr bwMode="auto">
          <a:xfrm>
            <a:off x="509739" y="4213441"/>
            <a:ext cx="1750742" cy="66938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mage result for IBM">
            <a:extLst>
              <a:ext uri="{FF2B5EF4-FFF2-40B4-BE49-F238E27FC236}">
                <a16:creationId xmlns:a16="http://schemas.microsoft.com/office/drawing/2014/main" id="{F4203440-F9CD-4A35-AECB-4F9069DDD8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7726" y="5360880"/>
            <a:ext cx="1564308" cy="62572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Image result for microsoft">
            <a:extLst>
              <a:ext uri="{FF2B5EF4-FFF2-40B4-BE49-F238E27FC236}">
                <a16:creationId xmlns:a16="http://schemas.microsoft.com/office/drawing/2014/main" id="{889DF1D8-7481-4A46-9FD7-52BAF8D9886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1453" t="31200" r="10127" b="29116"/>
          <a:stretch/>
        </p:blipFill>
        <p:spPr bwMode="auto">
          <a:xfrm>
            <a:off x="3022034" y="3273976"/>
            <a:ext cx="2233381" cy="635030"/>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Image result for apple">
            <a:extLst>
              <a:ext uri="{FF2B5EF4-FFF2-40B4-BE49-F238E27FC236}">
                <a16:creationId xmlns:a16="http://schemas.microsoft.com/office/drawing/2014/main" id="{E6493393-D074-45B9-BE4A-3BA74917894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9552" t="26657" r="40708" b="30228"/>
          <a:stretch/>
        </p:blipFill>
        <p:spPr bwMode="auto">
          <a:xfrm>
            <a:off x="2474296" y="1889702"/>
            <a:ext cx="758469" cy="8710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yH5BAEAAAAALAAAAAABAAEAAAIBRAA7 - Netflix Logo"/>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166273" y="4391544"/>
            <a:ext cx="1684018" cy="455166"/>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descr="YouTube apresenta novo logo | Exame"/>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t="24088" b="27772"/>
          <a:stretch/>
        </p:blipFill>
        <p:spPr bwMode="auto">
          <a:xfrm>
            <a:off x="293466" y="3156568"/>
            <a:ext cx="2350861" cy="54160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mage result for facebook">
            <a:extLst>
              <a:ext uri="{FF2B5EF4-FFF2-40B4-BE49-F238E27FC236}">
                <a16:creationId xmlns:a16="http://schemas.microsoft.com/office/drawing/2014/main" id="{629596EE-D27E-4FA4-917F-4B2F4A295C7D}"/>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886" t="35416" r="27236" b="36012"/>
          <a:stretch/>
        </p:blipFill>
        <p:spPr bwMode="auto">
          <a:xfrm>
            <a:off x="382945" y="2099004"/>
            <a:ext cx="1877536" cy="669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1952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B9288-93D4-4CC5-BE00-B2E741C4A62E}"/>
              </a:ext>
            </a:extLst>
          </p:cNvPr>
          <p:cNvSpPr>
            <a:spLocks noGrp="1"/>
          </p:cNvSpPr>
          <p:nvPr>
            <p:ph type="title"/>
          </p:nvPr>
        </p:nvSpPr>
        <p:spPr/>
        <p:txBody>
          <a:bodyPr/>
          <a:lstStyle/>
          <a:p>
            <a:r>
              <a:rPr lang="pt-BR" dirty="0"/>
              <a:t>Motivação</a:t>
            </a:r>
          </a:p>
        </p:txBody>
      </p:sp>
      <p:sp>
        <p:nvSpPr>
          <p:cNvPr id="3" name="Espaço Reservado para Conteúdo 2">
            <a:extLst>
              <a:ext uri="{FF2B5EF4-FFF2-40B4-BE49-F238E27FC236}">
                <a16:creationId xmlns:a16="http://schemas.microsoft.com/office/drawing/2014/main" id="{C04549A7-FF67-48B8-B0EE-75CF43A83803}"/>
              </a:ext>
            </a:extLst>
          </p:cNvPr>
          <p:cNvSpPr>
            <a:spLocks noGrp="1"/>
          </p:cNvSpPr>
          <p:nvPr>
            <p:ph idx="1"/>
          </p:nvPr>
        </p:nvSpPr>
        <p:spPr>
          <a:xfrm>
            <a:off x="5782575" y="1515291"/>
            <a:ext cx="6320525" cy="5259135"/>
          </a:xfrm>
        </p:spPr>
        <p:txBody>
          <a:bodyPr>
            <a:normAutofit/>
          </a:bodyPr>
          <a:lstStyle/>
          <a:p>
            <a:r>
              <a:rPr lang="pt-BR" b="1" dirty="0">
                <a:solidFill>
                  <a:schemeClr val="accent2"/>
                </a:solidFill>
              </a:rPr>
              <a:t>Salário</a:t>
            </a:r>
            <a:r>
              <a:rPr lang="pt-BR" dirty="0"/>
              <a:t>: como as empresas têm se </a:t>
            </a:r>
            <a:r>
              <a:rPr lang="pt-BR" b="1" dirty="0"/>
              <a:t>apoiado mais e mais em IA</a:t>
            </a:r>
            <a:r>
              <a:rPr lang="pt-BR" dirty="0"/>
              <a:t>, elas têm tido uma </a:t>
            </a:r>
            <a:r>
              <a:rPr lang="pt-BR" b="1" dirty="0"/>
              <a:t>demanda crescente por profissionais </a:t>
            </a:r>
            <a:r>
              <a:rPr lang="pt-BR" dirty="0"/>
              <a:t>com esse conhecimento.</a:t>
            </a:r>
          </a:p>
          <a:p>
            <a:r>
              <a:rPr lang="pt-BR" dirty="0"/>
              <a:t>Os </a:t>
            </a:r>
            <a:r>
              <a:rPr lang="pt-BR" b="1" i="1" dirty="0">
                <a:solidFill>
                  <a:srgbClr val="00B050"/>
                </a:solidFill>
              </a:rPr>
              <a:t>salários são muito bons</a:t>
            </a:r>
            <a:r>
              <a:rPr lang="pt-BR" dirty="0"/>
              <a:t>, pois a </a:t>
            </a:r>
            <a:r>
              <a:rPr lang="pt-BR" b="1" dirty="0">
                <a:solidFill>
                  <a:srgbClr val="7030A0"/>
                </a:solidFill>
              </a:rPr>
              <a:t>demanda é alta</a:t>
            </a:r>
            <a:r>
              <a:rPr lang="pt-BR" dirty="0"/>
              <a:t>, </a:t>
            </a:r>
            <a:r>
              <a:rPr lang="pt-BR" b="1" i="1" dirty="0">
                <a:solidFill>
                  <a:srgbClr val="7030A0"/>
                </a:solidFill>
              </a:rPr>
              <a:t>mas não existem tantos profissionais</a:t>
            </a:r>
            <a:r>
              <a:rPr lang="pt-BR" dirty="0"/>
              <a:t> com essa experiência no mercado.</a:t>
            </a:r>
          </a:p>
        </p:txBody>
      </p:sp>
      <p:pic>
        <p:nvPicPr>
          <p:cNvPr id="1026" name="Picture 2" descr="AI Engineers' Career Paths: Roles and Salaries | NCube">
            <a:extLst>
              <a:ext uri="{FF2B5EF4-FFF2-40B4-BE49-F238E27FC236}">
                <a16:creationId xmlns:a16="http://schemas.microsoft.com/office/drawing/2014/main" id="{425F1F2D-E118-EFCD-8BAF-80139CC201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334" t="8333"/>
          <a:stretch/>
        </p:blipFill>
        <p:spPr bwMode="auto">
          <a:xfrm>
            <a:off x="410775" y="1803400"/>
            <a:ext cx="5155899" cy="4541228"/>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D1A75435-7DC1-2534-8314-57758B51A233}"/>
              </a:ext>
            </a:extLst>
          </p:cNvPr>
          <p:cNvSpPr txBox="1"/>
          <p:nvPr/>
        </p:nvSpPr>
        <p:spPr>
          <a:xfrm>
            <a:off x="0" y="6524415"/>
            <a:ext cx="5003800" cy="276999"/>
          </a:xfrm>
          <a:prstGeom prst="rect">
            <a:avLst/>
          </a:prstGeom>
          <a:noFill/>
        </p:spPr>
        <p:txBody>
          <a:bodyPr wrap="square">
            <a:spAutoFit/>
          </a:bodyPr>
          <a:lstStyle/>
          <a:p>
            <a:r>
              <a:rPr lang="pt-BR" sz="1200" dirty="0"/>
              <a:t>Fonte: https://ncube.com/blog/ai-engineers-career-paths-roles-and-salaries</a:t>
            </a:r>
          </a:p>
        </p:txBody>
      </p:sp>
      <p:sp>
        <p:nvSpPr>
          <p:cNvPr id="6" name="CaixaDeTexto 5">
            <a:extLst>
              <a:ext uri="{FF2B5EF4-FFF2-40B4-BE49-F238E27FC236}">
                <a16:creationId xmlns:a16="http://schemas.microsoft.com/office/drawing/2014/main" id="{34ABD2E3-862D-2F2A-F110-75035CC51014}"/>
              </a:ext>
            </a:extLst>
          </p:cNvPr>
          <p:cNvSpPr txBox="1"/>
          <p:nvPr/>
        </p:nvSpPr>
        <p:spPr>
          <a:xfrm>
            <a:off x="3309005" y="2246923"/>
            <a:ext cx="2257669" cy="830997"/>
          </a:xfrm>
          <a:prstGeom prst="rect">
            <a:avLst/>
          </a:prstGeom>
          <a:noFill/>
        </p:spPr>
        <p:txBody>
          <a:bodyPr wrap="square" rtlCol="0">
            <a:spAutoFit/>
          </a:bodyPr>
          <a:lstStyle/>
          <a:p>
            <a:pPr algn="ctr"/>
            <a:r>
              <a:rPr lang="pt-BR" sz="2400" b="1" dirty="0">
                <a:solidFill>
                  <a:srgbClr val="7030A0"/>
                </a:solidFill>
              </a:rPr>
              <a:t>Valores anuais médios nos EUA</a:t>
            </a:r>
          </a:p>
        </p:txBody>
      </p:sp>
    </p:spTree>
    <p:extLst>
      <p:ext uri="{BB962C8B-B14F-4D97-AF65-F5344CB8AC3E}">
        <p14:creationId xmlns:p14="http://schemas.microsoft.com/office/powerpoint/2010/main" val="2883141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B9288-93D4-4CC5-BE00-B2E741C4A62E}"/>
              </a:ext>
            </a:extLst>
          </p:cNvPr>
          <p:cNvSpPr>
            <a:spLocks noGrp="1"/>
          </p:cNvSpPr>
          <p:nvPr>
            <p:ph type="title"/>
          </p:nvPr>
        </p:nvSpPr>
        <p:spPr/>
        <p:txBody>
          <a:bodyPr/>
          <a:lstStyle/>
          <a:p>
            <a:r>
              <a:rPr lang="pt-BR" dirty="0"/>
              <a:t>Motivação</a:t>
            </a:r>
          </a:p>
        </p:txBody>
      </p:sp>
      <p:sp>
        <p:nvSpPr>
          <p:cNvPr id="3" name="Espaço Reservado para Conteúdo 2">
            <a:extLst>
              <a:ext uri="{FF2B5EF4-FFF2-40B4-BE49-F238E27FC236}">
                <a16:creationId xmlns:a16="http://schemas.microsoft.com/office/drawing/2014/main" id="{C04549A7-FF67-48B8-B0EE-75CF43A83803}"/>
              </a:ext>
            </a:extLst>
          </p:cNvPr>
          <p:cNvSpPr>
            <a:spLocks noGrp="1"/>
          </p:cNvSpPr>
          <p:nvPr>
            <p:ph idx="1"/>
          </p:nvPr>
        </p:nvSpPr>
        <p:spPr>
          <a:xfrm>
            <a:off x="5782575" y="1515291"/>
            <a:ext cx="6409425" cy="5342709"/>
          </a:xfrm>
        </p:spPr>
        <p:txBody>
          <a:bodyPr>
            <a:normAutofit/>
          </a:bodyPr>
          <a:lstStyle/>
          <a:p>
            <a:r>
              <a:rPr lang="pt-BR" b="1" dirty="0">
                <a:solidFill>
                  <a:schemeClr val="accent2"/>
                </a:solidFill>
              </a:rPr>
              <a:t>Pesquisa</a:t>
            </a:r>
            <a:r>
              <a:rPr lang="pt-BR" dirty="0"/>
              <a:t>: IA já é empregada no 5G e terá um papel fundamental na próxima geração de redes móveis (6G) e sem fio.</a:t>
            </a:r>
          </a:p>
          <a:p>
            <a:r>
              <a:rPr lang="pt-BR" dirty="0"/>
              <a:t>Os algoritmos de IA serão usados nas </a:t>
            </a:r>
            <a:r>
              <a:rPr lang="pt-BR" b="1" i="1" dirty="0">
                <a:solidFill>
                  <a:srgbClr val="7030A0"/>
                </a:solidFill>
              </a:rPr>
              <a:t>mais diversas camadas</a:t>
            </a:r>
            <a:r>
              <a:rPr lang="pt-BR" dirty="0"/>
              <a:t> da rede para auxiliar em tarefas que vão desde a </a:t>
            </a:r>
            <a:r>
              <a:rPr lang="pt-BR" b="1" i="1" dirty="0">
                <a:solidFill>
                  <a:srgbClr val="7030A0"/>
                </a:solidFill>
              </a:rPr>
              <a:t>estimação de canal, detecção de símbolos de uma modulação, alocação de recursos (e.g., feixes, potência, </a:t>
            </a:r>
            <a:r>
              <a:rPr lang="pt-BR" b="1" i="1" dirty="0" err="1">
                <a:solidFill>
                  <a:srgbClr val="7030A0"/>
                </a:solidFill>
              </a:rPr>
              <a:t>subportadoras</a:t>
            </a:r>
            <a:r>
              <a:rPr lang="pt-BR" b="1" i="1" dirty="0">
                <a:solidFill>
                  <a:srgbClr val="7030A0"/>
                </a:solidFill>
              </a:rPr>
              <a:t>) até segurança cibernética e </a:t>
            </a:r>
            <a:r>
              <a:rPr lang="pt-BR" b="1" i="1" dirty="0" err="1">
                <a:solidFill>
                  <a:srgbClr val="7030A0"/>
                </a:solidFill>
              </a:rPr>
              <a:t>chatbots</a:t>
            </a:r>
            <a:r>
              <a:rPr lang="pt-BR" b="1" i="1" dirty="0">
                <a:solidFill>
                  <a:srgbClr val="7030A0"/>
                </a:solidFill>
              </a:rPr>
              <a:t> para atendimento</a:t>
            </a:r>
            <a:r>
              <a:rPr lang="pt-BR" dirty="0"/>
              <a:t>.</a:t>
            </a:r>
          </a:p>
        </p:txBody>
      </p:sp>
      <p:pic>
        <p:nvPicPr>
          <p:cNvPr id="21" name="Picture 4" descr="Image result for ericsson logo">
            <a:extLst>
              <a:ext uri="{FF2B5EF4-FFF2-40B4-BE49-F238E27FC236}">
                <a16:creationId xmlns:a16="http://schemas.microsoft.com/office/drawing/2014/main" id="{D2E42DB6-DBED-40AD-BE13-35A32055159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2209" y="1878641"/>
            <a:ext cx="1025946" cy="89770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Image result for qualcomm logo">
            <a:extLst>
              <a:ext uri="{FF2B5EF4-FFF2-40B4-BE49-F238E27FC236}">
                <a16:creationId xmlns:a16="http://schemas.microsoft.com/office/drawing/2014/main" id="{16E08342-ACB0-45D6-9003-A412614BF63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486" t="28911" r="9544" b="27731"/>
          <a:stretch/>
        </p:blipFill>
        <p:spPr bwMode="auto">
          <a:xfrm>
            <a:off x="538140" y="3110120"/>
            <a:ext cx="2758602" cy="57839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descr="Image result for huawei logo">
            <a:extLst>
              <a:ext uri="{FF2B5EF4-FFF2-40B4-BE49-F238E27FC236}">
                <a16:creationId xmlns:a16="http://schemas.microsoft.com/office/drawing/2014/main" id="{4D4C2FC0-11E7-423E-ADFE-E40E3FBE955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11139" y="1878642"/>
            <a:ext cx="885786" cy="89770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7987" y="5021767"/>
            <a:ext cx="1025946" cy="1345625"/>
          </a:xfrm>
          <a:prstGeom prst="rect">
            <a:avLst/>
          </a:prstGeom>
        </p:spPr>
      </p:pic>
      <p:pic>
        <p:nvPicPr>
          <p:cNvPr id="25" name="Picture 6" descr="TU Dresden: Accessible PDF documents – How to create from Word, Powerpoint  and InDesign – PDF Association"/>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6991" t="36073" r="7162" b="35917"/>
          <a:stretch/>
        </p:blipFill>
        <p:spPr bwMode="auto">
          <a:xfrm>
            <a:off x="3104389" y="4180708"/>
            <a:ext cx="2312119" cy="7544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descr="Assistant professor in Mathematics spec. in Optimization and Systems Theory, KTH Royal Institute of Technology"/>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006668" y="5415806"/>
            <a:ext cx="951586" cy="95158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Tudo que você precisa saber para entrar no MIT - Engenharia é:"/>
          <p:cNvPicPr>
            <a:picLocks noChangeAspect="1" noChangeArrowheads="1"/>
          </p:cNvPicPr>
          <p:nvPr/>
        </p:nvPicPr>
        <p:blipFill rotWithShape="1">
          <a:blip r:embed="rId9">
            <a:extLst>
              <a:ext uri="{28A0092B-C50C-407E-A947-70E740481C1C}">
                <a14:useLocalDpi xmlns:a14="http://schemas.microsoft.com/office/drawing/2010/main" val="0"/>
              </a:ext>
            </a:extLst>
          </a:blip>
          <a:srcRect l="3922" t="31065" r="3631" b="32984"/>
          <a:stretch/>
        </p:blipFill>
        <p:spPr bwMode="auto">
          <a:xfrm>
            <a:off x="411241" y="4109594"/>
            <a:ext cx="2516531" cy="61553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descr="Logo Nokia – Logos PNG"/>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4307" t="39342" r="5244" b="38307"/>
          <a:stretch/>
        </p:blipFill>
        <p:spPr bwMode="auto">
          <a:xfrm>
            <a:off x="3104389" y="2119054"/>
            <a:ext cx="2306646" cy="569987"/>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ZTE revela novo logo e sua nova filosofia sustentável e divertida -  TudoCelular.com"/>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960" t="7858" r="3315" b="5454"/>
          <a:stretch/>
        </p:blipFill>
        <p:spPr bwMode="auto">
          <a:xfrm>
            <a:off x="3676620" y="2964520"/>
            <a:ext cx="1167658" cy="569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9686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447BE4-3332-F16B-0076-1E6AC2709354}"/>
              </a:ext>
            </a:extLst>
          </p:cNvPr>
          <p:cNvSpPr>
            <a:spLocks noGrp="1"/>
          </p:cNvSpPr>
          <p:nvPr>
            <p:ph idx="1"/>
          </p:nvPr>
        </p:nvSpPr>
        <p:spPr>
          <a:xfrm>
            <a:off x="838200" y="2593144"/>
            <a:ext cx="10515600" cy="1671712"/>
          </a:xfrm>
        </p:spPr>
        <p:txBody>
          <a:bodyPr>
            <a:normAutofit fontScale="92500" lnSpcReduction="10000"/>
          </a:bodyPr>
          <a:lstStyle/>
          <a:p>
            <a:pPr marL="0" indent="0" algn="ctr">
              <a:buNone/>
            </a:pPr>
            <a:r>
              <a:rPr lang="pt-BR" sz="6600" i="1" dirty="0"/>
              <a:t>Mas o que é inteligência artificial?</a:t>
            </a:r>
            <a:endParaRPr lang="en-US" sz="6600" i="1" dirty="0"/>
          </a:p>
        </p:txBody>
      </p:sp>
    </p:spTree>
    <p:extLst>
      <p:ext uri="{BB962C8B-B14F-4D97-AF65-F5344CB8AC3E}">
        <p14:creationId xmlns:p14="http://schemas.microsoft.com/office/powerpoint/2010/main" val="860522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C6AEF6-7689-CB5C-A11C-9A516704E9BB}"/>
              </a:ext>
            </a:extLst>
          </p:cNvPr>
          <p:cNvSpPr>
            <a:spLocks noGrp="1"/>
          </p:cNvSpPr>
          <p:nvPr>
            <p:ph type="title"/>
          </p:nvPr>
        </p:nvSpPr>
        <p:spPr/>
        <p:txBody>
          <a:bodyPr/>
          <a:lstStyle/>
          <a:p>
            <a:r>
              <a:rPr lang="pt-BR" dirty="0"/>
              <a:t>O que é inteligência artificial?</a:t>
            </a:r>
          </a:p>
        </p:txBody>
      </p:sp>
      <p:sp>
        <p:nvSpPr>
          <p:cNvPr id="3" name="Espaço Reservado para Conteúdo 2">
            <a:extLst>
              <a:ext uri="{FF2B5EF4-FFF2-40B4-BE49-F238E27FC236}">
                <a16:creationId xmlns:a16="http://schemas.microsoft.com/office/drawing/2014/main" id="{CE753EF8-3BDF-12A1-D7BF-72532EACCBAF}"/>
              </a:ext>
            </a:extLst>
          </p:cNvPr>
          <p:cNvSpPr>
            <a:spLocks noGrp="1"/>
          </p:cNvSpPr>
          <p:nvPr>
            <p:ph idx="1"/>
          </p:nvPr>
        </p:nvSpPr>
        <p:spPr>
          <a:xfrm>
            <a:off x="6337300" y="1825624"/>
            <a:ext cx="5854700" cy="5032375"/>
          </a:xfrm>
        </p:spPr>
        <p:txBody>
          <a:bodyPr>
            <a:normAutofit/>
          </a:bodyPr>
          <a:lstStyle/>
          <a:p>
            <a:r>
              <a:rPr lang="pt-BR" sz="2800" noProof="0" dirty="0"/>
              <a:t>Campo da computação que almeja </a:t>
            </a:r>
            <a:r>
              <a:rPr lang="pt-BR" sz="2800" b="1" i="1" noProof="0" dirty="0">
                <a:solidFill>
                  <a:srgbClr val="00B050"/>
                </a:solidFill>
              </a:rPr>
              <a:t>criar máquinas que </a:t>
            </a:r>
            <a:r>
              <a:rPr lang="pt-BR" sz="2800" b="1" i="1" noProof="0" dirty="0">
                <a:solidFill>
                  <a:srgbClr val="7030A0"/>
                </a:solidFill>
              </a:rPr>
              <a:t>imitem </a:t>
            </a:r>
            <a:r>
              <a:rPr lang="pt-BR" b="1" i="1" noProof="0" dirty="0">
                <a:solidFill>
                  <a:srgbClr val="7030A0"/>
                </a:solidFill>
              </a:rPr>
              <a:t>as capacidades</a:t>
            </a:r>
            <a:r>
              <a:rPr lang="pt-BR" b="1" i="1" noProof="0" dirty="0">
                <a:solidFill>
                  <a:srgbClr val="00B050"/>
                </a:solidFill>
              </a:rPr>
              <a:t> </a:t>
            </a:r>
            <a:r>
              <a:rPr lang="pt-BR" sz="2800" b="1" i="1" noProof="0" dirty="0">
                <a:solidFill>
                  <a:srgbClr val="00B050"/>
                </a:solidFill>
              </a:rPr>
              <a:t>humanas</a:t>
            </a:r>
            <a:r>
              <a:rPr lang="pt-BR" sz="2800" noProof="0" dirty="0"/>
              <a:t>.</a:t>
            </a:r>
          </a:p>
          <a:p>
            <a:r>
              <a:rPr lang="pt-BR" noProof="0" dirty="0"/>
              <a:t>Que capacidades são essas?</a:t>
            </a:r>
          </a:p>
          <a:p>
            <a:pPr lvl="1">
              <a:buFont typeface="Wingdings" panose="05000000000000000000" pitchFamily="2" charset="2"/>
              <a:buChar char="§"/>
            </a:pPr>
            <a:r>
              <a:rPr lang="pt-BR" b="1" noProof="0" dirty="0"/>
              <a:t>Percepção</a:t>
            </a:r>
            <a:endParaRPr lang="pt-BR" noProof="0" dirty="0"/>
          </a:p>
          <a:p>
            <a:pPr lvl="1">
              <a:buFont typeface="Wingdings" panose="05000000000000000000" pitchFamily="2" charset="2"/>
              <a:buChar char="§"/>
            </a:pPr>
            <a:r>
              <a:rPr lang="pt-BR" b="1" noProof="0" dirty="0"/>
              <a:t>Aprendizagem</a:t>
            </a:r>
            <a:endParaRPr lang="pt-BR" noProof="0" dirty="0"/>
          </a:p>
          <a:p>
            <a:pPr lvl="1">
              <a:buFont typeface="Wingdings" panose="05000000000000000000" pitchFamily="2" charset="2"/>
              <a:buChar char="§"/>
            </a:pPr>
            <a:r>
              <a:rPr lang="pt-BR" b="1" noProof="0" dirty="0"/>
              <a:t>Raciocínio</a:t>
            </a:r>
            <a:r>
              <a:rPr lang="pt-BR" noProof="0" dirty="0"/>
              <a:t> </a:t>
            </a:r>
          </a:p>
          <a:p>
            <a:pPr lvl="1">
              <a:buFont typeface="Wingdings" panose="05000000000000000000" pitchFamily="2" charset="2"/>
              <a:buChar char="§"/>
            </a:pPr>
            <a:r>
              <a:rPr lang="pt-BR" b="1" noProof="0" dirty="0"/>
              <a:t>Planejamento</a:t>
            </a:r>
            <a:endParaRPr lang="pt-BR" noProof="0" dirty="0"/>
          </a:p>
          <a:p>
            <a:pPr lvl="1">
              <a:buFont typeface="Wingdings" panose="05000000000000000000" pitchFamily="2" charset="2"/>
              <a:buChar char="§"/>
            </a:pPr>
            <a:r>
              <a:rPr lang="pt-BR" b="1" noProof="0" dirty="0"/>
              <a:t>Compreensão e geração de linguagem</a:t>
            </a:r>
            <a:endParaRPr lang="pt-BR" b="1" dirty="0"/>
          </a:p>
          <a:p>
            <a:pPr lvl="1">
              <a:buFont typeface="Wingdings" panose="05000000000000000000" pitchFamily="2" charset="2"/>
              <a:buChar char="§"/>
            </a:pPr>
            <a:r>
              <a:rPr lang="pt-BR" b="1" noProof="0" dirty="0"/>
              <a:t>Tomada de decisão</a:t>
            </a:r>
            <a:endParaRPr lang="pt-BR" noProof="0" dirty="0"/>
          </a:p>
        </p:txBody>
      </p:sp>
      <p:pic>
        <p:nvPicPr>
          <p:cNvPr id="1026" name="Picture 2" descr="Arte: uma poderosa forma de se expressar através da criatividade – Em Todo  Lugar">
            <a:extLst>
              <a:ext uri="{FF2B5EF4-FFF2-40B4-BE49-F238E27FC236}">
                <a16:creationId xmlns:a16="http://schemas.microsoft.com/office/drawing/2014/main" id="{84F9A6D3-F8E9-3138-176F-19484AC73CD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9870" y="3512172"/>
            <a:ext cx="2239541" cy="167965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portância da comunicação interna e externa na empresa">
            <a:extLst>
              <a:ext uri="{FF2B5EF4-FFF2-40B4-BE49-F238E27FC236}">
                <a16:creationId xmlns:a16="http://schemas.microsoft.com/office/drawing/2014/main" id="{4DB4993D-A830-3605-909D-B5A20EA3AE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7726" y="1536212"/>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daptação e Aprendizagem e o Método Montessoriano">
            <a:extLst>
              <a:ext uri="{FF2B5EF4-FFF2-40B4-BE49-F238E27FC236}">
                <a16:creationId xmlns:a16="http://schemas.microsoft.com/office/drawing/2014/main" id="{4EF7D9FD-7153-BB8E-3561-FA8256D74F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706" y="1640987"/>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his new dataset shows that AI still lacks commonsense reasoning |  VentureBeat">
            <a:extLst>
              <a:ext uri="{FF2B5EF4-FFF2-40B4-BE49-F238E27FC236}">
                <a16:creationId xmlns:a16="http://schemas.microsoft.com/office/drawing/2014/main" id="{216EF7B3-DF4E-7C5A-C449-A1FD7D8177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926" y="3512172"/>
            <a:ext cx="2971800" cy="15430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Robot movement creative image_picture free download 400290058_lovepik.com">
            <a:extLst>
              <a:ext uri="{FF2B5EF4-FFF2-40B4-BE49-F238E27FC236}">
                <a16:creationId xmlns:a16="http://schemas.microsoft.com/office/drawing/2014/main" id="{2682E589-3620-CFE0-CFE8-B42AED8534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37466" y="5217013"/>
            <a:ext cx="2466975" cy="153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3042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O que é inteligência artificial?</a:t>
            </a:r>
            <a:endParaRPr lang="en-US" dirty="0"/>
          </a:p>
        </p:txBody>
      </p:sp>
      <p:sp>
        <p:nvSpPr>
          <p:cNvPr id="3" name="Espaço Reservado para Conteúdo 2"/>
          <p:cNvSpPr>
            <a:spLocks noGrp="1"/>
          </p:cNvSpPr>
          <p:nvPr>
            <p:ph idx="1"/>
          </p:nvPr>
        </p:nvSpPr>
        <p:spPr>
          <a:xfrm>
            <a:off x="5984240" y="1825624"/>
            <a:ext cx="6207760" cy="5032376"/>
          </a:xfrm>
        </p:spPr>
        <p:txBody>
          <a:bodyPr>
            <a:normAutofit/>
          </a:bodyPr>
          <a:lstStyle/>
          <a:p>
            <a:pPr marL="0" indent="0">
              <a:buNone/>
            </a:pPr>
            <a:r>
              <a:rPr lang="pt-BR" b="1" noProof="0" dirty="0"/>
              <a:t>Definição formal</a:t>
            </a:r>
            <a:r>
              <a:rPr lang="pt-BR" noProof="0" dirty="0"/>
              <a:t>: </a:t>
            </a:r>
          </a:p>
          <a:p>
            <a:r>
              <a:rPr lang="pt-BR" noProof="0" dirty="0"/>
              <a:t>A IA é o campo da computação que desenvolve </a:t>
            </a:r>
            <a:r>
              <a:rPr lang="pt-BR" b="1" noProof="0" dirty="0"/>
              <a:t>agentes (i.e., máquinas) inteligentes</a:t>
            </a:r>
            <a:r>
              <a:rPr lang="pt-BR" noProof="0" dirty="0"/>
              <a:t> capazes de:</a:t>
            </a:r>
          </a:p>
          <a:p>
            <a:pPr lvl="1">
              <a:buFont typeface="Wingdings" panose="05000000000000000000" pitchFamily="2" charset="2"/>
              <a:buChar char="§"/>
            </a:pPr>
            <a:r>
              <a:rPr lang="pt-BR" noProof="0" dirty="0"/>
              <a:t>Perceber e interagir com o ambiente </a:t>
            </a:r>
          </a:p>
          <a:p>
            <a:pPr lvl="1">
              <a:buFont typeface="Wingdings" panose="05000000000000000000" pitchFamily="2" charset="2"/>
              <a:buChar char="§"/>
            </a:pPr>
            <a:r>
              <a:rPr lang="pt-BR" noProof="0" dirty="0"/>
              <a:t>Aprender com dados </a:t>
            </a:r>
          </a:p>
          <a:p>
            <a:pPr lvl="1">
              <a:buFont typeface="Wingdings" panose="05000000000000000000" pitchFamily="2" charset="2"/>
              <a:buChar char="§"/>
            </a:pPr>
            <a:r>
              <a:rPr lang="pt-BR" noProof="0" dirty="0"/>
              <a:t>Raciocinar </a:t>
            </a:r>
          </a:p>
          <a:p>
            <a:pPr lvl="1">
              <a:buFont typeface="Wingdings" panose="05000000000000000000" pitchFamily="2" charset="2"/>
              <a:buChar char="§"/>
            </a:pPr>
            <a:r>
              <a:rPr lang="pt-BR" noProof="0" dirty="0"/>
              <a:t>Tomar decisões </a:t>
            </a:r>
          </a:p>
          <a:p>
            <a:pPr lvl="1">
              <a:buFont typeface="Wingdings" panose="05000000000000000000" pitchFamily="2" charset="2"/>
              <a:buChar char="§"/>
            </a:pPr>
            <a:r>
              <a:rPr lang="pt-BR" noProof="0" dirty="0"/>
              <a:t>Agir para atingir objetivos</a:t>
            </a:r>
          </a:p>
          <a:p>
            <a:pPr marL="171450" indent="-171450"/>
            <a:r>
              <a:rPr lang="pt-BR" noProof="0" dirty="0"/>
              <a:t>Porém, existe um problema...</a:t>
            </a:r>
          </a:p>
        </p:txBody>
      </p:sp>
      <p:grpSp>
        <p:nvGrpSpPr>
          <p:cNvPr id="19" name="Group 18">
            <a:extLst>
              <a:ext uri="{FF2B5EF4-FFF2-40B4-BE49-F238E27FC236}">
                <a16:creationId xmlns:a16="http://schemas.microsoft.com/office/drawing/2014/main" id="{19406F3C-235B-846B-7165-310D6E4D7F28}"/>
              </a:ext>
            </a:extLst>
          </p:cNvPr>
          <p:cNvGrpSpPr/>
          <p:nvPr/>
        </p:nvGrpSpPr>
        <p:grpSpPr>
          <a:xfrm>
            <a:off x="920024" y="2282936"/>
            <a:ext cx="4003467" cy="3819503"/>
            <a:chOff x="505033" y="2202158"/>
            <a:chExt cx="4003467" cy="3819503"/>
          </a:xfrm>
        </p:grpSpPr>
        <p:grpSp>
          <p:nvGrpSpPr>
            <p:cNvPr id="4" name="Grupo 19">
              <a:extLst>
                <a:ext uri="{FF2B5EF4-FFF2-40B4-BE49-F238E27FC236}">
                  <a16:creationId xmlns:a16="http://schemas.microsoft.com/office/drawing/2014/main" id="{937369EF-BACF-53C3-B7F2-025B9AF1B2C6}"/>
                </a:ext>
              </a:extLst>
            </p:cNvPr>
            <p:cNvGrpSpPr/>
            <p:nvPr/>
          </p:nvGrpSpPr>
          <p:grpSpPr>
            <a:xfrm>
              <a:off x="505033" y="2202158"/>
              <a:ext cx="4003467" cy="2176953"/>
              <a:chOff x="807506" y="2500541"/>
              <a:chExt cx="5720985" cy="3001503"/>
            </a:xfrm>
          </p:grpSpPr>
          <p:sp>
            <p:nvSpPr>
              <p:cNvPr id="5" name="Retângulo de cantos arredondados 3">
                <a:extLst>
                  <a:ext uri="{FF2B5EF4-FFF2-40B4-BE49-F238E27FC236}">
                    <a16:creationId xmlns:a16="http://schemas.microsoft.com/office/drawing/2014/main" id="{A55CC8BB-16C4-D6A8-FD9B-B7ACDC5144D2}"/>
                  </a:ext>
                </a:extLst>
              </p:cNvPr>
              <p:cNvSpPr/>
              <p:nvPr/>
            </p:nvSpPr>
            <p:spPr>
              <a:xfrm>
                <a:off x="838200" y="2500543"/>
                <a:ext cx="2959331" cy="3001501"/>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4">
                <a:extLst>
                  <a:ext uri="{FF2B5EF4-FFF2-40B4-BE49-F238E27FC236}">
                    <a16:creationId xmlns:a16="http://schemas.microsoft.com/office/drawing/2014/main" id="{239AE570-D31D-857A-AD0D-DCE24F29D360}"/>
                  </a:ext>
                </a:extLst>
              </p:cNvPr>
              <p:cNvSpPr/>
              <p:nvPr/>
            </p:nvSpPr>
            <p:spPr>
              <a:xfrm>
                <a:off x="1735974" y="3436027"/>
                <a:ext cx="1163782" cy="113053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tx1"/>
                  </a:solidFill>
                </a:endParaRPr>
              </a:p>
            </p:txBody>
          </p:sp>
          <p:sp>
            <p:nvSpPr>
              <p:cNvPr id="7" name="Retângulo de cantos arredondados 6">
                <a:extLst>
                  <a:ext uri="{FF2B5EF4-FFF2-40B4-BE49-F238E27FC236}">
                    <a16:creationId xmlns:a16="http://schemas.microsoft.com/office/drawing/2014/main" id="{94721C25-E3FA-8BEE-9ED2-97A34625C148}"/>
                  </a:ext>
                </a:extLst>
              </p:cNvPr>
              <p:cNvSpPr/>
              <p:nvPr/>
            </p:nvSpPr>
            <p:spPr>
              <a:xfrm rot="5400000">
                <a:off x="4491694" y="3465245"/>
                <a:ext cx="3001502" cy="10720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3200" dirty="0"/>
                  <a:t>Ambiente</a:t>
                </a:r>
              </a:p>
            </p:txBody>
          </p:sp>
          <p:cxnSp>
            <p:nvCxnSpPr>
              <p:cNvPr id="8" name="Conector de seta reta 7">
                <a:extLst>
                  <a:ext uri="{FF2B5EF4-FFF2-40B4-BE49-F238E27FC236}">
                    <a16:creationId xmlns:a16="http://schemas.microsoft.com/office/drawing/2014/main" id="{52E0AD27-2026-2A0F-C527-42E32AD86A2D}"/>
                  </a:ext>
                </a:extLst>
              </p:cNvPr>
              <p:cNvCxnSpPr/>
              <p:nvPr/>
            </p:nvCxnSpPr>
            <p:spPr>
              <a:xfrm flipH="1">
                <a:off x="3267784" y="2820886"/>
                <a:ext cx="2448000"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de seta reta 12">
                <a:extLst>
                  <a:ext uri="{FF2B5EF4-FFF2-40B4-BE49-F238E27FC236}">
                    <a16:creationId xmlns:a16="http://schemas.microsoft.com/office/drawing/2014/main" id="{5D7070B2-5ACA-0A88-346D-80DA1443AB02}"/>
                  </a:ext>
                </a:extLst>
              </p:cNvPr>
              <p:cNvCxnSpPr/>
              <p:nvPr/>
            </p:nvCxnSpPr>
            <p:spPr>
              <a:xfrm>
                <a:off x="3267784" y="5320058"/>
                <a:ext cx="2448000"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13">
                <a:extLst>
                  <a:ext uri="{FF2B5EF4-FFF2-40B4-BE49-F238E27FC236}">
                    <a16:creationId xmlns:a16="http://schemas.microsoft.com/office/drawing/2014/main" id="{F0730782-26E7-A1EA-F424-72F5FAA82A3C}"/>
                  </a:ext>
                </a:extLst>
              </p:cNvPr>
              <p:cNvCxnSpPr/>
              <p:nvPr/>
            </p:nvCxnSpPr>
            <p:spPr>
              <a:xfrm rot="16200000" flipH="1">
                <a:off x="2101866" y="3220027"/>
                <a:ext cx="432000"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de seta reta 14">
                <a:extLst>
                  <a:ext uri="{FF2B5EF4-FFF2-40B4-BE49-F238E27FC236}">
                    <a16:creationId xmlns:a16="http://schemas.microsoft.com/office/drawing/2014/main" id="{E5C66717-3CDA-0975-26AF-FA1A0D8D44F6}"/>
                  </a:ext>
                </a:extLst>
              </p:cNvPr>
              <p:cNvCxnSpPr/>
              <p:nvPr/>
            </p:nvCxnSpPr>
            <p:spPr>
              <a:xfrm rot="16200000" flipH="1">
                <a:off x="2101864" y="4782557"/>
                <a:ext cx="432000"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CaixaDeTexto 11">
                <a:extLst>
                  <a:ext uri="{FF2B5EF4-FFF2-40B4-BE49-F238E27FC236}">
                    <a16:creationId xmlns:a16="http://schemas.microsoft.com/office/drawing/2014/main" id="{4DAA9D56-C383-3F7B-FA2F-41C369BE6BA1}"/>
                  </a:ext>
                </a:extLst>
              </p:cNvPr>
              <p:cNvSpPr txBox="1"/>
              <p:nvPr/>
            </p:nvSpPr>
            <p:spPr>
              <a:xfrm>
                <a:off x="3788777" y="2850694"/>
                <a:ext cx="1248741" cy="369332"/>
              </a:xfrm>
              <a:prstGeom prst="rect">
                <a:avLst/>
              </a:prstGeom>
              <a:noFill/>
            </p:spPr>
            <p:txBody>
              <a:bodyPr wrap="none" rtlCol="0">
                <a:spAutoFit/>
              </a:bodyPr>
              <a:lstStyle/>
              <a:p>
                <a:r>
                  <a:rPr lang="pt-BR" dirty="0"/>
                  <a:t>Percepções</a:t>
                </a:r>
              </a:p>
            </p:txBody>
          </p:sp>
          <p:sp>
            <p:nvSpPr>
              <p:cNvPr id="13" name="CaixaDeTexto 16">
                <a:extLst>
                  <a:ext uri="{FF2B5EF4-FFF2-40B4-BE49-F238E27FC236}">
                    <a16:creationId xmlns:a16="http://schemas.microsoft.com/office/drawing/2014/main" id="{968089A5-CEF4-0D9D-9116-860288424D01}"/>
                  </a:ext>
                </a:extLst>
              </p:cNvPr>
              <p:cNvSpPr txBox="1"/>
              <p:nvPr/>
            </p:nvSpPr>
            <p:spPr>
              <a:xfrm>
                <a:off x="4114125" y="4857053"/>
                <a:ext cx="740588" cy="369332"/>
              </a:xfrm>
              <a:prstGeom prst="rect">
                <a:avLst/>
              </a:prstGeom>
              <a:noFill/>
            </p:spPr>
            <p:txBody>
              <a:bodyPr wrap="none" rtlCol="0">
                <a:spAutoFit/>
              </a:bodyPr>
              <a:lstStyle/>
              <a:p>
                <a:r>
                  <a:rPr lang="pt-BR" dirty="0"/>
                  <a:t>Ações</a:t>
                </a:r>
              </a:p>
            </p:txBody>
          </p:sp>
          <p:sp>
            <p:nvSpPr>
              <p:cNvPr id="14" name="CaixaDeTexto 17">
                <a:extLst>
                  <a:ext uri="{FF2B5EF4-FFF2-40B4-BE49-F238E27FC236}">
                    <a16:creationId xmlns:a16="http://schemas.microsoft.com/office/drawing/2014/main" id="{75A05D94-4454-A35F-07A5-7C38C5BE5C0B}"/>
                  </a:ext>
                </a:extLst>
              </p:cNvPr>
              <p:cNvSpPr txBox="1"/>
              <p:nvPr/>
            </p:nvSpPr>
            <p:spPr>
              <a:xfrm>
                <a:off x="1735778" y="2534485"/>
                <a:ext cx="1021626" cy="369332"/>
              </a:xfrm>
              <a:prstGeom prst="rect">
                <a:avLst/>
              </a:prstGeom>
              <a:noFill/>
            </p:spPr>
            <p:txBody>
              <a:bodyPr wrap="none" rtlCol="0">
                <a:spAutoFit/>
              </a:bodyPr>
              <a:lstStyle/>
              <a:p>
                <a:r>
                  <a:rPr lang="pt-BR" dirty="0"/>
                  <a:t>Sensores</a:t>
                </a:r>
              </a:p>
            </p:txBody>
          </p:sp>
          <p:sp>
            <p:nvSpPr>
              <p:cNvPr id="15" name="CaixaDeTexto 18">
                <a:extLst>
                  <a:ext uri="{FF2B5EF4-FFF2-40B4-BE49-F238E27FC236}">
                    <a16:creationId xmlns:a16="http://schemas.microsoft.com/office/drawing/2014/main" id="{695A3AB3-381C-E882-245A-684113E013F3}"/>
                  </a:ext>
                </a:extLst>
              </p:cNvPr>
              <p:cNvSpPr txBox="1"/>
              <p:nvPr/>
            </p:nvSpPr>
            <p:spPr>
              <a:xfrm>
                <a:off x="1670719" y="5065635"/>
                <a:ext cx="1147238" cy="369332"/>
              </a:xfrm>
              <a:prstGeom prst="rect">
                <a:avLst/>
              </a:prstGeom>
              <a:noFill/>
            </p:spPr>
            <p:txBody>
              <a:bodyPr wrap="none" rtlCol="0">
                <a:spAutoFit/>
              </a:bodyPr>
              <a:lstStyle/>
              <a:p>
                <a:r>
                  <a:rPr lang="pt-BR" dirty="0"/>
                  <a:t>Atuadores</a:t>
                </a:r>
              </a:p>
            </p:txBody>
          </p:sp>
          <p:sp>
            <p:nvSpPr>
              <p:cNvPr id="16" name="Retângulo 15">
                <a:extLst>
                  <a:ext uri="{FF2B5EF4-FFF2-40B4-BE49-F238E27FC236}">
                    <a16:creationId xmlns:a16="http://schemas.microsoft.com/office/drawing/2014/main" id="{A86D4A38-723D-635E-59B6-2B570B931248}"/>
                  </a:ext>
                </a:extLst>
              </p:cNvPr>
              <p:cNvSpPr/>
              <p:nvPr/>
            </p:nvSpPr>
            <p:spPr>
              <a:xfrm rot="16200000">
                <a:off x="283845" y="3597846"/>
                <a:ext cx="1882970" cy="835648"/>
              </a:xfrm>
              <a:prstGeom prst="rect">
                <a:avLst/>
              </a:prstGeom>
            </p:spPr>
            <p:txBody>
              <a:bodyPr wrap="none">
                <a:spAutoFit/>
              </a:bodyPr>
              <a:lstStyle/>
              <a:p>
                <a:pPr algn="ctr"/>
                <a:r>
                  <a:rPr lang="pt-BR" sz="3200" dirty="0">
                    <a:solidFill>
                      <a:schemeClr val="bg1"/>
                    </a:solidFill>
                  </a:rPr>
                  <a:t>Agente</a:t>
                </a:r>
              </a:p>
            </p:txBody>
          </p:sp>
        </p:grpSp>
        <p:pic>
          <p:nvPicPr>
            <p:cNvPr id="18" name="Picture 10" descr="Rose, A Empregada Robô | Guia dos Quadrinhos">
              <a:extLst>
                <a:ext uri="{FF2B5EF4-FFF2-40B4-BE49-F238E27FC236}">
                  <a16:creationId xmlns:a16="http://schemas.microsoft.com/office/drawing/2014/main" id="{D6AF6C9E-D492-AF9F-5999-26F3B041B0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9206" y="4611452"/>
              <a:ext cx="1880278" cy="1410209"/>
            </a:xfrm>
            <a:prstGeom prst="rect">
              <a:avLst/>
            </a:prstGeom>
            <a:noFill/>
            <a:extLst>
              <a:ext uri="{909E8E84-426E-40DD-AFC4-6F175D3DCCD1}">
                <a14:hiddenFill xmlns:a14="http://schemas.microsoft.com/office/drawing/2010/main">
                  <a:solidFill>
                    <a:srgbClr val="FFFFFF"/>
                  </a:solidFill>
                </a14:hiddenFill>
              </a:ext>
            </a:extLst>
          </p:spPr>
        </p:pic>
      </p:grpSp>
      <p:pic>
        <p:nvPicPr>
          <p:cNvPr id="1028" name="Picture 4" descr="Brain PNGs for Free Download">
            <a:extLst>
              <a:ext uri="{FF2B5EF4-FFF2-40B4-BE49-F238E27FC236}">
                <a16:creationId xmlns:a16="http://schemas.microsoft.com/office/drawing/2014/main" id="{5FDE7C4F-E20F-0435-D530-8D6CDB882C3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90" r="13255" b="13384"/>
          <a:stretch>
            <a:fillRect/>
          </a:stretch>
        </p:blipFill>
        <p:spPr bwMode="auto">
          <a:xfrm>
            <a:off x="1648842" y="3116330"/>
            <a:ext cx="656217" cy="520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3100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DA6CF7-E00B-E0FD-D41F-7E5876A5A82B}"/>
              </a:ext>
            </a:extLst>
          </p:cNvPr>
          <p:cNvSpPr>
            <a:spLocks noGrp="1"/>
          </p:cNvSpPr>
          <p:nvPr>
            <p:ph type="title"/>
          </p:nvPr>
        </p:nvSpPr>
        <p:spPr/>
        <p:txBody>
          <a:bodyPr/>
          <a:lstStyle/>
          <a:p>
            <a:r>
              <a:rPr lang="pt-BR" dirty="0"/>
              <a:t>O problema da inteligência artificial</a:t>
            </a:r>
          </a:p>
        </p:txBody>
      </p:sp>
      <p:sp>
        <p:nvSpPr>
          <p:cNvPr id="3" name="Espaço Reservado para Conteúdo 2">
            <a:extLst>
              <a:ext uri="{FF2B5EF4-FFF2-40B4-BE49-F238E27FC236}">
                <a16:creationId xmlns:a16="http://schemas.microsoft.com/office/drawing/2014/main" id="{AB970F10-DC92-C5DA-B1B3-03C1CDCCDD74}"/>
              </a:ext>
            </a:extLst>
          </p:cNvPr>
          <p:cNvSpPr>
            <a:spLocks noGrp="1"/>
          </p:cNvSpPr>
          <p:nvPr>
            <p:ph idx="1"/>
          </p:nvPr>
        </p:nvSpPr>
        <p:spPr>
          <a:xfrm>
            <a:off x="5885721" y="1825624"/>
            <a:ext cx="6306279" cy="5032375"/>
          </a:xfrm>
        </p:spPr>
        <p:txBody>
          <a:bodyPr>
            <a:normAutofit/>
          </a:bodyPr>
          <a:lstStyle/>
          <a:p>
            <a:r>
              <a:rPr lang="pt-BR" dirty="0"/>
              <a:t>Criar máquinas que </a:t>
            </a:r>
            <a:r>
              <a:rPr lang="pt-BR" b="1" dirty="0">
                <a:solidFill>
                  <a:schemeClr val="accent2"/>
                </a:solidFill>
              </a:rPr>
              <a:t>emulem</a:t>
            </a:r>
            <a:r>
              <a:rPr lang="pt-BR" dirty="0">
                <a:solidFill>
                  <a:schemeClr val="accent2"/>
                </a:solidFill>
              </a:rPr>
              <a:t> </a:t>
            </a:r>
            <a:r>
              <a:rPr lang="pt-BR" b="1" dirty="0">
                <a:solidFill>
                  <a:schemeClr val="accent2"/>
                </a:solidFill>
              </a:rPr>
              <a:t>todas</a:t>
            </a:r>
            <a:r>
              <a:rPr lang="pt-BR" dirty="0">
                <a:solidFill>
                  <a:schemeClr val="accent2"/>
                </a:solidFill>
              </a:rPr>
              <a:t> </a:t>
            </a:r>
            <a:r>
              <a:rPr lang="pt-BR" dirty="0"/>
              <a:t>as nossas capacidades de uma única vez, </a:t>
            </a:r>
            <a:r>
              <a:rPr lang="pt-BR" b="1" i="1" dirty="0">
                <a:solidFill>
                  <a:srgbClr val="00B050"/>
                </a:solidFill>
              </a:rPr>
              <a:t>não é uma tarefa simples</a:t>
            </a:r>
            <a:r>
              <a:rPr lang="pt-BR" dirty="0"/>
              <a:t>.</a:t>
            </a:r>
          </a:p>
          <a:p>
            <a:r>
              <a:rPr lang="pt-BR" sz="2800" dirty="0"/>
              <a:t>É um </a:t>
            </a:r>
            <a:r>
              <a:rPr lang="pt-BR" b="1" i="1" dirty="0"/>
              <a:t>problema muito complexo e difícil de ser resolvido </a:t>
            </a:r>
            <a:r>
              <a:rPr lang="pt-BR" b="1" i="1" dirty="0">
                <a:solidFill>
                  <a:srgbClr val="7030A0"/>
                </a:solidFill>
              </a:rPr>
              <a:t>de uma só vez</a:t>
            </a:r>
            <a:r>
              <a:rPr lang="pt-BR" b="1" i="1" dirty="0"/>
              <a:t>.</a:t>
            </a:r>
            <a:r>
              <a:rPr lang="pt-BR" sz="2800" dirty="0"/>
              <a:t> </a:t>
            </a:r>
          </a:p>
          <a:p>
            <a:r>
              <a:rPr lang="pt-BR" dirty="0"/>
              <a:t>Sendo assim, </a:t>
            </a:r>
            <a:r>
              <a:rPr lang="pt-BR" sz="2800" b="1" i="1" dirty="0">
                <a:solidFill>
                  <a:srgbClr val="00B050"/>
                </a:solidFill>
              </a:rPr>
              <a:t>divide-se o problema em problemas menores</a:t>
            </a:r>
            <a:r>
              <a:rPr lang="pt-BR" sz="2800" dirty="0"/>
              <a:t>, chamados de </a:t>
            </a:r>
            <a:r>
              <a:rPr lang="pt-BR" sz="2800" b="1" i="1" dirty="0"/>
              <a:t>subáreas</a:t>
            </a:r>
            <a:r>
              <a:rPr lang="pt-BR" b="1" i="1" dirty="0"/>
              <a:t> da IA</a:t>
            </a:r>
            <a:r>
              <a:rPr lang="pt-BR" dirty="0"/>
              <a:t>.</a:t>
            </a:r>
            <a:endParaRPr lang="pt-BR" sz="2800" dirty="0"/>
          </a:p>
        </p:txBody>
      </p:sp>
      <p:sp>
        <p:nvSpPr>
          <p:cNvPr id="4" name="Retângulo 3">
            <a:extLst>
              <a:ext uri="{FF2B5EF4-FFF2-40B4-BE49-F238E27FC236}">
                <a16:creationId xmlns:a16="http://schemas.microsoft.com/office/drawing/2014/main" id="{32ACFE86-5A6F-F617-D725-A13799EAC500}"/>
              </a:ext>
            </a:extLst>
          </p:cNvPr>
          <p:cNvSpPr/>
          <p:nvPr/>
        </p:nvSpPr>
        <p:spPr>
          <a:xfrm>
            <a:off x="757026" y="2204154"/>
            <a:ext cx="4230899" cy="646331"/>
          </a:xfrm>
          <a:prstGeom prst="rect">
            <a:avLst/>
          </a:prstGeom>
        </p:spPr>
        <p:txBody>
          <a:bodyPr wrap="square">
            <a:spAutoFit/>
          </a:bodyPr>
          <a:lstStyle/>
          <a:p>
            <a:pPr algn="ctr"/>
            <a:r>
              <a:rPr lang="pt-BR" b="1" i="1" dirty="0"/>
              <a:t>IA é uma área muito ampla que engloba várias aplicações (subáreas) diferentes.</a:t>
            </a:r>
            <a:endParaRPr lang="en-US" b="1" i="1" dirty="0"/>
          </a:p>
        </p:txBody>
      </p:sp>
      <p:grpSp>
        <p:nvGrpSpPr>
          <p:cNvPr id="5" name="Grupo 3">
            <a:extLst>
              <a:ext uri="{FF2B5EF4-FFF2-40B4-BE49-F238E27FC236}">
                <a16:creationId xmlns:a16="http://schemas.microsoft.com/office/drawing/2014/main" id="{555F1D6B-9A71-6776-0348-F64A8C661240}"/>
              </a:ext>
            </a:extLst>
          </p:cNvPr>
          <p:cNvGrpSpPr/>
          <p:nvPr/>
        </p:nvGrpSpPr>
        <p:grpSpPr>
          <a:xfrm>
            <a:off x="757026" y="2850485"/>
            <a:ext cx="4141448" cy="2277374"/>
            <a:chOff x="8050552" y="3475960"/>
            <a:chExt cx="4141448" cy="2277374"/>
          </a:xfrm>
        </p:grpSpPr>
        <p:grpSp>
          <p:nvGrpSpPr>
            <p:cNvPr id="6" name="Agrupar 5">
              <a:extLst>
                <a:ext uri="{FF2B5EF4-FFF2-40B4-BE49-F238E27FC236}">
                  <a16:creationId xmlns:a16="http://schemas.microsoft.com/office/drawing/2014/main" id="{401CE17A-127C-394B-0CDF-E95F8D849B19}"/>
                </a:ext>
              </a:extLst>
            </p:cNvPr>
            <p:cNvGrpSpPr/>
            <p:nvPr/>
          </p:nvGrpSpPr>
          <p:grpSpPr>
            <a:xfrm>
              <a:off x="8595731" y="3475960"/>
              <a:ext cx="3016858" cy="2277374"/>
              <a:chOff x="9273707" y="365125"/>
              <a:chExt cx="2918293" cy="2351181"/>
            </a:xfrm>
          </p:grpSpPr>
          <p:pic>
            <p:nvPicPr>
              <p:cNvPr id="15" name="Picture 2" descr="Image result for umbrella">
                <a:extLst>
                  <a:ext uri="{FF2B5EF4-FFF2-40B4-BE49-F238E27FC236}">
                    <a16:creationId xmlns:a16="http://schemas.microsoft.com/office/drawing/2014/main" id="{C2161EBA-B881-143F-1862-DD68CCC48D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511" b="6921"/>
              <a:stretch/>
            </p:blipFill>
            <p:spPr bwMode="auto">
              <a:xfrm>
                <a:off x="9273707" y="365125"/>
                <a:ext cx="2918293" cy="2351181"/>
              </a:xfrm>
              <a:prstGeom prst="rect">
                <a:avLst/>
              </a:prstGeom>
              <a:noFill/>
              <a:extLst>
                <a:ext uri="{909E8E84-426E-40DD-AFC4-6F175D3DCCD1}">
                  <a14:hiddenFill xmlns:a14="http://schemas.microsoft.com/office/drawing/2010/main">
                    <a:solidFill>
                      <a:srgbClr val="FFFFFF"/>
                    </a:solidFill>
                  </a14:hiddenFill>
                </a:ext>
              </a:extLst>
            </p:spPr>
          </p:pic>
          <p:sp>
            <p:nvSpPr>
              <p:cNvPr id="16" name="CaixaDeTexto 3">
                <a:extLst>
                  <a:ext uri="{FF2B5EF4-FFF2-40B4-BE49-F238E27FC236}">
                    <a16:creationId xmlns:a16="http://schemas.microsoft.com/office/drawing/2014/main" id="{BE63D26C-3411-EE09-6FD2-80AE418BA9B9}"/>
                  </a:ext>
                </a:extLst>
              </p:cNvPr>
              <p:cNvSpPr txBox="1"/>
              <p:nvPr/>
            </p:nvSpPr>
            <p:spPr>
              <a:xfrm>
                <a:off x="10342888" y="710931"/>
                <a:ext cx="779931" cy="476627"/>
              </a:xfrm>
              <a:prstGeom prst="rect">
                <a:avLst/>
              </a:prstGeom>
              <a:noFill/>
            </p:spPr>
            <p:txBody>
              <a:bodyPr wrap="square" rtlCol="0">
                <a:spAutoFit/>
              </a:bodyPr>
              <a:lstStyle/>
              <a:p>
                <a:pPr algn="ctr"/>
                <a:r>
                  <a:rPr lang="pt-BR" sz="2400" b="1" dirty="0">
                    <a:solidFill>
                      <a:schemeClr val="bg1"/>
                    </a:solidFill>
                  </a:rPr>
                  <a:t>IAG</a:t>
                </a:r>
              </a:p>
            </p:txBody>
          </p:sp>
        </p:grpSp>
        <p:sp>
          <p:nvSpPr>
            <p:cNvPr id="7" name="TextBox 5">
              <a:extLst>
                <a:ext uri="{FF2B5EF4-FFF2-40B4-BE49-F238E27FC236}">
                  <a16:creationId xmlns:a16="http://schemas.microsoft.com/office/drawing/2014/main" id="{BBF563B2-CB75-72AC-0E27-E73D2A8FF437}"/>
                </a:ext>
              </a:extLst>
            </p:cNvPr>
            <p:cNvSpPr txBox="1"/>
            <p:nvPr/>
          </p:nvSpPr>
          <p:spPr>
            <a:xfrm>
              <a:off x="10700907" y="4560298"/>
              <a:ext cx="769364" cy="415321"/>
            </a:xfrm>
            <a:prstGeom prst="rect">
              <a:avLst/>
            </a:prstGeom>
            <a:noFill/>
          </p:spPr>
          <p:txBody>
            <a:bodyPr wrap="square" rtlCol="0">
              <a:spAutoFit/>
            </a:bodyPr>
            <a:lstStyle/>
            <a:p>
              <a:pPr algn="ctr"/>
              <a:r>
                <a:rPr lang="pt-BR" dirty="0"/>
                <a:t>ML</a:t>
              </a:r>
            </a:p>
          </p:txBody>
        </p:sp>
        <p:sp>
          <p:nvSpPr>
            <p:cNvPr id="8" name="TextBox 6">
              <a:extLst>
                <a:ext uri="{FF2B5EF4-FFF2-40B4-BE49-F238E27FC236}">
                  <a16:creationId xmlns:a16="http://schemas.microsoft.com/office/drawing/2014/main" id="{E515ABAF-3FB2-1D22-F585-66BC73913B23}"/>
                </a:ext>
              </a:extLst>
            </p:cNvPr>
            <p:cNvSpPr txBox="1"/>
            <p:nvPr/>
          </p:nvSpPr>
          <p:spPr>
            <a:xfrm>
              <a:off x="9240908" y="4539723"/>
              <a:ext cx="851572" cy="373910"/>
            </a:xfrm>
            <a:prstGeom prst="rect">
              <a:avLst/>
            </a:prstGeom>
            <a:noFill/>
          </p:spPr>
          <p:txBody>
            <a:bodyPr wrap="square" rtlCol="0">
              <a:spAutoFit/>
            </a:bodyPr>
            <a:lstStyle/>
            <a:p>
              <a:pPr algn="ctr"/>
              <a:r>
                <a:rPr lang="pt-BR" dirty="0"/>
                <a:t>PLN</a:t>
              </a:r>
            </a:p>
          </p:txBody>
        </p:sp>
        <p:sp>
          <p:nvSpPr>
            <p:cNvPr id="9" name="TextBox 7">
              <a:extLst>
                <a:ext uri="{FF2B5EF4-FFF2-40B4-BE49-F238E27FC236}">
                  <a16:creationId xmlns:a16="http://schemas.microsoft.com/office/drawing/2014/main" id="{A321A605-8395-9951-C0EE-86DB84A37C56}"/>
                </a:ext>
              </a:extLst>
            </p:cNvPr>
            <p:cNvSpPr txBox="1"/>
            <p:nvPr/>
          </p:nvSpPr>
          <p:spPr>
            <a:xfrm>
              <a:off x="8050552" y="4432754"/>
              <a:ext cx="1500073" cy="369332"/>
            </a:xfrm>
            <a:prstGeom prst="rect">
              <a:avLst/>
            </a:prstGeom>
            <a:noFill/>
          </p:spPr>
          <p:txBody>
            <a:bodyPr wrap="square" rtlCol="0">
              <a:spAutoFit/>
            </a:bodyPr>
            <a:lstStyle/>
            <a:p>
              <a:pPr algn="ctr"/>
              <a:r>
                <a:rPr lang="pt-BR" dirty="0"/>
                <a:t>Robótica</a:t>
              </a:r>
            </a:p>
          </p:txBody>
        </p:sp>
        <p:sp>
          <p:nvSpPr>
            <p:cNvPr id="10" name="TextBox 8">
              <a:extLst>
                <a:ext uri="{FF2B5EF4-FFF2-40B4-BE49-F238E27FC236}">
                  <a16:creationId xmlns:a16="http://schemas.microsoft.com/office/drawing/2014/main" id="{8FDDFD27-211B-CD13-48A6-2BB852839959}"/>
                </a:ext>
              </a:extLst>
            </p:cNvPr>
            <p:cNvSpPr txBox="1"/>
            <p:nvPr/>
          </p:nvSpPr>
          <p:spPr>
            <a:xfrm>
              <a:off x="10211351" y="4511010"/>
              <a:ext cx="591890" cy="373910"/>
            </a:xfrm>
            <a:prstGeom prst="rect">
              <a:avLst/>
            </a:prstGeom>
            <a:noFill/>
          </p:spPr>
          <p:txBody>
            <a:bodyPr wrap="square" rtlCol="0">
              <a:spAutoFit/>
            </a:bodyPr>
            <a:lstStyle/>
            <a:p>
              <a:pPr algn="ctr"/>
              <a:r>
                <a:rPr lang="pt-BR" dirty="0"/>
                <a:t>VC</a:t>
              </a:r>
            </a:p>
          </p:txBody>
        </p:sp>
        <p:sp>
          <p:nvSpPr>
            <p:cNvPr id="11" name="TextBox 9">
              <a:extLst>
                <a:ext uri="{FF2B5EF4-FFF2-40B4-BE49-F238E27FC236}">
                  <a16:creationId xmlns:a16="http://schemas.microsoft.com/office/drawing/2014/main" id="{755C0863-4C24-58ED-8A1B-6E08EC7EC9CB}"/>
                </a:ext>
              </a:extLst>
            </p:cNvPr>
            <p:cNvSpPr txBox="1"/>
            <p:nvPr/>
          </p:nvSpPr>
          <p:spPr>
            <a:xfrm>
              <a:off x="10374631" y="4919705"/>
              <a:ext cx="1817369" cy="369332"/>
            </a:xfrm>
            <a:prstGeom prst="rect">
              <a:avLst/>
            </a:prstGeom>
            <a:noFill/>
          </p:spPr>
          <p:txBody>
            <a:bodyPr wrap="square" rtlCol="0">
              <a:spAutoFit/>
            </a:bodyPr>
            <a:lstStyle/>
            <a:p>
              <a:pPr algn="ctr"/>
              <a:r>
                <a:rPr lang="pt-BR" dirty="0"/>
                <a:t>Representação</a:t>
              </a:r>
            </a:p>
          </p:txBody>
        </p:sp>
        <p:sp>
          <p:nvSpPr>
            <p:cNvPr id="12" name="TextBox 13">
              <a:extLst>
                <a:ext uri="{FF2B5EF4-FFF2-40B4-BE49-F238E27FC236}">
                  <a16:creationId xmlns:a16="http://schemas.microsoft.com/office/drawing/2014/main" id="{0BF3BE4E-925A-D156-131D-E03D7F34B031}"/>
                </a:ext>
              </a:extLst>
            </p:cNvPr>
            <p:cNvSpPr txBox="1"/>
            <p:nvPr/>
          </p:nvSpPr>
          <p:spPr>
            <a:xfrm>
              <a:off x="10252699" y="5323822"/>
              <a:ext cx="1500073" cy="369332"/>
            </a:xfrm>
            <a:prstGeom prst="rect">
              <a:avLst/>
            </a:prstGeom>
            <a:noFill/>
          </p:spPr>
          <p:txBody>
            <a:bodyPr wrap="square" rtlCol="0">
              <a:spAutoFit/>
            </a:bodyPr>
            <a:lstStyle/>
            <a:p>
              <a:pPr algn="ctr"/>
              <a:r>
                <a:rPr lang="pt-BR" dirty="0"/>
                <a:t>Planejamento</a:t>
              </a:r>
            </a:p>
          </p:txBody>
        </p:sp>
        <p:sp>
          <p:nvSpPr>
            <p:cNvPr id="13" name="TextBox 14">
              <a:extLst>
                <a:ext uri="{FF2B5EF4-FFF2-40B4-BE49-F238E27FC236}">
                  <a16:creationId xmlns:a16="http://schemas.microsoft.com/office/drawing/2014/main" id="{70870E9C-AB42-25C3-EC9A-BC9123F5E97E}"/>
                </a:ext>
              </a:extLst>
            </p:cNvPr>
            <p:cNvSpPr txBox="1"/>
            <p:nvPr/>
          </p:nvSpPr>
          <p:spPr>
            <a:xfrm>
              <a:off x="8998429" y="5374342"/>
              <a:ext cx="851572" cy="373910"/>
            </a:xfrm>
            <a:prstGeom prst="rect">
              <a:avLst/>
            </a:prstGeom>
            <a:noFill/>
          </p:spPr>
          <p:txBody>
            <a:bodyPr wrap="square" rtlCol="0">
              <a:spAutoFit/>
            </a:bodyPr>
            <a:lstStyle/>
            <a:p>
              <a:pPr algn="ctr"/>
              <a:endParaRPr lang="pt-BR" dirty="0"/>
            </a:p>
          </p:txBody>
        </p:sp>
        <p:sp>
          <p:nvSpPr>
            <p:cNvPr id="14" name="TextBox 7">
              <a:extLst>
                <a:ext uri="{FF2B5EF4-FFF2-40B4-BE49-F238E27FC236}">
                  <a16:creationId xmlns:a16="http://schemas.microsoft.com/office/drawing/2014/main" id="{8B69939C-79E4-D362-4114-C95FA6AA9320}"/>
                </a:ext>
              </a:extLst>
            </p:cNvPr>
            <p:cNvSpPr txBox="1"/>
            <p:nvPr/>
          </p:nvSpPr>
          <p:spPr>
            <a:xfrm>
              <a:off x="8353960" y="4919705"/>
              <a:ext cx="1500073" cy="369332"/>
            </a:xfrm>
            <a:prstGeom prst="rect">
              <a:avLst/>
            </a:prstGeom>
            <a:noFill/>
          </p:spPr>
          <p:txBody>
            <a:bodyPr wrap="square" rtlCol="0">
              <a:spAutoFit/>
            </a:bodyPr>
            <a:lstStyle/>
            <a:p>
              <a:pPr algn="ctr"/>
              <a:r>
                <a:rPr lang="pt-BR" dirty="0"/>
                <a:t>Raciocínio</a:t>
              </a:r>
            </a:p>
          </p:txBody>
        </p:sp>
      </p:grpSp>
    </p:spTree>
    <p:extLst>
      <p:ext uri="{BB962C8B-B14F-4D97-AF65-F5344CB8AC3E}">
        <p14:creationId xmlns:p14="http://schemas.microsoft.com/office/powerpoint/2010/main" val="4253073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447BE4-3332-F16B-0076-1E6AC2709354}"/>
              </a:ext>
            </a:extLst>
          </p:cNvPr>
          <p:cNvSpPr>
            <a:spLocks noGrp="1"/>
          </p:cNvSpPr>
          <p:nvPr>
            <p:ph idx="1"/>
          </p:nvPr>
        </p:nvSpPr>
        <p:spPr>
          <a:xfrm>
            <a:off x="838200" y="2593144"/>
            <a:ext cx="10515600" cy="1671712"/>
          </a:xfrm>
        </p:spPr>
        <p:txBody>
          <a:bodyPr>
            <a:normAutofit/>
          </a:bodyPr>
          <a:lstStyle/>
          <a:p>
            <a:pPr marL="0" indent="0" algn="ctr">
              <a:buNone/>
            </a:pPr>
            <a:r>
              <a:rPr lang="pt-BR" sz="6600" i="1" dirty="0"/>
              <a:t>Quais são as subáreas da IA?</a:t>
            </a:r>
            <a:endParaRPr lang="en-US" sz="6600" i="1" dirty="0"/>
          </a:p>
        </p:txBody>
      </p:sp>
    </p:spTree>
    <p:extLst>
      <p:ext uri="{BB962C8B-B14F-4D97-AF65-F5344CB8AC3E}">
        <p14:creationId xmlns:p14="http://schemas.microsoft.com/office/powerpoint/2010/main" val="2424339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DA6CF7-E00B-E0FD-D41F-7E5876A5A82B}"/>
              </a:ext>
            </a:extLst>
          </p:cNvPr>
          <p:cNvSpPr>
            <a:spLocks noGrp="1"/>
          </p:cNvSpPr>
          <p:nvPr>
            <p:ph type="title"/>
          </p:nvPr>
        </p:nvSpPr>
        <p:spPr/>
        <p:txBody>
          <a:bodyPr/>
          <a:lstStyle/>
          <a:p>
            <a:r>
              <a:rPr lang="pt-BR" dirty="0"/>
              <a:t>Subáreas da inteligência artificial</a:t>
            </a:r>
          </a:p>
        </p:txBody>
      </p:sp>
      <p:sp>
        <p:nvSpPr>
          <p:cNvPr id="3" name="Espaço Reservado para Conteúdo 2">
            <a:extLst>
              <a:ext uri="{FF2B5EF4-FFF2-40B4-BE49-F238E27FC236}">
                <a16:creationId xmlns:a16="http://schemas.microsoft.com/office/drawing/2014/main" id="{AB970F10-DC92-C5DA-B1B3-03C1CDCCDD74}"/>
              </a:ext>
            </a:extLst>
          </p:cNvPr>
          <p:cNvSpPr>
            <a:spLocks noGrp="1"/>
          </p:cNvSpPr>
          <p:nvPr>
            <p:ph idx="1"/>
          </p:nvPr>
        </p:nvSpPr>
        <p:spPr>
          <a:xfrm>
            <a:off x="5422900" y="1825624"/>
            <a:ext cx="6769100" cy="5032375"/>
          </a:xfrm>
        </p:spPr>
        <p:txBody>
          <a:bodyPr>
            <a:noAutofit/>
          </a:bodyPr>
          <a:lstStyle/>
          <a:p>
            <a:r>
              <a:rPr lang="pt-BR" b="1" dirty="0"/>
              <a:t>Processamento de linguagem natural</a:t>
            </a:r>
          </a:p>
          <a:p>
            <a:pPr lvl="1">
              <a:buFont typeface="Wingdings" panose="05000000000000000000" pitchFamily="2" charset="2"/>
              <a:buChar char="§"/>
            </a:pPr>
            <a:r>
              <a:rPr lang="pt-BR" dirty="0"/>
              <a:t>Compreensão e interpretação de linguagens humanas.</a:t>
            </a:r>
            <a:endParaRPr lang="pt-BR" dirty="0">
              <a:cs typeface="Calibri"/>
            </a:endParaRPr>
          </a:p>
          <a:p>
            <a:r>
              <a:rPr lang="pt-BR" b="1" dirty="0"/>
              <a:t>Representação do conhecimento</a:t>
            </a:r>
          </a:p>
          <a:p>
            <a:pPr lvl="1">
              <a:buFont typeface="Wingdings" panose="05000000000000000000" pitchFamily="2" charset="2"/>
              <a:buChar char="§"/>
            </a:pPr>
            <a:r>
              <a:rPr lang="pt-BR" dirty="0">
                <a:cs typeface="Calibri"/>
              </a:rPr>
              <a:t>Extração e armazenamento eficiente de conhecimento do mundo real.</a:t>
            </a:r>
            <a:endParaRPr lang="pt-BR" dirty="0"/>
          </a:p>
          <a:p>
            <a:r>
              <a:rPr lang="pt-BR" b="1" dirty="0"/>
              <a:t>Raciocínio automatizado</a:t>
            </a:r>
          </a:p>
          <a:p>
            <a:pPr lvl="1">
              <a:buFont typeface="Wingdings" panose="05000000000000000000" pitchFamily="2" charset="2"/>
              <a:buChar char="§"/>
            </a:pPr>
            <a:r>
              <a:rPr lang="pt-BR" dirty="0">
                <a:cs typeface="Calibri"/>
              </a:rPr>
              <a:t>Resolução de problemas complexos a partir de conhecimento prévio.</a:t>
            </a:r>
            <a:endParaRPr lang="pt-BR" dirty="0"/>
          </a:p>
          <a:p>
            <a:r>
              <a:rPr lang="pt-BR" b="1" dirty="0"/>
              <a:t>Planejamento</a:t>
            </a:r>
          </a:p>
          <a:p>
            <a:pPr lvl="1">
              <a:buFont typeface="Wingdings" panose="05000000000000000000" pitchFamily="2" charset="2"/>
              <a:buChar char="§"/>
            </a:pPr>
            <a:r>
              <a:rPr lang="pt-BR" dirty="0"/>
              <a:t>Definição de ações para atingir objetivos.</a:t>
            </a:r>
          </a:p>
        </p:txBody>
      </p:sp>
      <p:pic>
        <p:nvPicPr>
          <p:cNvPr id="4104" name="Picture 8" descr="Aplicabilidade do ChatGPT - Diário do Comércio">
            <a:extLst>
              <a:ext uri="{FF2B5EF4-FFF2-40B4-BE49-F238E27FC236}">
                <a16:creationId xmlns:a16="http://schemas.microsoft.com/office/drawing/2014/main" id="{EE7DEA1D-E28F-3462-6FA3-07D382DA34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56698" y="1562361"/>
            <a:ext cx="2875701" cy="1504950"/>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Knowledge Representation in AI Explained in Simple Terms - Geekflare">
            <a:extLst>
              <a:ext uri="{FF2B5EF4-FFF2-40B4-BE49-F238E27FC236}">
                <a16:creationId xmlns:a16="http://schemas.microsoft.com/office/drawing/2014/main" id="{3B4DFD76-B469-96A6-C42B-1EEEE588E3F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833" t="4375" r="17500"/>
          <a:stretch/>
        </p:blipFill>
        <p:spPr bwMode="auto">
          <a:xfrm>
            <a:off x="165099" y="3067311"/>
            <a:ext cx="2771168" cy="2017712"/>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Automation vs. Human Touch pt. 2 - Your Job is Safe, for Now... - Surfly">
            <a:extLst>
              <a:ext uri="{FF2B5EF4-FFF2-40B4-BE49-F238E27FC236}">
                <a16:creationId xmlns:a16="http://schemas.microsoft.com/office/drawing/2014/main" id="{FCC9FA83-554E-C008-34CE-F68C950471E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2239" t="4891"/>
          <a:stretch/>
        </p:blipFill>
        <p:spPr bwMode="auto">
          <a:xfrm>
            <a:off x="2356698" y="5085023"/>
            <a:ext cx="2985976" cy="1690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325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DA6CF7-E00B-E0FD-D41F-7E5876A5A82B}"/>
              </a:ext>
            </a:extLst>
          </p:cNvPr>
          <p:cNvSpPr>
            <a:spLocks noGrp="1"/>
          </p:cNvSpPr>
          <p:nvPr>
            <p:ph type="title"/>
          </p:nvPr>
        </p:nvSpPr>
        <p:spPr/>
        <p:txBody>
          <a:bodyPr/>
          <a:lstStyle/>
          <a:p>
            <a:r>
              <a:rPr lang="pt-BR" dirty="0"/>
              <a:t>Subáreas da inteligência artificial</a:t>
            </a:r>
          </a:p>
        </p:txBody>
      </p:sp>
      <p:sp>
        <p:nvSpPr>
          <p:cNvPr id="3" name="Espaço Reservado para Conteúdo 2">
            <a:extLst>
              <a:ext uri="{FF2B5EF4-FFF2-40B4-BE49-F238E27FC236}">
                <a16:creationId xmlns:a16="http://schemas.microsoft.com/office/drawing/2014/main" id="{AB970F10-DC92-C5DA-B1B3-03C1CDCCDD74}"/>
              </a:ext>
            </a:extLst>
          </p:cNvPr>
          <p:cNvSpPr>
            <a:spLocks noGrp="1"/>
          </p:cNvSpPr>
          <p:nvPr>
            <p:ph idx="1"/>
          </p:nvPr>
        </p:nvSpPr>
        <p:spPr>
          <a:xfrm>
            <a:off x="5270500" y="1825624"/>
            <a:ext cx="6921500" cy="5032375"/>
          </a:xfrm>
        </p:spPr>
        <p:txBody>
          <a:bodyPr>
            <a:noAutofit/>
          </a:bodyPr>
          <a:lstStyle/>
          <a:p>
            <a:r>
              <a:rPr lang="pt-BR" b="1" noProof="0" dirty="0"/>
              <a:t>Visão computacional</a:t>
            </a:r>
          </a:p>
          <a:p>
            <a:pPr lvl="1">
              <a:buFont typeface="Wingdings" panose="05000000000000000000" pitchFamily="2" charset="2"/>
              <a:buChar char="§"/>
            </a:pPr>
            <a:r>
              <a:rPr lang="pt-BR" noProof="0" dirty="0"/>
              <a:t>Compreensão e interpretação de imagens e vídeos.</a:t>
            </a:r>
          </a:p>
          <a:p>
            <a:r>
              <a:rPr lang="pt-BR" b="1" noProof="0" dirty="0"/>
              <a:t>Robótica</a:t>
            </a:r>
            <a:endParaRPr lang="pt-BR" noProof="0" dirty="0"/>
          </a:p>
          <a:p>
            <a:pPr lvl="1">
              <a:buFont typeface="Wingdings" panose="05000000000000000000" pitchFamily="2" charset="2"/>
              <a:buChar char="§"/>
            </a:pPr>
            <a:r>
              <a:rPr lang="pt-BR" noProof="0" dirty="0">
                <a:cs typeface="Calibri"/>
              </a:rPr>
              <a:t>Criação de robôs </a:t>
            </a:r>
            <a:r>
              <a:rPr lang="pt-BR" b="0" i="0" noProof="0" dirty="0">
                <a:effectLst/>
              </a:rPr>
              <a:t>capazes de </a:t>
            </a:r>
            <a:r>
              <a:rPr lang="pt-BR" noProof="0" dirty="0"/>
              <a:t>capazes de perceber e interagir com o ambiente. </a:t>
            </a:r>
          </a:p>
          <a:p>
            <a:r>
              <a:rPr lang="pt-BR" b="1" noProof="0" dirty="0"/>
              <a:t>Aprendizado de máquina</a:t>
            </a:r>
          </a:p>
          <a:p>
            <a:pPr lvl="1">
              <a:buFont typeface="Wingdings" panose="05000000000000000000" pitchFamily="2" charset="2"/>
              <a:buChar char="§"/>
            </a:pPr>
            <a:r>
              <a:rPr lang="pt-BR" noProof="0" dirty="0">
                <a:cs typeface="Calibri"/>
              </a:rPr>
              <a:t>Criação de máquinas que aprendem através de experiências prévias.</a:t>
            </a:r>
            <a:endParaRPr lang="pt-BR" noProof="0" dirty="0"/>
          </a:p>
          <a:p>
            <a:r>
              <a:rPr lang="pt-BR" b="1" noProof="0" dirty="0"/>
              <a:t>Inteligência artificial geral (IAG)</a:t>
            </a:r>
          </a:p>
          <a:p>
            <a:pPr lvl="1">
              <a:buFont typeface="Wingdings" panose="05000000000000000000" pitchFamily="2" charset="2"/>
              <a:buChar char="§"/>
            </a:pPr>
            <a:r>
              <a:rPr lang="pt-BR" noProof="0" dirty="0"/>
              <a:t>Criação de máquinas que se comportem como seres humanos. É a meta final da IA.</a:t>
            </a:r>
          </a:p>
        </p:txBody>
      </p:sp>
      <p:pic>
        <p:nvPicPr>
          <p:cNvPr id="5122" name="Picture 2" descr="What Is Computer Vision: Applications, Benefits and How to Learn It">
            <a:extLst>
              <a:ext uri="{FF2B5EF4-FFF2-40B4-BE49-F238E27FC236}">
                <a16:creationId xmlns:a16="http://schemas.microsoft.com/office/drawing/2014/main" id="{35065569-7BE8-489D-0FAD-A647CF080DB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257" r="20828"/>
          <a:stretch/>
        </p:blipFill>
        <p:spPr bwMode="auto">
          <a:xfrm>
            <a:off x="227935" y="2108198"/>
            <a:ext cx="1796529" cy="168665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Best Robotics &amp; AI Stocks In India 2023 - Complete List of Stocks">
            <a:extLst>
              <a:ext uri="{FF2B5EF4-FFF2-40B4-BE49-F238E27FC236}">
                <a16:creationId xmlns:a16="http://schemas.microsoft.com/office/drawing/2014/main" id="{854161AE-01D0-81CA-B924-09F62CFF18E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457" t="8321"/>
          <a:stretch/>
        </p:blipFill>
        <p:spPr bwMode="auto">
          <a:xfrm>
            <a:off x="610008" y="4290150"/>
            <a:ext cx="3280067" cy="2171699"/>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Conceitos Fundamentais de Machine Learning – Parte 2 - Data Science Academy">
            <a:extLst>
              <a:ext uri="{FF2B5EF4-FFF2-40B4-BE49-F238E27FC236}">
                <a16:creationId xmlns:a16="http://schemas.microsoft.com/office/drawing/2014/main" id="{F3A3E163-B0BB-082E-70BB-B87DC7C0937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50042" y="2185986"/>
            <a:ext cx="2917303" cy="187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4916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317EB-8104-57E4-E8BE-525BE89E8206}"/>
              </a:ext>
            </a:extLst>
          </p:cNvPr>
          <p:cNvSpPr>
            <a:spLocks noGrp="1"/>
          </p:cNvSpPr>
          <p:nvPr>
            <p:ph type="title"/>
          </p:nvPr>
        </p:nvSpPr>
        <p:spPr/>
        <p:txBody>
          <a:bodyPr/>
          <a:lstStyle/>
          <a:p>
            <a:r>
              <a:rPr lang="pt-BR" dirty="0"/>
              <a:t>Subáreas da inteligência artificial</a:t>
            </a:r>
            <a:endParaRPr lang="en-US" dirty="0"/>
          </a:p>
        </p:txBody>
      </p:sp>
      <p:sp>
        <p:nvSpPr>
          <p:cNvPr id="3" name="Content Placeholder 2">
            <a:extLst>
              <a:ext uri="{FF2B5EF4-FFF2-40B4-BE49-F238E27FC236}">
                <a16:creationId xmlns:a16="http://schemas.microsoft.com/office/drawing/2014/main" id="{1D3480B7-02DD-6A46-1045-F158024F69FA}"/>
              </a:ext>
            </a:extLst>
          </p:cNvPr>
          <p:cNvSpPr>
            <a:spLocks noGrp="1"/>
          </p:cNvSpPr>
          <p:nvPr>
            <p:ph idx="1"/>
          </p:nvPr>
        </p:nvSpPr>
        <p:spPr>
          <a:xfrm>
            <a:off x="5680038" y="2038774"/>
            <a:ext cx="6511961" cy="4819226"/>
          </a:xfrm>
        </p:spPr>
        <p:txBody>
          <a:bodyPr>
            <a:normAutofit lnSpcReduction="10000"/>
          </a:bodyPr>
          <a:lstStyle/>
          <a:p>
            <a:r>
              <a:rPr lang="pt-BR" dirty="0"/>
              <a:t>Como vimos, IA é um área muito ampla e não teríamos tempo para ver todas as subáreas.</a:t>
            </a:r>
          </a:p>
          <a:p>
            <a:r>
              <a:rPr lang="pt-BR" dirty="0"/>
              <a:t>Além disso, </a:t>
            </a:r>
            <a:r>
              <a:rPr lang="pt-BR" b="1" dirty="0">
                <a:solidFill>
                  <a:schemeClr val="accent2"/>
                </a:solidFill>
              </a:rPr>
              <a:t>ML é a base da IA moderna</a:t>
            </a:r>
            <a:r>
              <a:rPr lang="pt-BR" dirty="0"/>
              <a:t>.</a:t>
            </a:r>
          </a:p>
          <a:p>
            <a:pPr>
              <a:buFont typeface="Wingdings" panose="05000000000000000000" pitchFamily="2" charset="2"/>
              <a:buChar char="§"/>
            </a:pPr>
            <a:r>
              <a:rPr lang="pt-BR" dirty="0"/>
              <a:t>Hoje, quando falamos de IA, na verdade estamos falando de ML.</a:t>
            </a:r>
          </a:p>
          <a:p>
            <a:pPr lvl="1">
              <a:buFont typeface="Wingdings" panose="05000000000000000000" pitchFamily="2" charset="2"/>
              <a:buChar char="§"/>
            </a:pPr>
            <a:r>
              <a:rPr lang="pt-BR" b="1" dirty="0"/>
              <a:t>Exemplos</a:t>
            </a:r>
            <a:r>
              <a:rPr lang="pt-BR" dirty="0"/>
              <a:t>: Redes convolucionais (imagens), </a:t>
            </a:r>
            <a:r>
              <a:rPr lang="pt-BR" i="1" dirty="0" err="1"/>
              <a:t>transformers</a:t>
            </a:r>
            <a:r>
              <a:rPr lang="pt-BR" dirty="0"/>
              <a:t> (ChatGPT),  modelos de difusão (geração de dados sintéticos).</a:t>
            </a:r>
          </a:p>
          <a:p>
            <a:r>
              <a:rPr lang="pt-BR" dirty="0"/>
              <a:t>Assim, focaremos no estudo dos fundamentos do </a:t>
            </a:r>
            <a:r>
              <a:rPr lang="pt-BR" b="1" i="1" dirty="0">
                <a:solidFill>
                  <a:srgbClr val="00B050"/>
                </a:solidFill>
              </a:rPr>
              <a:t>aprendizado de máquina</a:t>
            </a:r>
            <a:r>
              <a:rPr lang="pt-BR" dirty="0"/>
              <a:t>.</a:t>
            </a:r>
            <a:endParaRPr lang="pt-BR" b="1" i="1" dirty="0"/>
          </a:p>
          <a:p>
            <a:pPr marL="0" indent="0">
              <a:buNone/>
            </a:pPr>
            <a:endParaRPr lang="pt-BR" dirty="0"/>
          </a:p>
        </p:txBody>
      </p:sp>
      <p:pic>
        <p:nvPicPr>
          <p:cNvPr id="1026" name="Picture 2" descr="How Machine Learning and Artificial Intelligence Will Impact Global  Industries - GeeksforGeeks">
            <a:extLst>
              <a:ext uri="{FF2B5EF4-FFF2-40B4-BE49-F238E27FC236}">
                <a16:creationId xmlns:a16="http://schemas.microsoft.com/office/drawing/2014/main" id="{AC706E7E-C49D-9BAC-06C5-B0B4423E22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597" r="3195"/>
          <a:stretch>
            <a:fillRect/>
          </a:stretch>
        </p:blipFill>
        <p:spPr bwMode="auto">
          <a:xfrm>
            <a:off x="262089" y="2329230"/>
            <a:ext cx="5127171" cy="3490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9476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83849B-644D-FED7-516E-27A821F7045E}"/>
              </a:ext>
            </a:extLst>
          </p:cNvPr>
          <p:cNvSpPr>
            <a:spLocks noGrp="1"/>
          </p:cNvSpPr>
          <p:nvPr>
            <p:ph type="title"/>
          </p:nvPr>
        </p:nvSpPr>
        <p:spPr>
          <a:xfrm>
            <a:off x="838200" y="225425"/>
            <a:ext cx="10515600" cy="1325563"/>
          </a:xfrm>
        </p:spPr>
        <p:txBody>
          <a:bodyPr/>
          <a:lstStyle/>
          <a:p>
            <a:r>
              <a:rPr lang="pt-BR" noProof="0"/>
              <a:t>Por que ML é importante?</a:t>
            </a:r>
          </a:p>
        </p:txBody>
      </p:sp>
      <p:sp>
        <p:nvSpPr>
          <p:cNvPr id="3" name="Espaço Reservado para Conteúdo 2">
            <a:extLst>
              <a:ext uri="{FF2B5EF4-FFF2-40B4-BE49-F238E27FC236}">
                <a16:creationId xmlns:a16="http://schemas.microsoft.com/office/drawing/2014/main" id="{47D41DBA-80EB-D6C3-64F1-FDAB2FD45EF1}"/>
              </a:ext>
            </a:extLst>
          </p:cNvPr>
          <p:cNvSpPr>
            <a:spLocks noGrp="1"/>
          </p:cNvSpPr>
          <p:nvPr>
            <p:ph idx="1"/>
          </p:nvPr>
        </p:nvSpPr>
        <p:spPr>
          <a:xfrm>
            <a:off x="5283200" y="1635124"/>
            <a:ext cx="6908800" cy="5210176"/>
          </a:xfrm>
        </p:spPr>
        <p:txBody>
          <a:bodyPr>
            <a:normAutofit/>
          </a:bodyPr>
          <a:lstStyle/>
          <a:p>
            <a:r>
              <a:rPr lang="pt-BR" b="1" noProof="0" dirty="0"/>
              <a:t>É uma ferramenta geral</a:t>
            </a:r>
            <a:endParaRPr lang="pt-BR" noProof="0" dirty="0"/>
          </a:p>
          <a:p>
            <a:pPr lvl="1">
              <a:buFont typeface="Wingdings" panose="05000000000000000000" pitchFamily="2" charset="2"/>
              <a:buChar char="§"/>
            </a:pPr>
            <a:r>
              <a:rPr lang="pt-BR" noProof="0" dirty="0"/>
              <a:t>Aplica-se à saúde, telecomunicações, finanças, indústria e ciência.</a:t>
            </a:r>
          </a:p>
          <a:p>
            <a:r>
              <a:rPr lang="pt-BR" b="1" noProof="0" dirty="0"/>
              <a:t>Resolve problemas complexos</a:t>
            </a:r>
            <a:endParaRPr lang="pt-BR" noProof="0" dirty="0"/>
          </a:p>
          <a:p>
            <a:pPr lvl="1">
              <a:buFont typeface="Wingdings" panose="05000000000000000000" pitchFamily="2" charset="2"/>
              <a:buChar char="§"/>
            </a:pPr>
            <a:r>
              <a:rPr lang="pt-BR" b="1" noProof="0" dirty="0"/>
              <a:t>Aprende padrões </a:t>
            </a:r>
            <a:r>
              <a:rPr lang="pt-BR" noProof="0" dirty="0"/>
              <a:t>em dados quando modelar o problema matematicamente é difícil.</a:t>
            </a:r>
          </a:p>
          <a:p>
            <a:r>
              <a:rPr lang="pt-BR" b="1" noProof="0" dirty="0"/>
              <a:t>Reduz custo e tempo</a:t>
            </a:r>
            <a:endParaRPr lang="pt-BR" noProof="0" dirty="0"/>
          </a:p>
          <a:p>
            <a:pPr lvl="1">
              <a:buFont typeface="Wingdings" panose="05000000000000000000" pitchFamily="2" charset="2"/>
              <a:buChar char="§"/>
            </a:pPr>
            <a:r>
              <a:rPr lang="pt-BR" b="1" noProof="0" dirty="0"/>
              <a:t>Automatiza tarefas e substitui soluções </a:t>
            </a:r>
            <a:r>
              <a:rPr lang="pt-BR" noProof="0" dirty="0"/>
              <a:t>computacionalmente caras.</a:t>
            </a:r>
          </a:p>
          <a:p>
            <a:r>
              <a:rPr lang="pt-BR" b="1" noProof="0" dirty="0"/>
              <a:t>Tem alta demanda</a:t>
            </a:r>
            <a:endParaRPr lang="pt-BR" noProof="0" dirty="0"/>
          </a:p>
          <a:p>
            <a:pPr lvl="1">
              <a:buFont typeface="Wingdings" panose="05000000000000000000" pitchFamily="2" charset="2"/>
              <a:buChar char="§"/>
            </a:pPr>
            <a:r>
              <a:rPr lang="pt-BR" noProof="0" dirty="0"/>
              <a:t>É uma das tecnologias mais utilizadas pela </a:t>
            </a:r>
            <a:r>
              <a:rPr lang="pt-BR" b="1" noProof="0" dirty="0"/>
              <a:t>indústria e pela pesquisa</a:t>
            </a:r>
            <a:r>
              <a:rPr lang="pt-BR" noProof="0" dirty="0"/>
              <a:t>.</a:t>
            </a:r>
          </a:p>
        </p:txBody>
      </p:sp>
      <p:pic>
        <p:nvPicPr>
          <p:cNvPr id="4" name="Picture 4" descr="Image result for aprendizado de máquina">
            <a:extLst>
              <a:ext uri="{FF2B5EF4-FFF2-40B4-BE49-F238E27FC236}">
                <a16:creationId xmlns:a16="http://schemas.microsoft.com/office/drawing/2014/main" id="{6C3F1E89-35C0-E3C8-8D2C-BE1A9CF6B7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195" t="15041" r="27482" b="9164"/>
          <a:stretch/>
        </p:blipFill>
        <p:spPr bwMode="auto">
          <a:xfrm>
            <a:off x="242905" y="1925404"/>
            <a:ext cx="2586355" cy="223990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O que é machine learning? Entenda essa tendência no marketing digital!">
            <a:extLst>
              <a:ext uri="{FF2B5EF4-FFF2-40B4-BE49-F238E27FC236}">
                <a16:creationId xmlns:a16="http://schemas.microsoft.com/office/drawing/2014/main" id="{7433693A-3737-81CA-B711-AAA96FDE346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36082" y="4539728"/>
            <a:ext cx="3425548" cy="1798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968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B6200D-3DAC-7DD1-7A08-D49F944C7F24}"/>
              </a:ext>
            </a:extLst>
          </p:cNvPr>
          <p:cNvSpPr>
            <a:spLocks noGrp="1"/>
          </p:cNvSpPr>
          <p:nvPr>
            <p:ph idx="1"/>
          </p:nvPr>
        </p:nvSpPr>
        <p:spPr>
          <a:xfrm>
            <a:off x="838200" y="2432330"/>
            <a:ext cx="10515600" cy="1993340"/>
          </a:xfrm>
        </p:spPr>
        <p:txBody>
          <a:bodyPr/>
          <a:lstStyle/>
          <a:p>
            <a:pPr marL="0" indent="0" algn="ctr">
              <a:buNone/>
            </a:pPr>
            <a:r>
              <a:rPr lang="pt-BR" sz="6100" i="1" dirty="0"/>
              <a:t>OK, mas o que é o aprendizado de máquina?</a:t>
            </a:r>
            <a:endParaRPr lang="en-US" sz="6100" i="1" dirty="0"/>
          </a:p>
        </p:txBody>
      </p:sp>
    </p:spTree>
    <p:extLst>
      <p:ext uri="{BB962C8B-B14F-4D97-AF65-F5344CB8AC3E}">
        <p14:creationId xmlns:p14="http://schemas.microsoft.com/office/powerpoint/2010/main" val="1409785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O que é o aprendizado de máquina?</a:t>
            </a:r>
            <a:endParaRPr lang="en-US" dirty="0"/>
          </a:p>
        </p:txBody>
      </p:sp>
      <p:sp>
        <p:nvSpPr>
          <p:cNvPr id="3" name="Espaço Reservado para Conteúdo 2"/>
          <p:cNvSpPr>
            <a:spLocks noGrp="1"/>
          </p:cNvSpPr>
          <p:nvPr>
            <p:ph idx="1"/>
          </p:nvPr>
        </p:nvSpPr>
        <p:spPr>
          <a:xfrm>
            <a:off x="838201" y="1825624"/>
            <a:ext cx="11135060" cy="5032376"/>
          </a:xfrm>
        </p:spPr>
        <p:txBody>
          <a:bodyPr>
            <a:normAutofit/>
          </a:bodyPr>
          <a:lstStyle/>
          <a:p>
            <a:r>
              <a:rPr lang="pt-BR" dirty="0"/>
              <a:t>É uma das subáreas da inteligência artificial.</a:t>
            </a:r>
          </a:p>
          <a:p>
            <a:r>
              <a:rPr lang="pt-BR" dirty="0"/>
              <a:t>O termo foi cunhado em 1959, pelo cientista da computação Arthur Samuel, que o definiu como o </a:t>
            </a:r>
          </a:p>
          <a:p>
            <a:pPr marL="0" indent="0" algn="ctr">
              <a:buNone/>
            </a:pPr>
            <a:r>
              <a:rPr lang="pt-BR" dirty="0"/>
              <a:t>“</a:t>
            </a:r>
            <a:r>
              <a:rPr lang="pt-BR" i="1" dirty="0"/>
              <a:t>Campo de estudo que dá aos computadores a habilidade de </a:t>
            </a:r>
            <a:r>
              <a:rPr lang="pt-BR" b="1" i="1" dirty="0">
                <a:solidFill>
                  <a:srgbClr val="00B0F0"/>
                </a:solidFill>
              </a:rPr>
              <a:t>aprender sem serem explicitamente programados</a:t>
            </a:r>
            <a:r>
              <a:rPr lang="pt-BR" dirty="0"/>
              <a:t>.”</a:t>
            </a:r>
          </a:p>
        </p:txBody>
      </p:sp>
      <p:pic>
        <p:nvPicPr>
          <p:cNvPr id="4" name="Picture 2" descr="https://www.oulu.fi/sites/default/files/11/machines%20_decide.jpg">
            <a:extLst>
              <a:ext uri="{FF2B5EF4-FFF2-40B4-BE49-F238E27FC236}">
                <a16:creationId xmlns:a16="http://schemas.microsoft.com/office/drawing/2014/main" id="{6B8DD7A2-43EE-406C-8FF3-BC9A04CF3B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7670" y="4263855"/>
            <a:ext cx="3598328" cy="24002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Image result for applications of artificial intelligence">
            <a:extLst>
              <a:ext uri="{FF2B5EF4-FFF2-40B4-BE49-F238E27FC236}">
                <a16:creationId xmlns:a16="http://schemas.microsoft.com/office/drawing/2014/main" id="{030E6182-967A-44D7-8BED-F8E414DAE67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71025" y="4263856"/>
            <a:ext cx="4267196" cy="2400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687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D125F-30B7-AA73-9F9A-1168EB75549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1ACE19E-6AF7-5C93-C705-E38EDC60B832}"/>
              </a:ext>
            </a:extLst>
          </p:cNvPr>
          <p:cNvSpPr>
            <a:spLocks noGrp="1"/>
          </p:cNvSpPr>
          <p:nvPr>
            <p:ph type="title"/>
          </p:nvPr>
        </p:nvSpPr>
        <p:spPr/>
        <p:txBody>
          <a:bodyPr/>
          <a:lstStyle/>
          <a:p>
            <a:r>
              <a:rPr lang="pt-BR" dirty="0"/>
              <a:t>O que é o aprendizado de máquina?</a:t>
            </a:r>
            <a:endParaRPr lang="en-US" dirty="0"/>
          </a:p>
        </p:txBody>
      </p:sp>
      <p:sp>
        <p:nvSpPr>
          <p:cNvPr id="3" name="Espaço Reservado para Conteúdo 2">
            <a:extLst>
              <a:ext uri="{FF2B5EF4-FFF2-40B4-BE49-F238E27FC236}">
                <a16:creationId xmlns:a16="http://schemas.microsoft.com/office/drawing/2014/main" id="{7B8859F2-98F3-8627-1A3A-94056463A1C4}"/>
              </a:ext>
            </a:extLst>
          </p:cNvPr>
          <p:cNvSpPr>
            <a:spLocks noGrp="1"/>
          </p:cNvSpPr>
          <p:nvPr>
            <p:ph idx="1"/>
          </p:nvPr>
        </p:nvSpPr>
        <p:spPr>
          <a:xfrm>
            <a:off x="5830644" y="1825624"/>
            <a:ext cx="6361355" cy="5032376"/>
          </a:xfrm>
        </p:spPr>
        <p:txBody>
          <a:bodyPr>
            <a:normAutofit/>
          </a:bodyPr>
          <a:lstStyle/>
          <a:p>
            <a:r>
              <a:rPr lang="pt-BR" noProof="0" dirty="0"/>
              <a:t>Mas como eles aprendem? </a:t>
            </a:r>
          </a:p>
          <a:p>
            <a:pPr lvl="1">
              <a:buFont typeface="Wingdings" panose="05000000000000000000" pitchFamily="2" charset="2"/>
              <a:buChar char="§"/>
            </a:pPr>
            <a:r>
              <a:rPr lang="pt-BR" noProof="0" dirty="0"/>
              <a:t>Através de </a:t>
            </a:r>
            <a:r>
              <a:rPr lang="pt-BR" b="1" i="1" noProof="0" dirty="0"/>
              <a:t>experiências prévias</a:t>
            </a:r>
            <a:r>
              <a:rPr lang="pt-BR" noProof="0" dirty="0"/>
              <a:t>, </a:t>
            </a:r>
            <a:r>
              <a:rPr lang="pt-BR" b="1" i="1" noProof="0" dirty="0"/>
              <a:t>induz-se</a:t>
            </a:r>
            <a:r>
              <a:rPr lang="pt-BR" noProof="0" dirty="0"/>
              <a:t> conhecimento nas máquinas.</a:t>
            </a:r>
          </a:p>
          <a:p>
            <a:r>
              <a:rPr lang="pt-BR" noProof="0" dirty="0"/>
              <a:t>Algoritmos de ML são </a:t>
            </a:r>
            <a:r>
              <a:rPr lang="pt-BR" b="1" i="1" noProof="0" dirty="0"/>
              <a:t>orientados a dados</a:t>
            </a:r>
            <a:r>
              <a:rPr lang="pt-BR" noProof="0" dirty="0"/>
              <a:t>, ou seja:</a:t>
            </a:r>
          </a:p>
          <a:p>
            <a:r>
              <a:rPr lang="pt-BR" noProof="0" dirty="0"/>
              <a:t>Eles </a:t>
            </a:r>
            <a:r>
              <a:rPr lang="pt-BR" b="1" i="1" noProof="0" dirty="0"/>
              <a:t>aprendem automaticamente</a:t>
            </a:r>
            <a:r>
              <a:rPr lang="pt-BR" noProof="0" dirty="0"/>
              <a:t> (</a:t>
            </a:r>
            <a:r>
              <a:rPr lang="pt-BR" b="1" i="1" noProof="0" dirty="0">
                <a:solidFill>
                  <a:srgbClr val="00B050"/>
                </a:solidFill>
              </a:rPr>
              <a:t>através de treinamento</a:t>
            </a:r>
            <a:r>
              <a:rPr lang="pt-BR" noProof="0" dirty="0"/>
              <a:t>) uma </a:t>
            </a:r>
            <a:r>
              <a:rPr lang="pt-BR" b="1" i="1" noProof="0" dirty="0">
                <a:solidFill>
                  <a:srgbClr val="7030A0"/>
                </a:solidFill>
              </a:rPr>
              <a:t>solução geral para um problema </a:t>
            </a:r>
            <a:r>
              <a:rPr lang="pt-BR" noProof="0" dirty="0"/>
              <a:t>a partir de um </a:t>
            </a:r>
            <a:r>
              <a:rPr lang="pt-BR" b="1" i="1" noProof="0" dirty="0"/>
              <a:t>conjunto de dados </a:t>
            </a:r>
            <a:r>
              <a:rPr lang="pt-BR" noProof="0" dirty="0"/>
              <a:t>fornecido a eles.</a:t>
            </a:r>
          </a:p>
          <a:p>
            <a:pPr marL="0" indent="0" algn="ctr">
              <a:buNone/>
            </a:pPr>
            <a:r>
              <a:rPr lang="pt-BR" b="1" i="1" noProof="0" dirty="0"/>
              <a:t>Conjuntos de dados = experiências prévias</a:t>
            </a:r>
            <a:endParaRPr lang="pt-BR" noProof="0" dirty="0"/>
          </a:p>
        </p:txBody>
      </p:sp>
      <p:pic>
        <p:nvPicPr>
          <p:cNvPr id="5" name="Picture 2" descr="Inteligência Artificial: 3 fatos que você precisa saber! - Coopersystem">
            <a:extLst>
              <a:ext uri="{FF2B5EF4-FFF2-40B4-BE49-F238E27FC236}">
                <a16:creationId xmlns:a16="http://schemas.microsoft.com/office/drawing/2014/main" id="{8A8D1AC5-DED4-9430-4A40-B6779B846D3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421" r="19983"/>
          <a:stretch/>
        </p:blipFill>
        <p:spPr bwMode="auto">
          <a:xfrm>
            <a:off x="1218699" y="4341812"/>
            <a:ext cx="4256943" cy="182094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24 Top Machine Learning Applications &amp; Examples for 2023 | Built In">
            <a:extLst>
              <a:ext uri="{FF2B5EF4-FFF2-40B4-BE49-F238E27FC236}">
                <a16:creationId xmlns:a16="http://schemas.microsoft.com/office/drawing/2014/main" id="{FD7DFB15-B6F8-E8D9-4121-B878A5F3060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8369" y="1997244"/>
            <a:ext cx="3523183" cy="2038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703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Paradigma da programação tradicional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5"/>
                <a:ext cx="11210365" cy="4351338"/>
              </a:xfrm>
            </p:spPr>
            <p:txBody>
              <a:bodyPr/>
              <a:lstStyle/>
              <a:p>
                <a:r>
                  <a:rPr lang="pt-BR" dirty="0"/>
                  <a:t>Para entendermos o que é o aprendizado de máquina, vamos fazer um </a:t>
                </a:r>
                <a:r>
                  <a:rPr lang="pt-BR" b="1" i="1" dirty="0"/>
                  <a:t>paralelo com a programação tradicional</a:t>
                </a:r>
                <a:r>
                  <a:rPr lang="pt-BR" dirty="0"/>
                  <a:t>.</a:t>
                </a:r>
              </a:p>
              <a:p>
                <a:r>
                  <a:rPr lang="pt-BR" dirty="0"/>
                  <a:t>Na programação tradicional, o </a:t>
                </a:r>
                <a:r>
                  <a:rPr lang="pt-BR" b="1" i="1" dirty="0">
                    <a:solidFill>
                      <a:srgbClr val="00B050"/>
                    </a:solidFill>
                  </a:rPr>
                  <a:t>programador cria as regras </a:t>
                </a:r>
                <a:r>
                  <a:rPr lang="pt-BR" dirty="0"/>
                  <a:t>(i.e., programa) </a:t>
                </a:r>
                <a:r>
                  <a:rPr lang="pt-BR" b="1" i="1" dirty="0">
                    <a:solidFill>
                      <a:srgbClr val="00B050"/>
                    </a:solidFill>
                  </a:rPr>
                  <a:t>que </a:t>
                </a:r>
                <a:r>
                  <a:rPr lang="pt-BR" b="1" i="1" dirty="0">
                    <a:solidFill>
                      <a:srgbClr val="7030A0"/>
                    </a:solidFill>
                  </a:rPr>
                  <a:t>mapeiam</a:t>
                </a:r>
                <a:r>
                  <a:rPr lang="pt-BR" b="1" i="1" dirty="0">
                    <a:solidFill>
                      <a:srgbClr val="00B050"/>
                    </a:solidFill>
                  </a:rPr>
                  <a:t> as entradas, </a:t>
                </a:r>
                <a14:m>
                  <m:oMath xmlns:m="http://schemas.openxmlformats.org/officeDocument/2006/math">
                    <m:r>
                      <a:rPr lang="pt-BR" b="1" i="1">
                        <a:solidFill>
                          <a:srgbClr val="00B050"/>
                        </a:solidFill>
                        <a:latin typeface="Cambria Math" panose="02040503050406030204" pitchFamily="18" charset="0"/>
                      </a:rPr>
                      <m:t>𝒙</m:t>
                    </m:r>
                  </m:oMath>
                </a14:m>
                <a:r>
                  <a:rPr lang="pt-BR" b="1" i="1" dirty="0">
                    <a:solidFill>
                      <a:srgbClr val="00B050"/>
                    </a:solidFill>
                  </a:rPr>
                  <a:t>, nas saídas, </a:t>
                </a:r>
                <a14:m>
                  <m:oMath xmlns:m="http://schemas.openxmlformats.org/officeDocument/2006/math">
                    <m:r>
                      <a:rPr lang="pt-BR" sz="2800" b="1" i="1" smtClean="0">
                        <a:solidFill>
                          <a:srgbClr val="00B050"/>
                        </a:solidFill>
                        <a:latin typeface="Cambria Math" panose="02040503050406030204" pitchFamily="18" charset="0"/>
                      </a:rPr>
                      <m:t>𝒚</m:t>
                    </m:r>
                    <m:r>
                      <a:rPr lang="pt-BR" sz="2800" b="1" i="1" smtClean="0">
                        <a:solidFill>
                          <a:srgbClr val="00B050"/>
                        </a:solidFill>
                        <a:latin typeface="Cambria Math" panose="02040503050406030204" pitchFamily="18" charset="0"/>
                      </a:rPr>
                      <m:t>=</m:t>
                    </m:r>
                    <m:r>
                      <a:rPr lang="pt-BR" sz="2800" b="1" i="1" smtClean="0">
                        <a:solidFill>
                          <a:srgbClr val="00B050"/>
                        </a:solidFill>
                        <a:latin typeface="Cambria Math" panose="02040503050406030204" pitchFamily="18" charset="0"/>
                      </a:rPr>
                      <m:t>𝒇</m:t>
                    </m:r>
                    <m:d>
                      <m:dPr>
                        <m:ctrlPr>
                          <a:rPr lang="pt-BR" sz="2800" b="1" i="1" smtClean="0">
                            <a:solidFill>
                              <a:srgbClr val="00B050"/>
                            </a:solidFill>
                            <a:latin typeface="Cambria Math" panose="02040503050406030204" pitchFamily="18" charset="0"/>
                          </a:rPr>
                        </m:ctrlPr>
                      </m:dPr>
                      <m:e>
                        <m:r>
                          <a:rPr lang="pt-BR" sz="2800" b="1" i="1" smtClean="0">
                            <a:solidFill>
                              <a:srgbClr val="00B050"/>
                            </a:solidFill>
                            <a:latin typeface="Cambria Math" panose="02040503050406030204" pitchFamily="18" charset="0"/>
                          </a:rPr>
                          <m:t>𝒙</m:t>
                        </m:r>
                      </m:e>
                    </m:d>
                  </m:oMath>
                </a14:m>
                <a:r>
                  <a:rPr lang="pt-BR" dirty="0"/>
                  <a:t>.</a:t>
                </a:r>
              </a:p>
              <a:p>
                <a:r>
                  <a:rPr lang="pt-BR" dirty="0"/>
                  <a:t>Imaginem um problema onde a </a:t>
                </a:r>
                <a:r>
                  <a:rPr lang="pt-BR" b="1" i="1" dirty="0">
                    <a:solidFill>
                      <a:srgbClr val="7030A0"/>
                    </a:solidFill>
                  </a:rPr>
                  <a:t>solução geral</a:t>
                </a:r>
                <a:r>
                  <a:rPr lang="pt-BR" dirty="0"/>
                  <a:t> é a equação de uma reta, </a:t>
                </a:r>
                <a14:m>
                  <m:oMath xmlns:m="http://schemas.openxmlformats.org/officeDocument/2006/math">
                    <m:r>
                      <a:rPr lang="pt-BR" sz="2800" b="1" i="1" smtClean="0">
                        <a:solidFill>
                          <a:srgbClr val="7030A0"/>
                        </a:solidFill>
                        <a:latin typeface="Cambria Math" panose="02040503050406030204" pitchFamily="18" charset="0"/>
                      </a:rPr>
                      <m:t>𝒇</m:t>
                    </m:r>
                    <m:d>
                      <m:dPr>
                        <m:ctrlPr>
                          <a:rPr lang="pt-BR" sz="2800" b="1" i="1" smtClean="0">
                            <a:solidFill>
                              <a:srgbClr val="7030A0"/>
                            </a:solidFill>
                            <a:latin typeface="Cambria Math" panose="02040503050406030204" pitchFamily="18" charset="0"/>
                          </a:rPr>
                        </m:ctrlPr>
                      </m:dPr>
                      <m:e>
                        <m:r>
                          <a:rPr lang="pt-BR" sz="2800" b="1" i="1" smtClean="0">
                            <a:solidFill>
                              <a:srgbClr val="7030A0"/>
                            </a:solidFill>
                            <a:latin typeface="Cambria Math" panose="02040503050406030204" pitchFamily="18" charset="0"/>
                          </a:rPr>
                          <m:t>𝒙</m:t>
                        </m:r>
                      </m:e>
                    </m:d>
                  </m:oMath>
                </a14:m>
                <a:r>
                  <a:rPr lang="pt-BR"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5"/>
                <a:ext cx="11210365" cy="4351338"/>
              </a:xfrm>
              <a:blipFill>
                <a:blip r:embed="rId3"/>
                <a:stretch>
                  <a:fillRect l="-924" t="-2241" r="-1631"/>
                </a:stretch>
              </a:blipFill>
            </p:spPr>
            <p:txBody>
              <a:bodyPr/>
              <a:lstStyle/>
              <a:p>
                <a:r>
                  <a:rPr lang="en-US">
                    <a:noFill/>
                  </a:rPr>
                  <a:t> </a:t>
                </a:r>
              </a:p>
            </p:txBody>
          </p:sp>
        </mc:Fallback>
      </mc:AlternateContent>
      <p:sp>
        <p:nvSpPr>
          <p:cNvPr id="4" name="Rectangle 3"/>
          <p:cNvSpPr/>
          <p:nvPr/>
        </p:nvSpPr>
        <p:spPr>
          <a:xfrm>
            <a:off x="5239414" y="5316086"/>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a:t>
            </a:r>
          </a:p>
        </p:txBody>
      </p:sp>
      <p:sp>
        <p:nvSpPr>
          <p:cNvPr id="5" name="TextBox 4"/>
          <p:cNvSpPr txBox="1"/>
          <p:nvPr/>
        </p:nvSpPr>
        <p:spPr>
          <a:xfrm>
            <a:off x="4411413" y="4784500"/>
            <a:ext cx="3566443" cy="461665"/>
          </a:xfrm>
          <a:prstGeom prst="rect">
            <a:avLst/>
          </a:prstGeom>
          <a:noFill/>
        </p:spPr>
        <p:txBody>
          <a:bodyPr wrap="square" rtlCol="0">
            <a:spAutoFit/>
          </a:bodyPr>
          <a:lstStyle/>
          <a:p>
            <a:pPr algn="ctr"/>
            <a:r>
              <a:rPr lang="pt-BR" sz="2400" b="1" dirty="0"/>
              <a:t>Programação Tradicional</a:t>
            </a:r>
          </a:p>
        </p:txBody>
      </p:sp>
      <p:cxnSp>
        <p:nvCxnSpPr>
          <p:cNvPr id="7" name="Straight Arrow Connector 6"/>
          <p:cNvCxnSpPr/>
          <p:nvPr/>
        </p:nvCxnSpPr>
        <p:spPr>
          <a:xfrm>
            <a:off x="4411414" y="5495701"/>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411414" y="5991001"/>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p:cNvSpPr txBox="1"/>
              <p:nvPr/>
            </p:nvSpPr>
            <p:spPr>
              <a:xfrm>
                <a:off x="3253740" y="5769675"/>
                <a:ext cx="1039586" cy="584775"/>
              </a:xfrm>
              <a:prstGeom prst="rect">
                <a:avLst/>
              </a:prstGeom>
              <a:noFill/>
            </p:spPr>
            <p:txBody>
              <a:bodyPr wrap="square" rtlCol="0">
                <a:spAutoFit/>
              </a:bodyPr>
              <a:lstStyle/>
              <a:p>
                <a:pPr algn="ctr"/>
                <a:r>
                  <a:rPr lang="pt-BR" dirty="0"/>
                  <a:t>Entradas</a:t>
                </a:r>
              </a:p>
              <a:p>
                <a:pPr algn="ctr"/>
                <a:r>
                  <a:rPr lang="pt-BR" sz="1400" dirty="0"/>
                  <a:t>e.g., </a:t>
                </a:r>
                <a14:m>
                  <m:oMath xmlns:m="http://schemas.openxmlformats.org/officeDocument/2006/math">
                    <m:r>
                      <a:rPr lang="pt-BR" sz="1400" i="1">
                        <a:latin typeface="Cambria Math" panose="02040503050406030204" pitchFamily="18" charset="0"/>
                      </a:rPr>
                      <m:t>𝑥</m:t>
                    </m:r>
                  </m:oMath>
                </a14:m>
                <a:endParaRPr lang="pt-BR" dirty="0"/>
              </a:p>
            </p:txBody>
          </p:sp>
        </mc:Choice>
        <mc:Fallback xmlns="">
          <p:sp>
            <p:nvSpPr>
              <p:cNvPr id="9" name="TextBox 8"/>
              <p:cNvSpPr txBox="1">
                <a:spLocks noRot="1" noChangeAspect="1" noMove="1" noResize="1" noEditPoints="1" noAdjustHandles="1" noChangeArrowheads="1" noChangeShapeType="1" noTextEdit="1"/>
              </p:cNvSpPr>
              <p:nvPr/>
            </p:nvSpPr>
            <p:spPr>
              <a:xfrm>
                <a:off x="3253740" y="5769675"/>
                <a:ext cx="1039586" cy="584775"/>
              </a:xfrm>
              <a:prstGeom prst="rect">
                <a:avLst/>
              </a:prstGeom>
              <a:blipFill>
                <a:blip r:embed="rId4"/>
                <a:stretch>
                  <a:fillRect l="-4118" t="-5208" r="-2941" b="-104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878640" y="4992690"/>
                <a:ext cx="1688987" cy="800219"/>
              </a:xfrm>
              <a:prstGeom prst="rect">
                <a:avLst/>
              </a:prstGeom>
              <a:noFill/>
            </p:spPr>
            <p:txBody>
              <a:bodyPr wrap="square" rtlCol="0">
                <a:spAutoFit/>
              </a:bodyPr>
              <a:lstStyle/>
              <a:p>
                <a:pPr algn="ctr"/>
                <a:r>
                  <a:rPr lang="pt-BR" dirty="0"/>
                  <a:t>Programa</a:t>
                </a:r>
              </a:p>
              <a:p>
                <a:pPr algn="ctr"/>
                <a:r>
                  <a:rPr lang="pt-BR" sz="1400" dirty="0"/>
                  <a:t>e.g., uma função: </a:t>
                </a:r>
                <a14:m>
                  <m:oMath xmlns:m="http://schemas.openxmlformats.org/officeDocument/2006/math">
                    <m:r>
                      <a:rPr lang="pt-BR" sz="1400" b="0" i="1" smtClean="0">
                        <a:latin typeface="Cambria Math" panose="02040503050406030204" pitchFamily="18" charset="0"/>
                      </a:rPr>
                      <m:t>𝑦</m:t>
                    </m:r>
                    <m:r>
                      <a:rPr lang="pt-BR" sz="1400" b="0" i="1" smtClean="0">
                        <a:latin typeface="Cambria Math" panose="02040503050406030204" pitchFamily="18" charset="0"/>
                      </a:rPr>
                      <m:t>=</m:t>
                    </m:r>
                    <m:r>
                      <a:rPr lang="pt-BR" sz="1400" b="0" i="1" smtClean="0">
                        <a:latin typeface="Cambria Math" panose="02040503050406030204" pitchFamily="18" charset="0"/>
                      </a:rPr>
                      <m:t>𝑓</m:t>
                    </m:r>
                    <m:d>
                      <m:dPr>
                        <m:ctrlPr>
                          <a:rPr lang="pt-BR" sz="1400" b="0" i="1" smtClean="0">
                            <a:latin typeface="Cambria Math" panose="02040503050406030204" pitchFamily="18" charset="0"/>
                          </a:rPr>
                        </m:ctrlPr>
                      </m:dPr>
                      <m:e>
                        <m:r>
                          <a:rPr lang="pt-BR" sz="1400" b="0" i="1" smtClean="0">
                            <a:latin typeface="Cambria Math" panose="02040503050406030204" pitchFamily="18" charset="0"/>
                          </a:rPr>
                          <m:t>𝑥</m:t>
                        </m:r>
                      </m:e>
                    </m:d>
                    <m:r>
                      <a:rPr lang="pt-BR" sz="1400" b="0" i="1" smtClean="0">
                        <a:latin typeface="Cambria Math" panose="02040503050406030204" pitchFamily="18" charset="0"/>
                      </a:rPr>
                      <m:t>=</m:t>
                    </m:r>
                    <m:r>
                      <a:rPr lang="pt-BR" sz="1400" b="0" i="1" smtClean="0">
                        <a:latin typeface="Cambria Math" panose="02040503050406030204" pitchFamily="18" charset="0"/>
                      </a:rPr>
                      <m:t>𝑎</m:t>
                    </m:r>
                    <m:r>
                      <a:rPr lang="pt-BR" sz="1400" b="0" i="1" smtClean="0">
                        <a:latin typeface="Cambria Math" panose="02040503050406030204" pitchFamily="18" charset="0"/>
                      </a:rPr>
                      <m:t>+</m:t>
                    </m:r>
                    <m:r>
                      <a:rPr lang="pt-BR" sz="1400" b="0" i="1" smtClean="0">
                        <a:latin typeface="Cambria Math" panose="02040503050406030204" pitchFamily="18" charset="0"/>
                      </a:rPr>
                      <m:t>𝑏𝑥</m:t>
                    </m:r>
                  </m:oMath>
                </a14:m>
                <a:endParaRPr lang="pt-BR" sz="1400" dirty="0"/>
              </a:p>
            </p:txBody>
          </p:sp>
        </mc:Choice>
        <mc:Fallback xmlns="">
          <p:sp>
            <p:nvSpPr>
              <p:cNvPr id="10" name="TextBox 9"/>
              <p:cNvSpPr txBox="1">
                <a:spLocks noRot="1" noChangeAspect="1" noMove="1" noResize="1" noEditPoints="1" noAdjustHandles="1" noChangeArrowheads="1" noChangeShapeType="1" noTextEdit="1"/>
              </p:cNvSpPr>
              <p:nvPr/>
            </p:nvSpPr>
            <p:spPr>
              <a:xfrm>
                <a:off x="2878640" y="4992690"/>
                <a:ext cx="1688987" cy="800219"/>
              </a:xfrm>
              <a:prstGeom prst="rect">
                <a:avLst/>
              </a:prstGeom>
              <a:blipFill>
                <a:blip r:embed="rId5"/>
                <a:stretch>
                  <a:fillRect t="-3817" b="-2290"/>
                </a:stretch>
              </a:blipFill>
            </p:spPr>
            <p:txBody>
              <a:bodyPr/>
              <a:lstStyle/>
              <a:p>
                <a:r>
                  <a:rPr lang="pt-BR">
                    <a:noFill/>
                  </a:rPr>
                  <a:t> </a:t>
                </a:r>
              </a:p>
            </p:txBody>
          </p:sp>
        </mc:Fallback>
      </mc:AlternateContent>
      <p:cxnSp>
        <p:nvCxnSpPr>
          <p:cNvPr id="11" name="Straight Arrow Connector 10"/>
          <p:cNvCxnSpPr/>
          <p:nvPr/>
        </p:nvCxnSpPr>
        <p:spPr>
          <a:xfrm>
            <a:off x="7149857" y="5740629"/>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7809286" y="5338715"/>
                <a:ext cx="2382052" cy="584775"/>
              </a:xfrm>
              <a:prstGeom prst="rect">
                <a:avLst/>
              </a:prstGeom>
              <a:noFill/>
            </p:spPr>
            <p:txBody>
              <a:bodyPr wrap="square" rtlCol="0">
                <a:spAutoFit/>
              </a:bodyPr>
              <a:lstStyle/>
              <a:p>
                <a:pPr algn="ctr"/>
                <a:r>
                  <a:rPr lang="pt-BR" dirty="0"/>
                  <a:t>Resultados/Respostas</a:t>
                </a:r>
              </a:p>
              <a:p>
                <a:pPr algn="ctr"/>
                <a:r>
                  <a:rPr lang="pt-BR" sz="1400" dirty="0"/>
                  <a:t>e.g., </a:t>
                </a:r>
                <a14:m>
                  <m:oMath xmlns:m="http://schemas.openxmlformats.org/officeDocument/2006/math">
                    <m:r>
                      <a:rPr lang="pt-BR" sz="1400" i="1">
                        <a:latin typeface="Cambria Math" panose="02040503050406030204" pitchFamily="18" charset="0"/>
                      </a:rPr>
                      <m:t>𝑦</m:t>
                    </m:r>
                    <m:r>
                      <a:rPr lang="pt-BR" sz="1400" i="1">
                        <a:latin typeface="Cambria Math" panose="02040503050406030204" pitchFamily="18" charset="0"/>
                      </a:rPr>
                      <m:t>=</m:t>
                    </m:r>
                    <m:r>
                      <a:rPr lang="pt-BR" sz="1400" i="1">
                        <a:latin typeface="Cambria Math" panose="02040503050406030204" pitchFamily="18" charset="0"/>
                      </a:rPr>
                      <m:t>𝑓</m:t>
                    </m:r>
                    <m:d>
                      <m:dPr>
                        <m:ctrlPr>
                          <a:rPr lang="pt-BR" sz="1400" i="1">
                            <a:latin typeface="Cambria Math" panose="02040503050406030204" pitchFamily="18" charset="0"/>
                          </a:rPr>
                        </m:ctrlPr>
                      </m:dPr>
                      <m:e>
                        <m:r>
                          <a:rPr lang="pt-BR" sz="1400" i="1">
                            <a:latin typeface="Cambria Math" panose="02040503050406030204" pitchFamily="18" charset="0"/>
                          </a:rPr>
                          <m:t>𝑥</m:t>
                        </m:r>
                      </m:e>
                    </m:d>
                  </m:oMath>
                </a14:m>
                <a:endParaRPr lang="pt-BR" dirty="0"/>
              </a:p>
            </p:txBody>
          </p:sp>
        </mc:Choice>
        <mc:Fallback xmlns="">
          <p:sp>
            <p:nvSpPr>
              <p:cNvPr id="12" name="TextBox 11"/>
              <p:cNvSpPr txBox="1">
                <a:spLocks noRot="1" noChangeAspect="1" noMove="1" noResize="1" noEditPoints="1" noAdjustHandles="1" noChangeArrowheads="1" noChangeShapeType="1" noTextEdit="1"/>
              </p:cNvSpPr>
              <p:nvPr/>
            </p:nvSpPr>
            <p:spPr>
              <a:xfrm>
                <a:off x="7809286" y="5338715"/>
                <a:ext cx="2382052" cy="584775"/>
              </a:xfrm>
              <a:prstGeom prst="rect">
                <a:avLst/>
              </a:prstGeom>
              <a:blipFill>
                <a:blip r:embed="rId6"/>
                <a:stretch>
                  <a:fillRect t="-6250" b="-9375"/>
                </a:stretch>
              </a:blipFill>
            </p:spPr>
            <p:txBody>
              <a:bodyPr/>
              <a:lstStyle/>
              <a:p>
                <a:r>
                  <a:rPr lang="pt-BR">
                    <a:noFill/>
                  </a:rPr>
                  <a:t> </a:t>
                </a:r>
              </a:p>
            </p:txBody>
          </p:sp>
        </mc:Fallback>
      </mc:AlternateContent>
      <p:sp>
        <p:nvSpPr>
          <p:cNvPr id="23" name="CaixaDeTexto 22">
            <a:extLst>
              <a:ext uri="{FF2B5EF4-FFF2-40B4-BE49-F238E27FC236}">
                <a16:creationId xmlns:a16="http://schemas.microsoft.com/office/drawing/2014/main" id="{4283CC45-89C6-37AA-F789-537972480F35}"/>
              </a:ext>
            </a:extLst>
          </p:cNvPr>
          <p:cNvSpPr txBox="1"/>
          <p:nvPr/>
        </p:nvSpPr>
        <p:spPr>
          <a:xfrm>
            <a:off x="1531486" y="4910925"/>
            <a:ext cx="1202439" cy="1169551"/>
          </a:xfrm>
          <a:prstGeom prst="rect">
            <a:avLst/>
          </a:prstGeom>
          <a:noFill/>
        </p:spPr>
        <p:txBody>
          <a:bodyPr wrap="square">
            <a:spAutoFit/>
          </a:bodyPr>
          <a:lstStyle/>
          <a:p>
            <a:r>
              <a:rPr lang="pt-BR" sz="1400" b="1" dirty="0" err="1">
                <a:solidFill>
                  <a:srgbClr val="0000FF"/>
                </a:solidFill>
                <a:highlight>
                  <a:srgbClr val="FFFFFF"/>
                </a:highlight>
              </a:rPr>
              <a:t>def</a:t>
            </a:r>
            <a:r>
              <a:rPr lang="pt-BR" sz="1400" b="0" dirty="0">
                <a:solidFill>
                  <a:srgbClr val="000000"/>
                </a:solidFill>
                <a:highlight>
                  <a:srgbClr val="FFFFFF"/>
                </a:highlight>
              </a:rPr>
              <a:t> </a:t>
            </a:r>
            <a:r>
              <a:rPr lang="pt-BR" sz="1400" b="0" dirty="0">
                <a:solidFill>
                  <a:srgbClr val="FF00FF"/>
                </a:solidFill>
                <a:highlight>
                  <a:srgbClr val="FFFFFF"/>
                </a:highlight>
              </a:rPr>
              <a:t>f</a:t>
            </a:r>
            <a:r>
              <a:rPr lang="pt-BR" sz="1400" b="1" dirty="0">
                <a:solidFill>
                  <a:srgbClr val="000080"/>
                </a:solidFill>
                <a:highlight>
                  <a:srgbClr val="FFFFFF"/>
                </a:highlight>
              </a:rPr>
              <a:t>(</a:t>
            </a:r>
            <a:r>
              <a:rPr lang="pt-BR" sz="1400" b="0" dirty="0">
                <a:solidFill>
                  <a:srgbClr val="000000"/>
                </a:solidFill>
                <a:highlight>
                  <a:srgbClr val="FFFFFF"/>
                </a:highlight>
              </a:rPr>
              <a:t>x</a:t>
            </a:r>
            <a:r>
              <a:rPr lang="pt-BR" sz="1400" b="1" dirty="0">
                <a:solidFill>
                  <a:srgbClr val="000080"/>
                </a:solidFill>
                <a:highlight>
                  <a:srgbClr val="FFFFFF"/>
                </a:highlight>
              </a:rPr>
              <a:t>):</a:t>
            </a:r>
            <a:endParaRPr lang="pt-BR" sz="1400" b="0" dirty="0">
              <a:solidFill>
                <a:srgbClr val="000000"/>
              </a:solidFill>
              <a:highlight>
                <a:srgbClr val="FFFFFF"/>
              </a:highlight>
            </a:endParaRPr>
          </a:p>
          <a:p>
            <a:r>
              <a:rPr lang="pt-BR" sz="1400" b="0" dirty="0">
                <a:solidFill>
                  <a:srgbClr val="000000"/>
                </a:solidFill>
                <a:highlight>
                  <a:srgbClr val="FFFFFF"/>
                </a:highlight>
              </a:rPr>
              <a:t>    a </a:t>
            </a:r>
            <a:r>
              <a:rPr lang="pt-BR" sz="1400" b="1" dirty="0">
                <a:solidFill>
                  <a:srgbClr val="000080"/>
                </a:solidFill>
                <a:highlight>
                  <a:srgbClr val="FFFFFF"/>
                </a:highlight>
              </a:rPr>
              <a:t>=</a:t>
            </a:r>
            <a:r>
              <a:rPr lang="pt-BR" sz="1400" b="0" dirty="0">
                <a:solidFill>
                  <a:srgbClr val="000000"/>
                </a:solidFill>
                <a:highlight>
                  <a:srgbClr val="FFFFFF"/>
                </a:highlight>
              </a:rPr>
              <a:t> </a:t>
            </a:r>
            <a:r>
              <a:rPr lang="pt-BR" sz="1400" b="0" dirty="0">
                <a:solidFill>
                  <a:srgbClr val="FF0000"/>
                </a:solidFill>
                <a:highlight>
                  <a:srgbClr val="FFFFFF"/>
                </a:highlight>
              </a:rPr>
              <a:t>1.0</a:t>
            </a:r>
            <a:endParaRPr lang="pt-BR" sz="1400" b="0" dirty="0">
              <a:solidFill>
                <a:srgbClr val="000000"/>
              </a:solidFill>
              <a:highlight>
                <a:srgbClr val="FFFFFF"/>
              </a:highlight>
            </a:endParaRPr>
          </a:p>
          <a:p>
            <a:r>
              <a:rPr lang="pt-BR" sz="1400" b="0" dirty="0">
                <a:solidFill>
                  <a:srgbClr val="000000"/>
                </a:solidFill>
                <a:highlight>
                  <a:srgbClr val="FFFFFF"/>
                </a:highlight>
              </a:rPr>
              <a:t>    b </a:t>
            </a:r>
            <a:r>
              <a:rPr lang="pt-BR" sz="1400" b="1" dirty="0">
                <a:solidFill>
                  <a:srgbClr val="000080"/>
                </a:solidFill>
                <a:highlight>
                  <a:srgbClr val="FFFFFF"/>
                </a:highlight>
              </a:rPr>
              <a:t>=</a:t>
            </a:r>
            <a:r>
              <a:rPr lang="pt-BR" sz="1400" b="0" dirty="0">
                <a:solidFill>
                  <a:srgbClr val="000000"/>
                </a:solidFill>
                <a:highlight>
                  <a:srgbClr val="FFFFFF"/>
                </a:highlight>
              </a:rPr>
              <a:t> </a:t>
            </a:r>
            <a:r>
              <a:rPr lang="pt-BR" sz="1400" b="0" dirty="0">
                <a:solidFill>
                  <a:srgbClr val="FF0000"/>
                </a:solidFill>
                <a:highlight>
                  <a:srgbClr val="FFFFFF"/>
                </a:highlight>
              </a:rPr>
              <a:t>2.0</a:t>
            </a:r>
            <a:endParaRPr lang="pt-BR" sz="1400" b="0" dirty="0">
              <a:solidFill>
                <a:srgbClr val="000000"/>
              </a:solidFill>
              <a:highlight>
                <a:srgbClr val="FFFFFF"/>
              </a:highlight>
            </a:endParaRPr>
          </a:p>
          <a:p>
            <a:r>
              <a:rPr lang="pt-BR" sz="1400" b="0" dirty="0">
                <a:solidFill>
                  <a:srgbClr val="000000"/>
                </a:solidFill>
                <a:highlight>
                  <a:srgbClr val="FFFFFF"/>
                </a:highlight>
              </a:rPr>
              <a:t>    y </a:t>
            </a:r>
            <a:r>
              <a:rPr lang="pt-BR" sz="1400" b="1" dirty="0">
                <a:solidFill>
                  <a:srgbClr val="000080"/>
                </a:solidFill>
                <a:highlight>
                  <a:srgbClr val="FFFFFF"/>
                </a:highlight>
              </a:rPr>
              <a:t>=</a:t>
            </a:r>
            <a:r>
              <a:rPr lang="pt-BR" sz="1400" b="0" dirty="0">
                <a:solidFill>
                  <a:srgbClr val="000000"/>
                </a:solidFill>
                <a:highlight>
                  <a:srgbClr val="FFFFFF"/>
                </a:highlight>
              </a:rPr>
              <a:t> a </a:t>
            </a:r>
            <a:r>
              <a:rPr lang="pt-BR" sz="1400" b="1" dirty="0">
                <a:solidFill>
                  <a:srgbClr val="000080"/>
                </a:solidFill>
                <a:highlight>
                  <a:srgbClr val="FFFFFF"/>
                </a:highlight>
              </a:rPr>
              <a:t>+</a:t>
            </a:r>
            <a:r>
              <a:rPr lang="pt-BR" sz="1400" b="0" dirty="0">
                <a:solidFill>
                  <a:srgbClr val="000000"/>
                </a:solidFill>
                <a:highlight>
                  <a:srgbClr val="FFFFFF"/>
                </a:highlight>
              </a:rPr>
              <a:t> b </a:t>
            </a:r>
            <a:r>
              <a:rPr lang="pt-BR" sz="1400" b="1" dirty="0">
                <a:solidFill>
                  <a:srgbClr val="000080"/>
                </a:solidFill>
                <a:highlight>
                  <a:srgbClr val="FFFFFF"/>
                </a:highlight>
              </a:rPr>
              <a:t>*</a:t>
            </a:r>
            <a:r>
              <a:rPr lang="pt-BR" sz="1400" b="0" dirty="0">
                <a:solidFill>
                  <a:srgbClr val="000000"/>
                </a:solidFill>
                <a:highlight>
                  <a:srgbClr val="FFFFFF"/>
                </a:highlight>
              </a:rPr>
              <a:t> x</a:t>
            </a:r>
          </a:p>
          <a:p>
            <a:r>
              <a:rPr lang="pt-BR" sz="1400" b="0" dirty="0">
                <a:solidFill>
                  <a:srgbClr val="000000"/>
                </a:solidFill>
                <a:highlight>
                  <a:srgbClr val="FFFFFF"/>
                </a:highlight>
              </a:rPr>
              <a:t>    </a:t>
            </a:r>
            <a:r>
              <a:rPr lang="pt-BR" sz="1400" b="1" dirty="0" err="1">
                <a:solidFill>
                  <a:srgbClr val="0000FF"/>
                </a:solidFill>
                <a:highlight>
                  <a:srgbClr val="FFFFFF"/>
                </a:highlight>
              </a:rPr>
              <a:t>return</a:t>
            </a:r>
            <a:r>
              <a:rPr lang="pt-BR" sz="1400" b="0" dirty="0">
                <a:solidFill>
                  <a:srgbClr val="000000"/>
                </a:solidFill>
                <a:highlight>
                  <a:srgbClr val="FFFFFF"/>
                </a:highlight>
              </a:rPr>
              <a:t> y</a:t>
            </a:r>
            <a:endParaRPr lang="pt-BR" sz="1400" dirty="0"/>
          </a:p>
        </p:txBody>
      </p:sp>
      <p:sp>
        <p:nvSpPr>
          <p:cNvPr id="25" name="Chave Direita 24">
            <a:extLst>
              <a:ext uri="{FF2B5EF4-FFF2-40B4-BE49-F238E27FC236}">
                <a16:creationId xmlns:a16="http://schemas.microsoft.com/office/drawing/2014/main" id="{A52A4596-BA06-612E-0178-3EEA46F1C240}"/>
              </a:ext>
            </a:extLst>
          </p:cNvPr>
          <p:cNvSpPr/>
          <p:nvPr/>
        </p:nvSpPr>
        <p:spPr>
          <a:xfrm>
            <a:off x="2669644" y="4910925"/>
            <a:ext cx="236893" cy="11695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628876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
            <a:extLst>
              <a:ext uri="{FF2B5EF4-FFF2-40B4-BE49-F238E27FC236}">
                <a16:creationId xmlns:a16="http://schemas.microsoft.com/office/drawing/2014/main" id="{20B49BBC-21C6-6EB6-B7DD-2A4E71AD1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6" r="1714"/>
          <a:stretch/>
        </p:blipFill>
        <p:spPr bwMode="auto">
          <a:xfrm>
            <a:off x="772828" y="4684925"/>
            <a:ext cx="2979222" cy="20956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pt-BR" dirty="0"/>
              <a:t>O paradigma do aprendizado de máquina</a:t>
            </a:r>
          </a:p>
        </p:txBody>
      </p:sp>
      <p:sp>
        <p:nvSpPr>
          <p:cNvPr id="3" name="Content Placeholder 2"/>
          <p:cNvSpPr>
            <a:spLocks noGrp="1"/>
          </p:cNvSpPr>
          <p:nvPr>
            <p:ph idx="1"/>
          </p:nvPr>
        </p:nvSpPr>
        <p:spPr>
          <a:xfrm>
            <a:off x="838199" y="1825625"/>
            <a:ext cx="11353801" cy="2692338"/>
          </a:xfrm>
        </p:spPr>
        <p:txBody>
          <a:bodyPr>
            <a:normAutofit/>
          </a:bodyPr>
          <a:lstStyle/>
          <a:p>
            <a:r>
              <a:rPr lang="pt-BR" dirty="0"/>
              <a:t>“</a:t>
            </a:r>
            <a:r>
              <a:rPr lang="pt-BR" dirty="0">
                <a:solidFill>
                  <a:srgbClr val="00B0F0"/>
                </a:solidFill>
              </a:rPr>
              <a:t>... </a:t>
            </a:r>
            <a:r>
              <a:rPr lang="pt-BR" b="1" i="1" dirty="0">
                <a:solidFill>
                  <a:srgbClr val="00B0F0"/>
                </a:solidFill>
              </a:rPr>
              <a:t>aprender sem serem explicitamente programados</a:t>
            </a:r>
            <a:r>
              <a:rPr lang="pt-BR" dirty="0">
                <a:solidFill>
                  <a:srgbClr val="00B0F0"/>
                </a:solidFill>
              </a:rPr>
              <a:t>.</a:t>
            </a:r>
            <a:r>
              <a:rPr lang="pt-BR" dirty="0"/>
              <a:t>”</a:t>
            </a:r>
          </a:p>
          <a:p>
            <a:r>
              <a:rPr lang="pt-BR" dirty="0"/>
              <a:t>Esse trecho pode ser entendido se reorganizarmos a figura anterior.</a:t>
            </a:r>
          </a:p>
          <a:p>
            <a:r>
              <a:rPr lang="pt-BR" dirty="0"/>
              <a:t>No ML, nós fornecemos as </a:t>
            </a:r>
            <a:r>
              <a:rPr lang="pt-BR" b="1" i="1" dirty="0">
                <a:solidFill>
                  <a:srgbClr val="00B050"/>
                </a:solidFill>
              </a:rPr>
              <a:t>entradas</a:t>
            </a:r>
            <a:r>
              <a:rPr lang="pt-BR" dirty="0"/>
              <a:t> e as </a:t>
            </a:r>
            <a:r>
              <a:rPr lang="pt-BR" b="1" i="1" dirty="0">
                <a:solidFill>
                  <a:srgbClr val="00B050"/>
                </a:solidFill>
              </a:rPr>
              <a:t>respostas esperadas</a:t>
            </a:r>
            <a:r>
              <a:rPr lang="pt-BR" dirty="0"/>
              <a:t> ao computador e deixamos que ele </a:t>
            </a:r>
            <a:r>
              <a:rPr lang="pt-BR" b="1" i="1" dirty="0">
                <a:solidFill>
                  <a:srgbClr val="00B050"/>
                </a:solidFill>
              </a:rPr>
              <a:t>aprenda</a:t>
            </a:r>
            <a:r>
              <a:rPr lang="pt-BR" dirty="0"/>
              <a:t>, através de </a:t>
            </a:r>
            <a:r>
              <a:rPr lang="pt-BR" b="1" i="1" dirty="0">
                <a:solidFill>
                  <a:srgbClr val="7030A0"/>
                </a:solidFill>
              </a:rPr>
              <a:t>treinamento</a:t>
            </a:r>
            <a:r>
              <a:rPr lang="pt-BR" dirty="0"/>
              <a:t>, um </a:t>
            </a:r>
            <a:r>
              <a:rPr lang="pt-BR" b="1" i="1" dirty="0">
                <a:solidFill>
                  <a:srgbClr val="00B050"/>
                </a:solidFill>
              </a:rPr>
              <a:t>modelo</a:t>
            </a:r>
            <a:r>
              <a:rPr lang="pt-BR" dirty="0"/>
              <a:t> (i.e., as regras/função) que </a:t>
            </a:r>
            <a:r>
              <a:rPr lang="pt-BR" b="1" i="1" dirty="0">
                <a:solidFill>
                  <a:srgbClr val="7030A0"/>
                </a:solidFill>
              </a:rPr>
              <a:t>mapeie</a:t>
            </a:r>
            <a:r>
              <a:rPr lang="pt-BR" dirty="0"/>
              <a:t> as entradas nas respostas esperadas.</a:t>
            </a:r>
          </a:p>
          <a:p>
            <a:pPr lvl="1"/>
            <a:endParaRPr lang="pt-BR" dirty="0"/>
          </a:p>
          <a:p>
            <a:endParaRPr lang="pt-BR" dirty="0"/>
          </a:p>
        </p:txBody>
      </p:sp>
      <p:sp>
        <p:nvSpPr>
          <p:cNvPr id="13" name="Rectangle 12"/>
          <p:cNvSpPr/>
          <p:nvPr/>
        </p:nvSpPr>
        <p:spPr>
          <a:xfrm>
            <a:off x="5788138" y="5220261"/>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a:t>
            </a:r>
          </a:p>
        </p:txBody>
      </p:sp>
      <p:sp>
        <p:nvSpPr>
          <p:cNvPr id="14" name="TextBox 13"/>
          <p:cNvSpPr txBox="1"/>
          <p:nvPr/>
        </p:nvSpPr>
        <p:spPr>
          <a:xfrm>
            <a:off x="4960139" y="4688675"/>
            <a:ext cx="3524518" cy="461665"/>
          </a:xfrm>
          <a:prstGeom prst="rect">
            <a:avLst/>
          </a:prstGeom>
          <a:noFill/>
        </p:spPr>
        <p:txBody>
          <a:bodyPr wrap="square" rtlCol="0">
            <a:spAutoFit/>
          </a:bodyPr>
          <a:lstStyle/>
          <a:p>
            <a:pPr algn="ctr"/>
            <a:r>
              <a:rPr lang="pt-BR" sz="2400" b="1" dirty="0"/>
              <a:t>Aprendizado de Máquina</a:t>
            </a:r>
          </a:p>
        </p:txBody>
      </p:sp>
      <p:cxnSp>
        <p:nvCxnSpPr>
          <p:cNvPr id="15" name="Straight Arrow Connector 14"/>
          <p:cNvCxnSpPr>
            <a:cxnSpLocks/>
          </p:cNvCxnSpPr>
          <p:nvPr/>
        </p:nvCxnSpPr>
        <p:spPr>
          <a:xfrm>
            <a:off x="4960138" y="5399876"/>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4960138" y="5895176"/>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TextBox 16"/>
              <p:cNvSpPr txBox="1"/>
              <p:nvPr/>
            </p:nvSpPr>
            <p:spPr>
              <a:xfrm>
                <a:off x="3920552" y="5100986"/>
                <a:ext cx="1039586" cy="584775"/>
              </a:xfrm>
              <a:prstGeom prst="rect">
                <a:avLst/>
              </a:prstGeom>
              <a:noFill/>
            </p:spPr>
            <p:txBody>
              <a:bodyPr wrap="square" rtlCol="0">
                <a:spAutoFit/>
              </a:bodyPr>
              <a:lstStyle/>
              <a:p>
                <a:pPr algn="ctr"/>
                <a:r>
                  <a:rPr lang="pt-BR" dirty="0"/>
                  <a:t>Entradas</a:t>
                </a:r>
              </a:p>
              <a:p>
                <a:pPr algn="ctr"/>
                <a:r>
                  <a:rPr lang="pt-BR" sz="1400" dirty="0"/>
                  <a:t>e.g., </a:t>
                </a:r>
                <a14:m>
                  <m:oMath xmlns:m="http://schemas.openxmlformats.org/officeDocument/2006/math">
                    <m:r>
                      <a:rPr lang="pt-BR" sz="1400" i="1">
                        <a:latin typeface="Cambria Math" panose="02040503050406030204" pitchFamily="18" charset="0"/>
                      </a:rPr>
                      <m:t>𝑥</m:t>
                    </m:r>
                  </m:oMath>
                </a14:m>
                <a:endParaRPr lang="pt-BR" sz="1400" dirty="0"/>
              </a:p>
            </p:txBody>
          </p:sp>
        </mc:Choice>
        <mc:Fallback>
          <p:sp>
            <p:nvSpPr>
              <p:cNvPr id="17" name="TextBox 16"/>
              <p:cNvSpPr txBox="1">
                <a:spLocks noRot="1" noChangeAspect="1" noMove="1" noResize="1" noEditPoints="1" noAdjustHandles="1" noChangeArrowheads="1" noChangeShapeType="1" noTextEdit="1"/>
              </p:cNvSpPr>
              <p:nvPr/>
            </p:nvSpPr>
            <p:spPr>
              <a:xfrm>
                <a:off x="3920552" y="5100986"/>
                <a:ext cx="1039586" cy="584775"/>
              </a:xfrm>
              <a:prstGeom prst="rect">
                <a:avLst/>
              </a:prstGeom>
              <a:blipFill>
                <a:blip r:embed="rId4"/>
                <a:stretch>
                  <a:fillRect l="-3509" t="-6250" r="-2924" b="-9375"/>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3649847" y="5601896"/>
                <a:ext cx="1512176" cy="861774"/>
              </a:xfrm>
              <a:prstGeom prst="rect">
                <a:avLst/>
              </a:prstGeom>
              <a:noFill/>
            </p:spPr>
            <p:txBody>
              <a:bodyPr wrap="square" rtlCol="0">
                <a:spAutoFit/>
              </a:bodyPr>
              <a:lstStyle/>
              <a:p>
                <a:pPr algn="ctr"/>
                <a:r>
                  <a:rPr lang="pt-BR" dirty="0"/>
                  <a:t>Resultados esperados</a:t>
                </a:r>
              </a:p>
              <a:p>
                <a:pPr algn="ctr"/>
                <a:r>
                  <a:rPr lang="pt-BR" sz="1400" dirty="0"/>
                  <a:t>e.g., </a:t>
                </a:r>
                <a14:m>
                  <m:oMath xmlns:m="http://schemas.openxmlformats.org/officeDocument/2006/math">
                    <m:r>
                      <a:rPr lang="pt-BR" sz="1400" i="1">
                        <a:latin typeface="Cambria Math" panose="02040503050406030204" pitchFamily="18" charset="0"/>
                      </a:rPr>
                      <m:t>𝑦</m:t>
                    </m:r>
                    <m:r>
                      <a:rPr lang="pt-BR" sz="1400" i="1">
                        <a:latin typeface="Cambria Math" panose="02040503050406030204" pitchFamily="18" charset="0"/>
                      </a:rPr>
                      <m:t>=</m:t>
                    </m:r>
                    <m:r>
                      <a:rPr lang="pt-BR" sz="1400" i="1">
                        <a:latin typeface="Cambria Math" panose="02040503050406030204" pitchFamily="18" charset="0"/>
                      </a:rPr>
                      <m:t>𝑓</m:t>
                    </m:r>
                    <m:d>
                      <m:dPr>
                        <m:ctrlPr>
                          <a:rPr lang="pt-BR" sz="1400" i="1">
                            <a:latin typeface="Cambria Math" panose="02040503050406030204" pitchFamily="18" charset="0"/>
                          </a:rPr>
                        </m:ctrlPr>
                      </m:dPr>
                      <m:e>
                        <m:r>
                          <a:rPr lang="pt-BR" sz="1400" i="1">
                            <a:latin typeface="Cambria Math" panose="02040503050406030204" pitchFamily="18" charset="0"/>
                          </a:rPr>
                          <m:t>𝑥</m:t>
                        </m:r>
                      </m:e>
                    </m:d>
                  </m:oMath>
                </a14:m>
                <a:endParaRPr lang="pt-BR" dirty="0"/>
              </a:p>
            </p:txBody>
          </p:sp>
        </mc:Choice>
        <mc:Fallback>
          <p:sp>
            <p:nvSpPr>
              <p:cNvPr id="18" name="TextBox 17"/>
              <p:cNvSpPr txBox="1">
                <a:spLocks noRot="1" noChangeAspect="1" noMove="1" noResize="1" noEditPoints="1" noAdjustHandles="1" noChangeArrowheads="1" noChangeShapeType="1" noTextEdit="1"/>
              </p:cNvSpPr>
              <p:nvPr/>
            </p:nvSpPr>
            <p:spPr>
              <a:xfrm>
                <a:off x="3649847" y="5601896"/>
                <a:ext cx="1512176" cy="861774"/>
              </a:xfrm>
              <a:prstGeom prst="rect">
                <a:avLst/>
              </a:prstGeom>
              <a:blipFill>
                <a:blip r:embed="rId5"/>
                <a:stretch>
                  <a:fillRect t="-4255" b="-6383"/>
                </a:stretch>
              </a:blipFill>
            </p:spPr>
            <p:txBody>
              <a:bodyPr/>
              <a:lstStyle/>
              <a:p>
                <a:r>
                  <a:rPr lang="pt-BR">
                    <a:noFill/>
                  </a:rPr>
                  <a:t> </a:t>
                </a:r>
              </a:p>
            </p:txBody>
          </p:sp>
        </mc:Fallback>
      </mc:AlternateContent>
      <p:cxnSp>
        <p:nvCxnSpPr>
          <p:cNvPr id="19" name="Straight Arrow Connector 18"/>
          <p:cNvCxnSpPr>
            <a:cxnSpLocks/>
          </p:cNvCxnSpPr>
          <p:nvPr/>
        </p:nvCxnSpPr>
        <p:spPr>
          <a:xfrm>
            <a:off x="7698581" y="5644804"/>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0" name="TextBox 19"/>
              <p:cNvSpPr txBox="1"/>
              <p:nvPr/>
            </p:nvSpPr>
            <p:spPr>
              <a:xfrm>
                <a:off x="8514180" y="5197059"/>
                <a:ext cx="2712410" cy="861774"/>
              </a:xfrm>
              <a:prstGeom prst="rect">
                <a:avLst/>
              </a:prstGeom>
              <a:noFill/>
            </p:spPr>
            <p:txBody>
              <a:bodyPr wrap="square" rtlCol="0">
                <a:spAutoFit/>
              </a:bodyPr>
              <a:lstStyle/>
              <a:p>
                <a:pPr algn="ctr"/>
                <a:r>
                  <a:rPr lang="pt-BR" dirty="0"/>
                  <a:t>Programa = </a:t>
                </a:r>
                <a:r>
                  <a:rPr lang="pt-BR" b="1" dirty="0">
                    <a:solidFill>
                      <a:srgbClr val="FF0000"/>
                    </a:solidFill>
                  </a:rPr>
                  <a:t>Modelo de Aprendizado de Máquina</a:t>
                </a:r>
              </a:p>
              <a:p>
                <a:pPr algn="ctr"/>
                <a:r>
                  <a:rPr lang="pt-BR" sz="1400" dirty="0" err="1"/>
                  <a:t>e.</a:t>
                </a:r>
                <a:r>
                  <a:rPr lang="pt-BR" sz="1400" dirty="0"/>
                  <a:t>g., </a:t>
                </a:r>
                <a14:m>
                  <m:oMath xmlns:m="http://schemas.openxmlformats.org/officeDocument/2006/math">
                    <m:r>
                      <a:rPr lang="pt-BR" sz="1400" i="1">
                        <a:latin typeface="Cambria Math" panose="02040503050406030204" pitchFamily="18" charset="0"/>
                      </a:rPr>
                      <m:t>𝑦</m:t>
                    </m:r>
                    <m:r>
                      <a:rPr lang="pt-BR" sz="1400" i="1">
                        <a:latin typeface="Cambria Math" panose="02040503050406030204" pitchFamily="18" charset="0"/>
                      </a:rPr>
                      <m:t>=</m:t>
                    </m:r>
                    <m:r>
                      <a:rPr lang="pt-BR" sz="1400" i="1">
                        <a:latin typeface="Cambria Math" panose="02040503050406030204" pitchFamily="18" charset="0"/>
                      </a:rPr>
                      <m:t>𝑓</m:t>
                    </m:r>
                    <m:d>
                      <m:dPr>
                        <m:ctrlPr>
                          <a:rPr lang="pt-BR" sz="1400" i="1">
                            <a:latin typeface="Cambria Math" panose="02040503050406030204" pitchFamily="18" charset="0"/>
                          </a:rPr>
                        </m:ctrlPr>
                      </m:dPr>
                      <m:e>
                        <m:r>
                          <a:rPr lang="pt-BR" sz="1400" i="1">
                            <a:latin typeface="Cambria Math" panose="02040503050406030204" pitchFamily="18" charset="0"/>
                          </a:rPr>
                          <m:t>𝑥</m:t>
                        </m:r>
                      </m:e>
                    </m:d>
                    <m:r>
                      <a:rPr lang="pt-BR" sz="1400" i="1">
                        <a:latin typeface="Cambria Math" panose="02040503050406030204" pitchFamily="18" charset="0"/>
                      </a:rPr>
                      <m:t>=</m:t>
                    </m:r>
                    <m:r>
                      <a:rPr lang="pt-BR" sz="1400" i="1">
                        <a:latin typeface="Cambria Math" panose="02040503050406030204" pitchFamily="18" charset="0"/>
                      </a:rPr>
                      <m:t>𝑎</m:t>
                    </m:r>
                    <m:r>
                      <a:rPr lang="pt-BR" sz="1400" i="1">
                        <a:latin typeface="Cambria Math" panose="02040503050406030204" pitchFamily="18" charset="0"/>
                      </a:rPr>
                      <m:t>+</m:t>
                    </m:r>
                    <m:r>
                      <a:rPr lang="pt-BR" sz="1400" i="1">
                        <a:latin typeface="Cambria Math" panose="02040503050406030204" pitchFamily="18" charset="0"/>
                      </a:rPr>
                      <m:t>𝑏𝑥</m:t>
                    </m:r>
                  </m:oMath>
                </a14:m>
                <a:endParaRPr lang="pt-BR" sz="1400" dirty="0"/>
              </a:p>
            </p:txBody>
          </p:sp>
        </mc:Choice>
        <mc:Fallback>
          <p:sp>
            <p:nvSpPr>
              <p:cNvPr id="20" name="TextBox 19"/>
              <p:cNvSpPr txBox="1">
                <a:spLocks noRot="1" noChangeAspect="1" noMove="1" noResize="1" noEditPoints="1" noAdjustHandles="1" noChangeArrowheads="1" noChangeShapeType="1" noTextEdit="1"/>
              </p:cNvSpPr>
              <p:nvPr/>
            </p:nvSpPr>
            <p:spPr>
              <a:xfrm>
                <a:off x="8514180" y="5197059"/>
                <a:ext cx="2712410" cy="861774"/>
              </a:xfrm>
              <a:prstGeom prst="rect">
                <a:avLst/>
              </a:prstGeom>
              <a:blipFill>
                <a:blip r:embed="rId6"/>
                <a:stretch>
                  <a:fillRect t="-4255" b="-6383"/>
                </a:stretch>
              </a:blipFill>
            </p:spPr>
            <p:txBody>
              <a:bodyPr/>
              <a:lstStyle/>
              <a:p>
                <a:r>
                  <a:rPr lang="pt-BR">
                    <a:noFill/>
                  </a:rPr>
                  <a:t> </a:t>
                </a:r>
              </a:p>
            </p:txBody>
          </p:sp>
        </mc:Fallback>
      </mc:AlternateContent>
      <p:sp>
        <p:nvSpPr>
          <p:cNvPr id="6" name="Retângulo 5"/>
          <p:cNvSpPr/>
          <p:nvPr/>
        </p:nvSpPr>
        <p:spPr>
          <a:xfrm>
            <a:off x="5250429" y="6411216"/>
            <a:ext cx="5720990" cy="369332"/>
          </a:xfrm>
          <a:prstGeom prst="rect">
            <a:avLst/>
          </a:prstGeom>
        </p:spPr>
        <p:txBody>
          <a:bodyPr wrap="square">
            <a:spAutoFit/>
          </a:bodyPr>
          <a:lstStyle/>
          <a:p>
            <a:r>
              <a:rPr lang="pt-BR" b="1" i="1" dirty="0"/>
              <a:t>Conjunto de dados de treinamento = experiências prévias.</a:t>
            </a:r>
            <a:endParaRPr lang="en-US" b="1" i="1" dirty="0"/>
          </a:p>
        </p:txBody>
      </p:sp>
      <p:cxnSp>
        <p:nvCxnSpPr>
          <p:cNvPr id="24" name="Conector de seta reta 23"/>
          <p:cNvCxnSpPr>
            <a:stCxn id="21" idx="4"/>
            <a:endCxn id="6" idx="1"/>
          </p:cNvCxnSpPr>
          <p:nvPr/>
        </p:nvCxnSpPr>
        <p:spPr>
          <a:xfrm>
            <a:off x="4416473" y="6498084"/>
            <a:ext cx="833956" cy="9779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o explicativo retangular 21"/>
          <p:cNvSpPr/>
          <p:nvPr/>
        </p:nvSpPr>
        <p:spPr>
          <a:xfrm>
            <a:off x="9185121" y="4563146"/>
            <a:ext cx="1169418" cy="422029"/>
          </a:xfrm>
          <a:prstGeom prst="wedgeRectCallout">
            <a:avLst>
              <a:gd name="adj1" fmla="val -44165"/>
              <a:gd name="adj2" fmla="val 11170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Resultado do treinamento</a:t>
            </a:r>
            <a:endParaRPr lang="en-US" sz="1400" dirty="0">
              <a:solidFill>
                <a:schemeClr val="tx1"/>
              </a:solidFill>
            </a:endParaRPr>
          </a:p>
        </p:txBody>
      </p:sp>
      <p:sp>
        <p:nvSpPr>
          <p:cNvPr id="21" name="Elipse 20"/>
          <p:cNvSpPr/>
          <p:nvPr/>
        </p:nvSpPr>
        <p:spPr>
          <a:xfrm>
            <a:off x="3385440" y="5062806"/>
            <a:ext cx="2062066" cy="143527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ixaDeTexto 3">
            <a:extLst>
              <a:ext uri="{FF2B5EF4-FFF2-40B4-BE49-F238E27FC236}">
                <a16:creationId xmlns:a16="http://schemas.microsoft.com/office/drawing/2014/main" id="{32829C2B-3F8E-223E-093B-21E207FDB7B7}"/>
              </a:ext>
            </a:extLst>
          </p:cNvPr>
          <p:cNvSpPr txBox="1"/>
          <p:nvPr/>
        </p:nvSpPr>
        <p:spPr>
          <a:xfrm>
            <a:off x="1090670" y="4415314"/>
            <a:ext cx="2559177" cy="369332"/>
          </a:xfrm>
          <a:prstGeom prst="rect">
            <a:avLst/>
          </a:prstGeom>
          <a:noFill/>
        </p:spPr>
        <p:txBody>
          <a:bodyPr wrap="square" rtlCol="0">
            <a:spAutoFit/>
          </a:bodyPr>
          <a:lstStyle/>
          <a:p>
            <a:pPr algn="ctr"/>
            <a:r>
              <a:rPr lang="pt-BR" b="1" i="1" dirty="0" err="1">
                <a:solidFill>
                  <a:srgbClr val="7030A0"/>
                </a:solidFill>
              </a:rPr>
              <a:t>Paleteria</a:t>
            </a:r>
            <a:r>
              <a:rPr lang="pt-BR" b="1" i="1" dirty="0">
                <a:solidFill>
                  <a:srgbClr val="7030A0"/>
                </a:solidFill>
              </a:rPr>
              <a:t> Mexicana</a:t>
            </a:r>
          </a:p>
        </p:txBody>
      </p:sp>
    </p:spTree>
    <p:extLst>
      <p:ext uri="{BB962C8B-B14F-4D97-AF65-F5344CB8AC3E}">
        <p14:creationId xmlns:p14="http://schemas.microsoft.com/office/powerpoint/2010/main" val="1993742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Generalização</a:t>
            </a:r>
            <a:endParaRPr lang="en-US" dirty="0"/>
          </a:p>
        </p:txBody>
      </p:sp>
      <p:sp>
        <p:nvSpPr>
          <p:cNvPr id="3" name="Espaço Reservado para Conteúdo 2"/>
          <p:cNvSpPr>
            <a:spLocks noGrp="1"/>
          </p:cNvSpPr>
          <p:nvPr>
            <p:ph idx="1"/>
          </p:nvPr>
        </p:nvSpPr>
        <p:spPr>
          <a:xfrm>
            <a:off x="838199" y="1825625"/>
            <a:ext cx="11353801" cy="1998519"/>
          </a:xfrm>
        </p:spPr>
        <p:txBody>
          <a:bodyPr>
            <a:normAutofit/>
          </a:bodyPr>
          <a:lstStyle/>
          <a:p>
            <a:r>
              <a:rPr lang="pt-BR" dirty="0"/>
              <a:t>Porém, não basta que o algoritmo de ML aprenda um modelo que faça um bom mapeamento </a:t>
            </a:r>
            <a:r>
              <a:rPr lang="pt-BR" b="1" i="1" dirty="0">
                <a:solidFill>
                  <a:schemeClr val="accent2"/>
                </a:solidFill>
              </a:rPr>
              <a:t>apenas para os dados do conjunto de treinamento</a:t>
            </a:r>
            <a:r>
              <a:rPr lang="pt-BR" dirty="0"/>
              <a:t>.</a:t>
            </a:r>
          </a:p>
          <a:p>
            <a:r>
              <a:rPr lang="pt-BR" dirty="0"/>
              <a:t>O </a:t>
            </a:r>
            <a:r>
              <a:rPr lang="pt-BR" b="1" i="1" dirty="0"/>
              <a:t>treinamento</a:t>
            </a:r>
            <a:r>
              <a:rPr lang="pt-BR" dirty="0"/>
              <a:t> deve gerar um </a:t>
            </a:r>
            <a:r>
              <a:rPr lang="pt-BR" b="1" i="1" dirty="0"/>
              <a:t>modelo</a:t>
            </a:r>
            <a:r>
              <a:rPr lang="pt-BR" dirty="0"/>
              <a:t> que </a:t>
            </a:r>
            <a:r>
              <a:rPr lang="pt-BR" b="1" i="1" dirty="0"/>
              <a:t>aprendeu</a:t>
            </a:r>
            <a:r>
              <a:rPr lang="pt-BR" dirty="0"/>
              <a:t> uma </a:t>
            </a:r>
            <a:r>
              <a:rPr lang="pt-BR" b="1" i="1" dirty="0">
                <a:solidFill>
                  <a:srgbClr val="7030A0"/>
                </a:solidFill>
              </a:rPr>
              <a:t>solução geral</a:t>
            </a:r>
            <a:r>
              <a:rPr lang="pt-BR" dirty="0"/>
              <a:t>, ou seja, que </a:t>
            </a:r>
            <a:r>
              <a:rPr lang="pt-BR" b="1" i="1" dirty="0">
                <a:solidFill>
                  <a:srgbClr val="00B050"/>
                </a:solidFill>
              </a:rPr>
              <a:t>generalize para entradas </a:t>
            </a:r>
            <a:r>
              <a:rPr lang="pt-BR" b="1" i="1" dirty="0">
                <a:solidFill>
                  <a:schemeClr val="accent1"/>
                </a:solidFill>
              </a:rPr>
              <a:t>não vistas durante o treinamento</a:t>
            </a:r>
            <a:r>
              <a:rPr lang="pt-BR" dirty="0"/>
              <a:t>.</a:t>
            </a:r>
          </a:p>
        </p:txBody>
      </p:sp>
      <p:sp>
        <p:nvSpPr>
          <p:cNvPr id="15" name="Rectangle 12"/>
          <p:cNvSpPr/>
          <p:nvPr/>
        </p:nvSpPr>
        <p:spPr>
          <a:xfrm>
            <a:off x="4915988" y="4518454"/>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 com modelo de ML </a:t>
            </a:r>
            <a:r>
              <a:rPr lang="pt-BR" b="1" i="1" dirty="0">
                <a:solidFill>
                  <a:srgbClr val="00B0F0"/>
                </a:solidFill>
              </a:rPr>
              <a:t>treinado</a:t>
            </a:r>
          </a:p>
        </p:txBody>
      </p:sp>
      <p:sp>
        <p:nvSpPr>
          <p:cNvPr id="16" name="TextBox 13"/>
          <p:cNvSpPr txBox="1"/>
          <p:nvPr/>
        </p:nvSpPr>
        <p:spPr>
          <a:xfrm>
            <a:off x="4087989" y="3986868"/>
            <a:ext cx="3524518" cy="461665"/>
          </a:xfrm>
          <a:prstGeom prst="rect">
            <a:avLst/>
          </a:prstGeom>
          <a:noFill/>
        </p:spPr>
        <p:txBody>
          <a:bodyPr wrap="square" rtlCol="0">
            <a:spAutoFit/>
          </a:bodyPr>
          <a:lstStyle/>
          <a:p>
            <a:pPr algn="ctr"/>
            <a:r>
              <a:rPr lang="pt-BR" sz="2400" b="1" dirty="0"/>
              <a:t>Aprendizado de Máquina</a:t>
            </a:r>
          </a:p>
        </p:txBody>
      </p:sp>
      <p:cxnSp>
        <p:nvCxnSpPr>
          <p:cNvPr id="17" name="Straight Arrow Connector 14"/>
          <p:cNvCxnSpPr/>
          <p:nvPr/>
        </p:nvCxnSpPr>
        <p:spPr>
          <a:xfrm>
            <a:off x="4087988" y="4942997"/>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9" name="TextBox 16"/>
          <p:cNvSpPr txBox="1"/>
          <p:nvPr/>
        </p:nvSpPr>
        <p:spPr>
          <a:xfrm>
            <a:off x="3128239" y="4619831"/>
            <a:ext cx="999567" cy="646331"/>
          </a:xfrm>
          <a:prstGeom prst="rect">
            <a:avLst/>
          </a:prstGeom>
          <a:noFill/>
        </p:spPr>
        <p:txBody>
          <a:bodyPr wrap="square" rtlCol="0">
            <a:spAutoFit/>
          </a:bodyPr>
          <a:lstStyle/>
          <a:p>
            <a:pPr algn="ctr"/>
            <a:r>
              <a:rPr lang="pt-BR" dirty="0"/>
              <a:t>Entradas inéditas</a:t>
            </a:r>
          </a:p>
        </p:txBody>
      </p:sp>
      <p:cxnSp>
        <p:nvCxnSpPr>
          <p:cNvPr id="21" name="Straight Arrow Connector 18"/>
          <p:cNvCxnSpPr/>
          <p:nvPr/>
        </p:nvCxnSpPr>
        <p:spPr>
          <a:xfrm>
            <a:off x="6826431" y="4942997"/>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2" name="TextBox 19"/>
          <p:cNvSpPr txBox="1"/>
          <p:nvPr/>
        </p:nvSpPr>
        <p:spPr>
          <a:xfrm>
            <a:off x="7510149" y="4660926"/>
            <a:ext cx="1226725" cy="646331"/>
          </a:xfrm>
          <a:prstGeom prst="rect">
            <a:avLst/>
          </a:prstGeom>
          <a:noFill/>
        </p:spPr>
        <p:txBody>
          <a:bodyPr wrap="square" rtlCol="0">
            <a:spAutoFit/>
          </a:bodyPr>
          <a:lstStyle/>
          <a:p>
            <a:pPr algn="ctr"/>
            <a:r>
              <a:rPr lang="pt-BR" dirty="0"/>
              <a:t>Saída ou inferência</a:t>
            </a:r>
            <a:endParaRPr lang="pt-BR" b="1" dirty="0">
              <a:solidFill>
                <a:srgbClr val="FF0000"/>
              </a:solidFill>
            </a:endParaRPr>
          </a:p>
        </p:txBody>
      </p:sp>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33FC6AED-12D8-69D4-01FE-7857F2F70EC0}"/>
                  </a:ext>
                </a:extLst>
              </p:cNvPr>
              <p:cNvSpPr txBox="1"/>
              <p:nvPr/>
            </p:nvSpPr>
            <p:spPr>
              <a:xfrm>
                <a:off x="173850" y="6005023"/>
                <a:ext cx="3304095" cy="738664"/>
              </a:xfrm>
              <a:prstGeom prst="rect">
                <a:avLst/>
              </a:prstGeom>
              <a:noFill/>
            </p:spPr>
            <p:txBody>
              <a:bodyPr wrap="square" rtlCol="0">
                <a:spAutoFit/>
              </a:bodyPr>
              <a:lstStyle/>
              <a:p>
                <a:pPr algn="ctr"/>
                <a:r>
                  <a:rPr lang="pt-BR" sz="1400" b="1" i="1" dirty="0">
                    <a:solidFill>
                      <a:srgbClr val="00B050"/>
                    </a:solidFill>
                  </a:rPr>
                  <a:t>Qual é a estimativa de paletas vendidas quando a temperatura é de </a:t>
                </a:r>
                <a14:m>
                  <m:oMath xmlns:m="http://schemas.openxmlformats.org/officeDocument/2006/math">
                    <m:r>
                      <a:rPr lang="pt-BR" sz="1400" b="1" i="1" smtClean="0">
                        <a:solidFill>
                          <a:srgbClr val="00B050"/>
                        </a:solidFill>
                        <a:latin typeface="Cambria Math" panose="02040503050406030204" pitchFamily="18" charset="0"/>
                        <a:ea typeface="Cambria Math" panose="02040503050406030204" pitchFamily="18" charset="0"/>
                      </a:rPr>
                      <m:t>≈</m:t>
                    </m:r>
                  </m:oMath>
                </a14:m>
                <a:r>
                  <a:rPr lang="pt-BR" sz="1400" b="1" i="1" dirty="0">
                    <a:solidFill>
                      <a:srgbClr val="00B050"/>
                    </a:solidFill>
                  </a:rPr>
                  <a:t> 6 graus </a:t>
                </a:r>
                <a:r>
                  <a:rPr lang="pt-BR" sz="1400" b="1" i="1" dirty="0">
                    <a:solidFill>
                      <a:schemeClr val="accent2"/>
                    </a:solidFill>
                  </a:rPr>
                  <a:t>(valor não visto durante o treinamento)</a:t>
                </a:r>
                <a:r>
                  <a:rPr lang="pt-BR" sz="1400" b="1" i="1" dirty="0">
                    <a:solidFill>
                      <a:srgbClr val="00B050"/>
                    </a:solidFill>
                  </a:rPr>
                  <a:t>?</a:t>
                </a:r>
              </a:p>
            </p:txBody>
          </p:sp>
        </mc:Choice>
        <mc:Fallback xmlns="">
          <p:sp>
            <p:nvSpPr>
              <p:cNvPr id="27" name="CaixaDeTexto 26">
                <a:extLst>
                  <a:ext uri="{FF2B5EF4-FFF2-40B4-BE49-F238E27FC236}">
                    <a16:creationId xmlns:a16="http://schemas.microsoft.com/office/drawing/2014/main" id="{33FC6AED-12D8-69D4-01FE-7857F2F70EC0}"/>
                  </a:ext>
                </a:extLst>
              </p:cNvPr>
              <p:cNvSpPr txBox="1">
                <a:spLocks noRot="1" noChangeAspect="1" noMove="1" noResize="1" noEditPoints="1" noAdjustHandles="1" noChangeArrowheads="1" noChangeShapeType="1" noTextEdit="1"/>
              </p:cNvSpPr>
              <p:nvPr/>
            </p:nvSpPr>
            <p:spPr>
              <a:xfrm>
                <a:off x="173850" y="6005023"/>
                <a:ext cx="3304095" cy="738664"/>
              </a:xfrm>
              <a:prstGeom prst="rect">
                <a:avLst/>
              </a:prstGeom>
              <a:blipFill>
                <a:blip r:embed="rId3"/>
                <a:stretch>
                  <a:fillRect t="-1653" b="-8264"/>
                </a:stretch>
              </a:blipFill>
            </p:spPr>
            <p:txBody>
              <a:bodyPr/>
              <a:lstStyle/>
              <a:p>
                <a:r>
                  <a:rPr lang="en-US">
                    <a:noFill/>
                  </a:rPr>
                  <a:t> </a:t>
                </a:r>
              </a:p>
            </p:txBody>
          </p:sp>
        </mc:Fallback>
      </mc:AlternateContent>
      <p:sp>
        <p:nvSpPr>
          <p:cNvPr id="29" name="CaixaDeTexto 28">
            <a:extLst>
              <a:ext uri="{FF2B5EF4-FFF2-40B4-BE49-F238E27FC236}">
                <a16:creationId xmlns:a16="http://schemas.microsoft.com/office/drawing/2014/main" id="{6330BD9E-096B-426F-F26D-E85D0A9C38E6}"/>
              </a:ext>
            </a:extLst>
          </p:cNvPr>
          <p:cNvSpPr txBox="1"/>
          <p:nvPr/>
        </p:nvSpPr>
        <p:spPr>
          <a:xfrm>
            <a:off x="4087988" y="4566034"/>
            <a:ext cx="827999" cy="369332"/>
          </a:xfrm>
          <a:prstGeom prst="rect">
            <a:avLst/>
          </a:prstGeom>
          <a:noFill/>
        </p:spPr>
        <p:txBody>
          <a:bodyPr wrap="square">
            <a:spAutoFit/>
          </a:bodyPr>
          <a:lstStyle/>
          <a:p>
            <a:pPr algn="ctr"/>
            <a:r>
              <a:rPr lang="pt-BR" sz="1800" dirty="0">
                <a:solidFill>
                  <a:srgbClr val="FF0000"/>
                </a:solidFill>
              </a:rPr>
              <a:t>6</a:t>
            </a:r>
            <a:endParaRPr lang="pt-BR" dirty="0">
              <a:solidFill>
                <a:srgbClr val="FF0000"/>
              </a:solidFill>
            </a:endParaRPr>
          </a:p>
        </p:txBody>
      </p:sp>
      <p:sp>
        <p:nvSpPr>
          <p:cNvPr id="30" name="CaixaDeTexto 29">
            <a:extLst>
              <a:ext uri="{FF2B5EF4-FFF2-40B4-BE49-F238E27FC236}">
                <a16:creationId xmlns:a16="http://schemas.microsoft.com/office/drawing/2014/main" id="{539D4C0F-5A25-B1AE-77C4-1387B2C44B76}"/>
              </a:ext>
            </a:extLst>
          </p:cNvPr>
          <p:cNvSpPr txBox="1"/>
          <p:nvPr/>
        </p:nvSpPr>
        <p:spPr>
          <a:xfrm>
            <a:off x="6826430" y="4573664"/>
            <a:ext cx="828001" cy="369332"/>
          </a:xfrm>
          <a:prstGeom prst="rect">
            <a:avLst/>
          </a:prstGeom>
          <a:noFill/>
        </p:spPr>
        <p:txBody>
          <a:bodyPr wrap="square">
            <a:spAutoFit/>
          </a:bodyPr>
          <a:lstStyle/>
          <a:p>
            <a:pPr algn="ctr"/>
            <a:r>
              <a:rPr lang="pt-BR" dirty="0">
                <a:solidFill>
                  <a:srgbClr val="FF0000"/>
                </a:solidFill>
              </a:rPr>
              <a:t>23</a:t>
            </a:r>
          </a:p>
        </p:txBody>
      </p:sp>
      <p:grpSp>
        <p:nvGrpSpPr>
          <p:cNvPr id="36" name="Agrupar 35">
            <a:extLst>
              <a:ext uri="{FF2B5EF4-FFF2-40B4-BE49-F238E27FC236}">
                <a16:creationId xmlns:a16="http://schemas.microsoft.com/office/drawing/2014/main" id="{1A6A15E3-E326-F525-832C-F40AEF35FD53}"/>
              </a:ext>
            </a:extLst>
          </p:cNvPr>
          <p:cNvGrpSpPr/>
          <p:nvPr/>
        </p:nvGrpSpPr>
        <p:grpSpPr>
          <a:xfrm>
            <a:off x="230337" y="4031043"/>
            <a:ext cx="2861802" cy="2013028"/>
            <a:chOff x="126016" y="4182282"/>
            <a:chExt cx="2861802" cy="2013028"/>
          </a:xfrm>
        </p:grpSpPr>
        <p:pic>
          <p:nvPicPr>
            <p:cNvPr id="35" name="Picture 2">
              <a:extLst>
                <a:ext uri="{FF2B5EF4-FFF2-40B4-BE49-F238E27FC236}">
                  <a16:creationId xmlns:a16="http://schemas.microsoft.com/office/drawing/2014/main" id="{2A0CE568-3641-CBBF-E5AE-0F7516F772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6" r="1714"/>
            <a:stretch/>
          </p:blipFill>
          <p:spPr bwMode="auto">
            <a:xfrm>
              <a:off x="126016" y="4182282"/>
              <a:ext cx="2861802" cy="201302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ector reto 8">
              <a:extLst>
                <a:ext uri="{FF2B5EF4-FFF2-40B4-BE49-F238E27FC236}">
                  <a16:creationId xmlns:a16="http://schemas.microsoft.com/office/drawing/2014/main" id="{5CDDCA79-6D29-DCE9-D80C-8C4EF91FD287}"/>
                </a:ext>
              </a:extLst>
            </p:cNvPr>
            <p:cNvCxnSpPr>
              <a:cxnSpLocks/>
            </p:cNvCxnSpPr>
            <p:nvPr/>
          </p:nvCxnSpPr>
          <p:spPr>
            <a:xfrm>
              <a:off x="921532" y="4434654"/>
              <a:ext cx="0" cy="147600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31" name="CaixaDeTexto 30">
              <a:extLst>
                <a:ext uri="{FF2B5EF4-FFF2-40B4-BE49-F238E27FC236}">
                  <a16:creationId xmlns:a16="http://schemas.microsoft.com/office/drawing/2014/main" id="{F5E30D89-E0D0-71E5-687B-CCB6FD038244}"/>
                </a:ext>
              </a:extLst>
            </p:cNvPr>
            <p:cNvSpPr txBox="1"/>
            <p:nvPr/>
          </p:nvSpPr>
          <p:spPr>
            <a:xfrm>
              <a:off x="814753" y="5869491"/>
              <a:ext cx="213557" cy="261610"/>
            </a:xfrm>
            <a:prstGeom prst="rect">
              <a:avLst/>
            </a:prstGeom>
            <a:noFill/>
          </p:spPr>
          <p:txBody>
            <a:bodyPr wrap="square">
              <a:spAutoFit/>
            </a:bodyPr>
            <a:lstStyle/>
            <a:p>
              <a:pPr algn="ctr"/>
              <a:r>
                <a:rPr lang="pt-BR" sz="1050" dirty="0">
                  <a:solidFill>
                    <a:srgbClr val="FF0000"/>
                  </a:solidFill>
                </a:rPr>
                <a:t>6</a:t>
              </a:r>
            </a:p>
          </p:txBody>
        </p:sp>
      </p:grpSp>
      <p:sp>
        <p:nvSpPr>
          <p:cNvPr id="34" name="CaixaDeTexto 33">
            <a:extLst>
              <a:ext uri="{FF2B5EF4-FFF2-40B4-BE49-F238E27FC236}">
                <a16:creationId xmlns:a16="http://schemas.microsoft.com/office/drawing/2014/main" id="{91C4D063-7664-1260-F4EF-0FF568DA02AA}"/>
              </a:ext>
            </a:extLst>
          </p:cNvPr>
          <p:cNvSpPr txBox="1"/>
          <p:nvPr/>
        </p:nvSpPr>
        <p:spPr>
          <a:xfrm>
            <a:off x="4127806" y="5485041"/>
            <a:ext cx="3484701" cy="523220"/>
          </a:xfrm>
          <a:prstGeom prst="rect">
            <a:avLst/>
          </a:prstGeom>
          <a:noFill/>
        </p:spPr>
        <p:txBody>
          <a:bodyPr wrap="square" rtlCol="0">
            <a:spAutoFit/>
          </a:bodyPr>
          <a:lstStyle/>
          <a:p>
            <a:pPr algn="ctr"/>
            <a:r>
              <a:rPr lang="pt-BR" sz="1400" b="1" i="1" dirty="0">
                <a:solidFill>
                  <a:srgbClr val="00B050"/>
                </a:solidFill>
              </a:rPr>
              <a:t>O </a:t>
            </a:r>
            <a:r>
              <a:rPr lang="pt-BR" sz="1400" b="1" i="1" dirty="0">
                <a:solidFill>
                  <a:srgbClr val="FF0000"/>
                </a:solidFill>
              </a:rPr>
              <a:t>modelo aprendeu que uma reta</a:t>
            </a:r>
            <a:r>
              <a:rPr lang="pt-BR" sz="1400" b="1" i="1" dirty="0">
                <a:solidFill>
                  <a:srgbClr val="00B050"/>
                </a:solidFill>
              </a:rPr>
              <a:t> é um </a:t>
            </a:r>
            <a:r>
              <a:rPr lang="pt-BR" sz="1400" b="1" i="1" dirty="0">
                <a:solidFill>
                  <a:srgbClr val="7030A0"/>
                </a:solidFill>
              </a:rPr>
              <a:t>bom</a:t>
            </a:r>
            <a:r>
              <a:rPr lang="pt-BR" sz="1400" b="1" i="1" dirty="0">
                <a:solidFill>
                  <a:srgbClr val="00B050"/>
                </a:solidFill>
              </a:rPr>
              <a:t> mapeamento.</a:t>
            </a:r>
          </a:p>
        </p:txBody>
      </p:sp>
      <p:sp>
        <p:nvSpPr>
          <p:cNvPr id="59" name="CaixaDeTexto 58">
            <a:extLst>
              <a:ext uri="{FF2B5EF4-FFF2-40B4-BE49-F238E27FC236}">
                <a16:creationId xmlns:a16="http://schemas.microsoft.com/office/drawing/2014/main" id="{7A0CE6F8-0566-7F88-89AF-A69DC4F872DC}"/>
              </a:ext>
            </a:extLst>
          </p:cNvPr>
          <p:cNvSpPr txBox="1"/>
          <p:nvPr/>
        </p:nvSpPr>
        <p:spPr>
          <a:xfrm>
            <a:off x="8319332" y="6008261"/>
            <a:ext cx="3793692" cy="738664"/>
          </a:xfrm>
          <a:prstGeom prst="rect">
            <a:avLst/>
          </a:prstGeom>
          <a:noFill/>
        </p:spPr>
        <p:txBody>
          <a:bodyPr wrap="square" rtlCol="0">
            <a:spAutoFit/>
          </a:bodyPr>
          <a:lstStyle/>
          <a:p>
            <a:pPr algn="ctr"/>
            <a:r>
              <a:rPr lang="pt-BR" sz="1400" b="1" i="1" dirty="0">
                <a:solidFill>
                  <a:srgbClr val="00B050"/>
                </a:solidFill>
              </a:rPr>
              <a:t>A partir do mapeamento aprendido (i.e., </a:t>
            </a:r>
            <a:r>
              <a:rPr lang="pt-BR" sz="1400" b="1" i="1" dirty="0">
                <a:solidFill>
                  <a:schemeClr val="accent2"/>
                </a:solidFill>
              </a:rPr>
              <a:t>reta</a:t>
            </a:r>
            <a:r>
              <a:rPr lang="pt-BR" sz="1400" b="1" i="1" dirty="0">
                <a:solidFill>
                  <a:srgbClr val="00B050"/>
                </a:solidFill>
              </a:rPr>
              <a:t>), o modelo gera como saída o valor 23, que é </a:t>
            </a:r>
            <a:r>
              <a:rPr lang="pt-BR" sz="1400" b="1" i="1" dirty="0">
                <a:solidFill>
                  <a:srgbClr val="7030A0"/>
                </a:solidFill>
              </a:rPr>
              <a:t>coerente</a:t>
            </a:r>
            <a:r>
              <a:rPr lang="pt-BR" sz="1400" b="1" i="1" dirty="0">
                <a:solidFill>
                  <a:srgbClr val="00B050"/>
                </a:solidFill>
              </a:rPr>
              <a:t> com o restante dos dados.</a:t>
            </a:r>
          </a:p>
        </p:txBody>
      </p:sp>
      <p:grpSp>
        <p:nvGrpSpPr>
          <p:cNvPr id="11" name="Agrupar 10">
            <a:extLst>
              <a:ext uri="{FF2B5EF4-FFF2-40B4-BE49-F238E27FC236}">
                <a16:creationId xmlns:a16="http://schemas.microsoft.com/office/drawing/2014/main" id="{CD8A6BB2-4890-A94B-9877-E9C973A58567}"/>
              </a:ext>
            </a:extLst>
          </p:cNvPr>
          <p:cNvGrpSpPr/>
          <p:nvPr/>
        </p:nvGrpSpPr>
        <p:grpSpPr>
          <a:xfrm>
            <a:off x="8662291" y="4015941"/>
            <a:ext cx="2948745" cy="2010947"/>
            <a:chOff x="8950873" y="2545355"/>
            <a:chExt cx="2948745" cy="2010947"/>
          </a:xfrm>
        </p:grpSpPr>
        <p:grpSp>
          <p:nvGrpSpPr>
            <p:cNvPr id="6" name="Agrupar 5">
              <a:extLst>
                <a:ext uri="{FF2B5EF4-FFF2-40B4-BE49-F238E27FC236}">
                  <a16:creationId xmlns:a16="http://schemas.microsoft.com/office/drawing/2014/main" id="{52BF4D7F-2CA2-62F8-9BE4-DD9F2B339365}"/>
                </a:ext>
              </a:extLst>
            </p:cNvPr>
            <p:cNvGrpSpPr/>
            <p:nvPr/>
          </p:nvGrpSpPr>
          <p:grpSpPr>
            <a:xfrm>
              <a:off x="8950873" y="2545355"/>
              <a:ext cx="2948745" cy="2010947"/>
              <a:chOff x="8367252" y="3883682"/>
              <a:chExt cx="2948745" cy="2010947"/>
            </a:xfrm>
          </p:grpSpPr>
          <p:pic>
            <p:nvPicPr>
              <p:cNvPr id="7" name="Imagem 6">
                <a:extLst>
                  <a:ext uri="{FF2B5EF4-FFF2-40B4-BE49-F238E27FC236}">
                    <a16:creationId xmlns:a16="http://schemas.microsoft.com/office/drawing/2014/main" id="{101C69F6-520F-96EC-5E9F-BCAF39C84B33}"/>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463" t="9957" r="8514"/>
              <a:stretch/>
            </p:blipFill>
            <p:spPr>
              <a:xfrm>
                <a:off x="8367252" y="3883682"/>
                <a:ext cx="2948745" cy="2010947"/>
              </a:xfrm>
              <a:prstGeom prst="rect">
                <a:avLst/>
              </a:prstGeom>
            </p:spPr>
          </p:pic>
          <p:cxnSp>
            <p:nvCxnSpPr>
              <p:cNvPr id="8" name="Conector reto 7">
                <a:extLst>
                  <a:ext uri="{FF2B5EF4-FFF2-40B4-BE49-F238E27FC236}">
                    <a16:creationId xmlns:a16="http://schemas.microsoft.com/office/drawing/2014/main" id="{293481F6-7067-7574-5F3C-3820E58598AB}"/>
                  </a:ext>
                </a:extLst>
              </p:cNvPr>
              <p:cNvCxnSpPr>
                <a:cxnSpLocks/>
              </p:cNvCxnSpPr>
              <p:nvPr/>
            </p:nvCxnSpPr>
            <p:spPr>
              <a:xfrm>
                <a:off x="9162852" y="5293244"/>
                <a:ext cx="0" cy="36000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0" name="CaixaDeTexto 9">
                <a:extLst>
                  <a:ext uri="{FF2B5EF4-FFF2-40B4-BE49-F238E27FC236}">
                    <a16:creationId xmlns:a16="http://schemas.microsoft.com/office/drawing/2014/main" id="{662738E1-6CDB-7CA5-31F9-5BCD2D5A2DD8}"/>
                  </a:ext>
                </a:extLst>
              </p:cNvPr>
              <p:cNvSpPr txBox="1"/>
              <p:nvPr/>
            </p:nvSpPr>
            <p:spPr>
              <a:xfrm>
                <a:off x="9056073" y="5606014"/>
                <a:ext cx="213557" cy="261610"/>
              </a:xfrm>
              <a:prstGeom prst="rect">
                <a:avLst/>
              </a:prstGeom>
              <a:noFill/>
            </p:spPr>
            <p:txBody>
              <a:bodyPr wrap="square">
                <a:spAutoFit/>
              </a:bodyPr>
              <a:lstStyle/>
              <a:p>
                <a:pPr algn="ctr"/>
                <a:r>
                  <a:rPr lang="pt-BR" sz="1050" dirty="0">
                    <a:solidFill>
                      <a:srgbClr val="FF0000"/>
                    </a:solidFill>
                  </a:rPr>
                  <a:t>6</a:t>
                </a:r>
              </a:p>
            </p:txBody>
          </p:sp>
        </p:grpSp>
        <p:grpSp>
          <p:nvGrpSpPr>
            <p:cNvPr id="55" name="Agrupar 54">
              <a:extLst>
                <a:ext uri="{FF2B5EF4-FFF2-40B4-BE49-F238E27FC236}">
                  <a16:creationId xmlns:a16="http://schemas.microsoft.com/office/drawing/2014/main" id="{6DFD4159-05F0-AA5F-E5AF-8812ADBB7F4D}"/>
                </a:ext>
              </a:extLst>
            </p:cNvPr>
            <p:cNvGrpSpPr>
              <a:grpSpLocks noChangeAspect="1"/>
            </p:cNvGrpSpPr>
            <p:nvPr/>
          </p:nvGrpSpPr>
          <p:grpSpPr>
            <a:xfrm>
              <a:off x="9729806" y="3933640"/>
              <a:ext cx="36000" cy="36000"/>
              <a:chOff x="11557842" y="4567654"/>
              <a:chExt cx="280014" cy="280014"/>
            </a:xfrm>
          </p:grpSpPr>
          <p:cxnSp>
            <p:nvCxnSpPr>
              <p:cNvPr id="47" name="Conector reto 46">
                <a:extLst>
                  <a:ext uri="{FF2B5EF4-FFF2-40B4-BE49-F238E27FC236}">
                    <a16:creationId xmlns:a16="http://schemas.microsoft.com/office/drawing/2014/main" id="{F93A44DD-0490-076B-C58B-66975D7F66F3}"/>
                  </a:ext>
                </a:extLst>
              </p:cNvPr>
              <p:cNvCxnSpPr>
                <a:cxnSpLocks/>
              </p:cNvCxnSpPr>
              <p:nvPr/>
            </p:nvCxnSpPr>
            <p:spPr>
              <a:xfrm>
                <a:off x="11557842" y="4567654"/>
                <a:ext cx="280014" cy="28001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Conector reto 53">
                <a:extLst>
                  <a:ext uri="{FF2B5EF4-FFF2-40B4-BE49-F238E27FC236}">
                    <a16:creationId xmlns:a16="http://schemas.microsoft.com/office/drawing/2014/main" id="{ADD05E9C-618B-C77C-3016-1E8B72CCE174}"/>
                  </a:ext>
                </a:extLst>
              </p:cNvPr>
              <p:cNvCxnSpPr>
                <a:cxnSpLocks/>
              </p:cNvCxnSpPr>
              <p:nvPr/>
            </p:nvCxnSpPr>
            <p:spPr>
              <a:xfrm flipH="1">
                <a:off x="11557842" y="4567654"/>
                <a:ext cx="280014" cy="28001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cxnSp>
        <p:nvCxnSpPr>
          <p:cNvPr id="33" name="Conector de Seta Reta 32">
            <a:extLst>
              <a:ext uri="{FF2B5EF4-FFF2-40B4-BE49-F238E27FC236}">
                <a16:creationId xmlns:a16="http://schemas.microsoft.com/office/drawing/2014/main" id="{5F1A6BC8-8443-4FA2-7696-1587BF08972D}"/>
              </a:ext>
            </a:extLst>
          </p:cNvPr>
          <p:cNvCxnSpPr>
            <a:cxnSpLocks/>
          </p:cNvCxnSpPr>
          <p:nvPr/>
        </p:nvCxnSpPr>
        <p:spPr>
          <a:xfrm>
            <a:off x="7296150" y="4980787"/>
            <a:ext cx="2046365" cy="4226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8421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365125"/>
            <a:ext cx="10751545" cy="1325563"/>
          </a:xfrm>
        </p:spPr>
        <p:txBody>
          <a:bodyPr/>
          <a:lstStyle/>
          <a:p>
            <a:r>
              <a:rPr lang="pt-BR" dirty="0"/>
              <a:t>Exemplos de aplicações de ML em várias áreas</a:t>
            </a:r>
            <a:endParaRPr lang="en-US" dirty="0"/>
          </a:p>
        </p:txBody>
      </p:sp>
      <p:sp>
        <p:nvSpPr>
          <p:cNvPr id="3" name="Espaço Reservado para Conteúdo 2"/>
          <p:cNvSpPr>
            <a:spLocks noGrp="1"/>
          </p:cNvSpPr>
          <p:nvPr>
            <p:ph idx="1"/>
          </p:nvPr>
        </p:nvSpPr>
        <p:spPr>
          <a:xfrm>
            <a:off x="838200" y="1825625"/>
            <a:ext cx="11353800" cy="4351338"/>
          </a:xfrm>
        </p:spPr>
        <p:txBody>
          <a:bodyPr/>
          <a:lstStyle/>
          <a:p>
            <a:r>
              <a:rPr lang="pt-BR" b="1" dirty="0"/>
              <a:t>Transporte</a:t>
            </a:r>
            <a:r>
              <a:rPr lang="pt-BR" dirty="0"/>
              <a:t>: veículos autônomos.</a:t>
            </a:r>
          </a:p>
          <a:p>
            <a:r>
              <a:rPr lang="pt-BR" b="1" dirty="0"/>
              <a:t>Negócios</a:t>
            </a:r>
            <a:r>
              <a:rPr lang="pt-BR" dirty="0"/>
              <a:t>: recomendação de produtos e conteúdos (e.g., </a:t>
            </a:r>
            <a:r>
              <a:rPr lang="pt-BR" dirty="0" err="1"/>
              <a:t>amazon</a:t>
            </a:r>
            <a:r>
              <a:rPr lang="pt-BR" dirty="0"/>
              <a:t> e </a:t>
            </a:r>
            <a:r>
              <a:rPr lang="pt-BR" dirty="0" err="1"/>
              <a:t>netflix</a:t>
            </a:r>
            <a:r>
              <a:rPr lang="pt-BR" dirty="0"/>
              <a:t>).</a:t>
            </a:r>
          </a:p>
          <a:p>
            <a:r>
              <a:rPr lang="pt-BR" b="1" dirty="0"/>
              <a:t>Educação</a:t>
            </a:r>
            <a:r>
              <a:rPr lang="pt-BR" dirty="0"/>
              <a:t>: pontuação automatizada de fala em testes de Inglês.</a:t>
            </a:r>
          </a:p>
          <a:p>
            <a:r>
              <a:rPr lang="pt-BR" b="1" dirty="0"/>
              <a:t>Saúde</a:t>
            </a:r>
            <a:r>
              <a:rPr lang="pt-BR" dirty="0"/>
              <a:t>: detecção e diagnóstico de doenças (câncer, Alzheimer, pneumonia, COVID-19, etc.).</a:t>
            </a:r>
          </a:p>
          <a:p>
            <a:r>
              <a:rPr lang="pt-BR" b="1" dirty="0"/>
              <a:t>Finanças</a:t>
            </a:r>
            <a:r>
              <a:rPr lang="pt-BR" dirty="0"/>
              <a:t>: detecção de fraudes com cartão de crédito.</a:t>
            </a:r>
          </a:p>
          <a:p>
            <a:r>
              <a:rPr lang="pt-BR" b="1" dirty="0"/>
              <a:t>Tecnologia</a:t>
            </a:r>
            <a:r>
              <a:rPr lang="pt-BR" dirty="0"/>
              <a:t>: assistentes pessoais (e.g., </a:t>
            </a:r>
            <a:r>
              <a:rPr lang="pt-BR" dirty="0" err="1"/>
              <a:t>chatGPT</a:t>
            </a:r>
            <a:r>
              <a:rPr lang="pt-BR" dirty="0"/>
              <a:t>, </a:t>
            </a:r>
            <a:r>
              <a:rPr lang="pt-BR" i="1" dirty="0"/>
              <a:t>Siri</a:t>
            </a:r>
            <a:r>
              <a:rPr lang="pt-BR" dirty="0"/>
              <a:t>, </a:t>
            </a:r>
            <a:r>
              <a:rPr lang="pt-BR" i="1" dirty="0"/>
              <a:t>Alexa</a:t>
            </a:r>
            <a:r>
              <a:rPr lang="pt-BR" dirty="0"/>
              <a:t>, </a:t>
            </a:r>
            <a:r>
              <a:rPr lang="pt-BR" i="1" dirty="0"/>
              <a:t>Cortana</a:t>
            </a:r>
            <a:r>
              <a:rPr lang="pt-BR" dirty="0"/>
              <a:t>, etc.).</a:t>
            </a:r>
          </a:p>
        </p:txBody>
      </p:sp>
      <p:pic>
        <p:nvPicPr>
          <p:cNvPr id="1026" name="Picture 2" descr="Tesla Model X 2022: Preço, Autonomia e Performance">
            <a:extLst>
              <a:ext uri="{FF2B5EF4-FFF2-40B4-BE49-F238E27FC236}">
                <a16:creationId xmlns:a16="http://schemas.microsoft.com/office/drawing/2014/main" id="{E26CE54E-0238-07BF-2779-3452AF5866D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0199" y="5808763"/>
            <a:ext cx="1618681" cy="91050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Visa ou MasterCard qual é a melhor bandeira de Cartão de Crédito - Cartão a  Crédito">
            <a:extLst>
              <a:ext uri="{FF2B5EF4-FFF2-40B4-BE49-F238E27FC236}">
                <a16:creationId xmlns:a16="http://schemas.microsoft.com/office/drawing/2014/main" id="{2F9A172A-CA8B-5FB8-FCA7-8EBFE4A452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5022" y="5687664"/>
            <a:ext cx="1109283" cy="110928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tualização de aplicativo da Netflix permite download de séries e filmes">
            <a:extLst>
              <a:ext uri="{FF2B5EF4-FFF2-40B4-BE49-F238E27FC236}">
                <a16:creationId xmlns:a16="http://schemas.microsoft.com/office/drawing/2014/main" id="{EA01457B-4F99-ED45-873A-A07636A10C5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10901" y="6199544"/>
            <a:ext cx="1092723" cy="61998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I English Chatbot - Deep English">
            <a:extLst>
              <a:ext uri="{FF2B5EF4-FFF2-40B4-BE49-F238E27FC236}">
                <a16:creationId xmlns:a16="http://schemas.microsoft.com/office/drawing/2014/main" id="{B481D1E4-D0C8-27BF-195E-E6CCBDE287D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52438" y="5681110"/>
            <a:ext cx="1343579" cy="116581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Evaluation of an AI system for detection of COVID-19 - On Chest X-Ray  images - Radboudumc">
            <a:extLst>
              <a:ext uri="{FF2B5EF4-FFF2-40B4-BE49-F238E27FC236}">
                <a16:creationId xmlns:a16="http://schemas.microsoft.com/office/drawing/2014/main" id="{DA34B619-6A43-3964-485C-8F4F40104A0C}"/>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747" t="17433" r="2508" b="17283"/>
          <a:stretch/>
        </p:blipFill>
        <p:spPr bwMode="auto">
          <a:xfrm>
            <a:off x="5618038" y="5758879"/>
            <a:ext cx="2339865" cy="96685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lexa vs Google vs Siri: The Smartest virtual assistant in 2021 – BuyMobile  Australia">
            <a:extLst>
              <a:ext uri="{FF2B5EF4-FFF2-40B4-BE49-F238E27FC236}">
                <a16:creationId xmlns:a16="http://schemas.microsoft.com/office/drawing/2014/main" id="{16024BCC-CFDF-1179-25E6-330DDBE1E99A}"/>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17164"/>
          <a:stretch/>
        </p:blipFill>
        <p:spPr bwMode="auto">
          <a:xfrm>
            <a:off x="9784638" y="5690796"/>
            <a:ext cx="2221241" cy="101749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mazon.com.br | Tudo pra você, de A a Z.">
            <a:extLst>
              <a:ext uri="{FF2B5EF4-FFF2-40B4-BE49-F238E27FC236}">
                <a16:creationId xmlns:a16="http://schemas.microsoft.com/office/drawing/2014/main" id="{FF616FB2-F5FD-544D-8592-DBB661F27E98}"/>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8731" t="37791" r="28859" b="35772"/>
          <a:stretch/>
        </p:blipFill>
        <p:spPr bwMode="auto">
          <a:xfrm>
            <a:off x="2095651" y="5687664"/>
            <a:ext cx="1412963" cy="462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784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Principais motivos da difusão do ML</a:t>
            </a:r>
            <a:endParaRPr lang="en-US" dirty="0"/>
          </a:p>
        </p:txBody>
      </p:sp>
      <p:sp>
        <p:nvSpPr>
          <p:cNvPr id="3" name="Espaço Reservado para Conteúdo 2"/>
          <p:cNvSpPr>
            <a:spLocks noGrp="1"/>
          </p:cNvSpPr>
          <p:nvPr>
            <p:ph idx="1"/>
          </p:nvPr>
        </p:nvSpPr>
        <p:spPr>
          <a:xfrm>
            <a:off x="838200" y="1825626"/>
            <a:ext cx="11353800" cy="5032374"/>
          </a:xfrm>
        </p:spPr>
        <p:txBody>
          <a:bodyPr>
            <a:normAutofit/>
          </a:bodyPr>
          <a:lstStyle/>
          <a:p>
            <a:r>
              <a:rPr lang="pt-BR" b="1" dirty="0"/>
              <a:t>Grandes volumes de dados </a:t>
            </a:r>
            <a:r>
              <a:rPr lang="pt-BR" dirty="0"/>
              <a:t>disponíveis: centenas de </a:t>
            </a:r>
            <a:r>
              <a:rPr lang="pt-BR" i="1" dirty="0" err="1"/>
              <a:t>terabytes</a:t>
            </a:r>
            <a:r>
              <a:rPr lang="pt-BR" dirty="0"/>
              <a:t> são gerados por dia.</a:t>
            </a:r>
          </a:p>
          <a:p>
            <a:r>
              <a:rPr lang="pt-BR" dirty="0"/>
              <a:t>P</a:t>
            </a:r>
            <a:r>
              <a:rPr lang="pt-BR" b="0" i="0" dirty="0">
                <a:effectLst/>
              </a:rPr>
              <a:t>ossibilidade de </a:t>
            </a:r>
            <a:r>
              <a:rPr lang="pt-BR" b="1" i="1" dirty="0">
                <a:solidFill>
                  <a:srgbClr val="00B050"/>
                </a:solidFill>
                <a:effectLst/>
              </a:rPr>
              <a:t>extrair informações úteis</a:t>
            </a:r>
            <a:r>
              <a:rPr lang="pt-BR" b="1" i="1" dirty="0">
                <a:effectLst/>
              </a:rPr>
              <a:t> de enormes volumes de dados</a:t>
            </a:r>
            <a:r>
              <a:rPr lang="pt-BR" b="0" i="0" dirty="0">
                <a:effectLst/>
              </a:rPr>
              <a:t>, algo que é impossível para seres humanos.</a:t>
            </a:r>
            <a:endParaRPr lang="pt-BR" dirty="0"/>
          </a:p>
          <a:p>
            <a:pPr lvl="1">
              <a:buFont typeface="Wingdings" panose="05000000000000000000" pitchFamily="2" charset="2"/>
              <a:buChar char="§"/>
            </a:pPr>
            <a:r>
              <a:rPr lang="pt-BR" b="0" i="0" dirty="0">
                <a:effectLst/>
              </a:rPr>
              <a:t>Isso </a:t>
            </a:r>
            <a:r>
              <a:rPr lang="pt-BR" b="1" i="1" dirty="0">
                <a:effectLst/>
              </a:rPr>
              <a:t>vale ouro</a:t>
            </a:r>
            <a:r>
              <a:rPr lang="pt-BR" b="0" i="0" dirty="0">
                <a:effectLst/>
              </a:rPr>
              <a:t>, pois tem grande potencial para </a:t>
            </a:r>
            <a:r>
              <a:rPr lang="pt-BR" b="1" i="1" dirty="0">
                <a:effectLst/>
              </a:rPr>
              <a:t>aumentar o lucro das empresas</a:t>
            </a:r>
            <a:r>
              <a:rPr lang="pt-BR" dirty="0">
                <a:effectLst/>
              </a:rPr>
              <a:t>.</a:t>
            </a:r>
            <a:endParaRPr lang="pt-BR" b="1" i="1" dirty="0"/>
          </a:p>
          <a:p>
            <a:r>
              <a:rPr lang="pt-BR" dirty="0"/>
              <a:t>Surgimento de </a:t>
            </a:r>
            <a:r>
              <a:rPr lang="pt-BR" b="1" i="1" dirty="0">
                <a:solidFill>
                  <a:srgbClr val="00B050"/>
                </a:solidFill>
              </a:rPr>
              <a:t>recursos computacionais poderosos </a:t>
            </a:r>
            <a:r>
              <a:rPr lang="pt-BR" dirty="0"/>
              <a:t>tais como GPUs, </a:t>
            </a:r>
            <a:r>
              <a:rPr lang="pt-BR" dirty="0" err="1"/>
              <a:t>FPGAs</a:t>
            </a:r>
            <a:r>
              <a:rPr lang="pt-BR" dirty="0"/>
              <a:t> e CPUs com múltiplos cores.</a:t>
            </a:r>
          </a:p>
          <a:p>
            <a:r>
              <a:rPr lang="pt-BR" dirty="0"/>
              <a:t>Surgimento de </a:t>
            </a:r>
            <a:r>
              <a:rPr lang="pt-BR" b="1" i="1" dirty="0">
                <a:solidFill>
                  <a:srgbClr val="00B050"/>
                </a:solidFill>
              </a:rPr>
              <a:t>novas estratégias de aprendizagem</a:t>
            </a:r>
            <a:r>
              <a:rPr lang="pt-BR" dirty="0"/>
              <a:t>, e.g., </a:t>
            </a:r>
            <a:r>
              <a:rPr lang="pt-BR" i="1" dirty="0" err="1"/>
              <a:t>deep</a:t>
            </a:r>
            <a:r>
              <a:rPr lang="pt-BR" i="1" dirty="0"/>
              <a:t>-learning</a:t>
            </a:r>
            <a:r>
              <a:rPr lang="pt-BR" dirty="0"/>
              <a:t>, </a:t>
            </a:r>
            <a:r>
              <a:rPr lang="pt-BR" i="1" dirty="0" err="1"/>
              <a:t>deep</a:t>
            </a:r>
            <a:r>
              <a:rPr lang="pt-BR" dirty="0"/>
              <a:t> </a:t>
            </a:r>
            <a:r>
              <a:rPr lang="pt-BR" i="1" dirty="0" err="1"/>
              <a:t>reinforment</a:t>
            </a:r>
            <a:r>
              <a:rPr lang="pt-BR" i="1" dirty="0"/>
              <a:t>-learning</a:t>
            </a:r>
            <a:r>
              <a:rPr lang="pt-BR" dirty="0"/>
              <a:t>, modelos generativos, </a:t>
            </a:r>
            <a:r>
              <a:rPr lang="pt-BR" i="1" dirty="0" err="1"/>
              <a:t>transformers</a:t>
            </a:r>
            <a:r>
              <a:rPr lang="pt-BR" dirty="0"/>
              <a:t> etc.</a:t>
            </a:r>
          </a:p>
          <a:p>
            <a:r>
              <a:rPr lang="pt-BR" dirty="0"/>
              <a:t>Disponibilidade de </a:t>
            </a:r>
            <a:r>
              <a:rPr lang="pt-BR" b="1" i="1" dirty="0">
                <a:solidFill>
                  <a:srgbClr val="00B050"/>
                </a:solidFill>
              </a:rPr>
              <a:t>bibliotecas que facilitam o desenvolvimento</a:t>
            </a:r>
            <a:r>
              <a:rPr lang="pt-BR" i="1" dirty="0"/>
              <a:t> </a:t>
            </a:r>
            <a:r>
              <a:rPr lang="pt-BR" dirty="0"/>
              <a:t>de soluções com ML.</a:t>
            </a:r>
          </a:p>
        </p:txBody>
      </p:sp>
      <p:pic>
        <p:nvPicPr>
          <p:cNvPr id="4" name="Picture 2" descr="Image result for tensorflow logo">
            <a:extLst>
              <a:ext uri="{FF2B5EF4-FFF2-40B4-BE49-F238E27FC236}">
                <a16:creationId xmlns:a16="http://schemas.microsoft.com/office/drawing/2014/main" id="{B9A1D4E3-9D1C-4A3E-944D-BA941DCBD6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7040" y="6215575"/>
            <a:ext cx="702400" cy="58533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mage result for pytorch logo">
            <a:extLst>
              <a:ext uri="{FF2B5EF4-FFF2-40B4-BE49-F238E27FC236}">
                <a16:creationId xmlns:a16="http://schemas.microsoft.com/office/drawing/2014/main" id="{6A0D8B6B-9A8B-4981-B678-86257C33AF3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734" t="1" r="9013" b="-7415"/>
          <a:stretch>
            <a:fillRect/>
          </a:stretch>
        </p:blipFill>
        <p:spPr bwMode="auto">
          <a:xfrm>
            <a:off x="5176058" y="6270310"/>
            <a:ext cx="2056504" cy="54048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Image result for scikit learn logo">
            <a:extLst>
              <a:ext uri="{FF2B5EF4-FFF2-40B4-BE49-F238E27FC236}">
                <a16:creationId xmlns:a16="http://schemas.microsoft.com/office/drawing/2014/main" id="{87129D40-D136-4716-8871-12CAEC6039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49180" y="6213008"/>
            <a:ext cx="1038051" cy="559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731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0079F9-71B9-4466-B35D-68523A745D24}"/>
              </a:ext>
            </a:extLst>
          </p:cNvPr>
          <p:cNvSpPr>
            <a:spLocks noGrp="1"/>
          </p:cNvSpPr>
          <p:nvPr>
            <p:ph type="title"/>
          </p:nvPr>
        </p:nvSpPr>
        <p:spPr/>
        <p:txBody>
          <a:bodyPr/>
          <a:lstStyle/>
          <a:p>
            <a:r>
              <a:rPr lang="pt-BR" dirty="0"/>
              <a:t>Paradigmas de aprendizado de máquina</a:t>
            </a:r>
          </a:p>
        </p:txBody>
      </p:sp>
      <p:sp>
        <p:nvSpPr>
          <p:cNvPr id="3" name="Espaço Reservado para Conteúdo 2">
            <a:extLst>
              <a:ext uri="{FF2B5EF4-FFF2-40B4-BE49-F238E27FC236}">
                <a16:creationId xmlns:a16="http://schemas.microsoft.com/office/drawing/2014/main" id="{5BA8D271-087B-414B-ABC6-D7C5E7367E33}"/>
              </a:ext>
            </a:extLst>
          </p:cNvPr>
          <p:cNvSpPr>
            <a:spLocks noGrp="1"/>
          </p:cNvSpPr>
          <p:nvPr>
            <p:ph idx="1"/>
          </p:nvPr>
        </p:nvSpPr>
        <p:spPr>
          <a:xfrm>
            <a:off x="838200" y="1825624"/>
            <a:ext cx="6497097" cy="5032376"/>
          </a:xfrm>
        </p:spPr>
        <p:txBody>
          <a:bodyPr>
            <a:normAutofit/>
          </a:bodyPr>
          <a:lstStyle/>
          <a:p>
            <a:pPr marL="0" indent="0" fontAlgn="base">
              <a:buNone/>
            </a:pPr>
            <a:r>
              <a:rPr lang="nl-BE" dirty="0"/>
              <a:t>Os algortimos de aprendizado de máquina podem ser </a:t>
            </a:r>
            <a:r>
              <a:rPr lang="nl-BE" b="1" i="1" dirty="0">
                <a:solidFill>
                  <a:srgbClr val="7030A0"/>
                </a:solidFill>
              </a:rPr>
              <a:t>agrupados</a:t>
            </a:r>
            <a:r>
              <a:rPr lang="nl-BE" dirty="0"/>
              <a:t> de acordo com o </a:t>
            </a:r>
            <a:r>
              <a:rPr lang="nl-BE" b="1" i="1" dirty="0">
                <a:solidFill>
                  <a:srgbClr val="00B050"/>
                </a:solidFill>
              </a:rPr>
              <a:t>tipo de aprendizado que realizam</a:t>
            </a:r>
            <a:r>
              <a:rPr lang="pt-BR" dirty="0"/>
              <a:t>:</a:t>
            </a:r>
          </a:p>
          <a:p>
            <a:pPr lvl="1" fontAlgn="base"/>
            <a:r>
              <a:rPr lang="pt-BR" sz="2800" dirty="0"/>
              <a:t>Supervisionado</a:t>
            </a:r>
          </a:p>
          <a:p>
            <a:pPr lvl="1"/>
            <a:r>
              <a:rPr lang="pt-BR" sz="2800" dirty="0"/>
              <a:t>Não-Supervisionado</a:t>
            </a:r>
          </a:p>
          <a:p>
            <a:pPr lvl="1"/>
            <a:r>
              <a:rPr lang="pt-BR" sz="2800" dirty="0"/>
              <a:t>Por Reforço</a:t>
            </a:r>
          </a:p>
        </p:txBody>
      </p:sp>
      <p:pic>
        <p:nvPicPr>
          <p:cNvPr id="3074" name="Picture 2" descr="Image result for machine learning">
            <a:extLst>
              <a:ext uri="{FF2B5EF4-FFF2-40B4-BE49-F238E27FC236}">
                <a16:creationId xmlns:a16="http://schemas.microsoft.com/office/drawing/2014/main" id="{0F1D94CB-2EF0-4960-BC00-8889565E93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1119" y="1418625"/>
            <a:ext cx="4637651" cy="5290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572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Aprendizado supervisionado</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1" y="1825624"/>
                <a:ext cx="6776720" cy="5032375"/>
              </a:xfrm>
            </p:spPr>
            <p:txBody>
              <a:bodyPr>
                <a:normAutofit/>
              </a:bodyPr>
              <a:lstStyle/>
              <a:p>
                <a:pPr>
                  <a:spcBef>
                    <a:spcPts val="600"/>
                  </a:spcBef>
                </a:pPr>
                <a:r>
                  <a:rPr lang="pt-BR" dirty="0"/>
                  <a:t>No aprendizado supervisionado, o algoritmo de ML </a:t>
                </a:r>
                <a:r>
                  <a:rPr lang="pt-BR" b="1" i="1" dirty="0"/>
                  <a:t>tem acesso </a:t>
                </a:r>
                <a:r>
                  <a:rPr lang="pt-BR" dirty="0"/>
                  <a:t>a um </a:t>
                </a:r>
                <a:r>
                  <a:rPr lang="pt-BR" b="1" i="1" dirty="0">
                    <a:solidFill>
                      <a:schemeClr val="accent2"/>
                    </a:solidFill>
                  </a:rPr>
                  <a:t>conjunto</a:t>
                </a:r>
                <a:r>
                  <a:rPr lang="pt-BR" dirty="0"/>
                  <a:t> de</a:t>
                </a:r>
              </a:p>
              <a:p>
                <a:pPr lvl="1">
                  <a:spcBef>
                    <a:spcPts val="600"/>
                  </a:spcBef>
                  <a:buFont typeface="Wingdings" panose="05000000000000000000" pitchFamily="2" charset="2"/>
                  <a:buChar char="§"/>
                </a:pPr>
                <a:r>
                  <a:rPr lang="pt-BR" b="1" i="1" dirty="0">
                    <a:solidFill>
                      <a:srgbClr val="00B050"/>
                    </a:solidFill>
                  </a:rPr>
                  <a:t>valores de entrada</a:t>
                </a:r>
                <a:r>
                  <a:rPr lang="pt-BR" dirty="0"/>
                  <a:t>, chamados de </a:t>
                </a:r>
                <a:r>
                  <a:rPr lang="pt-BR" b="1" i="1" dirty="0"/>
                  <a:t>atributos</a:t>
                </a:r>
                <a:r>
                  <a:rPr lang="pt-BR" dirty="0"/>
                  <a:t>, </a:t>
                </a:r>
                <a14:m>
                  <m:oMath xmlns:m="http://schemas.openxmlformats.org/officeDocument/2006/math">
                    <m:r>
                      <a:rPr lang="pt-BR" b="1" i="1">
                        <a:latin typeface="Cambria Math" panose="02040503050406030204" pitchFamily="18" charset="0"/>
                      </a:rPr>
                      <m:t>𝒙</m:t>
                    </m:r>
                  </m:oMath>
                </a14:m>
                <a:r>
                  <a:rPr lang="pt-BR" dirty="0"/>
                  <a:t>,</a:t>
                </a:r>
                <a:endParaRPr lang="pt-BR" b="1" i="1" dirty="0"/>
              </a:p>
              <a:p>
                <a:pPr lvl="1">
                  <a:spcBef>
                    <a:spcPts val="600"/>
                  </a:spcBef>
                  <a:buFont typeface="Wingdings" panose="05000000000000000000" pitchFamily="2" charset="2"/>
                  <a:buChar char="§"/>
                </a:pPr>
                <a:r>
                  <a:rPr lang="pt-BR" dirty="0"/>
                  <a:t>e </a:t>
                </a:r>
                <a:r>
                  <a:rPr lang="pt-BR" b="1" i="1" dirty="0">
                    <a:solidFill>
                      <a:srgbClr val="00B050"/>
                    </a:solidFill>
                  </a:rPr>
                  <a:t>saídas esperadas</a:t>
                </a:r>
                <a:r>
                  <a:rPr lang="pt-BR" dirty="0"/>
                  <a:t>, </a:t>
                </a:r>
                <a14:m>
                  <m:oMath xmlns:m="http://schemas.openxmlformats.org/officeDocument/2006/math">
                    <m:r>
                      <a:rPr lang="pt-BR" i="1">
                        <a:latin typeface="Cambria Math" panose="02040503050406030204" pitchFamily="18" charset="0"/>
                      </a:rPr>
                      <m:t>𝑦</m:t>
                    </m:r>
                  </m:oMath>
                </a14:m>
                <a:r>
                  <a:rPr lang="pt-BR" dirty="0"/>
                  <a:t>, para as entradas, chamadas de </a:t>
                </a:r>
                <a:r>
                  <a:rPr lang="pt-BR" b="1" i="1" dirty="0"/>
                  <a:t>rótulos</a:t>
                </a:r>
                <a:r>
                  <a:rPr lang="pt-BR" dirty="0"/>
                  <a:t> (ou </a:t>
                </a:r>
                <a:r>
                  <a:rPr lang="pt-BR" i="1" dirty="0" err="1"/>
                  <a:t>labels</a:t>
                </a:r>
                <a:r>
                  <a:rPr lang="pt-BR" dirty="0"/>
                  <a:t>, em inglês).</a:t>
                </a:r>
              </a:p>
              <a:p>
                <a:pPr>
                  <a:spcBef>
                    <a:spcPts val="600"/>
                  </a:spcBef>
                </a:pPr>
                <a:r>
                  <a:rPr lang="pt-BR" dirty="0"/>
                  <a:t>Em outras palavras, cada </a:t>
                </a:r>
                <a:r>
                  <a:rPr lang="pt-BR" b="1" i="1" dirty="0"/>
                  <a:t>exemplo de treinamento </a:t>
                </a:r>
                <a:r>
                  <a:rPr lang="pt-BR" dirty="0"/>
                  <a:t>é composto por valores de entrada, </a:t>
                </a:r>
                <a14:m>
                  <m:oMath xmlns:m="http://schemas.openxmlformats.org/officeDocument/2006/math">
                    <m:r>
                      <a:rPr lang="pt-BR" b="1" i="1">
                        <a:latin typeface="Cambria Math" panose="02040503050406030204" pitchFamily="18" charset="0"/>
                      </a:rPr>
                      <m:t>𝒙</m:t>
                    </m:r>
                  </m:oMath>
                </a14:m>
                <a:r>
                  <a:rPr lang="pt-BR" dirty="0"/>
                  <a:t> (</a:t>
                </a:r>
                <a:r>
                  <a:rPr lang="pt-BR" b="1" i="1" dirty="0">
                    <a:solidFill>
                      <a:srgbClr val="7030A0"/>
                    </a:solidFill>
                  </a:rPr>
                  <a:t>atributos</a:t>
                </a:r>
                <a:r>
                  <a:rPr lang="pt-BR" dirty="0"/>
                  <a:t>), e sua saída correspondente, </a:t>
                </a:r>
                <a14:m>
                  <m:oMath xmlns:m="http://schemas.openxmlformats.org/officeDocument/2006/math">
                    <m:r>
                      <a:rPr lang="pt-BR" i="1">
                        <a:latin typeface="Cambria Math" panose="02040503050406030204" pitchFamily="18" charset="0"/>
                      </a:rPr>
                      <m:t>𝑦</m:t>
                    </m:r>
                  </m:oMath>
                </a14:m>
                <a:r>
                  <a:rPr lang="pt-BR" dirty="0"/>
                  <a:t> (</a:t>
                </a:r>
                <a:r>
                  <a:rPr lang="pt-BR" b="1" i="1" dirty="0">
                    <a:solidFill>
                      <a:srgbClr val="7030A0"/>
                    </a:solidFill>
                  </a:rPr>
                  <a:t>rótulo</a:t>
                </a:r>
                <a:r>
                  <a:rPr lang="pt-BR" dirty="0"/>
                  <a:t>).</a:t>
                </a:r>
              </a:p>
              <a:p>
                <a:pPr>
                  <a:spcBef>
                    <a:spcPts val="600"/>
                  </a:spcBef>
                </a:pPr>
                <a:r>
                  <a:rPr lang="pt-BR" b="1" dirty="0"/>
                  <a:t>Exemplo</a:t>
                </a:r>
                <a:r>
                  <a:rPr lang="pt-BR" dirty="0"/>
                  <a:t>: predição da quantidade de paletas vendidas a partir da temperatura.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1" y="1825624"/>
                <a:ext cx="6776720" cy="5032375"/>
              </a:xfrm>
              <a:blipFill>
                <a:blip r:embed="rId3"/>
                <a:stretch>
                  <a:fillRect l="-1619" t="-1937" r="-270"/>
                </a:stretch>
              </a:blipFill>
            </p:spPr>
            <p:txBody>
              <a:bodyPr/>
              <a:lstStyle/>
              <a:p>
                <a:r>
                  <a:rPr lang="en-US">
                    <a:noFill/>
                  </a:rPr>
                  <a:t> </a:t>
                </a:r>
              </a:p>
            </p:txBody>
          </p:sp>
        </mc:Fallback>
      </mc:AlternateContent>
      <p:pic>
        <p:nvPicPr>
          <p:cNvPr id="12" name="Picture 2">
            <a:extLst>
              <a:ext uri="{FF2B5EF4-FFF2-40B4-BE49-F238E27FC236}">
                <a16:creationId xmlns:a16="http://schemas.microsoft.com/office/drawing/2014/main" id="{A776DA88-497A-1D74-FC7C-BEF89099FD4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6" r="1714"/>
          <a:stretch/>
        </p:blipFill>
        <p:spPr bwMode="auto">
          <a:xfrm>
            <a:off x="732188" y="2715792"/>
            <a:ext cx="3941412" cy="2772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9025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Objetivo dos algoritmos supervisionados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233012" y="1825624"/>
                <a:ext cx="6958988" cy="5032375"/>
              </a:xfrm>
            </p:spPr>
            <p:txBody>
              <a:bodyPr>
                <a:normAutofit/>
              </a:bodyPr>
              <a:lstStyle/>
              <a:p>
                <a:pPr>
                  <a:spcBef>
                    <a:spcPts val="600"/>
                  </a:spcBef>
                </a:pPr>
                <a:r>
                  <a:rPr lang="pt-BR" b="1" i="1" dirty="0">
                    <a:solidFill>
                      <a:srgbClr val="00B050"/>
                    </a:solidFill>
                  </a:rPr>
                  <a:t>Aprender</a:t>
                </a:r>
                <a:r>
                  <a:rPr lang="pt-BR" dirty="0"/>
                  <a:t> uma </a:t>
                </a:r>
                <a:r>
                  <a:rPr lang="pt-BR" b="1" i="1" dirty="0">
                    <a:solidFill>
                      <a:srgbClr val="00B050"/>
                    </a:solidFill>
                  </a:rPr>
                  <a:t>função</a:t>
                </a:r>
                <a:r>
                  <a:rPr lang="pt-BR" dirty="0"/>
                  <a:t> (i.e., o modelo) que </a:t>
                </a:r>
                <a:r>
                  <a:rPr lang="pt-BR" b="1" i="1" dirty="0">
                    <a:solidFill>
                      <a:srgbClr val="7030A0"/>
                    </a:solidFill>
                  </a:rPr>
                  <a:t>mapeie</a:t>
                </a:r>
                <a:r>
                  <a:rPr lang="pt-BR" dirty="0"/>
                  <a:t> as entradas </a:t>
                </a:r>
                <a14:m>
                  <m:oMath xmlns:m="http://schemas.openxmlformats.org/officeDocument/2006/math">
                    <m:r>
                      <a:rPr lang="pt-BR" b="1" i="1">
                        <a:latin typeface="Cambria Math" panose="02040503050406030204" pitchFamily="18" charset="0"/>
                      </a:rPr>
                      <m:t>𝒙</m:t>
                    </m:r>
                    <m:r>
                      <a:rPr lang="pt-BR" b="1" i="1">
                        <a:latin typeface="Cambria Math" panose="02040503050406030204" pitchFamily="18" charset="0"/>
                      </a:rPr>
                      <m:t> </m:t>
                    </m:r>
                  </m:oMath>
                </a14:m>
                <a:r>
                  <a:rPr lang="pt-BR" dirty="0"/>
                  <a:t>nas saídas esperadas, </a:t>
                </a:r>
                <a14:m>
                  <m:oMath xmlns:m="http://schemas.openxmlformats.org/officeDocument/2006/math">
                    <m:r>
                      <a:rPr lang="pt-BR" i="1">
                        <a:latin typeface="Cambria Math" panose="02040503050406030204" pitchFamily="18" charset="0"/>
                      </a:rPr>
                      <m:t>𝑦</m:t>
                    </m:r>
                  </m:oMath>
                </a14:m>
                <a:r>
                  <a:rPr lang="pt-BR" dirty="0"/>
                  <a:t>, ou seja, </a:t>
                </a:r>
                <a14:m>
                  <m:oMath xmlns:m="http://schemas.openxmlformats.org/officeDocument/2006/math">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𝑓</m:t>
                    </m:r>
                    <m:d>
                      <m:dPr>
                        <m:ctrlPr>
                          <a:rPr lang="pt-BR" i="1">
                            <a:latin typeface="Cambria Math" panose="02040503050406030204" pitchFamily="18" charset="0"/>
                          </a:rPr>
                        </m:ctrlPr>
                      </m:dPr>
                      <m:e>
                        <m:r>
                          <a:rPr lang="pt-BR" b="1" i="1">
                            <a:latin typeface="Cambria Math" panose="02040503050406030204" pitchFamily="18" charset="0"/>
                          </a:rPr>
                          <m:t>𝒙</m:t>
                        </m:r>
                      </m:e>
                    </m:d>
                  </m:oMath>
                </a14:m>
                <a:r>
                  <a:rPr lang="pt-BR" dirty="0"/>
                  <a:t>.</a:t>
                </a:r>
              </a:p>
              <a:p>
                <a:pPr>
                  <a:spcBef>
                    <a:spcPts val="600"/>
                  </a:spcBef>
                </a:pPr>
                <a:r>
                  <a:rPr lang="pt-BR" dirty="0"/>
                  <a:t>Esse tipo de aprendizado é dividido em </a:t>
                </a:r>
                <a:r>
                  <a:rPr lang="pt-BR" b="1" i="1" dirty="0">
                    <a:solidFill>
                      <a:srgbClr val="7030A0"/>
                    </a:solidFill>
                  </a:rPr>
                  <a:t>problemas</a:t>
                </a:r>
                <a:r>
                  <a:rPr lang="pt-BR" dirty="0"/>
                  <a:t> de </a:t>
                </a:r>
                <a:r>
                  <a:rPr lang="pt-BR" b="1" i="1" dirty="0"/>
                  <a:t>regressão</a:t>
                </a:r>
                <a:r>
                  <a:rPr lang="pt-BR" dirty="0"/>
                  <a:t> e </a:t>
                </a:r>
                <a:r>
                  <a:rPr lang="pt-BR" b="1" i="1" dirty="0"/>
                  <a:t>classificação</a:t>
                </a:r>
                <a:r>
                  <a:rPr lang="pt-BR" dirty="0"/>
                  <a:t>.</a:t>
                </a:r>
              </a:p>
              <a:p>
                <a:pPr lvl="1">
                  <a:spcBef>
                    <a:spcPts val="600"/>
                  </a:spcBef>
                  <a:buFont typeface="Wingdings" panose="05000000000000000000" pitchFamily="2" charset="2"/>
                  <a:buChar char="§"/>
                </a:pPr>
                <a:r>
                  <a:rPr lang="pt-BR" b="1" dirty="0"/>
                  <a:t>Regressão</a:t>
                </a:r>
                <a:r>
                  <a:rPr lang="pt-BR" dirty="0"/>
                  <a:t>: o rótulo, </a:t>
                </a:r>
                <a14:m>
                  <m:oMath xmlns:m="http://schemas.openxmlformats.org/officeDocument/2006/math">
                    <m:r>
                      <a:rPr lang="pt-BR" i="1">
                        <a:latin typeface="Cambria Math" panose="02040503050406030204" pitchFamily="18" charset="0"/>
                      </a:rPr>
                      <m:t>𝑦</m:t>
                    </m:r>
                  </m:oMath>
                </a14:m>
                <a:r>
                  <a:rPr lang="pt-BR" dirty="0"/>
                  <a:t>, pertence a um </a:t>
                </a:r>
                <a:r>
                  <a:rPr lang="pt-BR" b="1" i="1" dirty="0"/>
                  <a:t>conjunto infinito </a:t>
                </a:r>
                <a:r>
                  <a:rPr lang="pt-BR" dirty="0"/>
                  <a:t>de valores, i.e., números reais. </a:t>
                </a:r>
              </a:p>
              <a:p>
                <a:pPr lvl="2">
                  <a:spcBef>
                    <a:spcPts val="600"/>
                  </a:spcBef>
                  <a:buFont typeface="Wingdings" panose="05000000000000000000" pitchFamily="2" charset="2"/>
                  <a:buChar char="§"/>
                </a:pPr>
                <a:r>
                  <a:rPr lang="pt-BR" b="1" dirty="0"/>
                  <a:t>Exemplo</a:t>
                </a:r>
                <a:r>
                  <a:rPr lang="pt-BR" dirty="0"/>
                  <a:t>: anos de experiência versus salário.</a:t>
                </a:r>
              </a:p>
              <a:p>
                <a:pPr lvl="1">
                  <a:spcBef>
                    <a:spcPts val="600"/>
                  </a:spcBef>
                  <a:buFont typeface="Wingdings" panose="05000000000000000000" pitchFamily="2" charset="2"/>
                  <a:buChar char="§"/>
                </a:pPr>
                <a:r>
                  <a:rPr lang="pt-BR" b="1" dirty="0"/>
                  <a:t>Classificação</a:t>
                </a:r>
                <a:r>
                  <a:rPr lang="pt-BR" dirty="0"/>
                  <a:t>: o rótulo, </a:t>
                </a:r>
                <a14:m>
                  <m:oMath xmlns:m="http://schemas.openxmlformats.org/officeDocument/2006/math">
                    <m:r>
                      <a:rPr lang="pt-BR" i="1">
                        <a:latin typeface="Cambria Math" panose="02040503050406030204" pitchFamily="18" charset="0"/>
                      </a:rPr>
                      <m:t>𝑦</m:t>
                    </m:r>
                  </m:oMath>
                </a14:m>
                <a:r>
                  <a:rPr lang="pt-BR" dirty="0"/>
                  <a:t>, pertence a um </a:t>
                </a:r>
                <a:r>
                  <a:rPr lang="pt-BR" b="1" i="1" dirty="0"/>
                  <a:t>conjunto finito e discreto </a:t>
                </a:r>
                <a:r>
                  <a:rPr lang="pt-BR" dirty="0"/>
                  <a:t>de valores, i.e., quantidade de classes possíveis. </a:t>
                </a:r>
              </a:p>
              <a:p>
                <a:pPr lvl="2">
                  <a:spcBef>
                    <a:spcPts val="600"/>
                  </a:spcBef>
                  <a:buFont typeface="Wingdings" panose="05000000000000000000" pitchFamily="2" charset="2"/>
                  <a:buChar char="§"/>
                </a:pPr>
                <a:r>
                  <a:rPr lang="pt-BR" b="1" dirty="0"/>
                  <a:t>Exemplos</a:t>
                </a:r>
                <a:r>
                  <a:rPr lang="pt-BR" dirty="0"/>
                  <a:t>: filtro de spam, classificação de imagens.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233012" y="1825624"/>
                <a:ext cx="6958988" cy="5032375"/>
              </a:xfrm>
              <a:blipFill>
                <a:blip r:embed="rId3"/>
                <a:stretch>
                  <a:fillRect l="-1576" t="-1937"/>
                </a:stretch>
              </a:blipFill>
            </p:spPr>
            <p:txBody>
              <a:bodyPr/>
              <a:lstStyle/>
              <a:p>
                <a:r>
                  <a:rPr lang="en-US">
                    <a:noFill/>
                  </a:rPr>
                  <a:t> </a:t>
                </a:r>
              </a:p>
            </p:txBody>
          </p:sp>
        </mc:Fallback>
      </mc:AlternateContent>
      <p:pic>
        <p:nvPicPr>
          <p:cNvPr id="4" name="Picture 4" descr="Machine Learning : Simple Linear Regression – Anirudh Sethi Blog !">
            <a:extLst>
              <a:ext uri="{FF2B5EF4-FFF2-40B4-BE49-F238E27FC236}">
                <a16:creationId xmlns:a16="http://schemas.microsoft.com/office/drawing/2014/main" id="{D9E55C5C-4D41-016F-3F68-2BDF1244C6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859" y="1865658"/>
            <a:ext cx="3698809" cy="252273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9957F94D-0B18-9B82-BCA7-3F9282561597}"/>
                  </a:ext>
                </a:extLst>
              </p:cNvPr>
              <p:cNvSpPr txBox="1"/>
              <p:nvPr/>
            </p:nvSpPr>
            <p:spPr>
              <a:xfrm>
                <a:off x="3151572" y="4125288"/>
                <a:ext cx="24104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m:t>
                      </m:r>
                      <m:r>
                        <a:rPr lang="pt-BR" sz="1200" b="0" i="1" smtClean="0">
                          <a:latin typeface="Cambria Math" panose="02040503050406030204" pitchFamily="18" charset="0"/>
                        </a:rPr>
                        <m:t>𝑥</m:t>
                      </m:r>
                      <m:r>
                        <a:rPr lang="pt-BR" sz="1200" b="0" i="1" smtClean="0">
                          <a:latin typeface="Cambria Math" panose="02040503050406030204" pitchFamily="18" charset="0"/>
                        </a:rPr>
                        <m:t>)</m:t>
                      </m:r>
                    </m:oMath>
                  </m:oMathPara>
                </a14:m>
                <a:endParaRPr lang="pt-BR" sz="1200" dirty="0"/>
              </a:p>
            </p:txBody>
          </p:sp>
        </mc:Choice>
        <mc:Fallback xmlns="">
          <p:sp>
            <p:nvSpPr>
              <p:cNvPr id="5" name="CaixaDeTexto 4">
                <a:extLst>
                  <a:ext uri="{FF2B5EF4-FFF2-40B4-BE49-F238E27FC236}">
                    <a16:creationId xmlns:a16="http://schemas.microsoft.com/office/drawing/2014/main" id="{9957F94D-0B18-9B82-BCA7-3F9282561597}"/>
                  </a:ext>
                </a:extLst>
              </p:cNvPr>
              <p:cNvSpPr txBox="1">
                <a:spLocks noRot="1" noChangeAspect="1" noMove="1" noResize="1" noEditPoints="1" noAdjustHandles="1" noChangeArrowheads="1" noChangeShapeType="1" noTextEdit="1"/>
              </p:cNvSpPr>
              <p:nvPr/>
            </p:nvSpPr>
            <p:spPr>
              <a:xfrm>
                <a:off x="3151572" y="4125288"/>
                <a:ext cx="241041" cy="276999"/>
              </a:xfrm>
              <a:prstGeom prst="rect">
                <a:avLst/>
              </a:prstGeom>
              <a:blipFill>
                <a:blip r:embed="rId5"/>
                <a:stretch>
                  <a:fillRect r="-52500"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4C89EA20-0D50-2645-7888-822DE8F6FE29}"/>
                  </a:ext>
                </a:extLst>
              </p:cNvPr>
              <p:cNvSpPr txBox="1"/>
              <p:nvPr/>
            </p:nvSpPr>
            <p:spPr>
              <a:xfrm>
                <a:off x="1811544" y="2337154"/>
                <a:ext cx="1222615"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𝑓</m:t>
                      </m:r>
                      <m:d>
                        <m:dPr>
                          <m:ctrlPr>
                            <a:rPr lang="pt-BR" sz="1200" b="0" i="1" smtClean="0">
                              <a:latin typeface="Cambria Math" panose="02040503050406030204" pitchFamily="18" charset="0"/>
                            </a:rPr>
                          </m:ctrlPr>
                        </m:dPr>
                        <m:e>
                          <m:r>
                            <a:rPr lang="pt-BR" sz="1200" b="0" i="1" smtClean="0">
                              <a:latin typeface="Cambria Math" panose="02040503050406030204" pitchFamily="18" charset="0"/>
                            </a:rPr>
                            <m:t>𝑥</m:t>
                          </m:r>
                        </m:e>
                      </m:d>
                      <m:r>
                        <a:rPr lang="pt-BR" sz="1200" b="0" i="1" smtClean="0">
                          <a:latin typeface="Cambria Math" panose="02040503050406030204" pitchFamily="18" charset="0"/>
                        </a:rPr>
                        <m:t>=</m:t>
                      </m:r>
                      <m:r>
                        <a:rPr lang="pt-BR" sz="1200" b="0" i="1" smtClean="0">
                          <a:latin typeface="Cambria Math" panose="02040503050406030204" pitchFamily="18" charset="0"/>
                        </a:rPr>
                        <m:t>𝑎</m:t>
                      </m:r>
                      <m:r>
                        <a:rPr lang="pt-BR" sz="1200" b="0" i="1" smtClean="0">
                          <a:latin typeface="Cambria Math" panose="02040503050406030204" pitchFamily="18" charset="0"/>
                        </a:rPr>
                        <m:t>+</m:t>
                      </m:r>
                      <m:r>
                        <a:rPr lang="pt-BR" sz="1200" b="0" i="1" smtClean="0">
                          <a:latin typeface="Cambria Math" panose="02040503050406030204" pitchFamily="18" charset="0"/>
                        </a:rPr>
                        <m:t>𝑏𝑥</m:t>
                      </m:r>
                    </m:oMath>
                  </m:oMathPara>
                </a14:m>
                <a:endParaRPr lang="pt-BR" dirty="0"/>
              </a:p>
            </p:txBody>
          </p:sp>
        </mc:Choice>
        <mc:Fallback xmlns="">
          <p:sp>
            <p:nvSpPr>
              <p:cNvPr id="6" name="CaixaDeTexto 5">
                <a:extLst>
                  <a:ext uri="{FF2B5EF4-FFF2-40B4-BE49-F238E27FC236}">
                    <a16:creationId xmlns:a16="http://schemas.microsoft.com/office/drawing/2014/main" id="{4C89EA20-0D50-2645-7888-822DE8F6FE29}"/>
                  </a:ext>
                </a:extLst>
              </p:cNvPr>
              <p:cNvSpPr txBox="1">
                <a:spLocks noRot="1" noChangeAspect="1" noMove="1" noResize="1" noEditPoints="1" noAdjustHandles="1" noChangeArrowheads="1" noChangeShapeType="1" noTextEdit="1"/>
              </p:cNvSpPr>
              <p:nvPr/>
            </p:nvSpPr>
            <p:spPr>
              <a:xfrm>
                <a:off x="1811544" y="2337154"/>
                <a:ext cx="1222615" cy="276999"/>
              </a:xfrm>
              <a:prstGeom prst="rect">
                <a:avLst/>
              </a:prstGeom>
              <a:blipFill>
                <a:blip r:embed="rId6"/>
                <a:stretch>
                  <a:fillRect b="-434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DFCCD11F-5A21-53E7-3655-D85616DF6D73}"/>
                  </a:ext>
                </a:extLst>
              </p:cNvPr>
              <p:cNvSpPr txBox="1"/>
              <p:nvPr/>
            </p:nvSpPr>
            <p:spPr>
              <a:xfrm rot="16200000">
                <a:off x="657873" y="2695064"/>
                <a:ext cx="24104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m:t>
                      </m:r>
                      <m:r>
                        <a:rPr lang="pt-BR" sz="1200" b="0" i="1" smtClean="0">
                          <a:latin typeface="Cambria Math" panose="02040503050406030204" pitchFamily="18" charset="0"/>
                        </a:rPr>
                        <m:t>𝑦</m:t>
                      </m:r>
                      <m:r>
                        <a:rPr lang="pt-BR" sz="1200" b="0" i="1" smtClean="0">
                          <a:latin typeface="Cambria Math" panose="02040503050406030204" pitchFamily="18" charset="0"/>
                        </a:rPr>
                        <m:t>)</m:t>
                      </m:r>
                    </m:oMath>
                  </m:oMathPara>
                </a14:m>
                <a:endParaRPr lang="pt-BR" sz="1200" dirty="0"/>
              </a:p>
            </p:txBody>
          </p:sp>
        </mc:Choice>
        <mc:Fallback xmlns="">
          <p:sp>
            <p:nvSpPr>
              <p:cNvPr id="7" name="CaixaDeTexto 6">
                <a:extLst>
                  <a:ext uri="{FF2B5EF4-FFF2-40B4-BE49-F238E27FC236}">
                    <a16:creationId xmlns:a16="http://schemas.microsoft.com/office/drawing/2014/main" id="{DFCCD11F-5A21-53E7-3655-D85616DF6D73}"/>
                  </a:ext>
                </a:extLst>
              </p:cNvPr>
              <p:cNvSpPr txBox="1">
                <a:spLocks noRot="1" noChangeAspect="1" noMove="1" noResize="1" noEditPoints="1" noAdjustHandles="1" noChangeArrowheads="1" noChangeShapeType="1" noTextEdit="1"/>
              </p:cNvSpPr>
              <p:nvPr/>
            </p:nvSpPr>
            <p:spPr>
              <a:xfrm rot="16200000">
                <a:off x="657873" y="2695064"/>
                <a:ext cx="241041" cy="276999"/>
              </a:xfrm>
              <a:prstGeom prst="rect">
                <a:avLst/>
              </a:prstGeom>
              <a:blipFill>
                <a:blip r:embed="rId7"/>
                <a:stretch>
                  <a:fillRect t="-57500" r="-8889"/>
                </a:stretch>
              </a:blipFill>
            </p:spPr>
            <p:txBody>
              <a:bodyPr/>
              <a:lstStyle/>
              <a:p>
                <a:r>
                  <a:rPr lang="pt-BR">
                    <a:noFill/>
                  </a:rPr>
                  <a:t> </a:t>
                </a:r>
              </a:p>
            </p:txBody>
          </p:sp>
        </mc:Fallback>
      </mc:AlternateContent>
      <p:sp>
        <p:nvSpPr>
          <p:cNvPr id="8" name="Forma livre 8">
            <a:extLst>
              <a:ext uri="{FF2B5EF4-FFF2-40B4-BE49-F238E27FC236}">
                <a16:creationId xmlns:a16="http://schemas.microsoft.com/office/drawing/2014/main" id="{2987AB5B-72EC-9D97-16B5-02B6C4515625}"/>
              </a:ext>
            </a:extLst>
          </p:cNvPr>
          <p:cNvSpPr/>
          <p:nvPr/>
        </p:nvSpPr>
        <p:spPr>
          <a:xfrm>
            <a:off x="2908198" y="2481058"/>
            <a:ext cx="363894" cy="139959"/>
          </a:xfrm>
          <a:custGeom>
            <a:avLst/>
            <a:gdLst>
              <a:gd name="connsiteX0" fmla="*/ 0 w 363894"/>
              <a:gd name="connsiteY0" fmla="*/ 0 h 139959"/>
              <a:gd name="connsiteX1" fmla="*/ 363894 w 363894"/>
              <a:gd name="connsiteY1" fmla="*/ 139959 h 139959"/>
            </a:gdLst>
            <a:ahLst/>
            <a:cxnLst>
              <a:cxn ang="0">
                <a:pos x="connsiteX0" y="connsiteY0"/>
              </a:cxn>
              <a:cxn ang="0">
                <a:pos x="connsiteX1" y="connsiteY1"/>
              </a:cxn>
            </a:cxnLst>
            <a:rect l="l" t="t" r="r" b="b"/>
            <a:pathLst>
              <a:path w="363894" h="139959">
                <a:moveTo>
                  <a:pt x="0" y="0"/>
                </a:moveTo>
                <a:lnTo>
                  <a:pt x="363894" y="139959"/>
                </a:ln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9" name="Picture 4" descr="Image result for supervised learning">
            <a:extLst>
              <a:ext uri="{FF2B5EF4-FFF2-40B4-BE49-F238E27FC236}">
                <a16:creationId xmlns:a16="http://schemas.microsoft.com/office/drawing/2014/main" id="{02EFCD37-71FF-EC8A-C20D-6EB797AB6F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439" y="4706094"/>
            <a:ext cx="5086855" cy="162728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DD814BB9-ADE8-A915-1D08-813BDF0C375A}"/>
                  </a:ext>
                </a:extLst>
              </p:cNvPr>
              <p:cNvSpPr txBox="1"/>
              <p:nvPr/>
            </p:nvSpPr>
            <p:spPr>
              <a:xfrm>
                <a:off x="374439" y="6333375"/>
                <a:ext cx="4454016" cy="492443"/>
              </a:xfrm>
              <a:prstGeom prst="rect">
                <a:avLst/>
              </a:prstGeom>
              <a:noFill/>
            </p:spPr>
            <p:txBody>
              <a:bodyPr wrap="square" rtlCol="0">
                <a:spAutoFit/>
              </a:bodyPr>
              <a:lstStyle/>
              <a:p>
                <a14:m>
                  <m:oMath xmlns:m="http://schemas.openxmlformats.org/officeDocument/2006/math">
                    <m:r>
                      <a:rPr lang="pt-BR" sz="1300" b="1" i="1" smtClean="0">
                        <a:latin typeface="Cambria Math" panose="02040503050406030204" pitchFamily="18" charset="0"/>
                      </a:rPr>
                      <m:t>𝒙</m:t>
                    </m:r>
                    <m:r>
                      <a:rPr lang="pt-BR" sz="1300" b="1" i="1" smtClean="0">
                        <a:latin typeface="Cambria Math" panose="02040503050406030204" pitchFamily="18" charset="0"/>
                      </a:rPr>
                      <m:t>=</m:t>
                    </m:r>
                    <m:r>
                      <a:rPr lang="pt-BR" sz="1300" b="0" i="1" smtClean="0">
                        <a:latin typeface="Cambria Math" panose="02040503050406030204" pitchFamily="18" charset="0"/>
                      </a:rPr>
                      <m:t>[</m:t>
                    </m:r>
                    <m:sSub>
                      <m:sSubPr>
                        <m:ctrlPr>
                          <a:rPr lang="pt-BR" sz="1300" i="1" smtClean="0">
                            <a:latin typeface="Cambria Math" panose="02040503050406030204" pitchFamily="18" charset="0"/>
                          </a:rPr>
                        </m:ctrlPr>
                      </m:sSubPr>
                      <m:e>
                        <m:r>
                          <a:rPr lang="pt-BR" sz="1300" b="0" i="1" smtClean="0">
                            <a:latin typeface="Cambria Math" panose="02040503050406030204" pitchFamily="18" charset="0"/>
                          </a:rPr>
                          <m:t>𝑥</m:t>
                        </m:r>
                      </m:e>
                      <m:sub>
                        <m:r>
                          <a:rPr lang="pt-BR" sz="1300" b="0" i="1" smtClean="0">
                            <a:latin typeface="Cambria Math" panose="02040503050406030204" pitchFamily="18" charset="0"/>
                          </a:rPr>
                          <m:t>1</m:t>
                        </m:r>
                      </m:sub>
                    </m:sSub>
                    <m:r>
                      <a:rPr lang="pt-BR" sz="1300" b="0" i="1" smtClean="0">
                        <a:latin typeface="Cambria Math" panose="02040503050406030204" pitchFamily="18" charset="0"/>
                      </a:rPr>
                      <m:t>,</m:t>
                    </m:r>
                    <m:sSub>
                      <m:sSubPr>
                        <m:ctrlPr>
                          <a:rPr lang="pt-BR" sz="1300" i="1">
                            <a:latin typeface="Cambria Math" panose="02040503050406030204" pitchFamily="18" charset="0"/>
                          </a:rPr>
                        </m:ctrlPr>
                      </m:sSubPr>
                      <m:e>
                        <m:r>
                          <a:rPr lang="pt-BR" sz="1300" b="0" i="1">
                            <a:latin typeface="Cambria Math" panose="02040503050406030204" pitchFamily="18" charset="0"/>
                          </a:rPr>
                          <m:t>𝑥</m:t>
                        </m:r>
                      </m:e>
                      <m:sub>
                        <m:r>
                          <a:rPr lang="pt-BR" sz="1300" b="0" i="1" smtClean="0">
                            <a:latin typeface="Cambria Math" panose="02040503050406030204" pitchFamily="18" charset="0"/>
                          </a:rPr>
                          <m:t>2</m:t>
                        </m:r>
                      </m:sub>
                    </m:sSub>
                    <m:r>
                      <a:rPr lang="pt-BR" sz="1300" b="0" i="1">
                        <a:latin typeface="Cambria Math" panose="02040503050406030204" pitchFamily="18" charset="0"/>
                      </a:rPr>
                      <m:t>,</m:t>
                    </m:r>
                    <m:sSub>
                      <m:sSubPr>
                        <m:ctrlPr>
                          <a:rPr lang="pt-BR" sz="1300" i="1">
                            <a:latin typeface="Cambria Math" panose="02040503050406030204" pitchFamily="18" charset="0"/>
                          </a:rPr>
                        </m:ctrlPr>
                      </m:sSubPr>
                      <m:e>
                        <m:r>
                          <a:rPr lang="pt-BR" sz="1300" b="0" i="1">
                            <a:latin typeface="Cambria Math" panose="02040503050406030204" pitchFamily="18" charset="0"/>
                          </a:rPr>
                          <m:t>𝑥</m:t>
                        </m:r>
                      </m:e>
                      <m:sub>
                        <m:r>
                          <a:rPr lang="pt-BR" sz="1300" b="0" i="1" smtClean="0">
                            <a:latin typeface="Cambria Math" panose="02040503050406030204" pitchFamily="18" charset="0"/>
                          </a:rPr>
                          <m:t>3</m:t>
                        </m:r>
                      </m:sub>
                    </m:sSub>
                    <m:r>
                      <a:rPr lang="pt-BR" sz="1300" b="0" i="1">
                        <a:latin typeface="Cambria Math" panose="02040503050406030204" pitchFamily="18" charset="0"/>
                      </a:rPr>
                      <m:t>,</m:t>
                    </m:r>
                    <m:r>
                      <a:rPr lang="pt-BR" sz="1300" b="0" i="1" smtClean="0">
                        <a:latin typeface="Cambria Math" panose="02040503050406030204" pitchFamily="18" charset="0"/>
                      </a:rPr>
                      <m:t>…]</m:t>
                    </m:r>
                  </m:oMath>
                </a14:m>
                <a:r>
                  <a:rPr lang="pt-BR" sz="1300" dirty="0"/>
                  <a:t>: data, remetente, assunto, etc.</a:t>
                </a:r>
              </a:p>
              <a:p>
                <a14:m>
                  <m:oMath xmlns:m="http://schemas.openxmlformats.org/officeDocument/2006/math">
                    <m:r>
                      <a:rPr lang="pt-BR" sz="1300" b="0" i="1" smtClean="0">
                        <a:latin typeface="Cambria Math" panose="02040503050406030204" pitchFamily="18" charset="0"/>
                      </a:rPr>
                      <m:t>𝑦</m:t>
                    </m:r>
                  </m:oMath>
                </a14:m>
                <a:r>
                  <a:rPr lang="pt-BR" sz="1300" dirty="0"/>
                  <a:t>: spam ou </a:t>
                </a:r>
                <a:r>
                  <a:rPr lang="pt-BR" sz="1300" dirty="0" err="1"/>
                  <a:t>ham</a:t>
                </a:r>
                <a:endParaRPr lang="pt-BR" sz="1300" dirty="0"/>
              </a:p>
            </p:txBody>
          </p:sp>
        </mc:Choice>
        <mc:Fallback xmlns="">
          <p:sp>
            <p:nvSpPr>
              <p:cNvPr id="10" name="CaixaDeTexto 9">
                <a:extLst>
                  <a:ext uri="{FF2B5EF4-FFF2-40B4-BE49-F238E27FC236}">
                    <a16:creationId xmlns:a16="http://schemas.microsoft.com/office/drawing/2014/main" id="{DD814BB9-ADE8-A915-1D08-813BDF0C375A}"/>
                  </a:ext>
                </a:extLst>
              </p:cNvPr>
              <p:cNvSpPr txBox="1">
                <a:spLocks noRot="1" noChangeAspect="1" noMove="1" noResize="1" noEditPoints="1" noAdjustHandles="1" noChangeArrowheads="1" noChangeShapeType="1" noTextEdit="1"/>
              </p:cNvSpPr>
              <p:nvPr/>
            </p:nvSpPr>
            <p:spPr>
              <a:xfrm>
                <a:off x="374439" y="6333375"/>
                <a:ext cx="4454016" cy="492443"/>
              </a:xfrm>
              <a:prstGeom prst="rect">
                <a:avLst/>
              </a:prstGeom>
              <a:blipFill>
                <a:blip r:embed="rId9"/>
                <a:stretch>
                  <a:fillRect t="-1235" b="-9877"/>
                </a:stretch>
              </a:blipFill>
            </p:spPr>
            <p:txBody>
              <a:bodyPr/>
              <a:lstStyle/>
              <a:p>
                <a:r>
                  <a:rPr lang="pt-BR">
                    <a:noFill/>
                  </a:rPr>
                  <a:t> </a:t>
                </a:r>
              </a:p>
            </p:txBody>
          </p:sp>
        </mc:Fallback>
      </mc:AlternateContent>
    </p:spTree>
    <p:extLst>
      <p:ext uri="{BB962C8B-B14F-4D97-AF65-F5344CB8AC3E}">
        <p14:creationId xmlns:p14="http://schemas.microsoft.com/office/powerpoint/2010/main" val="3154252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B39B9C-599D-4DED-8180-FA8AD66BB117}"/>
              </a:ext>
            </a:extLst>
          </p:cNvPr>
          <p:cNvSpPr>
            <a:spLocks noGrp="1"/>
          </p:cNvSpPr>
          <p:nvPr>
            <p:ph type="title"/>
          </p:nvPr>
        </p:nvSpPr>
        <p:spPr>
          <a:xfrm>
            <a:off x="838200" y="365126"/>
            <a:ext cx="10515600" cy="1084466"/>
          </a:xfrm>
        </p:spPr>
        <p:txBody>
          <a:bodyPr/>
          <a:lstStyle/>
          <a:p>
            <a:r>
              <a:rPr lang="pt-BR" dirty="0"/>
              <a:t>Aprendizado não-supervisionado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5E0262E2-3A0F-4805-BCCB-6745237D1574}"/>
                  </a:ext>
                </a:extLst>
              </p:cNvPr>
              <p:cNvSpPr>
                <a:spLocks noGrp="1"/>
              </p:cNvSpPr>
              <p:nvPr>
                <p:ph idx="1"/>
              </p:nvPr>
            </p:nvSpPr>
            <p:spPr>
              <a:xfrm>
                <a:off x="5556080" y="1634257"/>
                <a:ext cx="6514000" cy="5223743"/>
              </a:xfrm>
            </p:spPr>
            <p:txBody>
              <a:bodyPr vert="horz" lIns="91440" tIns="45720" rIns="91440" bIns="45720" rtlCol="0" anchor="t">
                <a:normAutofit/>
              </a:bodyPr>
              <a:lstStyle/>
              <a:p>
                <a:r>
                  <a:rPr lang="pt-BR" dirty="0"/>
                  <a:t>Neste tipo de aprendizado, os algoritmos de ML </a:t>
                </a:r>
                <a:r>
                  <a:rPr lang="pt-BR" b="1" i="1" dirty="0">
                    <a:solidFill>
                      <a:srgbClr val="7030A0"/>
                    </a:solidFill>
                  </a:rPr>
                  <a:t>não têm acesso </a:t>
                </a:r>
                <a:r>
                  <a:rPr lang="pt-BR" b="1" i="1" dirty="0">
                    <a:solidFill>
                      <a:srgbClr val="00B050"/>
                    </a:solidFill>
                  </a:rPr>
                  <a:t>às saídas esperadas</a:t>
                </a:r>
                <a:r>
                  <a:rPr lang="pt-BR" dirty="0"/>
                  <a:t>, </a:t>
                </a:r>
                <a14:m>
                  <m:oMath xmlns:m="http://schemas.openxmlformats.org/officeDocument/2006/math">
                    <m:r>
                      <a:rPr lang="pt-BR" i="1">
                        <a:latin typeface="Cambria Math" panose="02040503050406030204" pitchFamily="18" charset="0"/>
                      </a:rPr>
                      <m:t>𝑦</m:t>
                    </m:r>
                  </m:oMath>
                </a14:m>
                <a:r>
                  <a:rPr lang="pt-BR" dirty="0">
                    <a:cs typeface="Calibri"/>
                  </a:rPr>
                  <a:t>. </a:t>
                </a:r>
              </a:p>
              <a:p>
                <a:r>
                  <a:rPr lang="pt-BR" dirty="0">
                    <a:cs typeface="Calibri"/>
                  </a:rPr>
                  <a:t>Os algoritmos só têm acesso aos </a:t>
                </a:r>
                <a:r>
                  <a:rPr lang="pt-BR" b="1" i="1" dirty="0">
                    <a:solidFill>
                      <a:srgbClr val="00B050"/>
                    </a:solidFill>
                    <a:cs typeface="Calibri"/>
                  </a:rPr>
                  <a:t>atributos</a:t>
                </a:r>
                <a:r>
                  <a:rPr lang="pt-BR" dirty="0">
                    <a:cs typeface="Calibri"/>
                  </a:rPr>
                  <a:t>, </a:t>
                </a:r>
                <a14:m>
                  <m:oMath xmlns:m="http://schemas.openxmlformats.org/officeDocument/2006/math">
                    <m:r>
                      <a:rPr lang="pt-BR" b="1" i="1">
                        <a:latin typeface="Cambria Math" panose="02040503050406030204" pitchFamily="18" charset="0"/>
                      </a:rPr>
                      <m:t>𝒙</m:t>
                    </m:r>
                  </m:oMath>
                </a14:m>
                <a:r>
                  <a:rPr lang="pt-BR" dirty="0">
                    <a:cs typeface="Calibri"/>
                  </a:rPr>
                  <a:t>.</a:t>
                </a:r>
                <a:endParaRPr lang="pt-BR" dirty="0"/>
              </a:p>
              <a:p>
                <a:r>
                  <a:rPr lang="pt-BR" b="1" dirty="0"/>
                  <a:t>Objetivo</a:t>
                </a:r>
                <a:r>
                  <a:rPr lang="pt-BR" dirty="0"/>
                  <a:t>: os algoritmos devem </a:t>
                </a:r>
                <a:r>
                  <a:rPr lang="pt-BR" b="1" i="1" dirty="0">
                    <a:solidFill>
                      <a:schemeClr val="accent2"/>
                    </a:solidFill>
                  </a:rPr>
                  <a:t>aprender/descobrir padrões</a:t>
                </a:r>
                <a:r>
                  <a:rPr lang="pt-BR" dirty="0"/>
                  <a:t>, muitas vezes ocultos, presentes nos dados se baseando apenas, por exemplo, na </a:t>
                </a:r>
                <a:r>
                  <a:rPr lang="pt-BR" b="1" i="1" dirty="0">
                    <a:solidFill>
                      <a:srgbClr val="00B050"/>
                    </a:solidFill>
                  </a:rPr>
                  <a:t>similaridade</a:t>
                </a:r>
                <a:r>
                  <a:rPr lang="pt-BR" dirty="0"/>
                  <a:t> entre os </a:t>
                </a:r>
                <a:r>
                  <a:rPr lang="pt-BR" b="1" i="1" dirty="0"/>
                  <a:t>atributos</a:t>
                </a:r>
                <a:r>
                  <a:rPr lang="pt-BR" dirty="0"/>
                  <a:t>, </a:t>
                </a:r>
                <a14:m>
                  <m:oMath xmlns:m="http://schemas.openxmlformats.org/officeDocument/2006/math">
                    <m:r>
                      <a:rPr lang="pt-BR" b="1" i="1">
                        <a:latin typeface="Cambria Math" panose="02040503050406030204" pitchFamily="18" charset="0"/>
                      </a:rPr>
                      <m:t>𝒙</m:t>
                    </m:r>
                  </m:oMath>
                </a14:m>
                <a:r>
                  <a:rPr lang="pt-BR" dirty="0"/>
                  <a:t>, ou seja, </a:t>
                </a:r>
                <a:r>
                  <a:rPr lang="pt-BR" b="1" i="1" dirty="0">
                    <a:solidFill>
                      <a:srgbClr val="7030A0"/>
                    </a:solidFill>
                  </a:rPr>
                  <a:t>sem a presença de rótulos</a:t>
                </a:r>
                <a:r>
                  <a:rPr lang="pt-BR" dirty="0"/>
                  <a:t>.</a:t>
                </a:r>
              </a:p>
            </p:txBody>
          </p:sp>
        </mc:Choice>
        <mc:Fallback xmlns="">
          <p:sp>
            <p:nvSpPr>
              <p:cNvPr id="3" name="Espaço Reservado para Conteúdo 2">
                <a:extLst>
                  <a:ext uri="{FF2B5EF4-FFF2-40B4-BE49-F238E27FC236}">
                    <a16:creationId xmlns:a16="http://schemas.microsoft.com/office/drawing/2014/main" id="{5E0262E2-3A0F-4805-BCCB-6745237D1574}"/>
                  </a:ext>
                </a:extLst>
              </p:cNvPr>
              <p:cNvSpPr>
                <a:spLocks noGrp="1" noRot="1" noChangeAspect="1" noMove="1" noResize="1" noEditPoints="1" noAdjustHandles="1" noChangeArrowheads="1" noChangeShapeType="1" noTextEdit="1"/>
              </p:cNvSpPr>
              <p:nvPr>
                <p:ph idx="1"/>
              </p:nvPr>
            </p:nvSpPr>
            <p:spPr>
              <a:xfrm>
                <a:off x="5556080" y="1634257"/>
                <a:ext cx="6514000" cy="5223743"/>
              </a:xfrm>
              <a:blipFill>
                <a:blip r:embed="rId3"/>
                <a:stretch>
                  <a:fillRect l="-1684" t="-1867" r="-281"/>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67288FE0-20E1-697B-6516-E39660DB8A26}"/>
              </a:ext>
            </a:extLst>
          </p:cNvPr>
          <p:cNvGrpSpPr/>
          <p:nvPr/>
        </p:nvGrpSpPr>
        <p:grpSpPr>
          <a:xfrm>
            <a:off x="-43936" y="1634257"/>
            <a:ext cx="5493267" cy="5014422"/>
            <a:chOff x="246521" y="1634257"/>
            <a:chExt cx="5493267" cy="5014422"/>
          </a:xfrm>
        </p:grpSpPr>
        <p:pic>
          <p:nvPicPr>
            <p:cNvPr id="2050" name="Picture 2" descr="K-means: A Complete Introduction. K-means is an unsupervised clustering… |  by Alan Jeffares | Towards Data Science">
              <a:extLst>
                <a:ext uri="{FF2B5EF4-FFF2-40B4-BE49-F238E27FC236}">
                  <a16:creationId xmlns:a16="http://schemas.microsoft.com/office/drawing/2014/main" id="{E01884DA-152B-FB68-C204-EDCDD46E5B4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91" t="11502" r="54947" b="10772"/>
            <a:stretch/>
          </p:blipFill>
          <p:spPr bwMode="auto">
            <a:xfrm>
              <a:off x="1797441" y="1634257"/>
              <a:ext cx="2918634" cy="21648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iagrama">
              <a:extLst>
                <a:ext uri="{FF2B5EF4-FFF2-40B4-BE49-F238E27FC236}">
                  <a16:creationId xmlns:a16="http://schemas.microsoft.com/office/drawing/2014/main" id="{8B9A1E77-24B1-7DF5-03C9-94E6E4C7F3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6249" t="10730" b="10771"/>
            <a:stretch/>
          </p:blipFill>
          <p:spPr bwMode="auto">
            <a:xfrm>
              <a:off x="1797441" y="4466752"/>
              <a:ext cx="2918634" cy="2181927"/>
            </a:xfrm>
            <a:prstGeom prst="rect">
              <a:avLst/>
            </a:prstGeom>
            <a:noFill/>
            <a:extLst>
              <a:ext uri="{909E8E84-426E-40DD-AFC4-6F175D3DCCD1}">
                <a14:hiddenFill xmlns:a14="http://schemas.microsoft.com/office/drawing/2010/main">
                  <a:solidFill>
                    <a:srgbClr val="FFFFFF"/>
                  </a:solidFill>
                </a14:hiddenFill>
              </a:ext>
            </a:extLst>
          </p:spPr>
        </p:pic>
        <p:sp>
          <p:nvSpPr>
            <p:cNvPr id="5" name="Seta: para Baixo 4">
              <a:extLst>
                <a:ext uri="{FF2B5EF4-FFF2-40B4-BE49-F238E27FC236}">
                  <a16:creationId xmlns:a16="http://schemas.microsoft.com/office/drawing/2014/main" id="{9E19AC8B-C706-78C1-076D-5A1287FC616E}"/>
                </a:ext>
              </a:extLst>
            </p:cNvPr>
            <p:cNvSpPr/>
            <p:nvPr/>
          </p:nvSpPr>
          <p:spPr>
            <a:xfrm>
              <a:off x="3108030" y="3893589"/>
              <a:ext cx="297455" cy="47864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1F4FDDD9-F55E-36C2-19FF-7B20360E355B}"/>
                </a:ext>
              </a:extLst>
            </p:cNvPr>
            <p:cNvSpPr txBox="1"/>
            <p:nvPr/>
          </p:nvSpPr>
          <p:spPr>
            <a:xfrm>
              <a:off x="666979" y="2311840"/>
              <a:ext cx="1215614" cy="646331"/>
            </a:xfrm>
            <a:prstGeom prst="rect">
              <a:avLst/>
            </a:prstGeom>
            <a:noFill/>
          </p:spPr>
          <p:txBody>
            <a:bodyPr wrap="square" rtlCol="0">
              <a:spAutoFit/>
            </a:bodyPr>
            <a:lstStyle/>
            <a:p>
              <a:pPr algn="ctr"/>
              <a:r>
                <a:rPr lang="pt-BR" b="1" dirty="0"/>
                <a:t>Dados não rotulados</a:t>
              </a:r>
            </a:p>
          </p:txBody>
        </p:sp>
        <p:sp>
          <p:nvSpPr>
            <p:cNvPr id="7" name="CaixaDeTexto 6">
              <a:extLst>
                <a:ext uri="{FF2B5EF4-FFF2-40B4-BE49-F238E27FC236}">
                  <a16:creationId xmlns:a16="http://schemas.microsoft.com/office/drawing/2014/main" id="{2733FB70-7468-6FEE-704E-38F210F09CBE}"/>
                </a:ext>
              </a:extLst>
            </p:cNvPr>
            <p:cNvSpPr txBox="1"/>
            <p:nvPr/>
          </p:nvSpPr>
          <p:spPr>
            <a:xfrm>
              <a:off x="246521" y="5096050"/>
              <a:ext cx="1636072" cy="923330"/>
            </a:xfrm>
            <a:prstGeom prst="rect">
              <a:avLst/>
            </a:prstGeom>
            <a:noFill/>
          </p:spPr>
          <p:txBody>
            <a:bodyPr wrap="square" rtlCol="0">
              <a:spAutoFit/>
            </a:bodyPr>
            <a:lstStyle/>
            <a:p>
              <a:pPr algn="ctr"/>
              <a:r>
                <a:rPr lang="pt-BR" b="1" dirty="0"/>
                <a:t>Dados agrupados por </a:t>
              </a:r>
              <a:r>
                <a:rPr lang="pt-BR" b="1" dirty="0">
                  <a:solidFill>
                    <a:srgbClr val="7030A0"/>
                  </a:solidFill>
                </a:rPr>
                <a:t>proximidade</a:t>
              </a:r>
            </a:p>
          </p:txBody>
        </p:sp>
        <p:sp>
          <p:nvSpPr>
            <p:cNvPr id="9" name="CaixaDeTexto 8">
              <a:extLst>
                <a:ext uri="{FF2B5EF4-FFF2-40B4-BE49-F238E27FC236}">
                  <a16:creationId xmlns:a16="http://schemas.microsoft.com/office/drawing/2014/main" id="{2150A039-C911-B65B-8594-4F8B7895B339}"/>
                </a:ext>
              </a:extLst>
            </p:cNvPr>
            <p:cNvSpPr txBox="1"/>
            <p:nvPr/>
          </p:nvSpPr>
          <p:spPr>
            <a:xfrm>
              <a:off x="3317350" y="3840524"/>
              <a:ext cx="2422438" cy="584775"/>
            </a:xfrm>
            <a:prstGeom prst="rect">
              <a:avLst/>
            </a:prstGeom>
            <a:noFill/>
          </p:spPr>
          <p:txBody>
            <a:bodyPr wrap="square">
              <a:spAutoFit/>
            </a:bodyPr>
            <a:lstStyle/>
            <a:p>
              <a:pPr algn="ctr"/>
              <a:r>
                <a:rPr lang="pt-BR" sz="1600" dirty="0"/>
                <a:t>Algoritmo de aprendizado não-supervisionado</a:t>
              </a:r>
            </a:p>
          </p:txBody>
        </p:sp>
      </p:grpSp>
    </p:spTree>
    <p:extLst>
      <p:ext uri="{BB962C8B-B14F-4D97-AF65-F5344CB8AC3E}">
        <p14:creationId xmlns:p14="http://schemas.microsoft.com/office/powerpoint/2010/main" val="2743820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D14B4A-F7CB-F872-F9AF-A6082A5ED7DB}"/>
              </a:ext>
            </a:extLst>
          </p:cNvPr>
          <p:cNvSpPr>
            <a:spLocks noGrp="1"/>
          </p:cNvSpPr>
          <p:nvPr>
            <p:ph type="title"/>
          </p:nvPr>
        </p:nvSpPr>
        <p:spPr>
          <a:xfrm>
            <a:off x="838200" y="406146"/>
            <a:ext cx="10515600" cy="1325563"/>
          </a:xfrm>
        </p:spPr>
        <p:txBody>
          <a:bodyPr/>
          <a:lstStyle/>
          <a:p>
            <a:r>
              <a:rPr lang="pt-BR" dirty="0"/>
              <a:t>Aprendizado não-supervisionado</a:t>
            </a:r>
          </a:p>
        </p:txBody>
      </p:sp>
      <p:sp>
        <p:nvSpPr>
          <p:cNvPr id="3" name="Espaço Reservado para Conteúdo 2">
            <a:extLst>
              <a:ext uri="{FF2B5EF4-FFF2-40B4-BE49-F238E27FC236}">
                <a16:creationId xmlns:a16="http://schemas.microsoft.com/office/drawing/2014/main" id="{873FB0D7-8B91-006B-0B66-260BCA1C73FE}"/>
              </a:ext>
            </a:extLst>
          </p:cNvPr>
          <p:cNvSpPr>
            <a:spLocks noGrp="1"/>
          </p:cNvSpPr>
          <p:nvPr>
            <p:ph idx="1"/>
          </p:nvPr>
        </p:nvSpPr>
        <p:spPr>
          <a:xfrm>
            <a:off x="7799942" y="1825624"/>
            <a:ext cx="4392057" cy="5032375"/>
          </a:xfrm>
        </p:spPr>
        <p:txBody>
          <a:bodyPr/>
          <a:lstStyle/>
          <a:p>
            <a:r>
              <a:rPr lang="pt-BR" dirty="0"/>
              <a:t>Esses algoritmos tratam problemas de </a:t>
            </a:r>
          </a:p>
          <a:p>
            <a:pPr lvl="1">
              <a:buFont typeface="Wingdings" panose="05000000000000000000" pitchFamily="2" charset="2"/>
              <a:buChar char="§"/>
            </a:pPr>
            <a:r>
              <a:rPr lang="pt-BR" b="1" i="1" dirty="0"/>
              <a:t>clusterização</a:t>
            </a:r>
            <a:r>
              <a:rPr lang="pt-BR" dirty="0"/>
              <a:t>, </a:t>
            </a:r>
          </a:p>
          <a:p>
            <a:pPr lvl="1">
              <a:buFont typeface="Wingdings" panose="05000000000000000000" pitchFamily="2" charset="2"/>
              <a:buChar char="§"/>
            </a:pPr>
            <a:r>
              <a:rPr lang="pt-BR" b="1" i="1" dirty="0"/>
              <a:t>detecção de anomalias</a:t>
            </a:r>
            <a:r>
              <a:rPr lang="pt-BR" dirty="0"/>
              <a:t> (</a:t>
            </a:r>
            <a:r>
              <a:rPr lang="pt-BR" i="1" dirty="0"/>
              <a:t>outliers</a:t>
            </a:r>
            <a:r>
              <a:rPr lang="pt-BR" dirty="0"/>
              <a:t>), </a:t>
            </a:r>
          </a:p>
          <a:p>
            <a:pPr lvl="1">
              <a:buFont typeface="Wingdings" panose="05000000000000000000" pitchFamily="2" charset="2"/>
              <a:buChar char="§"/>
            </a:pPr>
            <a:r>
              <a:rPr lang="pt-BR" b="1" dirty="0"/>
              <a:t>redução de dimensionalidade</a:t>
            </a:r>
            <a:r>
              <a:rPr lang="pt-BR" dirty="0"/>
              <a:t>, </a:t>
            </a:r>
          </a:p>
          <a:p>
            <a:pPr lvl="1">
              <a:buFont typeface="Wingdings" panose="05000000000000000000" pitchFamily="2" charset="2"/>
              <a:buChar char="§"/>
            </a:pPr>
            <a:r>
              <a:rPr lang="pt-BR" dirty="0"/>
              <a:t>e </a:t>
            </a:r>
            <a:r>
              <a:rPr lang="pt-BR" b="1" i="1" dirty="0"/>
              <a:t>aprendizado de regras de associação</a:t>
            </a:r>
            <a:r>
              <a:rPr lang="pt-BR" dirty="0"/>
              <a:t>.</a:t>
            </a:r>
            <a:endParaRPr lang="pt-BR" dirty="0">
              <a:cs typeface="Calibri"/>
            </a:endParaRPr>
          </a:p>
        </p:txBody>
      </p:sp>
      <p:pic>
        <p:nvPicPr>
          <p:cNvPr id="4" name="Picture 2" descr="https://www.ecloudvalley.com/wp-content/uploads/2019/09/Unsupervised-learning.png">
            <a:extLst>
              <a:ext uri="{FF2B5EF4-FFF2-40B4-BE49-F238E27FC236}">
                <a16:creationId xmlns:a16="http://schemas.microsoft.com/office/drawing/2014/main" id="{D5263760-ABE7-908A-A483-E7B4239BF93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667" t="10299" r="3988" b="11337"/>
          <a:stretch/>
        </p:blipFill>
        <p:spPr bwMode="auto">
          <a:xfrm>
            <a:off x="116360" y="1996782"/>
            <a:ext cx="4270666" cy="18206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s://slideplayer.com/slide/13055479/79/images/6/Data+Compression+Reduce+data+from+3D+to+2D+Andrew+Ng.jpg">
            <a:extLst>
              <a:ext uri="{FF2B5EF4-FFF2-40B4-BE49-F238E27FC236}">
                <a16:creationId xmlns:a16="http://schemas.microsoft.com/office/drawing/2014/main" id="{7EC8CA93-5627-1841-37B3-2A4EB620362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2627" t="15017" r="3654" b="20689"/>
          <a:stretch/>
        </p:blipFill>
        <p:spPr bwMode="auto">
          <a:xfrm>
            <a:off x="112482" y="4444718"/>
            <a:ext cx="4144655" cy="235243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http://users.telenet.be/martialluyts/img/basket.jpg">
            <a:extLst>
              <a:ext uri="{FF2B5EF4-FFF2-40B4-BE49-F238E27FC236}">
                <a16:creationId xmlns:a16="http://schemas.microsoft.com/office/drawing/2014/main" id="{9C811BA7-975A-E2DA-2E1F-9C7F060A9CDE}"/>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900" t="10088" r="6191" b="3867"/>
          <a:stretch/>
        </p:blipFill>
        <p:spPr bwMode="auto">
          <a:xfrm>
            <a:off x="4618017" y="4487441"/>
            <a:ext cx="3184002" cy="230971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2933EDA0-0AC1-1679-4C36-6F0BF84DF5F1}"/>
              </a:ext>
            </a:extLst>
          </p:cNvPr>
          <p:cNvSpPr/>
          <p:nvPr/>
        </p:nvSpPr>
        <p:spPr>
          <a:xfrm>
            <a:off x="5099746" y="1475703"/>
            <a:ext cx="2415085" cy="369332"/>
          </a:xfrm>
          <a:prstGeom prst="rect">
            <a:avLst/>
          </a:prstGeom>
        </p:spPr>
        <p:txBody>
          <a:bodyPr wrap="none">
            <a:spAutoFit/>
          </a:bodyPr>
          <a:lstStyle/>
          <a:p>
            <a:r>
              <a:rPr lang="pt-BR" b="1" dirty="0"/>
              <a:t>Detecção de Anomalias</a:t>
            </a:r>
            <a:endParaRPr lang="pt-BR" dirty="0"/>
          </a:p>
        </p:txBody>
      </p:sp>
      <p:sp>
        <p:nvSpPr>
          <p:cNvPr id="9" name="Rectangle 4">
            <a:extLst>
              <a:ext uri="{FF2B5EF4-FFF2-40B4-BE49-F238E27FC236}">
                <a16:creationId xmlns:a16="http://schemas.microsoft.com/office/drawing/2014/main" id="{331892E7-ED37-C3DC-2D4E-C8BA9DEA3471}"/>
              </a:ext>
            </a:extLst>
          </p:cNvPr>
          <p:cNvSpPr/>
          <p:nvPr/>
        </p:nvSpPr>
        <p:spPr>
          <a:xfrm>
            <a:off x="814111" y="4075386"/>
            <a:ext cx="3052502" cy="369332"/>
          </a:xfrm>
          <a:prstGeom prst="rect">
            <a:avLst/>
          </a:prstGeom>
        </p:spPr>
        <p:txBody>
          <a:bodyPr wrap="none">
            <a:spAutoFit/>
          </a:bodyPr>
          <a:lstStyle/>
          <a:p>
            <a:r>
              <a:rPr lang="pt-BR" b="1" dirty="0"/>
              <a:t>Redução de dimensionalidade</a:t>
            </a:r>
            <a:endParaRPr lang="pt-BR" dirty="0"/>
          </a:p>
        </p:txBody>
      </p:sp>
      <p:sp>
        <p:nvSpPr>
          <p:cNvPr id="10" name="Rectangle 5">
            <a:extLst>
              <a:ext uri="{FF2B5EF4-FFF2-40B4-BE49-F238E27FC236}">
                <a16:creationId xmlns:a16="http://schemas.microsoft.com/office/drawing/2014/main" id="{FBADD0CF-B784-C075-5E14-945B05737CFF}"/>
              </a:ext>
            </a:extLst>
          </p:cNvPr>
          <p:cNvSpPr/>
          <p:nvPr/>
        </p:nvSpPr>
        <p:spPr>
          <a:xfrm>
            <a:off x="1505366" y="1627450"/>
            <a:ext cx="1492653" cy="369332"/>
          </a:xfrm>
          <a:prstGeom prst="rect">
            <a:avLst/>
          </a:prstGeom>
        </p:spPr>
        <p:txBody>
          <a:bodyPr wrap="none">
            <a:spAutoFit/>
          </a:bodyPr>
          <a:lstStyle/>
          <a:p>
            <a:r>
              <a:rPr lang="pt-BR" b="1" dirty="0"/>
              <a:t>Clusterização</a:t>
            </a:r>
            <a:endParaRPr lang="pt-BR" dirty="0"/>
          </a:p>
        </p:txBody>
      </p:sp>
      <p:sp>
        <p:nvSpPr>
          <p:cNvPr id="11" name="Rectangle 6">
            <a:extLst>
              <a:ext uri="{FF2B5EF4-FFF2-40B4-BE49-F238E27FC236}">
                <a16:creationId xmlns:a16="http://schemas.microsoft.com/office/drawing/2014/main" id="{EF777834-D75A-D17E-7AC1-2567D7967671}"/>
              </a:ext>
            </a:extLst>
          </p:cNvPr>
          <p:cNvSpPr/>
          <p:nvPr/>
        </p:nvSpPr>
        <p:spPr>
          <a:xfrm>
            <a:off x="5067259" y="4075386"/>
            <a:ext cx="2180212" cy="369332"/>
          </a:xfrm>
          <a:prstGeom prst="rect">
            <a:avLst/>
          </a:prstGeom>
        </p:spPr>
        <p:txBody>
          <a:bodyPr wrap="none">
            <a:spAutoFit/>
          </a:bodyPr>
          <a:lstStyle/>
          <a:p>
            <a:r>
              <a:rPr lang="pt-BR" b="1" dirty="0">
                <a:cs typeface="Calibri"/>
              </a:rPr>
              <a:t>Regras de associação</a:t>
            </a:r>
            <a:endParaRPr lang="pt-BR" dirty="0"/>
          </a:p>
        </p:txBody>
      </p:sp>
      <p:pic>
        <p:nvPicPr>
          <p:cNvPr id="3074" name="Picture 2" descr="Univariate Anomaly Detection | Anomaly Detection Algorithms">
            <a:extLst>
              <a:ext uri="{FF2B5EF4-FFF2-40B4-BE49-F238E27FC236}">
                <a16:creationId xmlns:a16="http://schemas.microsoft.com/office/drawing/2014/main" id="{CD18FC77-7AA8-4719-B43C-09B222404B9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665" t="3215" r="2543" b="6451"/>
          <a:stretch/>
        </p:blipFill>
        <p:spPr bwMode="auto">
          <a:xfrm>
            <a:off x="4734551" y="1845166"/>
            <a:ext cx="2950935" cy="2123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507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6F6830-B3DF-4F50-823F-7E36C43380D1}"/>
              </a:ext>
            </a:extLst>
          </p:cNvPr>
          <p:cNvSpPr>
            <a:spLocks noGrp="1"/>
          </p:cNvSpPr>
          <p:nvPr>
            <p:ph type="title"/>
          </p:nvPr>
        </p:nvSpPr>
        <p:spPr>
          <a:xfrm>
            <a:off x="838200" y="193675"/>
            <a:ext cx="10515600" cy="1325563"/>
          </a:xfrm>
        </p:spPr>
        <p:txBody>
          <a:bodyPr/>
          <a:lstStyle/>
          <a:p>
            <a:r>
              <a:rPr lang="pt-BR" dirty="0"/>
              <a:t>Aprendizado por reforço</a:t>
            </a:r>
          </a:p>
        </p:txBody>
      </p:sp>
      <p:sp>
        <p:nvSpPr>
          <p:cNvPr id="3" name="Espaço Reservado para Conteúdo 2">
            <a:extLst>
              <a:ext uri="{FF2B5EF4-FFF2-40B4-BE49-F238E27FC236}">
                <a16:creationId xmlns:a16="http://schemas.microsoft.com/office/drawing/2014/main" id="{071E0B55-13FE-4ADE-80F7-AFEDEF27C875}"/>
              </a:ext>
            </a:extLst>
          </p:cNvPr>
          <p:cNvSpPr>
            <a:spLocks noGrp="1"/>
          </p:cNvSpPr>
          <p:nvPr>
            <p:ph idx="1"/>
          </p:nvPr>
        </p:nvSpPr>
        <p:spPr>
          <a:xfrm>
            <a:off x="5442333" y="1856934"/>
            <a:ext cx="6588086" cy="5001065"/>
          </a:xfrm>
        </p:spPr>
        <p:txBody>
          <a:bodyPr>
            <a:normAutofit lnSpcReduction="10000"/>
          </a:bodyPr>
          <a:lstStyle/>
          <a:p>
            <a:r>
              <a:rPr lang="pt-BR" dirty="0"/>
              <a:t>Abordagem de aprendizado totalmente diferente das anteriores, pois ela </a:t>
            </a:r>
            <a:r>
              <a:rPr lang="pt-BR" b="1" i="1" dirty="0">
                <a:solidFill>
                  <a:srgbClr val="7030A0"/>
                </a:solidFill>
              </a:rPr>
              <a:t>não tem acesso a exemplos de treinamento</a:t>
            </a:r>
            <a:r>
              <a:rPr lang="pt-BR" dirty="0"/>
              <a:t>, sejam eles rotulados ou não.</a:t>
            </a:r>
          </a:p>
          <a:p>
            <a:pPr marL="171450" indent="-171450"/>
            <a:r>
              <a:rPr lang="pt-BR" dirty="0"/>
              <a:t>O algoritmo de aprendizado por reforço, chamado de </a:t>
            </a:r>
            <a:r>
              <a:rPr lang="pt-BR" b="1" i="1" dirty="0">
                <a:solidFill>
                  <a:srgbClr val="00B050"/>
                </a:solidFill>
              </a:rPr>
              <a:t>agente</a:t>
            </a:r>
            <a:r>
              <a:rPr lang="pt-BR" dirty="0"/>
              <a:t> nesse contexto, aprende como se comportar em um </a:t>
            </a:r>
            <a:r>
              <a:rPr lang="pt-BR" b="1" i="1" dirty="0">
                <a:solidFill>
                  <a:srgbClr val="00B050"/>
                </a:solidFill>
              </a:rPr>
              <a:t>ambiente</a:t>
            </a:r>
            <a:r>
              <a:rPr lang="pt-BR" dirty="0"/>
              <a:t> através de interações do tipo </a:t>
            </a:r>
            <a:r>
              <a:rPr lang="pt-BR" b="1" i="1" dirty="0">
                <a:solidFill>
                  <a:srgbClr val="00B050"/>
                </a:solidFill>
              </a:rPr>
              <a:t>tentativa e erro</a:t>
            </a:r>
            <a:r>
              <a:rPr lang="pt-BR" dirty="0"/>
              <a:t>.</a:t>
            </a:r>
          </a:p>
          <a:p>
            <a:r>
              <a:rPr lang="pt-BR" dirty="0"/>
              <a:t>O </a:t>
            </a:r>
            <a:r>
              <a:rPr lang="pt-BR" b="1" i="1" dirty="0"/>
              <a:t>agente</a:t>
            </a:r>
            <a:r>
              <a:rPr lang="pt-BR" dirty="0"/>
              <a:t> observa o </a:t>
            </a:r>
            <a:r>
              <a:rPr lang="pt-BR" b="1" i="1" dirty="0"/>
              <a:t>estado</a:t>
            </a:r>
            <a:r>
              <a:rPr lang="pt-BR" dirty="0"/>
              <a:t> do </a:t>
            </a:r>
            <a:r>
              <a:rPr lang="pt-BR" b="1" i="1" dirty="0"/>
              <a:t>ambiente</a:t>
            </a:r>
            <a:r>
              <a:rPr lang="pt-BR" dirty="0"/>
              <a:t>, seleciona, executa uma </a:t>
            </a:r>
            <a:r>
              <a:rPr lang="pt-BR" b="1" i="1" dirty="0"/>
              <a:t>ação </a:t>
            </a:r>
            <a:r>
              <a:rPr lang="pt-BR" dirty="0"/>
              <a:t>e recebe um </a:t>
            </a:r>
            <a:r>
              <a:rPr lang="pt-BR" b="1" i="1" dirty="0"/>
              <a:t>reforço positivo ou negativo</a:t>
            </a:r>
            <a:r>
              <a:rPr lang="pt-BR" dirty="0"/>
              <a:t> em consequência da </a:t>
            </a:r>
            <a:r>
              <a:rPr lang="pt-BR" b="1" i="1" dirty="0"/>
              <a:t>ação</a:t>
            </a:r>
            <a:r>
              <a:rPr lang="pt-BR" dirty="0"/>
              <a:t> tomada.</a:t>
            </a:r>
          </a:p>
        </p:txBody>
      </p:sp>
      <p:pic>
        <p:nvPicPr>
          <p:cNvPr id="4" name="Picture 4" descr="A Beginner's Guide to Reinforcement Learning and its Basic Implementation  from Scratch | by Tanvi Penumudy | Analytics Vidhya | Medium">
            <a:extLst>
              <a:ext uri="{FF2B5EF4-FFF2-40B4-BE49-F238E27FC236}">
                <a16:creationId xmlns:a16="http://schemas.microsoft.com/office/drawing/2014/main" id="{4D4D1D1B-9B86-7342-0FDC-34E5D24B37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482" y="2621877"/>
            <a:ext cx="5100335" cy="2564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9307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6F6830-B3DF-4F50-823F-7E36C43380D1}"/>
              </a:ext>
            </a:extLst>
          </p:cNvPr>
          <p:cNvSpPr>
            <a:spLocks noGrp="1"/>
          </p:cNvSpPr>
          <p:nvPr>
            <p:ph type="title"/>
          </p:nvPr>
        </p:nvSpPr>
        <p:spPr>
          <a:xfrm>
            <a:off x="838200" y="193675"/>
            <a:ext cx="10515600" cy="1325563"/>
          </a:xfrm>
        </p:spPr>
        <p:txBody>
          <a:bodyPr/>
          <a:lstStyle/>
          <a:p>
            <a:r>
              <a:rPr lang="pt-BR" dirty="0"/>
              <a:t>Aprendizado por reforço</a:t>
            </a:r>
          </a:p>
        </p:txBody>
      </p:sp>
      <p:sp>
        <p:nvSpPr>
          <p:cNvPr id="3" name="Espaço Reservado para Conteúdo 2">
            <a:extLst>
              <a:ext uri="{FF2B5EF4-FFF2-40B4-BE49-F238E27FC236}">
                <a16:creationId xmlns:a16="http://schemas.microsoft.com/office/drawing/2014/main" id="{071E0B55-13FE-4ADE-80F7-AFEDEF27C875}"/>
              </a:ext>
            </a:extLst>
          </p:cNvPr>
          <p:cNvSpPr>
            <a:spLocks noGrp="1"/>
          </p:cNvSpPr>
          <p:nvPr>
            <p:ph idx="1"/>
          </p:nvPr>
        </p:nvSpPr>
        <p:spPr>
          <a:xfrm>
            <a:off x="4864100" y="1856934"/>
            <a:ext cx="7133269" cy="5001065"/>
          </a:xfrm>
        </p:spPr>
        <p:txBody>
          <a:bodyPr>
            <a:normAutofit/>
          </a:bodyPr>
          <a:lstStyle/>
          <a:p>
            <a:r>
              <a:rPr lang="pt-BR" dirty="0"/>
              <a:t>Seguindo estes passos, o agente aprende por si só qual a melhor </a:t>
            </a:r>
            <a:r>
              <a:rPr lang="pt-BR" b="1" i="1" dirty="0">
                <a:solidFill>
                  <a:srgbClr val="7030A0"/>
                </a:solidFill>
              </a:rPr>
              <a:t>estratégia</a:t>
            </a:r>
            <a:r>
              <a:rPr lang="pt-BR" dirty="0"/>
              <a:t>, chamada de </a:t>
            </a:r>
            <a:r>
              <a:rPr lang="pt-BR" b="1" i="1" dirty="0">
                <a:solidFill>
                  <a:srgbClr val="7030A0"/>
                </a:solidFill>
              </a:rPr>
              <a:t>política</a:t>
            </a:r>
            <a:r>
              <a:rPr lang="pt-BR" dirty="0"/>
              <a:t>, para obter a </a:t>
            </a:r>
            <a:r>
              <a:rPr lang="pt-BR" b="1" i="1" dirty="0">
                <a:solidFill>
                  <a:srgbClr val="00B050"/>
                </a:solidFill>
              </a:rPr>
              <a:t>maior recompensa possível ao longo do tempo</a:t>
            </a:r>
            <a:r>
              <a:rPr lang="pt-BR" dirty="0"/>
              <a:t>.</a:t>
            </a:r>
          </a:p>
          <a:p>
            <a:r>
              <a:rPr lang="pt-BR" dirty="0"/>
              <a:t>Uma </a:t>
            </a:r>
            <a:r>
              <a:rPr lang="pt-BR" b="1" i="1" dirty="0"/>
              <a:t>política</a:t>
            </a:r>
            <a:r>
              <a:rPr lang="pt-BR" dirty="0"/>
              <a:t> define qual </a:t>
            </a:r>
            <a:r>
              <a:rPr lang="pt-BR" b="1" i="1" dirty="0"/>
              <a:t>ação</a:t>
            </a:r>
            <a:r>
              <a:rPr lang="pt-BR" dirty="0"/>
              <a:t> o </a:t>
            </a:r>
            <a:r>
              <a:rPr lang="pt-BR" b="1" i="1" dirty="0"/>
              <a:t>agente</a:t>
            </a:r>
            <a:r>
              <a:rPr lang="pt-BR" dirty="0"/>
              <a:t> deve escolher quando o </a:t>
            </a:r>
            <a:r>
              <a:rPr lang="pt-BR" b="1" i="1" dirty="0"/>
              <a:t>ambiente</a:t>
            </a:r>
            <a:r>
              <a:rPr lang="pt-BR" dirty="0"/>
              <a:t> estiver em um determinado </a:t>
            </a:r>
            <a:r>
              <a:rPr lang="pt-BR" b="1" i="1" dirty="0"/>
              <a:t>estado</a:t>
            </a:r>
            <a:r>
              <a:rPr lang="pt-BR" dirty="0"/>
              <a:t>.</a:t>
            </a:r>
          </a:p>
          <a:p>
            <a:r>
              <a:rPr lang="pt-BR" dirty="0"/>
              <a:t>Portanto, a </a:t>
            </a:r>
            <a:r>
              <a:rPr lang="pt-BR" b="1" i="1" dirty="0">
                <a:solidFill>
                  <a:srgbClr val="00B050"/>
                </a:solidFill>
              </a:rPr>
              <a:t>política</a:t>
            </a:r>
            <a:r>
              <a:rPr lang="pt-BR" dirty="0"/>
              <a:t> é uma</a:t>
            </a:r>
            <a:r>
              <a:rPr lang="pt-BR" b="1" i="1" dirty="0">
                <a:solidFill>
                  <a:srgbClr val="00B050"/>
                </a:solidFill>
              </a:rPr>
              <a:t> </a:t>
            </a:r>
            <a:r>
              <a:rPr lang="pt-BR" b="1" i="1" dirty="0">
                <a:solidFill>
                  <a:srgbClr val="7030A0"/>
                </a:solidFill>
              </a:rPr>
              <a:t>função</a:t>
            </a:r>
            <a:r>
              <a:rPr lang="pt-BR" b="1" i="1" dirty="0">
                <a:solidFill>
                  <a:srgbClr val="00B050"/>
                </a:solidFill>
              </a:rPr>
              <a:t> que mapeia os estados do ambiente em ações </a:t>
            </a:r>
            <a:r>
              <a:rPr lang="pt-BR" dirty="0"/>
              <a:t>que o </a:t>
            </a:r>
            <a:r>
              <a:rPr lang="pt-BR" b="1" i="1" dirty="0"/>
              <a:t>agente</a:t>
            </a:r>
            <a:r>
              <a:rPr lang="pt-BR" dirty="0"/>
              <a:t> deve tomar para </a:t>
            </a:r>
            <a:r>
              <a:rPr lang="pt-BR" b="1" i="1" dirty="0">
                <a:solidFill>
                  <a:srgbClr val="00B050"/>
                </a:solidFill>
              </a:rPr>
              <a:t>maximizar as recompensas</a:t>
            </a:r>
            <a:r>
              <a:rPr lang="pt-BR" dirty="0"/>
              <a:t>.</a:t>
            </a:r>
          </a:p>
        </p:txBody>
      </p:sp>
      <p:pic>
        <p:nvPicPr>
          <p:cNvPr id="17" name="Imagem 16">
            <a:extLst>
              <a:ext uri="{FF2B5EF4-FFF2-40B4-BE49-F238E27FC236}">
                <a16:creationId xmlns:a16="http://schemas.microsoft.com/office/drawing/2014/main" id="{FC189173-E522-9843-BFEA-0C9890BD78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8000" y="1177900"/>
            <a:ext cx="1865294" cy="5814060"/>
          </a:xfrm>
          <a:prstGeom prst="rect">
            <a:avLst/>
          </a:prstGeom>
        </p:spPr>
      </p:pic>
    </p:spTree>
    <p:extLst>
      <p:ext uri="{BB962C8B-B14F-4D97-AF65-F5344CB8AC3E}">
        <p14:creationId xmlns:p14="http://schemas.microsoft.com/office/powerpoint/2010/main" val="40534995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Executando códigos</a:t>
            </a:r>
          </a:p>
        </p:txBody>
      </p:sp>
      <p:sp>
        <p:nvSpPr>
          <p:cNvPr id="3" name="Content Placeholder 2"/>
          <p:cNvSpPr>
            <a:spLocks noGrp="1"/>
          </p:cNvSpPr>
          <p:nvPr>
            <p:ph idx="1"/>
          </p:nvPr>
        </p:nvSpPr>
        <p:spPr>
          <a:xfrm>
            <a:off x="5260489" y="1825624"/>
            <a:ext cx="6766410" cy="5032375"/>
          </a:xfrm>
        </p:spPr>
        <p:txBody>
          <a:bodyPr>
            <a:normAutofit/>
          </a:bodyPr>
          <a:lstStyle/>
          <a:p>
            <a:r>
              <a:rPr lang="pt-BR" dirty="0"/>
              <a:t>Durante o curso, usaremos </a:t>
            </a:r>
            <a:r>
              <a:rPr lang="pt-BR" b="1" i="1" dirty="0"/>
              <a:t>Python</a:t>
            </a:r>
            <a:r>
              <a:rPr lang="pt-BR" dirty="0"/>
              <a:t>.</a:t>
            </a:r>
          </a:p>
          <a:p>
            <a:pPr lvl="1">
              <a:buFont typeface="Wingdings" panose="05000000000000000000" pitchFamily="2" charset="2"/>
              <a:buChar char="§"/>
            </a:pPr>
            <a:r>
              <a:rPr lang="pt-BR" dirty="0"/>
              <a:t>Pois é a linguagem mais utilizada em ML além de ser gratuita e </a:t>
            </a:r>
            <a:r>
              <a:rPr lang="pt-BR" i="1" dirty="0"/>
              <a:t>open-</a:t>
            </a:r>
            <a:r>
              <a:rPr lang="pt-BR" i="1" dirty="0" err="1"/>
              <a:t>source</a:t>
            </a:r>
            <a:r>
              <a:rPr lang="pt-BR" dirty="0"/>
              <a:t>.</a:t>
            </a:r>
          </a:p>
          <a:p>
            <a:r>
              <a:rPr lang="pt-BR" dirty="0"/>
              <a:t>Utilizaremos </a:t>
            </a:r>
            <a:r>
              <a:rPr lang="pt-BR" b="1" i="1" dirty="0"/>
              <a:t>notebooks Jupyter</a:t>
            </a:r>
            <a:r>
              <a:rPr lang="pt-BR" dirty="0"/>
              <a:t> para execução de exemplos e resolução dos laboratórios.</a:t>
            </a:r>
          </a:p>
          <a:p>
            <a:pPr lvl="1">
              <a:buFont typeface="Wingdings" panose="05000000000000000000" pitchFamily="2" charset="2"/>
              <a:buChar char="§"/>
            </a:pPr>
            <a:r>
              <a:rPr lang="pt-BR" dirty="0"/>
              <a:t>Eles são </a:t>
            </a:r>
            <a:r>
              <a:rPr lang="pt-BR" b="1" i="1" dirty="0"/>
              <a:t>documentos virtuais </a:t>
            </a:r>
            <a:r>
              <a:rPr lang="pt-BR" dirty="0"/>
              <a:t>usados para desenvolver e documentar código. </a:t>
            </a:r>
          </a:p>
          <a:p>
            <a:pPr lvl="1">
              <a:buFont typeface="Wingdings" panose="05000000000000000000" pitchFamily="2" charset="2"/>
              <a:buChar char="§"/>
            </a:pPr>
            <a:r>
              <a:rPr lang="pt-BR" dirty="0"/>
              <a:t>Pode-se adicionar equações, gráficos e texto.</a:t>
            </a:r>
          </a:p>
          <a:p>
            <a:r>
              <a:rPr lang="pt-BR" dirty="0"/>
              <a:t>Para executá-los, usaremos o </a:t>
            </a:r>
            <a:r>
              <a:rPr lang="pt-BR" b="1" i="1" dirty="0"/>
              <a:t>Google Colab.</a:t>
            </a:r>
            <a:endParaRPr lang="pt-BR" dirty="0"/>
          </a:p>
        </p:txBody>
      </p:sp>
      <p:grpSp>
        <p:nvGrpSpPr>
          <p:cNvPr id="8" name="Grupo 7"/>
          <p:cNvGrpSpPr/>
          <p:nvPr/>
        </p:nvGrpSpPr>
        <p:grpSpPr>
          <a:xfrm>
            <a:off x="369496" y="2464387"/>
            <a:ext cx="4600537" cy="3183378"/>
            <a:chOff x="8279312" y="2668035"/>
            <a:chExt cx="3912688" cy="2486256"/>
          </a:xfrm>
        </p:grpSpPr>
        <p:pic>
          <p:nvPicPr>
            <p:cNvPr id="4" name="Picture 2" descr="Python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9312" y="2668035"/>
              <a:ext cx="1193934" cy="119393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mage result for jupyte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671" t="8603" r="3244" b="8448"/>
            <a:stretch/>
          </p:blipFill>
          <p:spPr bwMode="auto">
            <a:xfrm>
              <a:off x="9833367" y="2668035"/>
              <a:ext cx="2358633" cy="104433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A Complete guide to Google Colab for Deep Learni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0635" t="12614" r="10002" b="18232"/>
            <a:stretch/>
          </p:blipFill>
          <p:spPr bwMode="auto">
            <a:xfrm>
              <a:off x="9325247" y="4534586"/>
              <a:ext cx="1608495" cy="619705"/>
            </a:xfrm>
            <a:prstGeom prst="rect">
              <a:avLst/>
            </a:prstGeom>
            <a:noFill/>
            <a:extLst>
              <a:ext uri="{909E8E84-426E-40DD-AFC4-6F175D3DCCD1}">
                <a14:hiddenFill xmlns:a14="http://schemas.microsoft.com/office/drawing/2010/main">
                  <a:solidFill>
                    <a:srgbClr val="FFFFFF"/>
                  </a:solidFill>
                </a14:hiddenFill>
              </a:ext>
            </a:extLst>
          </p:spPr>
        </p:pic>
        <p:sp>
          <p:nvSpPr>
            <p:cNvPr id="10" name="Plus 9"/>
            <p:cNvSpPr/>
            <p:nvPr/>
          </p:nvSpPr>
          <p:spPr>
            <a:xfrm>
              <a:off x="9473246" y="2986811"/>
              <a:ext cx="492843" cy="556382"/>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Down Arrow 10"/>
            <p:cNvSpPr/>
            <p:nvPr/>
          </p:nvSpPr>
          <p:spPr>
            <a:xfrm>
              <a:off x="9720183" y="4031145"/>
              <a:ext cx="661931" cy="3625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4030211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Goolge</a:t>
            </a:r>
            <a:r>
              <a:rPr lang="en-US" dirty="0"/>
              <a:t> </a:t>
            </a:r>
            <a:r>
              <a:rPr lang="en-US" dirty="0" err="1"/>
              <a:t>Colaboratory</a:t>
            </a:r>
            <a:r>
              <a:rPr lang="en-US" dirty="0"/>
              <a:t> (</a:t>
            </a:r>
            <a:r>
              <a:rPr lang="en-US" dirty="0" err="1"/>
              <a:t>Colab</a:t>
            </a:r>
            <a:r>
              <a:rPr lang="en-US" dirty="0"/>
              <a:t>)</a:t>
            </a:r>
            <a:endParaRPr lang="pt-BR" dirty="0"/>
          </a:p>
        </p:txBody>
      </p:sp>
      <p:sp>
        <p:nvSpPr>
          <p:cNvPr id="5" name="Content Placeholder 2"/>
          <p:cNvSpPr>
            <a:spLocks noGrp="1"/>
          </p:cNvSpPr>
          <p:nvPr>
            <p:ph idx="1"/>
          </p:nvPr>
        </p:nvSpPr>
        <p:spPr>
          <a:xfrm>
            <a:off x="838200" y="2249486"/>
            <a:ext cx="11158181" cy="4608513"/>
          </a:xfrm>
        </p:spPr>
        <p:txBody>
          <a:bodyPr>
            <a:normAutofit/>
          </a:bodyPr>
          <a:lstStyle/>
          <a:p>
            <a:r>
              <a:rPr lang="pt-BR" b="1" dirty="0" err="1"/>
              <a:t>Colab</a:t>
            </a:r>
            <a:r>
              <a:rPr lang="pt-BR" b="1" dirty="0"/>
              <a:t> </a:t>
            </a:r>
            <a:r>
              <a:rPr lang="pt-BR" dirty="0"/>
              <a:t>é uma aplicação </a:t>
            </a:r>
            <a:r>
              <a:rPr lang="pt-BR" i="1" dirty="0"/>
              <a:t>web</a:t>
            </a:r>
            <a:r>
              <a:rPr lang="pt-BR" dirty="0"/>
              <a:t> gratuita que permite a </a:t>
            </a:r>
            <a:r>
              <a:rPr lang="pt-BR" b="1" i="1" dirty="0">
                <a:solidFill>
                  <a:srgbClr val="00B050"/>
                </a:solidFill>
              </a:rPr>
              <a:t>criação, edição e execução</a:t>
            </a:r>
            <a:r>
              <a:rPr lang="pt-BR" dirty="0"/>
              <a:t> de </a:t>
            </a:r>
            <a:r>
              <a:rPr lang="pt-BR" b="1" i="1" dirty="0"/>
              <a:t>notebooks </a:t>
            </a:r>
            <a:r>
              <a:rPr lang="pt-BR" b="1" i="1" dirty="0" err="1"/>
              <a:t>Jupyter</a:t>
            </a:r>
            <a:r>
              <a:rPr lang="pt-BR" b="1" i="1" dirty="0"/>
              <a:t> </a:t>
            </a:r>
            <a:r>
              <a:rPr lang="pt-BR" dirty="0"/>
              <a:t>em navegadores web.</a:t>
            </a:r>
          </a:p>
          <a:p>
            <a:r>
              <a:rPr lang="pt-BR" dirty="0"/>
              <a:t>É um produto da Google.</a:t>
            </a:r>
          </a:p>
          <a:p>
            <a:r>
              <a:rPr lang="pt-BR" dirty="0"/>
              <a:t>Vantagens: </a:t>
            </a:r>
          </a:p>
          <a:p>
            <a:pPr lvl="1">
              <a:buFont typeface="Wingdings" panose="05000000000000000000" pitchFamily="2" charset="2"/>
              <a:buChar char="§"/>
            </a:pPr>
            <a:r>
              <a:rPr lang="pt-BR" dirty="0"/>
              <a:t>Grande número de servidores.</a:t>
            </a:r>
          </a:p>
          <a:p>
            <a:pPr lvl="1">
              <a:buFont typeface="Wingdings" panose="05000000000000000000" pitchFamily="2" charset="2"/>
              <a:buChar char="§"/>
            </a:pPr>
            <a:r>
              <a:rPr lang="pt-BR" dirty="0"/>
              <a:t>Fornece acesso a GPUs e TPUs gratuitamente.</a:t>
            </a:r>
          </a:p>
          <a:p>
            <a:pPr lvl="1">
              <a:buFont typeface="Wingdings" panose="05000000000000000000" pitchFamily="2" charset="2"/>
              <a:buChar char="§"/>
            </a:pPr>
            <a:r>
              <a:rPr lang="pt-BR" dirty="0"/>
              <a:t>Notebooks podem ser salvos no Google Drive, evitando a perda de códigos.</a:t>
            </a:r>
          </a:p>
          <a:p>
            <a:r>
              <a:rPr lang="pt-BR" dirty="0"/>
              <a:t>URL: </a:t>
            </a:r>
            <a:r>
              <a:rPr lang="pt-BR" dirty="0">
                <a:hlinkClick r:id="rId3"/>
              </a:rPr>
              <a:t>https://colab.research.google.com/</a:t>
            </a:r>
            <a:endParaRPr lang="pt-BR" dirty="0"/>
          </a:p>
          <a:p>
            <a:r>
              <a:rPr lang="pt-BR" b="1" dirty="0"/>
              <a:t>Vocês não precisam instalar nada</a:t>
            </a:r>
            <a:r>
              <a:rPr lang="pt-BR" dirty="0"/>
              <a:t>, apenas ter conexão com a internet.</a:t>
            </a:r>
          </a:p>
        </p:txBody>
      </p:sp>
      <p:pic>
        <p:nvPicPr>
          <p:cNvPr id="6" name="Picture 2" descr="A Complete guide to Google Colab for Deep Learni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0635" t="12614" r="10002" b="18232"/>
          <a:stretch/>
        </p:blipFill>
        <p:spPr bwMode="auto">
          <a:xfrm>
            <a:off x="8004748" y="283380"/>
            <a:ext cx="3864963" cy="1489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98541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23DC8-6A4E-346F-D86A-54FE38B239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82213E-3A4A-2C9C-31EB-95C5EC22999A}"/>
              </a:ext>
            </a:extLst>
          </p:cNvPr>
          <p:cNvSpPr>
            <a:spLocks noGrp="1"/>
          </p:cNvSpPr>
          <p:nvPr>
            <p:ph type="title"/>
          </p:nvPr>
        </p:nvSpPr>
        <p:spPr/>
        <p:txBody>
          <a:bodyPr/>
          <a:lstStyle/>
          <a:p>
            <a:r>
              <a:rPr lang="pt-BR" dirty="0"/>
              <a:t>Objetivo do curso</a:t>
            </a:r>
            <a:endParaRPr lang="en-US" dirty="0"/>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DCC42613-0A92-C404-A2AA-BB4EF96F7CED}"/>
                  </a:ext>
                </a:extLst>
              </p:cNvPr>
              <p:cNvSpPr>
                <a:spLocks noGrp="1"/>
              </p:cNvSpPr>
              <p:nvPr>
                <p:ph idx="1"/>
              </p:nvPr>
            </p:nvSpPr>
            <p:spPr>
              <a:xfrm>
                <a:off x="5270500" y="1797048"/>
                <a:ext cx="6819900" cy="5032376"/>
              </a:xfrm>
            </p:spPr>
            <p:txBody>
              <a:bodyPr>
                <a:normAutofit/>
              </a:bodyPr>
              <a:lstStyle/>
              <a:p>
                <a:r>
                  <a:rPr lang="pt-BR" dirty="0"/>
                  <a:t>O </a:t>
                </a:r>
                <a:r>
                  <a:rPr lang="pt-BR" b="1" i="1" dirty="0">
                    <a:solidFill>
                      <a:srgbClr val="00B050"/>
                    </a:solidFill>
                  </a:rPr>
                  <a:t>objetivo</a:t>
                </a:r>
                <a:r>
                  <a:rPr lang="pt-BR" dirty="0"/>
                  <a:t> desta primeira parte do curso</a:t>
                </a:r>
                <a:r>
                  <a:rPr lang="pt-BR" b="1" i="1" dirty="0"/>
                  <a:t> </a:t>
                </a:r>
                <a:r>
                  <a:rPr lang="pt-BR" dirty="0"/>
                  <a:t>é ensinar a vocês </a:t>
                </a:r>
                <a:r>
                  <a:rPr lang="pt-BR" b="1" i="1" dirty="0">
                    <a:solidFill>
                      <a:srgbClr val="00B050"/>
                    </a:solidFill>
                  </a:rPr>
                  <a:t>como encontrar </a:t>
                </a:r>
                <a:r>
                  <a:rPr lang="pt-BR" b="1" i="1" dirty="0">
                    <a:solidFill>
                      <a:srgbClr val="7030A0"/>
                    </a:solidFill>
                  </a:rPr>
                  <a:t>um modelo</a:t>
                </a:r>
                <a:r>
                  <a:rPr lang="pt-BR" b="1" i="1" dirty="0">
                    <a:solidFill>
                      <a:srgbClr val="00B050"/>
                    </a:solidFill>
                  </a:rPr>
                  <a:t> </a:t>
                </a:r>
                <a:r>
                  <a:rPr lang="pt-BR" dirty="0"/>
                  <a:t>(i.e., </a:t>
                </a:r>
                <a:r>
                  <a:rPr lang="pt-BR" b="1" i="1" dirty="0"/>
                  <a:t>função</a:t>
                </a:r>
                <a:r>
                  <a:rPr lang="pt-BR" dirty="0"/>
                  <a:t>), </a:t>
                </a:r>
                <a:r>
                  <a:rPr lang="pt-BR" b="1" i="1" dirty="0">
                    <a:solidFill>
                      <a:srgbClr val="00B050"/>
                    </a:solidFill>
                  </a:rPr>
                  <a:t>usando ML</a:t>
                </a:r>
                <a:r>
                  <a:rPr lang="pt-BR" dirty="0"/>
                  <a:t>, que </a:t>
                </a:r>
                <a:r>
                  <a:rPr lang="pt-BR" b="1" i="1" dirty="0">
                    <a:solidFill>
                      <a:srgbClr val="7030A0"/>
                    </a:solidFill>
                  </a:rPr>
                  <a:t>aprenda a aproximar</a:t>
                </a:r>
                <a:r>
                  <a:rPr lang="pt-BR" dirty="0"/>
                  <a:t> o </a:t>
                </a:r>
                <a:r>
                  <a:rPr lang="pt-BR" b="1" i="1" dirty="0">
                    <a:solidFill>
                      <a:schemeClr val="accent1"/>
                    </a:solidFill>
                  </a:rPr>
                  <a:t>comportamento geral</a:t>
                </a:r>
                <a:r>
                  <a:rPr lang="pt-BR" dirty="0"/>
                  <a:t> por trás de um </a:t>
                </a:r>
                <a:r>
                  <a:rPr lang="pt-BR" b="1" i="1" dirty="0">
                    <a:solidFill>
                      <a:srgbClr val="00B050"/>
                    </a:solidFill>
                  </a:rPr>
                  <a:t>conjunto de amostras</a:t>
                </a:r>
                <a:r>
                  <a:rPr lang="pt-BR" dirty="0">
                    <a:solidFill>
                      <a:srgbClr val="00B050"/>
                    </a:solidFill>
                  </a:rPr>
                  <a:t> </a:t>
                </a:r>
                <a:r>
                  <a:rPr lang="pt-BR" dirty="0"/>
                  <a:t>(</a:t>
                </a:r>
                <a14:m>
                  <m:oMath xmlns:m="http://schemas.openxmlformats.org/officeDocument/2006/math">
                    <m:r>
                      <a:rPr lang="pt-BR" b="1" i="1" smtClean="0">
                        <a:latin typeface="Cambria Math" panose="02040503050406030204" pitchFamily="18" charset="0"/>
                      </a:rPr>
                      <m:t>𝒙</m:t>
                    </m:r>
                  </m:oMath>
                </a14:m>
                <a:r>
                  <a:rPr lang="pt-BR" dirty="0"/>
                  <a:t> e </a:t>
                </a:r>
                <a14:m>
                  <m:oMath xmlns:m="http://schemas.openxmlformats.org/officeDocument/2006/math">
                    <m:r>
                      <a:rPr lang="pt-BR" b="0" i="1" smtClean="0">
                        <a:latin typeface="Cambria Math" panose="02040503050406030204" pitchFamily="18" charset="0"/>
                      </a:rPr>
                      <m:t>𝑦</m:t>
                    </m:r>
                  </m:oMath>
                </a14:m>
                <a:r>
                  <a:rPr lang="pt-BR" dirty="0"/>
                  <a:t>) da </a:t>
                </a:r>
                <a:r>
                  <a:rPr lang="pt-BR" b="1" i="1" dirty="0">
                    <a:solidFill>
                      <a:schemeClr val="accent2"/>
                    </a:solidFill>
                  </a:rPr>
                  <a:t>melhor forma possível</a:t>
                </a:r>
                <a:r>
                  <a:rPr lang="pt-BR" dirty="0"/>
                  <a:t>.</a:t>
                </a:r>
              </a:p>
              <a:p>
                <a:pPr lvl="1">
                  <a:buFont typeface="Wingdings" panose="05000000000000000000" pitchFamily="2" charset="2"/>
                  <a:buChar char="§"/>
                </a:pPr>
                <a:r>
                  <a:rPr lang="pt-BR" dirty="0"/>
                  <a:t>Queremos um bom mapeamento tanto para amostras conhecidas quanto para inéditas.</a:t>
                </a:r>
              </a:p>
              <a:p>
                <a:pPr lvl="1">
                  <a:buFont typeface="Wingdings" panose="05000000000000000000" pitchFamily="2" charset="2"/>
                  <a:buChar char="§"/>
                </a:pPr>
                <a:r>
                  <a:rPr lang="pt-BR" dirty="0"/>
                  <a:t>Ou seja, queremos um </a:t>
                </a:r>
                <a:r>
                  <a:rPr lang="pt-BR" b="1" dirty="0">
                    <a:solidFill>
                      <a:schemeClr val="accent1"/>
                    </a:solidFill>
                  </a:rPr>
                  <a:t>modelo que generalize</a:t>
                </a:r>
                <a:r>
                  <a:rPr lang="pt-BR" dirty="0"/>
                  <a:t>.</a:t>
                </a:r>
              </a:p>
            </p:txBody>
          </p:sp>
        </mc:Choice>
        <mc:Fallback>
          <p:sp>
            <p:nvSpPr>
              <p:cNvPr id="3" name="Espaço Reservado para Conteúdo 2">
                <a:extLst>
                  <a:ext uri="{FF2B5EF4-FFF2-40B4-BE49-F238E27FC236}">
                    <a16:creationId xmlns:a16="http://schemas.microsoft.com/office/drawing/2014/main" id="{DCC42613-0A92-C404-A2AA-BB4EF96F7CED}"/>
                  </a:ext>
                </a:extLst>
              </p:cNvPr>
              <p:cNvSpPr>
                <a:spLocks noGrp="1" noRot="1" noChangeAspect="1" noMove="1" noResize="1" noEditPoints="1" noAdjustHandles="1" noChangeArrowheads="1" noChangeShapeType="1" noTextEdit="1"/>
              </p:cNvSpPr>
              <p:nvPr>
                <p:ph idx="1"/>
              </p:nvPr>
            </p:nvSpPr>
            <p:spPr>
              <a:xfrm>
                <a:off x="5270500" y="1797048"/>
                <a:ext cx="6819900" cy="5032376"/>
              </a:xfrm>
              <a:blipFill>
                <a:blip r:embed="rId3"/>
                <a:stretch>
                  <a:fillRect l="-1610" t="-2061" r="-1521"/>
                </a:stretch>
              </a:blipFill>
            </p:spPr>
            <p:txBody>
              <a:bodyPr/>
              <a:lstStyle/>
              <a:p>
                <a:r>
                  <a:rPr lang="pt-BR">
                    <a:noFill/>
                  </a:rPr>
                  <a:t> </a:t>
                </a:r>
              </a:p>
            </p:txBody>
          </p:sp>
        </mc:Fallback>
      </mc:AlternateContent>
      <p:pic>
        <p:nvPicPr>
          <p:cNvPr id="7" name="Imagem 6">
            <a:extLst>
              <a:ext uri="{FF2B5EF4-FFF2-40B4-BE49-F238E27FC236}">
                <a16:creationId xmlns:a16="http://schemas.microsoft.com/office/drawing/2014/main" id="{850D4433-0ACF-DC0C-3C17-B6747FDEC39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463" t="9957" r="8514"/>
          <a:stretch/>
        </p:blipFill>
        <p:spPr>
          <a:xfrm>
            <a:off x="1387962" y="4924614"/>
            <a:ext cx="2700000" cy="1841310"/>
          </a:xfrm>
          <a:prstGeom prst="rect">
            <a:avLst/>
          </a:prstGeom>
        </p:spPr>
      </p:pic>
      <p:sp>
        <p:nvSpPr>
          <p:cNvPr id="6" name="Retângulo 5">
            <a:extLst>
              <a:ext uri="{FF2B5EF4-FFF2-40B4-BE49-F238E27FC236}">
                <a16:creationId xmlns:a16="http://schemas.microsoft.com/office/drawing/2014/main" id="{6644454B-EAAC-C12B-2E12-13A917DDC67E}"/>
              </a:ext>
            </a:extLst>
          </p:cNvPr>
          <p:cNvSpPr/>
          <p:nvPr/>
        </p:nvSpPr>
        <p:spPr>
          <a:xfrm>
            <a:off x="2101850" y="3992172"/>
            <a:ext cx="1473200" cy="63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Machine</a:t>
            </a:r>
            <a:r>
              <a:rPr lang="pt-BR" dirty="0"/>
              <a:t> Learning</a:t>
            </a:r>
          </a:p>
        </p:txBody>
      </p:sp>
      <p:sp>
        <p:nvSpPr>
          <p:cNvPr id="9" name="Seta: para Baixo 8">
            <a:extLst>
              <a:ext uri="{FF2B5EF4-FFF2-40B4-BE49-F238E27FC236}">
                <a16:creationId xmlns:a16="http://schemas.microsoft.com/office/drawing/2014/main" id="{9EB8338E-E68A-3741-767E-8B88E88C3126}"/>
              </a:ext>
            </a:extLst>
          </p:cNvPr>
          <p:cNvSpPr/>
          <p:nvPr/>
        </p:nvSpPr>
        <p:spPr>
          <a:xfrm>
            <a:off x="2718912" y="3701080"/>
            <a:ext cx="259238" cy="278392"/>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Seta: para Baixo 9">
            <a:extLst>
              <a:ext uri="{FF2B5EF4-FFF2-40B4-BE49-F238E27FC236}">
                <a16:creationId xmlns:a16="http://schemas.microsoft.com/office/drawing/2014/main" id="{B4760257-8B0B-13B2-10FE-F6299FD4920D}"/>
              </a:ext>
            </a:extLst>
          </p:cNvPr>
          <p:cNvSpPr/>
          <p:nvPr/>
        </p:nvSpPr>
        <p:spPr>
          <a:xfrm>
            <a:off x="2728993" y="4627814"/>
            <a:ext cx="259238" cy="278392"/>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F8E67A7D-AD47-90E6-A645-B7E62103E95E}"/>
              </a:ext>
            </a:extLst>
          </p:cNvPr>
          <p:cNvPicPr>
            <a:picLocks noChangeAspect="1"/>
          </p:cNvPicPr>
          <p:nvPr/>
        </p:nvPicPr>
        <p:blipFill rotWithShape="1">
          <a:blip r:embed="rId5"/>
          <a:srcRect l="3762" t="9838" r="8646"/>
          <a:stretch/>
        </p:blipFill>
        <p:spPr>
          <a:xfrm>
            <a:off x="1387962" y="1565340"/>
            <a:ext cx="2700000" cy="2084404"/>
          </a:xfrm>
          <a:prstGeom prst="rect">
            <a:avLst/>
          </a:prstGeom>
        </p:spPr>
      </p:pic>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74696653-3A7E-823E-561D-B968B73A4AB1}"/>
                  </a:ext>
                </a:extLst>
              </p:cNvPr>
              <p:cNvSpPr txBox="1"/>
              <p:nvPr/>
            </p:nvSpPr>
            <p:spPr>
              <a:xfrm>
                <a:off x="2978150" y="3596845"/>
                <a:ext cx="714636" cy="369332"/>
              </a:xfrm>
              <a:prstGeom prst="rect">
                <a:avLst/>
              </a:prstGeom>
              <a:noFill/>
            </p:spPr>
            <p:txBody>
              <a:bodyPr wrap="square" rtlCol="0">
                <a:spAutoFit/>
              </a:bodyPr>
              <a:lstStyle/>
              <a:p>
                <a14:m>
                  <m:oMath xmlns:m="http://schemas.openxmlformats.org/officeDocument/2006/math">
                    <m:r>
                      <a:rPr lang="pt-BR" b="1" i="1" smtClean="0">
                        <a:latin typeface="Cambria Math" panose="02040503050406030204" pitchFamily="18" charset="0"/>
                      </a:rPr>
                      <m:t>𝒙</m:t>
                    </m:r>
                  </m:oMath>
                </a14:m>
                <a:r>
                  <a:rPr lang="pt-BR" dirty="0"/>
                  <a:t> e </a:t>
                </a:r>
                <a14:m>
                  <m:oMath xmlns:m="http://schemas.openxmlformats.org/officeDocument/2006/math">
                    <m:r>
                      <a:rPr lang="pt-BR" b="1" i="1" smtClean="0">
                        <a:latin typeface="Cambria Math" panose="02040503050406030204" pitchFamily="18" charset="0"/>
                      </a:rPr>
                      <m:t>𝒚</m:t>
                    </m:r>
                  </m:oMath>
                </a14:m>
                <a:endParaRPr lang="pt-BR" b="1" dirty="0"/>
              </a:p>
            </p:txBody>
          </p:sp>
        </mc:Choice>
        <mc:Fallback xmlns="">
          <p:sp>
            <p:nvSpPr>
              <p:cNvPr id="13" name="CaixaDeTexto 12">
                <a:extLst>
                  <a:ext uri="{FF2B5EF4-FFF2-40B4-BE49-F238E27FC236}">
                    <a16:creationId xmlns:a16="http://schemas.microsoft.com/office/drawing/2014/main" id="{E6F64BCB-85D7-3E05-1F1B-545E8E807B46}"/>
                  </a:ext>
                </a:extLst>
              </p:cNvPr>
              <p:cNvSpPr txBox="1">
                <a:spLocks noRot="1" noChangeAspect="1" noMove="1" noResize="1" noEditPoints="1" noAdjustHandles="1" noChangeArrowheads="1" noChangeShapeType="1" noTextEdit="1"/>
              </p:cNvSpPr>
              <p:nvPr/>
            </p:nvSpPr>
            <p:spPr>
              <a:xfrm>
                <a:off x="2978150" y="3596845"/>
                <a:ext cx="714636" cy="369332"/>
              </a:xfrm>
              <a:prstGeom prst="rect">
                <a:avLst/>
              </a:prstGeom>
              <a:blipFill>
                <a:blip r:embed="rId6"/>
                <a:stretch>
                  <a:fillRect t="-8197" b="-245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59D4C563-2775-BCA4-F10B-98DD9CB87AD8}"/>
                  </a:ext>
                </a:extLst>
              </p:cNvPr>
              <p:cNvSpPr txBox="1"/>
              <p:nvPr/>
            </p:nvSpPr>
            <p:spPr>
              <a:xfrm>
                <a:off x="2978150" y="4590075"/>
                <a:ext cx="15135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b="0" i="1">
                              <a:latin typeface="Cambria Math" panose="02040503050406030204" pitchFamily="18" charset="0"/>
                            </a:rPr>
                            <m:t>𝑎</m:t>
                          </m:r>
                        </m:e>
                        <m:sub>
                          <m:r>
                            <a:rPr lang="pt-BR" b="0" i="1" smtClean="0">
                              <a:latin typeface="Cambria Math" panose="02040503050406030204" pitchFamily="18" charset="0"/>
                            </a:rPr>
                            <m:t>1</m:t>
                          </m:r>
                        </m:sub>
                      </m:sSub>
                      <m:r>
                        <a:rPr lang="pt-BR" b="0" i="1" smtClean="0">
                          <a:latin typeface="Cambria Math" panose="02040503050406030204" pitchFamily="18" charset="0"/>
                        </a:rPr>
                        <m:t>𝑥</m:t>
                      </m:r>
                    </m:oMath>
                  </m:oMathPara>
                </a14:m>
                <a:endParaRPr lang="pt-BR" i="1" dirty="0"/>
              </a:p>
            </p:txBody>
          </p:sp>
        </mc:Choice>
        <mc:Fallback xmlns="">
          <p:sp>
            <p:nvSpPr>
              <p:cNvPr id="14" name="CaixaDeTexto 13">
                <a:extLst>
                  <a:ext uri="{FF2B5EF4-FFF2-40B4-BE49-F238E27FC236}">
                    <a16:creationId xmlns:a16="http://schemas.microsoft.com/office/drawing/2014/main" id="{92F3BA69-437C-18E9-D7A4-EE9DB790EFAB}"/>
                  </a:ext>
                </a:extLst>
              </p:cNvPr>
              <p:cNvSpPr txBox="1">
                <a:spLocks noRot="1" noChangeAspect="1" noMove="1" noResize="1" noEditPoints="1" noAdjustHandles="1" noChangeArrowheads="1" noChangeShapeType="1" noTextEdit="1"/>
              </p:cNvSpPr>
              <p:nvPr/>
            </p:nvSpPr>
            <p:spPr>
              <a:xfrm>
                <a:off x="2978150" y="4590075"/>
                <a:ext cx="1513574" cy="369332"/>
              </a:xfrm>
              <a:prstGeom prst="rect">
                <a:avLst/>
              </a:prstGeom>
              <a:blipFill>
                <a:blip r:embed="rId7"/>
                <a:stretch>
                  <a:fillRect t="-6557" b="-4918"/>
                </a:stretch>
              </a:blipFill>
            </p:spPr>
            <p:txBody>
              <a:bodyPr/>
              <a:lstStyle/>
              <a:p>
                <a:r>
                  <a:rPr lang="pt-BR">
                    <a:noFill/>
                  </a:rPr>
                  <a:t> </a:t>
                </a:r>
              </a:p>
            </p:txBody>
          </p:sp>
        </mc:Fallback>
      </mc:AlternateContent>
    </p:spTree>
    <p:extLst>
      <p:ext uri="{BB962C8B-B14F-4D97-AF65-F5344CB8AC3E}">
        <p14:creationId xmlns:p14="http://schemas.microsoft.com/office/powerpoint/2010/main" val="38646173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23DC8-6A4E-346F-D86A-54FE38B239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82213E-3A4A-2C9C-31EB-95C5EC22999A}"/>
              </a:ext>
            </a:extLst>
          </p:cNvPr>
          <p:cNvSpPr>
            <a:spLocks noGrp="1"/>
          </p:cNvSpPr>
          <p:nvPr>
            <p:ph type="title"/>
          </p:nvPr>
        </p:nvSpPr>
        <p:spPr/>
        <p:txBody>
          <a:bodyPr/>
          <a:lstStyle/>
          <a:p>
            <a:r>
              <a:rPr lang="pt-BR" dirty="0"/>
              <a:t>Objetivo do curso</a:t>
            </a:r>
            <a:endParaRPr lang="en-US"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DCC42613-0A92-C404-A2AA-BB4EF96F7CED}"/>
                  </a:ext>
                </a:extLst>
              </p:cNvPr>
              <p:cNvSpPr>
                <a:spLocks noGrp="1"/>
              </p:cNvSpPr>
              <p:nvPr>
                <p:ph idx="1"/>
              </p:nvPr>
            </p:nvSpPr>
            <p:spPr>
              <a:xfrm>
                <a:off x="4886961" y="1797048"/>
                <a:ext cx="7203439" cy="5060952"/>
              </a:xfrm>
            </p:spPr>
            <p:txBody>
              <a:bodyPr>
                <a:normAutofit lnSpcReduction="10000"/>
              </a:bodyPr>
              <a:lstStyle/>
              <a:p>
                <a:r>
                  <a:rPr lang="pt-BR" dirty="0"/>
                  <a:t>Mas o que você quer dizer com “</a:t>
                </a:r>
                <a:r>
                  <a:rPr lang="pt-BR" b="1" i="1" dirty="0">
                    <a:solidFill>
                      <a:schemeClr val="accent2"/>
                    </a:solidFill>
                  </a:rPr>
                  <a:t>melhor forma possível</a:t>
                </a:r>
                <a:r>
                  <a:rPr lang="pt-BR" dirty="0"/>
                  <a:t>”?</a:t>
                </a:r>
              </a:p>
              <a:p>
                <a:pPr lvl="1">
                  <a:buFont typeface="Wingdings" panose="05000000000000000000" pitchFamily="2" charset="2"/>
                  <a:buChar char="§"/>
                </a:pPr>
                <a:r>
                  <a:rPr lang="pt-BR" b="1" dirty="0">
                    <a:solidFill>
                      <a:schemeClr val="accent5"/>
                    </a:solidFill>
                  </a:rPr>
                  <a:t>No sentido da otimização de uma dada métrica.</a:t>
                </a:r>
                <a:endParaRPr lang="pt-BR" dirty="0">
                  <a:solidFill>
                    <a:schemeClr val="accent5"/>
                  </a:solidFill>
                </a:endParaRPr>
              </a:p>
              <a:p>
                <a:r>
                  <a:rPr lang="pt-BR" dirty="0"/>
                  <a:t>Na maioria dos casos, o </a:t>
                </a:r>
                <a:r>
                  <a:rPr lang="pt-BR" b="1" i="1" dirty="0">
                    <a:solidFill>
                      <a:srgbClr val="7030A0"/>
                    </a:solidFill>
                  </a:rPr>
                  <a:t>mapeamento verdadeiro</a:t>
                </a:r>
                <a:r>
                  <a:rPr lang="pt-BR" dirty="0"/>
                  <a:t> entre </a:t>
                </a:r>
                <a14:m>
                  <m:oMath xmlns:m="http://schemas.openxmlformats.org/officeDocument/2006/math">
                    <m:r>
                      <a:rPr lang="pt-BR" b="1" i="1" smtClean="0">
                        <a:latin typeface="Cambria Math" panose="02040503050406030204" pitchFamily="18" charset="0"/>
                      </a:rPr>
                      <m:t>𝒙</m:t>
                    </m:r>
                  </m:oMath>
                </a14:m>
                <a:r>
                  <a:rPr lang="pt-BR" dirty="0"/>
                  <a:t> e </a:t>
                </a:r>
                <a14:m>
                  <m:oMath xmlns:m="http://schemas.openxmlformats.org/officeDocument/2006/math">
                    <m:r>
                      <a:rPr lang="pt-BR" i="1">
                        <a:latin typeface="Cambria Math" panose="02040503050406030204" pitchFamily="18" charset="0"/>
                      </a:rPr>
                      <m:t>𝑦</m:t>
                    </m:r>
                  </m:oMath>
                </a14:m>
                <a:r>
                  <a:rPr lang="pt-BR" dirty="0"/>
                  <a:t> </a:t>
                </a:r>
                <a:r>
                  <a:rPr lang="pt-BR" b="1" i="1" dirty="0">
                    <a:solidFill>
                      <a:srgbClr val="7030A0"/>
                    </a:solidFill>
                  </a:rPr>
                  <a:t>não é conhecido ou nem mesmo existe</a:t>
                </a:r>
                <a:r>
                  <a:rPr lang="pt-BR" dirty="0"/>
                  <a:t> e nós nos baseamos apenas em uma </a:t>
                </a:r>
                <a:r>
                  <a:rPr lang="pt-BR" b="1" i="1" dirty="0">
                    <a:solidFill>
                      <a:srgbClr val="7030A0"/>
                    </a:solidFill>
                  </a:rPr>
                  <a:t>métrica</a:t>
                </a:r>
                <a:r>
                  <a:rPr lang="pt-BR" dirty="0"/>
                  <a:t> para definir se o mapeamento aprendido (i.e., o </a:t>
                </a:r>
                <a:r>
                  <a:rPr lang="pt-BR" b="1" i="1" dirty="0">
                    <a:solidFill>
                      <a:srgbClr val="00B050"/>
                    </a:solidFill>
                  </a:rPr>
                  <a:t>modelo</a:t>
                </a:r>
                <a:r>
                  <a:rPr lang="pt-BR" dirty="0"/>
                  <a:t>) é bom ou não.</a:t>
                </a:r>
              </a:p>
              <a:p>
                <a:pPr lvl="1">
                  <a:buFont typeface="Wingdings" panose="05000000000000000000" pitchFamily="2" charset="2"/>
                  <a:buChar char="§"/>
                </a:pPr>
                <a:r>
                  <a:rPr lang="pt-BR" b="1" dirty="0"/>
                  <a:t>Exemplo</a:t>
                </a:r>
                <a:r>
                  <a:rPr lang="pt-BR" dirty="0"/>
                  <a:t>: dada a previsão da temperatura média para um dia qualquer, quantos picolés serão vendidos?</a:t>
                </a:r>
              </a:p>
              <a:p>
                <a:pPr lvl="2">
                  <a:buFont typeface="Courier New" panose="02070309020205020404" pitchFamily="49" charset="0"/>
                  <a:buChar char="o"/>
                </a:pPr>
                <a:r>
                  <a:rPr lang="pt-BR" dirty="0"/>
                  <a:t>Não existe uma função na natureza que mapeie temperatura em picolés.</a:t>
                </a:r>
              </a:p>
            </p:txBody>
          </p:sp>
        </mc:Choice>
        <mc:Fallback xmlns="">
          <p:sp>
            <p:nvSpPr>
              <p:cNvPr id="3" name="Espaço Reservado para Conteúdo 2">
                <a:extLst>
                  <a:ext uri="{FF2B5EF4-FFF2-40B4-BE49-F238E27FC236}">
                    <a16:creationId xmlns:a16="http://schemas.microsoft.com/office/drawing/2014/main" id="{DCC42613-0A92-C404-A2AA-BB4EF96F7CED}"/>
                  </a:ext>
                </a:extLst>
              </p:cNvPr>
              <p:cNvSpPr>
                <a:spLocks noGrp="1" noRot="1" noChangeAspect="1" noMove="1" noResize="1" noEditPoints="1" noAdjustHandles="1" noChangeArrowheads="1" noChangeShapeType="1" noTextEdit="1"/>
              </p:cNvSpPr>
              <p:nvPr>
                <p:ph idx="1"/>
              </p:nvPr>
            </p:nvSpPr>
            <p:spPr>
              <a:xfrm>
                <a:off x="4886961" y="1797048"/>
                <a:ext cx="7203439" cy="5060952"/>
              </a:xfrm>
              <a:blipFill>
                <a:blip r:embed="rId3"/>
                <a:stretch>
                  <a:fillRect l="-1524" t="-2771" r="-2456"/>
                </a:stretch>
              </a:blipFill>
            </p:spPr>
            <p:txBody>
              <a:bodyPr/>
              <a:lstStyle/>
              <a:p>
                <a:r>
                  <a:rPr lang="en-US">
                    <a:noFill/>
                  </a:rPr>
                  <a:t> </a:t>
                </a:r>
              </a:p>
            </p:txBody>
          </p:sp>
        </mc:Fallback>
      </mc:AlternateContent>
      <p:pic>
        <p:nvPicPr>
          <p:cNvPr id="7" name="Imagem 6">
            <a:extLst>
              <a:ext uri="{FF2B5EF4-FFF2-40B4-BE49-F238E27FC236}">
                <a16:creationId xmlns:a16="http://schemas.microsoft.com/office/drawing/2014/main" id="{850D4433-0ACF-DC0C-3C17-B6747FDEC39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463" t="9957" r="8514"/>
          <a:stretch/>
        </p:blipFill>
        <p:spPr>
          <a:xfrm>
            <a:off x="1387962" y="4924614"/>
            <a:ext cx="2700000" cy="1841310"/>
          </a:xfrm>
          <a:prstGeom prst="rect">
            <a:avLst/>
          </a:prstGeom>
        </p:spPr>
      </p:pic>
      <p:sp>
        <p:nvSpPr>
          <p:cNvPr id="6" name="Retângulo 5">
            <a:extLst>
              <a:ext uri="{FF2B5EF4-FFF2-40B4-BE49-F238E27FC236}">
                <a16:creationId xmlns:a16="http://schemas.microsoft.com/office/drawing/2014/main" id="{6644454B-EAAC-C12B-2E12-13A917DDC67E}"/>
              </a:ext>
            </a:extLst>
          </p:cNvPr>
          <p:cNvSpPr/>
          <p:nvPr/>
        </p:nvSpPr>
        <p:spPr>
          <a:xfrm>
            <a:off x="2101850" y="3992172"/>
            <a:ext cx="1473200" cy="63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Machine</a:t>
            </a:r>
            <a:r>
              <a:rPr lang="pt-BR" dirty="0"/>
              <a:t> Learning</a:t>
            </a:r>
          </a:p>
        </p:txBody>
      </p:sp>
      <p:sp>
        <p:nvSpPr>
          <p:cNvPr id="9" name="Seta: para Baixo 8">
            <a:extLst>
              <a:ext uri="{FF2B5EF4-FFF2-40B4-BE49-F238E27FC236}">
                <a16:creationId xmlns:a16="http://schemas.microsoft.com/office/drawing/2014/main" id="{9EB8338E-E68A-3741-767E-8B88E88C3126}"/>
              </a:ext>
            </a:extLst>
          </p:cNvPr>
          <p:cNvSpPr/>
          <p:nvPr/>
        </p:nvSpPr>
        <p:spPr>
          <a:xfrm>
            <a:off x="2718912" y="3701080"/>
            <a:ext cx="259238" cy="278392"/>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Seta: para Baixo 9">
            <a:extLst>
              <a:ext uri="{FF2B5EF4-FFF2-40B4-BE49-F238E27FC236}">
                <a16:creationId xmlns:a16="http://schemas.microsoft.com/office/drawing/2014/main" id="{B4760257-8B0B-13B2-10FE-F6299FD4920D}"/>
              </a:ext>
            </a:extLst>
          </p:cNvPr>
          <p:cNvSpPr/>
          <p:nvPr/>
        </p:nvSpPr>
        <p:spPr>
          <a:xfrm>
            <a:off x="2728993" y="4627814"/>
            <a:ext cx="259238" cy="278392"/>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F8E67A7D-AD47-90E6-A645-B7E62103E95E}"/>
              </a:ext>
            </a:extLst>
          </p:cNvPr>
          <p:cNvPicPr>
            <a:picLocks noChangeAspect="1"/>
          </p:cNvPicPr>
          <p:nvPr/>
        </p:nvPicPr>
        <p:blipFill rotWithShape="1">
          <a:blip r:embed="rId5"/>
          <a:srcRect l="3762" t="9838" r="8646"/>
          <a:stretch/>
        </p:blipFill>
        <p:spPr>
          <a:xfrm>
            <a:off x="1387962" y="1565340"/>
            <a:ext cx="2700000" cy="2084404"/>
          </a:xfrm>
          <a:prstGeom prst="rect">
            <a:avLst/>
          </a:prstGeom>
        </p:spPr>
      </p:pic>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74696653-3A7E-823E-561D-B968B73A4AB1}"/>
                  </a:ext>
                </a:extLst>
              </p:cNvPr>
              <p:cNvSpPr txBox="1"/>
              <p:nvPr/>
            </p:nvSpPr>
            <p:spPr>
              <a:xfrm>
                <a:off x="2978150" y="3596845"/>
                <a:ext cx="714636" cy="369332"/>
              </a:xfrm>
              <a:prstGeom prst="rect">
                <a:avLst/>
              </a:prstGeom>
              <a:noFill/>
            </p:spPr>
            <p:txBody>
              <a:bodyPr wrap="square" rtlCol="0">
                <a:spAutoFit/>
              </a:bodyPr>
              <a:lstStyle/>
              <a:p>
                <a14:m>
                  <m:oMath xmlns:m="http://schemas.openxmlformats.org/officeDocument/2006/math">
                    <m:r>
                      <a:rPr lang="pt-BR" b="1" i="1" smtClean="0">
                        <a:latin typeface="Cambria Math" panose="02040503050406030204" pitchFamily="18" charset="0"/>
                      </a:rPr>
                      <m:t>𝒙</m:t>
                    </m:r>
                  </m:oMath>
                </a14:m>
                <a:r>
                  <a:rPr lang="pt-BR" dirty="0"/>
                  <a:t> e </a:t>
                </a:r>
                <a14:m>
                  <m:oMath xmlns:m="http://schemas.openxmlformats.org/officeDocument/2006/math">
                    <m:r>
                      <a:rPr lang="pt-BR" b="1" i="1" smtClean="0">
                        <a:latin typeface="Cambria Math" panose="02040503050406030204" pitchFamily="18" charset="0"/>
                      </a:rPr>
                      <m:t>𝒚</m:t>
                    </m:r>
                  </m:oMath>
                </a14:m>
                <a:endParaRPr lang="pt-BR" b="1" dirty="0"/>
              </a:p>
            </p:txBody>
          </p:sp>
        </mc:Choice>
        <mc:Fallback xmlns="">
          <p:sp>
            <p:nvSpPr>
              <p:cNvPr id="13" name="CaixaDeTexto 12">
                <a:extLst>
                  <a:ext uri="{FF2B5EF4-FFF2-40B4-BE49-F238E27FC236}">
                    <a16:creationId xmlns:a16="http://schemas.microsoft.com/office/drawing/2014/main" id="{E6F64BCB-85D7-3E05-1F1B-545E8E807B46}"/>
                  </a:ext>
                </a:extLst>
              </p:cNvPr>
              <p:cNvSpPr txBox="1">
                <a:spLocks noRot="1" noChangeAspect="1" noMove="1" noResize="1" noEditPoints="1" noAdjustHandles="1" noChangeArrowheads="1" noChangeShapeType="1" noTextEdit="1"/>
              </p:cNvSpPr>
              <p:nvPr/>
            </p:nvSpPr>
            <p:spPr>
              <a:xfrm>
                <a:off x="2978150" y="3596845"/>
                <a:ext cx="714636" cy="369332"/>
              </a:xfrm>
              <a:prstGeom prst="rect">
                <a:avLst/>
              </a:prstGeom>
              <a:blipFill>
                <a:blip r:embed="rId6"/>
                <a:stretch>
                  <a:fillRect t="-8197" b="-245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59D4C563-2775-BCA4-F10B-98DD9CB87AD8}"/>
                  </a:ext>
                </a:extLst>
              </p:cNvPr>
              <p:cNvSpPr txBox="1"/>
              <p:nvPr/>
            </p:nvSpPr>
            <p:spPr>
              <a:xfrm>
                <a:off x="2978150" y="4590075"/>
                <a:ext cx="15135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b="0" i="1">
                              <a:latin typeface="Cambria Math" panose="02040503050406030204" pitchFamily="18" charset="0"/>
                            </a:rPr>
                            <m:t>𝑎</m:t>
                          </m:r>
                        </m:e>
                        <m:sub>
                          <m:r>
                            <a:rPr lang="pt-BR" b="0" i="1" smtClean="0">
                              <a:latin typeface="Cambria Math" panose="02040503050406030204" pitchFamily="18" charset="0"/>
                            </a:rPr>
                            <m:t>1</m:t>
                          </m:r>
                        </m:sub>
                      </m:sSub>
                      <m:r>
                        <a:rPr lang="pt-BR" b="0" i="1" smtClean="0">
                          <a:latin typeface="Cambria Math" panose="02040503050406030204" pitchFamily="18" charset="0"/>
                        </a:rPr>
                        <m:t>𝑥</m:t>
                      </m:r>
                    </m:oMath>
                  </m:oMathPara>
                </a14:m>
                <a:endParaRPr lang="pt-BR" i="1" dirty="0"/>
              </a:p>
            </p:txBody>
          </p:sp>
        </mc:Choice>
        <mc:Fallback xmlns="">
          <p:sp>
            <p:nvSpPr>
              <p:cNvPr id="14" name="CaixaDeTexto 13">
                <a:extLst>
                  <a:ext uri="{FF2B5EF4-FFF2-40B4-BE49-F238E27FC236}">
                    <a16:creationId xmlns:a16="http://schemas.microsoft.com/office/drawing/2014/main" id="{92F3BA69-437C-18E9-D7A4-EE9DB790EFAB}"/>
                  </a:ext>
                </a:extLst>
              </p:cNvPr>
              <p:cNvSpPr txBox="1">
                <a:spLocks noRot="1" noChangeAspect="1" noMove="1" noResize="1" noEditPoints="1" noAdjustHandles="1" noChangeArrowheads="1" noChangeShapeType="1" noTextEdit="1"/>
              </p:cNvSpPr>
              <p:nvPr/>
            </p:nvSpPr>
            <p:spPr>
              <a:xfrm>
                <a:off x="2978150" y="4590075"/>
                <a:ext cx="1513574" cy="369332"/>
              </a:xfrm>
              <a:prstGeom prst="rect">
                <a:avLst/>
              </a:prstGeom>
              <a:blipFill>
                <a:blip r:embed="rId7"/>
                <a:stretch>
                  <a:fillRect t="-6557" b="-4918"/>
                </a:stretch>
              </a:blipFill>
            </p:spPr>
            <p:txBody>
              <a:bodyPr/>
              <a:lstStyle/>
              <a:p>
                <a:r>
                  <a:rPr lang="pt-BR">
                    <a:noFill/>
                  </a:rPr>
                  <a:t> </a:t>
                </a:r>
              </a:p>
            </p:txBody>
          </p:sp>
        </mc:Fallback>
      </mc:AlternateContent>
    </p:spTree>
    <p:extLst>
      <p:ext uri="{BB962C8B-B14F-4D97-AF65-F5344CB8AC3E}">
        <p14:creationId xmlns:p14="http://schemas.microsoft.com/office/powerpoint/2010/main" val="3838665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6DA6E6-C288-35C9-6F74-163708B6665E}"/>
              </a:ext>
            </a:extLst>
          </p:cNvPr>
          <p:cNvSpPr>
            <a:spLocks noGrp="1"/>
          </p:cNvSpPr>
          <p:nvPr>
            <p:ph type="title"/>
          </p:nvPr>
        </p:nvSpPr>
        <p:spPr/>
        <p:txBody>
          <a:bodyPr/>
          <a:lstStyle/>
          <a:p>
            <a:r>
              <a:rPr lang="pt-BR" dirty="0"/>
              <a:t>Referências</a:t>
            </a:r>
          </a:p>
        </p:txBody>
      </p:sp>
      <p:sp>
        <p:nvSpPr>
          <p:cNvPr id="3" name="Espaço Reservado para Conteúdo 2">
            <a:extLst>
              <a:ext uri="{FF2B5EF4-FFF2-40B4-BE49-F238E27FC236}">
                <a16:creationId xmlns:a16="http://schemas.microsoft.com/office/drawing/2014/main" id="{00595392-F324-1A60-5A81-5AE7EAE2B2E1}"/>
              </a:ext>
            </a:extLst>
          </p:cNvPr>
          <p:cNvSpPr>
            <a:spLocks noGrp="1"/>
          </p:cNvSpPr>
          <p:nvPr>
            <p:ph idx="1"/>
          </p:nvPr>
        </p:nvSpPr>
        <p:spPr>
          <a:xfrm>
            <a:off x="838200" y="1825624"/>
            <a:ext cx="11126118" cy="5032375"/>
          </a:xfrm>
        </p:spPr>
        <p:txBody>
          <a:bodyPr>
            <a:normAutofit fontScale="92500" lnSpcReduction="20000"/>
          </a:bodyPr>
          <a:lstStyle/>
          <a:p>
            <a:pPr marL="0" indent="0">
              <a:buNone/>
            </a:pPr>
            <a:r>
              <a:rPr lang="pt-BR" dirty="0"/>
              <a:t>[1] Stuart Russell e Peter </a:t>
            </a:r>
            <a:r>
              <a:rPr lang="pt-BR" dirty="0" err="1"/>
              <a:t>Norvig</a:t>
            </a:r>
            <a:r>
              <a:rPr lang="pt-BR" dirty="0"/>
              <a:t>, “</a:t>
            </a:r>
            <a:r>
              <a:rPr lang="pt-BR" i="1" dirty="0"/>
              <a:t>Artificial </a:t>
            </a:r>
            <a:r>
              <a:rPr lang="pt-BR" i="1" dirty="0" err="1"/>
              <a:t>Intelligence</a:t>
            </a:r>
            <a:r>
              <a:rPr lang="pt-BR" i="1" dirty="0"/>
              <a:t>: A </a:t>
            </a:r>
            <a:r>
              <a:rPr lang="pt-BR" i="1" dirty="0" err="1"/>
              <a:t>Modern</a:t>
            </a:r>
            <a:r>
              <a:rPr lang="pt-BR" i="1" dirty="0"/>
              <a:t> Approach</a:t>
            </a:r>
            <a:r>
              <a:rPr lang="pt-BR" dirty="0"/>
              <a:t>,” Prentice Hall Series in Artificial </a:t>
            </a:r>
            <a:r>
              <a:rPr lang="pt-BR" dirty="0" err="1"/>
              <a:t>Intelligence</a:t>
            </a:r>
            <a:r>
              <a:rPr lang="pt-BR" dirty="0"/>
              <a:t>, 3rd ed., 2015.</a:t>
            </a:r>
          </a:p>
          <a:p>
            <a:pPr marL="0" indent="0">
              <a:buNone/>
            </a:pPr>
            <a:r>
              <a:rPr lang="pt-BR" dirty="0"/>
              <a:t>[2] </a:t>
            </a:r>
            <a:r>
              <a:rPr lang="pt-BR" dirty="0" err="1"/>
              <a:t>Aurélien</a:t>
            </a:r>
            <a:r>
              <a:rPr lang="pt-BR" dirty="0"/>
              <a:t> </a:t>
            </a:r>
            <a:r>
              <a:rPr lang="pt-BR" dirty="0" err="1"/>
              <a:t>Géron</a:t>
            </a:r>
            <a:r>
              <a:rPr lang="pt-BR" dirty="0"/>
              <a:t>, “</a:t>
            </a:r>
            <a:r>
              <a:rPr lang="pt-BR" i="1" dirty="0"/>
              <a:t>Hands-On </a:t>
            </a:r>
            <a:r>
              <a:rPr lang="pt-BR" i="1" dirty="0" err="1"/>
              <a:t>Machine</a:t>
            </a:r>
            <a:r>
              <a:rPr lang="pt-BR" i="1" dirty="0"/>
              <a:t> Learning </a:t>
            </a:r>
            <a:r>
              <a:rPr lang="pt-BR" i="1" dirty="0" err="1"/>
              <a:t>with</a:t>
            </a:r>
            <a:r>
              <a:rPr lang="pt-BR" i="1" dirty="0"/>
              <a:t> </a:t>
            </a:r>
            <a:r>
              <a:rPr lang="pt-BR" i="1" dirty="0" err="1"/>
              <a:t>Scikit-Learn</a:t>
            </a:r>
            <a:r>
              <a:rPr lang="pt-BR" i="1" dirty="0"/>
              <a:t> </a:t>
            </a:r>
            <a:r>
              <a:rPr lang="pt-BR" i="1" dirty="0" err="1"/>
              <a:t>and</a:t>
            </a:r>
            <a:r>
              <a:rPr lang="pt-BR" i="1" dirty="0"/>
              <a:t> TensorFlow: </a:t>
            </a:r>
            <a:r>
              <a:rPr lang="pt-BR" i="1" dirty="0" err="1"/>
              <a:t>Concepts</a:t>
            </a:r>
            <a:r>
              <a:rPr lang="pt-BR" i="1" dirty="0"/>
              <a:t>, Tools, </a:t>
            </a:r>
            <a:r>
              <a:rPr lang="pt-BR" i="1" dirty="0" err="1"/>
              <a:t>and</a:t>
            </a:r>
            <a:r>
              <a:rPr lang="pt-BR" i="1" dirty="0"/>
              <a:t> </a:t>
            </a:r>
            <a:r>
              <a:rPr lang="pt-BR" i="1" dirty="0" err="1"/>
              <a:t>Techniques</a:t>
            </a:r>
            <a:r>
              <a:rPr lang="pt-BR" i="1" dirty="0"/>
              <a:t> </a:t>
            </a:r>
            <a:r>
              <a:rPr lang="pt-BR" i="1" dirty="0" err="1"/>
              <a:t>to</a:t>
            </a:r>
            <a:r>
              <a:rPr lang="pt-BR" i="1" dirty="0"/>
              <a:t> Build </a:t>
            </a:r>
            <a:r>
              <a:rPr lang="pt-BR" i="1" dirty="0" err="1"/>
              <a:t>Intelligent</a:t>
            </a:r>
            <a:r>
              <a:rPr lang="pt-BR" i="1" dirty="0"/>
              <a:t> Systems</a:t>
            </a:r>
            <a:r>
              <a:rPr lang="pt-BR" dirty="0"/>
              <a:t>”, 1st ed., O'Reilly Media, 2017.</a:t>
            </a:r>
          </a:p>
          <a:p>
            <a:pPr marL="0" indent="0">
              <a:buNone/>
            </a:pPr>
            <a:r>
              <a:rPr lang="pt-BR" dirty="0"/>
              <a:t>[3] Levy Boccato, “Notas de aula do curso Tópicos em Sistemas Inteligentes II - Aprendizado de Máquina” (IA006), disponíveis em </a:t>
            </a:r>
            <a:r>
              <a:rPr lang="pt-BR" dirty="0">
                <a:hlinkClick r:id="rId3"/>
              </a:rPr>
              <a:t>https://www.dca.fee.unicamp.br/~lboccato/ia006_2s2019.html</a:t>
            </a:r>
            <a:r>
              <a:rPr lang="pt-BR" dirty="0"/>
              <a:t> (2019).</a:t>
            </a:r>
          </a:p>
          <a:p>
            <a:pPr marL="0" indent="0">
              <a:buNone/>
            </a:pPr>
            <a:r>
              <a:rPr lang="pt-BR" dirty="0"/>
              <a:t>[4] Joseph </a:t>
            </a:r>
            <a:r>
              <a:rPr lang="pt-BR" dirty="0" err="1"/>
              <a:t>Misiti</a:t>
            </a:r>
            <a:r>
              <a:rPr lang="pt-BR" dirty="0"/>
              <a:t>, “</a:t>
            </a:r>
            <a:r>
              <a:rPr lang="pt-BR" i="1" dirty="0" err="1"/>
              <a:t>Awesome</a:t>
            </a:r>
            <a:r>
              <a:rPr lang="pt-BR" i="1" dirty="0"/>
              <a:t> </a:t>
            </a:r>
            <a:r>
              <a:rPr lang="pt-BR" i="1" dirty="0" err="1"/>
              <a:t>Machine</a:t>
            </a:r>
            <a:r>
              <a:rPr lang="pt-BR" i="1" dirty="0"/>
              <a:t>-Learning</a:t>
            </a:r>
            <a:r>
              <a:rPr lang="pt-BR" dirty="0"/>
              <a:t>,” on-line data base </a:t>
            </a:r>
            <a:r>
              <a:rPr lang="pt-BR" dirty="0" err="1"/>
              <a:t>with</a:t>
            </a:r>
            <a:r>
              <a:rPr lang="pt-BR" dirty="0"/>
              <a:t> </a:t>
            </a:r>
            <a:r>
              <a:rPr lang="pt-BR" dirty="0" err="1"/>
              <a:t>several</a:t>
            </a:r>
            <a:r>
              <a:rPr lang="pt-BR" dirty="0"/>
              <a:t> </a:t>
            </a:r>
            <a:r>
              <a:rPr lang="pt-BR" dirty="0" err="1"/>
              <a:t>free</a:t>
            </a:r>
            <a:r>
              <a:rPr lang="pt-BR" dirty="0"/>
              <a:t> </a:t>
            </a:r>
            <a:r>
              <a:rPr lang="pt-BR" dirty="0" err="1"/>
              <a:t>and</a:t>
            </a:r>
            <a:r>
              <a:rPr lang="pt-BR" dirty="0"/>
              <a:t>/</a:t>
            </a:r>
            <a:r>
              <a:rPr lang="pt-BR" dirty="0" err="1"/>
              <a:t>or</a:t>
            </a:r>
            <a:r>
              <a:rPr lang="pt-BR" dirty="0"/>
              <a:t> open-</a:t>
            </a:r>
            <a:r>
              <a:rPr lang="pt-BR" dirty="0" err="1"/>
              <a:t>source</a:t>
            </a:r>
            <a:r>
              <a:rPr lang="pt-BR" dirty="0"/>
              <a:t> books (https://github.com/</a:t>
            </a:r>
            <a:r>
              <a:rPr lang="pt-BR" dirty="0" err="1"/>
              <a:t>josephmisiti</a:t>
            </a:r>
            <a:r>
              <a:rPr lang="pt-BR" dirty="0"/>
              <a:t>/</a:t>
            </a:r>
            <a:r>
              <a:rPr lang="pt-BR" dirty="0" err="1"/>
              <a:t>awesome-machine-learning</a:t>
            </a:r>
            <a:r>
              <a:rPr lang="pt-BR" dirty="0"/>
              <a:t>). </a:t>
            </a:r>
          </a:p>
          <a:p>
            <a:pPr marL="0" indent="0">
              <a:buNone/>
            </a:pPr>
            <a:r>
              <a:rPr lang="pt-BR" dirty="0"/>
              <a:t>[5] C. M. Bishop, “</a:t>
            </a:r>
            <a:r>
              <a:rPr lang="pt-BR" i="1" dirty="0" err="1"/>
              <a:t>Pattern</a:t>
            </a:r>
            <a:r>
              <a:rPr lang="pt-BR" i="1" dirty="0"/>
              <a:t> </a:t>
            </a:r>
            <a:r>
              <a:rPr lang="pt-BR" i="1" dirty="0" err="1"/>
              <a:t>Recognition</a:t>
            </a:r>
            <a:r>
              <a:rPr lang="pt-BR" i="1" dirty="0"/>
              <a:t> </a:t>
            </a:r>
            <a:r>
              <a:rPr lang="pt-BR" i="1" dirty="0" err="1"/>
              <a:t>and</a:t>
            </a:r>
            <a:r>
              <a:rPr lang="pt-BR" i="1" dirty="0"/>
              <a:t> </a:t>
            </a:r>
            <a:r>
              <a:rPr lang="pt-BR" i="1" dirty="0" err="1"/>
              <a:t>Machine</a:t>
            </a:r>
            <a:r>
              <a:rPr lang="pt-BR" i="1" dirty="0"/>
              <a:t> Learning</a:t>
            </a:r>
            <a:r>
              <a:rPr lang="pt-BR" dirty="0"/>
              <a:t>,” Springer, 1st ed., 2006.</a:t>
            </a:r>
          </a:p>
          <a:p>
            <a:pPr marL="0" indent="0">
              <a:buNone/>
            </a:pPr>
            <a:r>
              <a:rPr lang="pt-BR" dirty="0"/>
              <a:t>[6] Coleção de livros, </a:t>
            </a:r>
            <a:r>
              <a:rPr lang="pt-BR" dirty="0">
                <a:hlinkClick r:id="rId4"/>
              </a:rPr>
              <a:t>https://tinyurl.com/mp64ksye</a:t>
            </a:r>
            <a:endParaRPr lang="pt-BR" dirty="0"/>
          </a:p>
        </p:txBody>
      </p:sp>
    </p:spTree>
    <p:extLst>
      <p:ext uri="{BB962C8B-B14F-4D97-AF65-F5344CB8AC3E}">
        <p14:creationId xmlns:p14="http://schemas.microsoft.com/office/powerpoint/2010/main" val="34363157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Avisos</a:t>
            </a:r>
            <a:endParaRPr lang="nl-BE" dirty="0"/>
          </a:p>
        </p:txBody>
      </p:sp>
      <p:sp>
        <p:nvSpPr>
          <p:cNvPr id="3" name="Content Placeholder 2"/>
          <p:cNvSpPr>
            <a:spLocks noGrp="1"/>
          </p:cNvSpPr>
          <p:nvPr>
            <p:ph idx="1"/>
          </p:nvPr>
        </p:nvSpPr>
        <p:spPr>
          <a:xfrm>
            <a:off x="838199" y="1825624"/>
            <a:ext cx="11237537" cy="5032376"/>
          </a:xfrm>
        </p:spPr>
        <p:txBody>
          <a:bodyPr>
            <a:normAutofit/>
          </a:bodyPr>
          <a:lstStyle/>
          <a:p>
            <a:r>
              <a:rPr lang="pt-BR" dirty="0"/>
              <a:t>Toda a nossa comunicação será feita via Teams.</a:t>
            </a:r>
          </a:p>
          <a:p>
            <a:r>
              <a:rPr lang="pt-BR" dirty="0"/>
              <a:t>Todas as aulas serão gravadas e os vídeos ficarão disponíveis na pasta "</a:t>
            </a:r>
            <a:r>
              <a:rPr lang="pt-BR" dirty="0" err="1"/>
              <a:t>Recordings</a:t>
            </a:r>
            <a:r>
              <a:rPr lang="pt-BR" dirty="0"/>
              <a:t>" dentro de “Arquivos”.</a:t>
            </a:r>
          </a:p>
          <a:p>
            <a:r>
              <a:rPr lang="pt-BR" dirty="0"/>
              <a:t>Todo material do curso está disponível no GitHub: </a:t>
            </a:r>
          </a:p>
          <a:p>
            <a:pPr lvl="1">
              <a:buFont typeface="Wingdings" panose="05000000000000000000" pitchFamily="2" charset="2"/>
              <a:buChar char="§"/>
            </a:pPr>
            <a:r>
              <a:rPr lang="pt-BR" dirty="0">
                <a:hlinkClick r:id="rId2"/>
              </a:rPr>
              <a:t>https://github.com/zz4fap/t319_aprendizado_de_maquina</a:t>
            </a:r>
            <a:endParaRPr lang="en-US" dirty="0"/>
          </a:p>
          <a:p>
            <a:r>
              <a:rPr lang="en-US" dirty="0"/>
              <a:t>As </a:t>
            </a:r>
            <a:r>
              <a:rPr lang="en-US" dirty="0" err="1"/>
              <a:t>entregas</a:t>
            </a:r>
            <a:r>
              <a:rPr lang="en-US" dirty="0"/>
              <a:t> das </a:t>
            </a:r>
            <a:r>
              <a:rPr lang="en-US" dirty="0" err="1"/>
              <a:t>atividades</a:t>
            </a:r>
            <a:r>
              <a:rPr lang="en-US" dirty="0"/>
              <a:t> </a:t>
            </a:r>
            <a:r>
              <a:rPr lang="pt-BR" dirty="0"/>
              <a:t>(laboratórios e quizzes) </a:t>
            </a:r>
            <a:r>
              <a:rPr lang="en-US" dirty="0" err="1"/>
              <a:t>devem</a:t>
            </a:r>
            <a:r>
              <a:rPr lang="en-US" dirty="0"/>
              <a:t> </a:t>
            </a:r>
            <a:r>
              <a:rPr lang="en-US" dirty="0" err="1"/>
              <a:t>ser</a:t>
            </a:r>
            <a:r>
              <a:rPr lang="en-US" dirty="0"/>
              <a:t> </a:t>
            </a:r>
            <a:r>
              <a:rPr lang="en-US" dirty="0" err="1"/>
              <a:t>feitas</a:t>
            </a:r>
            <a:r>
              <a:rPr lang="en-US" dirty="0"/>
              <a:t> </a:t>
            </a:r>
            <a:r>
              <a:rPr lang="en-US" dirty="0" err="1"/>
              <a:t>através</a:t>
            </a:r>
            <a:r>
              <a:rPr lang="en-US" dirty="0"/>
              <a:t> do Teams.</a:t>
            </a:r>
          </a:p>
          <a:p>
            <a:pPr lvl="1">
              <a:buFont typeface="Wingdings" panose="05000000000000000000" pitchFamily="2" charset="2"/>
              <a:buChar char="§"/>
            </a:pPr>
            <a:r>
              <a:rPr lang="en-US" dirty="0"/>
              <a:t>Se </a:t>
            </a:r>
            <a:r>
              <a:rPr lang="en-US" dirty="0" err="1"/>
              <a:t>atentem</a:t>
            </a:r>
            <a:r>
              <a:rPr lang="en-US" dirty="0"/>
              <a:t> </a:t>
            </a:r>
            <a:r>
              <a:rPr lang="en-US" dirty="0" err="1"/>
              <a:t>às</a:t>
            </a:r>
            <a:r>
              <a:rPr lang="en-US" dirty="0"/>
              <a:t> </a:t>
            </a:r>
            <a:r>
              <a:rPr lang="en-US" dirty="0" err="1"/>
              <a:t>datas</a:t>
            </a:r>
            <a:r>
              <a:rPr lang="en-US" dirty="0"/>
              <a:t> e </a:t>
            </a:r>
            <a:r>
              <a:rPr lang="en-US" dirty="0" err="1"/>
              <a:t>horários</a:t>
            </a:r>
            <a:r>
              <a:rPr lang="en-US" dirty="0"/>
              <a:t> de </a:t>
            </a:r>
            <a:r>
              <a:rPr lang="en-US" dirty="0" err="1"/>
              <a:t>entrega</a:t>
            </a:r>
            <a:r>
              <a:rPr lang="en-US" dirty="0"/>
              <a:t> das </a:t>
            </a:r>
            <a:r>
              <a:rPr lang="en-US" dirty="0" err="1"/>
              <a:t>atividades</a:t>
            </a:r>
            <a:r>
              <a:rPr lang="en-US" dirty="0"/>
              <a:t> no Teams.</a:t>
            </a:r>
            <a:br>
              <a:rPr lang="pt-BR" dirty="0"/>
            </a:br>
            <a:endParaRPr lang="pt-BR" dirty="0"/>
          </a:p>
        </p:txBody>
      </p:sp>
    </p:spTree>
    <p:extLst>
      <p:ext uri="{BB962C8B-B14F-4D97-AF65-F5344CB8AC3E}">
        <p14:creationId xmlns:p14="http://schemas.microsoft.com/office/powerpoint/2010/main" val="8490152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Avisos</a:t>
            </a:r>
            <a:endParaRPr lang="nl-BE" dirty="0"/>
          </a:p>
        </p:txBody>
      </p:sp>
      <p:sp>
        <p:nvSpPr>
          <p:cNvPr id="3" name="Content Placeholder 2"/>
          <p:cNvSpPr>
            <a:spLocks noGrp="1"/>
          </p:cNvSpPr>
          <p:nvPr>
            <p:ph idx="1"/>
          </p:nvPr>
        </p:nvSpPr>
        <p:spPr>
          <a:xfrm>
            <a:off x="838199" y="1825624"/>
            <a:ext cx="11353801" cy="5032376"/>
          </a:xfrm>
        </p:spPr>
        <p:txBody>
          <a:bodyPr>
            <a:normAutofit/>
          </a:bodyPr>
          <a:lstStyle/>
          <a:p>
            <a:r>
              <a:rPr lang="pt-BR" dirty="0"/>
              <a:t>Vídeos do minicurso curso de Python e de como usar o Colab estão na pasta “</a:t>
            </a:r>
            <a:r>
              <a:rPr lang="pt-BR" i="1" dirty="0" err="1"/>
              <a:t>Recordings</a:t>
            </a:r>
            <a:r>
              <a:rPr lang="pt-BR" i="1" dirty="0"/>
              <a:t>”</a:t>
            </a:r>
            <a:r>
              <a:rPr lang="pt-BR" dirty="0"/>
              <a:t> dentro de “Arquivos”.</a:t>
            </a:r>
          </a:p>
          <a:p>
            <a:r>
              <a:rPr lang="pt-BR" dirty="0"/>
              <a:t>Horários de atendimento</a:t>
            </a:r>
          </a:p>
          <a:p>
            <a:pPr lvl="1">
              <a:buFont typeface="Wingdings" panose="05000000000000000000" pitchFamily="2" charset="2"/>
              <a:buChar char="§"/>
            </a:pPr>
            <a:r>
              <a:rPr lang="pt-BR" dirty="0"/>
              <a:t>Professor: terças-feiras das 10:00 às 11:00 e das 17:30 às 18:30.</a:t>
            </a:r>
          </a:p>
          <a:p>
            <a:pPr lvl="1">
              <a:buFont typeface="Wingdings" panose="05000000000000000000" pitchFamily="2" charset="2"/>
              <a:buChar char="§"/>
            </a:pPr>
            <a:r>
              <a:rPr lang="pt-BR" dirty="0"/>
              <a:t>Monitor (</a:t>
            </a:r>
            <a:r>
              <a:rPr lang="en-US" dirty="0"/>
              <a:t>João Gabriel: joao.g@get.inatel.br): </a:t>
            </a:r>
            <a:r>
              <a:rPr lang="en-US" dirty="0" err="1"/>
              <a:t>todas</a:t>
            </a:r>
            <a:r>
              <a:rPr lang="en-US" dirty="0"/>
              <a:t> as </a:t>
            </a:r>
            <a:r>
              <a:rPr lang="en-US" dirty="0" err="1"/>
              <a:t>segundas-feiras</a:t>
            </a:r>
            <a:r>
              <a:rPr lang="en-US" dirty="0"/>
              <a:t> das 17:30 </a:t>
            </a:r>
            <a:r>
              <a:rPr lang="en-US" dirty="0" err="1"/>
              <a:t>às</a:t>
            </a:r>
            <a:r>
              <a:rPr lang="en-US" dirty="0"/>
              <a:t> 19:30.</a:t>
            </a:r>
            <a:endParaRPr lang="pt-BR" dirty="0"/>
          </a:p>
          <a:p>
            <a:pPr lvl="1">
              <a:buFont typeface="Wingdings" panose="05000000000000000000" pitchFamily="2" charset="2"/>
              <a:buChar char="§"/>
            </a:pPr>
            <a:r>
              <a:rPr lang="pt-BR" b="1" dirty="0"/>
              <a:t>Atendimento remoto via Teams</a:t>
            </a:r>
            <a:r>
              <a:rPr lang="pt-BR" dirty="0"/>
              <a:t>. </a:t>
            </a:r>
            <a:br>
              <a:rPr lang="pt-BR" dirty="0"/>
            </a:br>
            <a:endParaRPr lang="pt-BR" dirty="0"/>
          </a:p>
        </p:txBody>
      </p:sp>
    </p:spTree>
    <p:extLst>
      <p:ext uri="{BB962C8B-B14F-4D97-AF65-F5344CB8AC3E}">
        <p14:creationId xmlns:p14="http://schemas.microsoft.com/office/powerpoint/2010/main" val="5498900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Tarefas</a:t>
            </a:r>
          </a:p>
        </p:txBody>
      </p:sp>
      <p:sp>
        <p:nvSpPr>
          <p:cNvPr id="3" name="Content Placeholder 2"/>
          <p:cNvSpPr>
            <a:spLocks noGrp="1"/>
          </p:cNvSpPr>
          <p:nvPr>
            <p:ph idx="1"/>
          </p:nvPr>
        </p:nvSpPr>
        <p:spPr>
          <a:xfrm>
            <a:off x="838200" y="1825624"/>
            <a:ext cx="11010900" cy="5032375"/>
          </a:xfrm>
        </p:spPr>
        <p:txBody>
          <a:bodyPr/>
          <a:lstStyle/>
          <a:p>
            <a:r>
              <a:rPr lang="pt-BR" b="1" dirty="0"/>
              <a:t>Quiz</a:t>
            </a:r>
            <a:r>
              <a:rPr lang="pt-BR" dirty="0"/>
              <a:t>: “</a:t>
            </a:r>
            <a:r>
              <a:rPr lang="pt-BR" i="1" dirty="0"/>
              <a:t>T319 - Quiz - Introdução</a:t>
            </a:r>
            <a:r>
              <a:rPr lang="pt-BR" dirty="0"/>
              <a:t>” que se encontra no MS Teams.</a:t>
            </a:r>
          </a:p>
          <a:p>
            <a:r>
              <a:rPr lang="pt-BR" b="1" dirty="0"/>
              <a:t>Exercício Prático</a:t>
            </a:r>
            <a:r>
              <a:rPr lang="pt-BR" dirty="0"/>
              <a:t>: </a:t>
            </a:r>
            <a:r>
              <a:rPr lang="pt-BR" b="1" dirty="0">
                <a:hlinkClick r:id="rId3"/>
              </a:rPr>
              <a:t>Laboratório #1</a:t>
            </a:r>
            <a:r>
              <a:rPr lang="pt-BR" dirty="0"/>
              <a:t>.</a:t>
            </a:r>
          </a:p>
          <a:p>
            <a:pPr lvl="1"/>
            <a:r>
              <a:rPr lang="pt-BR" dirty="0"/>
              <a:t>Pode ser acessado através do link acima (Google </a:t>
            </a:r>
            <a:r>
              <a:rPr lang="pt-BR" dirty="0" err="1"/>
              <a:t>Colab</a:t>
            </a:r>
            <a:r>
              <a:rPr lang="pt-BR" dirty="0"/>
              <a:t>) ou no GitHub.</a:t>
            </a:r>
          </a:p>
          <a:p>
            <a:pPr lvl="1"/>
            <a:r>
              <a:rPr lang="pt-BR" b="1" dirty="0">
                <a:solidFill>
                  <a:srgbClr val="00B050"/>
                </a:solidFill>
              </a:rPr>
              <a:t>Vídeo explicando o laboratório #1: Arquivos -&gt; </a:t>
            </a:r>
            <a:r>
              <a:rPr lang="pt-BR" b="1" dirty="0" err="1">
                <a:solidFill>
                  <a:srgbClr val="00B050"/>
                </a:solidFill>
              </a:rPr>
              <a:t>Recordings</a:t>
            </a:r>
            <a:r>
              <a:rPr lang="pt-BR" b="1" dirty="0">
                <a:solidFill>
                  <a:srgbClr val="00B050"/>
                </a:solidFill>
              </a:rPr>
              <a:t> -&gt; Laboratório #1</a:t>
            </a:r>
            <a:r>
              <a:rPr lang="pt-BR" dirty="0"/>
              <a:t>.</a:t>
            </a:r>
          </a:p>
          <a:p>
            <a:pPr lvl="1"/>
            <a:r>
              <a:rPr lang="pt-BR" dirty="0"/>
              <a:t>Se atentem aos prazos de entrega.</a:t>
            </a:r>
          </a:p>
          <a:p>
            <a:pPr lvl="1"/>
            <a:r>
              <a:rPr lang="pt-BR" dirty="0">
                <a:hlinkClick r:id="rId4"/>
              </a:rPr>
              <a:t>Instruções para resolução e entrega dos laboratórios</a:t>
            </a:r>
            <a:r>
              <a:rPr lang="pt-BR" dirty="0"/>
              <a:t>.</a:t>
            </a:r>
          </a:p>
        </p:txBody>
      </p:sp>
    </p:spTree>
    <p:extLst>
      <p:ext uri="{BB962C8B-B14F-4D97-AF65-F5344CB8AC3E}">
        <p14:creationId xmlns:p14="http://schemas.microsoft.com/office/powerpoint/2010/main" val="20371607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37951780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6461" y="334630"/>
            <a:ext cx="6161942" cy="1923895"/>
          </a:xfrm>
          <a:prstGeom prst="rect">
            <a:avLst/>
          </a:prstGeom>
        </p:spPr>
      </p:pic>
      <p:pic>
        <p:nvPicPr>
          <p:cNvPr id="5" name="Picture 4"/>
          <p:cNvPicPr>
            <a:picLocks noChangeAspect="1"/>
          </p:cNvPicPr>
          <p:nvPr/>
        </p:nvPicPr>
        <p:blipFill>
          <a:blip r:embed="rId3"/>
          <a:stretch>
            <a:fillRect/>
          </a:stretch>
        </p:blipFill>
        <p:spPr>
          <a:xfrm>
            <a:off x="3106614" y="2470238"/>
            <a:ext cx="6450623" cy="2006144"/>
          </a:xfrm>
          <a:prstGeom prst="rect">
            <a:avLst/>
          </a:prstGeom>
        </p:spPr>
      </p:pic>
      <p:pic>
        <p:nvPicPr>
          <p:cNvPr id="6" name="Picture 5"/>
          <p:cNvPicPr>
            <a:picLocks noChangeAspect="1"/>
          </p:cNvPicPr>
          <p:nvPr/>
        </p:nvPicPr>
        <p:blipFill>
          <a:blip r:embed="rId4"/>
          <a:stretch>
            <a:fillRect/>
          </a:stretch>
        </p:blipFill>
        <p:spPr>
          <a:xfrm>
            <a:off x="5285849" y="4688095"/>
            <a:ext cx="6706859" cy="2038968"/>
          </a:xfrm>
          <a:prstGeom prst="rect">
            <a:avLst/>
          </a:prstGeom>
        </p:spPr>
      </p:pic>
    </p:spTree>
    <p:extLst>
      <p:ext uri="{BB962C8B-B14F-4D97-AF65-F5344CB8AC3E}">
        <p14:creationId xmlns:p14="http://schemas.microsoft.com/office/powerpoint/2010/main" val="15338866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Agrupar 9">
            <a:extLst>
              <a:ext uri="{FF2B5EF4-FFF2-40B4-BE49-F238E27FC236}">
                <a16:creationId xmlns:a16="http://schemas.microsoft.com/office/drawing/2014/main" id="{0B96ABED-DB41-410B-A604-C06F86EA7584}"/>
              </a:ext>
            </a:extLst>
          </p:cNvPr>
          <p:cNvGrpSpPr/>
          <p:nvPr/>
        </p:nvGrpSpPr>
        <p:grpSpPr>
          <a:xfrm>
            <a:off x="3626636" y="1405826"/>
            <a:ext cx="4686092" cy="4456335"/>
            <a:chOff x="7006340" y="1423936"/>
            <a:chExt cx="5099455" cy="5103211"/>
          </a:xfrm>
        </p:grpSpPr>
        <p:sp>
          <p:nvSpPr>
            <p:cNvPr id="5" name="Elipse 3">
              <a:extLst>
                <a:ext uri="{FF2B5EF4-FFF2-40B4-BE49-F238E27FC236}">
                  <a16:creationId xmlns:a16="http://schemas.microsoft.com/office/drawing/2014/main" id="{78EA9474-9E04-44C4-9E19-67FD40FBA058}"/>
                </a:ext>
              </a:extLst>
            </p:cNvPr>
            <p:cNvSpPr>
              <a:spLocks noChangeAspect="1"/>
            </p:cNvSpPr>
            <p:nvPr/>
          </p:nvSpPr>
          <p:spPr>
            <a:xfrm>
              <a:off x="7006340" y="1423936"/>
              <a:ext cx="5099455" cy="5099455"/>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p:sp>
          <p:nvSpPr>
            <p:cNvPr id="6" name="Elipse 4">
              <a:extLst>
                <a:ext uri="{FF2B5EF4-FFF2-40B4-BE49-F238E27FC236}">
                  <a16:creationId xmlns:a16="http://schemas.microsoft.com/office/drawing/2014/main" id="{DA23CE7C-64D2-4FF1-83C3-4920F0AD635C}"/>
                </a:ext>
              </a:extLst>
            </p:cNvPr>
            <p:cNvSpPr>
              <a:spLocks noChangeAspect="1"/>
            </p:cNvSpPr>
            <p:nvPr/>
          </p:nvSpPr>
          <p:spPr>
            <a:xfrm>
              <a:off x="7361718" y="2479686"/>
              <a:ext cx="4307188" cy="4047461"/>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7" name="Elipse 5">
              <a:extLst>
                <a:ext uri="{FF2B5EF4-FFF2-40B4-BE49-F238E27FC236}">
                  <a16:creationId xmlns:a16="http://schemas.microsoft.com/office/drawing/2014/main" id="{BDF2AACA-BD34-40AD-9FDE-4F93EBB4342D}"/>
                </a:ext>
              </a:extLst>
            </p:cNvPr>
            <p:cNvSpPr>
              <a:spLocks noChangeAspect="1"/>
            </p:cNvSpPr>
            <p:nvPr/>
          </p:nvSpPr>
          <p:spPr>
            <a:xfrm>
              <a:off x="8189878" y="3987278"/>
              <a:ext cx="2732377" cy="2537991"/>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8" name="CaixaDeTexto 10">
              <a:extLst>
                <a:ext uri="{FF2B5EF4-FFF2-40B4-BE49-F238E27FC236}">
                  <a16:creationId xmlns:a16="http://schemas.microsoft.com/office/drawing/2014/main" id="{51F63BB8-6AA0-41B8-AF42-7EF062B069A1}"/>
                </a:ext>
              </a:extLst>
            </p:cNvPr>
            <p:cNvSpPr txBox="1"/>
            <p:nvPr/>
          </p:nvSpPr>
          <p:spPr>
            <a:xfrm>
              <a:off x="7720067" y="1589713"/>
              <a:ext cx="3671999" cy="800219"/>
            </a:xfrm>
            <a:prstGeom prst="rect">
              <a:avLst/>
            </a:prstGeom>
            <a:noFill/>
          </p:spPr>
          <p:txBody>
            <a:bodyPr wrap="square" rtlCol="0">
              <a:spAutoFit/>
            </a:bodyPr>
            <a:lstStyle/>
            <a:p>
              <a:pPr algn="ctr"/>
              <a:r>
                <a:rPr lang="pt-BR" b="1" dirty="0">
                  <a:solidFill>
                    <a:schemeClr val="bg1"/>
                  </a:solidFill>
                </a:rPr>
                <a:t>Inteligência Artificial</a:t>
              </a:r>
            </a:p>
            <a:p>
              <a:pPr algn="ctr"/>
              <a:r>
                <a:rPr lang="pt-BR" sz="1400" dirty="0">
                  <a:solidFill>
                    <a:schemeClr val="bg1"/>
                  </a:solidFill>
                </a:rPr>
                <a:t>Programas que podem sentir, raciocinar, agir, aprender e se adaptar como humanos</a:t>
              </a:r>
            </a:p>
          </p:txBody>
        </p:sp>
        <p:sp>
          <p:nvSpPr>
            <p:cNvPr id="9" name="CaixaDeTexto 11">
              <a:extLst>
                <a:ext uri="{FF2B5EF4-FFF2-40B4-BE49-F238E27FC236}">
                  <a16:creationId xmlns:a16="http://schemas.microsoft.com/office/drawing/2014/main" id="{DFD039E3-20CE-44F5-92EF-195036537592}"/>
                </a:ext>
              </a:extLst>
            </p:cNvPr>
            <p:cNvSpPr txBox="1"/>
            <p:nvPr/>
          </p:nvSpPr>
          <p:spPr>
            <a:xfrm>
              <a:off x="7901892" y="2847635"/>
              <a:ext cx="3286067" cy="1163095"/>
            </a:xfrm>
            <a:prstGeom prst="rect">
              <a:avLst/>
            </a:prstGeom>
            <a:noFill/>
          </p:spPr>
          <p:txBody>
            <a:bodyPr wrap="square" rtlCol="0">
              <a:spAutoFit/>
            </a:bodyPr>
            <a:lstStyle/>
            <a:p>
              <a:pPr algn="ctr"/>
              <a:r>
                <a:rPr lang="pt-BR" b="1" dirty="0">
                  <a:solidFill>
                    <a:schemeClr val="bg1"/>
                  </a:solidFill>
                </a:rPr>
                <a:t>Aprendizado de Máquina</a:t>
              </a:r>
            </a:p>
            <a:p>
              <a:pPr algn="ctr"/>
              <a:r>
                <a:rPr lang="pt-BR" sz="1400" dirty="0">
                  <a:solidFill>
                    <a:schemeClr val="bg1"/>
                  </a:solidFill>
                </a:rPr>
                <a:t>Algoritmos que permitem que uma máquina aprenda automaticamente sem ser explicitamente programada</a:t>
              </a:r>
            </a:p>
          </p:txBody>
        </p:sp>
        <p:sp>
          <p:nvSpPr>
            <p:cNvPr id="10" name="CaixaDeTexto 12">
              <a:extLst>
                <a:ext uri="{FF2B5EF4-FFF2-40B4-BE49-F238E27FC236}">
                  <a16:creationId xmlns:a16="http://schemas.microsoft.com/office/drawing/2014/main" id="{2BA92F8A-1455-40AE-B18C-EA6C3DE256D6}"/>
                </a:ext>
              </a:extLst>
            </p:cNvPr>
            <p:cNvSpPr txBox="1"/>
            <p:nvPr/>
          </p:nvSpPr>
          <p:spPr>
            <a:xfrm>
              <a:off x="8319235" y="4182525"/>
              <a:ext cx="2511974" cy="1015663"/>
            </a:xfrm>
            <a:prstGeom prst="rect">
              <a:avLst/>
            </a:prstGeom>
            <a:noFill/>
          </p:spPr>
          <p:txBody>
            <a:bodyPr wrap="square" rtlCol="0">
              <a:spAutoFit/>
            </a:bodyPr>
            <a:lstStyle/>
            <a:p>
              <a:pPr algn="ctr"/>
              <a:r>
                <a:rPr lang="pt-BR" b="1" dirty="0">
                  <a:solidFill>
                    <a:schemeClr val="bg1"/>
                  </a:solidFill>
                </a:rPr>
                <a:t>Redes Neurais Artificiais</a:t>
              </a:r>
            </a:p>
            <a:p>
              <a:pPr algn="ctr"/>
              <a:r>
                <a:rPr lang="pt-BR" sz="1400" dirty="0" err="1">
                  <a:solidFill>
                    <a:schemeClr val="bg1"/>
                  </a:solidFill>
                </a:rPr>
                <a:t>Multilayer</a:t>
              </a:r>
              <a:r>
                <a:rPr lang="pt-BR" sz="1400" dirty="0">
                  <a:solidFill>
                    <a:schemeClr val="bg1"/>
                  </a:solidFill>
                </a:rPr>
                <a:t> </a:t>
              </a:r>
              <a:r>
                <a:rPr lang="pt-BR" sz="1400" dirty="0" err="1">
                  <a:solidFill>
                    <a:schemeClr val="bg1"/>
                  </a:solidFill>
                </a:rPr>
                <a:t>perceptron</a:t>
              </a:r>
              <a:r>
                <a:rPr lang="pt-BR" sz="1400" dirty="0">
                  <a:solidFill>
                    <a:schemeClr val="bg1"/>
                  </a:solidFill>
                </a:rPr>
                <a:t>, </a:t>
              </a:r>
              <a:r>
                <a:rPr lang="pt-BR" sz="1400" dirty="0" err="1">
                  <a:solidFill>
                    <a:schemeClr val="bg1"/>
                  </a:solidFill>
                </a:rPr>
                <a:t>Convolutional</a:t>
              </a:r>
              <a:r>
                <a:rPr lang="pt-BR" sz="1400" dirty="0">
                  <a:solidFill>
                    <a:schemeClr val="bg1"/>
                  </a:solidFill>
                </a:rPr>
                <a:t>, </a:t>
              </a:r>
              <a:r>
                <a:rPr lang="pt-BR" sz="1400" dirty="0" err="1">
                  <a:solidFill>
                    <a:schemeClr val="bg1"/>
                  </a:solidFill>
                </a:rPr>
                <a:t>Recursive</a:t>
              </a:r>
              <a:r>
                <a:rPr lang="pt-BR" sz="1400" dirty="0">
                  <a:solidFill>
                    <a:schemeClr val="bg1"/>
                  </a:solidFill>
                </a:rPr>
                <a:t> Networks, etc.</a:t>
              </a:r>
            </a:p>
          </p:txBody>
        </p:sp>
      </p:grpSp>
    </p:spTree>
    <p:extLst>
      <p:ext uri="{BB962C8B-B14F-4D97-AF65-F5344CB8AC3E}">
        <p14:creationId xmlns:p14="http://schemas.microsoft.com/office/powerpoint/2010/main" val="4026535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oup 50"/>
          <p:cNvGrpSpPr/>
          <p:nvPr/>
        </p:nvGrpSpPr>
        <p:grpSpPr>
          <a:xfrm>
            <a:off x="2393319" y="1251204"/>
            <a:ext cx="3470286" cy="4179291"/>
            <a:chOff x="2393319" y="1251204"/>
            <a:chExt cx="3470286" cy="4179291"/>
          </a:xfrm>
        </p:grpSpPr>
        <p:sp>
          <p:nvSpPr>
            <p:cNvPr id="4" name="Rectangle 3"/>
            <p:cNvSpPr/>
            <p:nvPr/>
          </p:nvSpPr>
          <p:spPr>
            <a:xfrm>
              <a:off x="3849753" y="1709527"/>
              <a:ext cx="1338469" cy="50358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Inicialização</a:t>
              </a:r>
            </a:p>
          </p:txBody>
        </p:sp>
        <p:sp>
          <p:nvSpPr>
            <p:cNvPr id="5" name="Rectangle 4"/>
            <p:cNvSpPr/>
            <p:nvPr/>
          </p:nvSpPr>
          <p:spPr>
            <a:xfrm>
              <a:off x="3849755" y="2534476"/>
              <a:ext cx="1338469" cy="50358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Seleção</a:t>
              </a:r>
            </a:p>
          </p:txBody>
        </p:sp>
        <p:cxnSp>
          <p:nvCxnSpPr>
            <p:cNvPr id="9" name="Straight Arrow Connector 8"/>
            <p:cNvCxnSpPr>
              <a:stCxn id="4" idx="2"/>
              <a:endCxn id="5" idx="0"/>
            </p:cNvCxnSpPr>
            <p:nvPr/>
          </p:nvCxnSpPr>
          <p:spPr>
            <a:xfrm>
              <a:off x="4518988" y="2213110"/>
              <a:ext cx="2" cy="3213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Diamond 16"/>
            <p:cNvSpPr/>
            <p:nvPr/>
          </p:nvSpPr>
          <p:spPr>
            <a:xfrm>
              <a:off x="4254356" y="3361498"/>
              <a:ext cx="529262" cy="419099"/>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p:cxnSp>
          <p:nvCxnSpPr>
            <p:cNvPr id="18" name="Straight Arrow Connector 17"/>
            <p:cNvCxnSpPr>
              <a:endCxn id="17" idx="0"/>
            </p:cNvCxnSpPr>
            <p:nvPr/>
          </p:nvCxnSpPr>
          <p:spPr>
            <a:xfrm flipH="1">
              <a:off x="4518987" y="3040132"/>
              <a:ext cx="1" cy="3213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4514722" y="3671076"/>
              <a:ext cx="1006121" cy="430887"/>
            </a:xfrm>
            <a:prstGeom prst="rect">
              <a:avLst/>
            </a:prstGeom>
          </p:spPr>
          <p:txBody>
            <a:bodyPr wrap="square">
              <a:spAutoFit/>
            </a:bodyPr>
            <a:lstStyle/>
            <a:p>
              <a:pPr algn="ctr"/>
              <a:r>
                <a:rPr lang="pt-BR" sz="1100" dirty="0"/>
                <a:t>critério de parada = false</a:t>
              </a:r>
            </a:p>
          </p:txBody>
        </p:sp>
        <p:sp>
          <p:nvSpPr>
            <p:cNvPr id="30" name="Flowchart: Connector 29"/>
            <p:cNvSpPr/>
            <p:nvPr/>
          </p:nvSpPr>
          <p:spPr>
            <a:xfrm>
              <a:off x="5287408" y="3499047"/>
              <a:ext cx="144000" cy="144000"/>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ctangle 31"/>
            <p:cNvSpPr/>
            <p:nvPr/>
          </p:nvSpPr>
          <p:spPr>
            <a:xfrm>
              <a:off x="4779824" y="3104160"/>
              <a:ext cx="1083781" cy="430887"/>
            </a:xfrm>
            <a:prstGeom prst="rect">
              <a:avLst/>
            </a:prstGeom>
          </p:spPr>
          <p:txBody>
            <a:bodyPr wrap="square">
              <a:spAutoFit/>
            </a:bodyPr>
            <a:lstStyle/>
            <a:p>
              <a:pPr algn="ctr"/>
              <a:r>
                <a:rPr lang="pt-BR" sz="1100" dirty="0"/>
                <a:t>critério de parada = </a:t>
              </a:r>
              <a:r>
                <a:rPr lang="pt-BR" sz="1100" dirty="0" err="1"/>
                <a:t>true</a:t>
              </a:r>
              <a:endParaRPr lang="pt-BR" sz="1100" dirty="0"/>
            </a:p>
          </p:txBody>
        </p:sp>
        <p:sp>
          <p:nvSpPr>
            <p:cNvPr id="33" name="Flowchart: Connector 32"/>
            <p:cNvSpPr/>
            <p:nvPr/>
          </p:nvSpPr>
          <p:spPr>
            <a:xfrm>
              <a:off x="4442722" y="1251204"/>
              <a:ext cx="144000" cy="144000"/>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4" name="Straight Arrow Connector 33"/>
            <p:cNvCxnSpPr/>
            <p:nvPr/>
          </p:nvCxnSpPr>
          <p:spPr>
            <a:xfrm flipH="1">
              <a:off x="4514722" y="1402184"/>
              <a:ext cx="1" cy="3213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ular Callout 34"/>
            <p:cNvSpPr/>
            <p:nvPr/>
          </p:nvSpPr>
          <p:spPr>
            <a:xfrm>
              <a:off x="2393319" y="1297052"/>
              <a:ext cx="1123950" cy="824949"/>
            </a:xfrm>
            <a:prstGeom prst="wedgeRectCallout">
              <a:avLst>
                <a:gd name="adj1" fmla="val 74001"/>
                <a:gd name="adj2" fmla="val 3132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Indivíduos com diferentes características</a:t>
              </a:r>
            </a:p>
          </p:txBody>
        </p:sp>
        <p:sp>
          <p:nvSpPr>
            <p:cNvPr id="37" name="Rectangular Callout 36"/>
            <p:cNvSpPr/>
            <p:nvPr/>
          </p:nvSpPr>
          <p:spPr>
            <a:xfrm>
              <a:off x="2393319" y="2373792"/>
              <a:ext cx="1123950" cy="1297284"/>
            </a:xfrm>
            <a:prstGeom prst="wedgeRectCallout">
              <a:avLst>
                <a:gd name="adj1" fmla="val 75696"/>
                <a:gd name="adj2" fmla="val -2357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Função de aptidão seleciona os melhores indivíduos para próxima geração</a:t>
              </a:r>
            </a:p>
          </p:txBody>
        </p:sp>
        <p:sp>
          <p:nvSpPr>
            <p:cNvPr id="38" name="Rectangle 37"/>
            <p:cNvSpPr/>
            <p:nvPr/>
          </p:nvSpPr>
          <p:spPr>
            <a:xfrm>
              <a:off x="3859278" y="4101963"/>
              <a:ext cx="1338469" cy="50358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Cruzamento</a:t>
              </a:r>
            </a:p>
          </p:txBody>
        </p:sp>
        <p:sp>
          <p:nvSpPr>
            <p:cNvPr id="39" name="Rectangle 38"/>
            <p:cNvSpPr/>
            <p:nvPr/>
          </p:nvSpPr>
          <p:spPr>
            <a:xfrm>
              <a:off x="3859278" y="4926912"/>
              <a:ext cx="1338469" cy="50358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Mutação</a:t>
              </a:r>
            </a:p>
          </p:txBody>
        </p:sp>
        <p:cxnSp>
          <p:nvCxnSpPr>
            <p:cNvPr id="40" name="Straight Arrow Connector 39"/>
            <p:cNvCxnSpPr>
              <a:endCxn id="38" idx="0"/>
            </p:cNvCxnSpPr>
            <p:nvPr/>
          </p:nvCxnSpPr>
          <p:spPr>
            <a:xfrm flipH="1">
              <a:off x="4528513" y="3780597"/>
              <a:ext cx="2" cy="3213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38" idx="2"/>
              <a:endCxn id="39" idx="0"/>
            </p:cNvCxnSpPr>
            <p:nvPr/>
          </p:nvCxnSpPr>
          <p:spPr>
            <a:xfrm>
              <a:off x="4528513" y="4605546"/>
              <a:ext cx="0" cy="3213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endCxn id="30" idx="2"/>
            </p:cNvCxnSpPr>
            <p:nvPr/>
          </p:nvCxnSpPr>
          <p:spPr>
            <a:xfrm>
              <a:off x="4793142" y="3571047"/>
              <a:ext cx="49426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p:cNvCxnSpPr>
              <a:stCxn id="39" idx="3"/>
              <a:endCxn id="5" idx="3"/>
            </p:cNvCxnSpPr>
            <p:nvPr/>
          </p:nvCxnSpPr>
          <p:spPr>
            <a:xfrm flipH="1" flipV="1">
              <a:off x="5188224" y="2786268"/>
              <a:ext cx="9523" cy="2392436"/>
            </a:xfrm>
            <a:prstGeom prst="bentConnector3">
              <a:avLst>
                <a:gd name="adj1" fmla="val -900189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870602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2869966" y="3425527"/>
            <a:ext cx="972000" cy="864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State</a:t>
            </a:r>
          </a:p>
        </p:txBody>
      </p:sp>
      <p:sp>
        <p:nvSpPr>
          <p:cNvPr id="6" name="Oval 5"/>
          <p:cNvSpPr/>
          <p:nvPr/>
        </p:nvSpPr>
        <p:spPr>
          <a:xfrm>
            <a:off x="3355966" y="4440097"/>
            <a:ext cx="972000" cy="864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Action</a:t>
            </a:r>
          </a:p>
        </p:txBody>
      </p:sp>
      <p:graphicFrame>
        <p:nvGraphicFramePr>
          <p:cNvPr id="7" name="Table 6"/>
          <p:cNvGraphicFramePr>
            <a:graphicFrameLocks noGrp="1"/>
          </p:cNvGraphicFramePr>
          <p:nvPr/>
        </p:nvGraphicFramePr>
        <p:xfrm>
          <a:off x="4781550" y="3143827"/>
          <a:ext cx="1847850" cy="2291401"/>
        </p:xfrm>
        <a:graphic>
          <a:graphicData uri="http://schemas.openxmlformats.org/drawingml/2006/table">
            <a:tbl>
              <a:tblPr firstRow="1" bandRow="1">
                <a:tableStyleId>{5C22544A-7EE6-4342-B048-85BDC9FD1C3A}</a:tableStyleId>
              </a:tblPr>
              <a:tblGrid>
                <a:gridCol w="1000125">
                  <a:extLst>
                    <a:ext uri="{9D8B030D-6E8A-4147-A177-3AD203B41FA5}">
                      <a16:colId xmlns:a16="http://schemas.microsoft.com/office/drawing/2014/main" val="20000"/>
                    </a:ext>
                  </a:extLst>
                </a:gridCol>
                <a:gridCol w="847725">
                  <a:extLst>
                    <a:ext uri="{9D8B030D-6E8A-4147-A177-3AD203B41FA5}">
                      <a16:colId xmlns:a16="http://schemas.microsoft.com/office/drawing/2014/main" val="20001"/>
                    </a:ext>
                  </a:extLst>
                </a:gridCol>
              </a:tblGrid>
              <a:tr h="327343">
                <a:tc>
                  <a:txBody>
                    <a:bodyPr/>
                    <a:lstStyle/>
                    <a:p>
                      <a:pPr algn="ctr"/>
                      <a:r>
                        <a:rPr lang="pt-BR" sz="1200" dirty="0"/>
                        <a:t>State/Action</a:t>
                      </a:r>
                    </a:p>
                  </a:txBody>
                  <a:tcPr/>
                </a:tc>
                <a:tc>
                  <a:txBody>
                    <a:bodyPr/>
                    <a:lstStyle/>
                    <a:p>
                      <a:pPr algn="ctr"/>
                      <a:r>
                        <a:rPr lang="pt-BR" sz="1200" dirty="0"/>
                        <a:t>Value</a:t>
                      </a:r>
                    </a:p>
                  </a:txBody>
                  <a:tcPr/>
                </a:tc>
                <a:extLst>
                  <a:ext uri="{0D108BD9-81ED-4DB2-BD59-A6C34878D82A}">
                    <a16:rowId xmlns:a16="http://schemas.microsoft.com/office/drawing/2014/main" val="10000"/>
                  </a:ext>
                </a:extLst>
              </a:tr>
              <a:tr h="327343">
                <a:tc>
                  <a:txBody>
                    <a:bodyPr/>
                    <a:lstStyle/>
                    <a:p>
                      <a:pPr algn="ctr"/>
                      <a:r>
                        <a:rPr lang="pt-BR" sz="1400" dirty="0"/>
                        <a:t>-/-</a:t>
                      </a:r>
                    </a:p>
                  </a:txBody>
                  <a:tcPr/>
                </a:tc>
                <a:tc>
                  <a:txBody>
                    <a:bodyPr/>
                    <a:lstStyle/>
                    <a:p>
                      <a:pPr algn="ctr"/>
                      <a:r>
                        <a:rPr lang="pt-BR" sz="1400" dirty="0"/>
                        <a:t>0</a:t>
                      </a:r>
                    </a:p>
                  </a:txBody>
                  <a:tcPr/>
                </a:tc>
                <a:extLst>
                  <a:ext uri="{0D108BD9-81ED-4DB2-BD59-A6C34878D82A}">
                    <a16:rowId xmlns:a16="http://schemas.microsoft.com/office/drawing/2014/main" val="10001"/>
                  </a:ext>
                </a:extLst>
              </a:tr>
              <a:tr h="327343">
                <a:tc>
                  <a:txBody>
                    <a:bodyPr/>
                    <a:lstStyle/>
                    <a:p>
                      <a:pPr algn="ctr"/>
                      <a:r>
                        <a:rPr lang="pt-BR" sz="1400" dirty="0"/>
                        <a:t>-/-</a:t>
                      </a:r>
                    </a:p>
                  </a:txBody>
                  <a:tcPr/>
                </a:tc>
                <a:tc>
                  <a:txBody>
                    <a:bodyPr/>
                    <a:lstStyle/>
                    <a:p>
                      <a:pPr algn="ctr"/>
                      <a:r>
                        <a:rPr lang="pt-BR" sz="1400" dirty="0"/>
                        <a:t>0</a:t>
                      </a:r>
                    </a:p>
                  </a:txBody>
                  <a:tcPr/>
                </a:tc>
                <a:extLst>
                  <a:ext uri="{0D108BD9-81ED-4DB2-BD59-A6C34878D82A}">
                    <a16:rowId xmlns:a16="http://schemas.microsoft.com/office/drawing/2014/main" val="10002"/>
                  </a:ext>
                </a:extLst>
              </a:tr>
              <a:tr h="327343">
                <a:tc>
                  <a:txBody>
                    <a:bodyPr/>
                    <a:lstStyle/>
                    <a:p>
                      <a:pPr algn="ctr"/>
                      <a:r>
                        <a:rPr lang="pt-BR" sz="1400" dirty="0"/>
                        <a:t>-/-</a:t>
                      </a:r>
                    </a:p>
                  </a:txBody>
                  <a:tcPr/>
                </a:tc>
                <a:tc>
                  <a:txBody>
                    <a:bodyPr/>
                    <a:lstStyle/>
                    <a:p>
                      <a:pPr algn="ctr"/>
                      <a:r>
                        <a:rPr lang="pt-BR" sz="1400" dirty="0"/>
                        <a:t>0</a:t>
                      </a:r>
                    </a:p>
                  </a:txBody>
                  <a:tcPr/>
                </a:tc>
                <a:extLst>
                  <a:ext uri="{0D108BD9-81ED-4DB2-BD59-A6C34878D82A}">
                    <a16:rowId xmlns:a16="http://schemas.microsoft.com/office/drawing/2014/main" val="10003"/>
                  </a:ext>
                </a:extLst>
              </a:tr>
              <a:tr h="327343">
                <a:tc>
                  <a:txBody>
                    <a:bodyPr/>
                    <a:lstStyle/>
                    <a:p>
                      <a:pPr algn="ctr"/>
                      <a:r>
                        <a:rPr lang="pt-BR" sz="1400" dirty="0"/>
                        <a:t>-/-</a:t>
                      </a:r>
                    </a:p>
                  </a:txBody>
                  <a:tcPr/>
                </a:tc>
                <a:tc>
                  <a:txBody>
                    <a:bodyPr/>
                    <a:lstStyle/>
                    <a:p>
                      <a:pPr algn="ctr"/>
                      <a:r>
                        <a:rPr lang="pt-BR" sz="1400" dirty="0"/>
                        <a:t>0</a:t>
                      </a:r>
                    </a:p>
                  </a:txBody>
                  <a:tcPr/>
                </a:tc>
                <a:extLst>
                  <a:ext uri="{0D108BD9-81ED-4DB2-BD59-A6C34878D82A}">
                    <a16:rowId xmlns:a16="http://schemas.microsoft.com/office/drawing/2014/main" val="10004"/>
                  </a:ext>
                </a:extLst>
              </a:tr>
              <a:tr h="327343">
                <a:tc>
                  <a:txBody>
                    <a:bodyPr/>
                    <a:lstStyle/>
                    <a:p>
                      <a:pPr algn="ctr"/>
                      <a:r>
                        <a:rPr lang="pt-BR" sz="1400" dirty="0"/>
                        <a:t>-/-</a:t>
                      </a:r>
                    </a:p>
                  </a:txBody>
                  <a:tcPr/>
                </a:tc>
                <a:tc>
                  <a:txBody>
                    <a:bodyPr/>
                    <a:lstStyle/>
                    <a:p>
                      <a:pPr algn="ctr"/>
                      <a:r>
                        <a:rPr lang="pt-BR" sz="1400" dirty="0"/>
                        <a:t>0</a:t>
                      </a:r>
                    </a:p>
                  </a:txBody>
                  <a:tcPr/>
                </a:tc>
                <a:extLst>
                  <a:ext uri="{0D108BD9-81ED-4DB2-BD59-A6C34878D82A}">
                    <a16:rowId xmlns:a16="http://schemas.microsoft.com/office/drawing/2014/main" val="10005"/>
                  </a:ext>
                </a:extLst>
              </a:tr>
              <a:tr h="327343">
                <a:tc>
                  <a:txBody>
                    <a:bodyPr/>
                    <a:lstStyle/>
                    <a:p>
                      <a:pPr algn="ctr"/>
                      <a:r>
                        <a:rPr lang="pt-BR" sz="1400" dirty="0"/>
                        <a:t>-/-</a:t>
                      </a:r>
                    </a:p>
                  </a:txBody>
                  <a:tcPr/>
                </a:tc>
                <a:tc>
                  <a:txBody>
                    <a:bodyPr/>
                    <a:lstStyle/>
                    <a:p>
                      <a:pPr algn="ctr"/>
                      <a:r>
                        <a:rPr lang="pt-BR" sz="1400" dirty="0"/>
                        <a:t>0</a:t>
                      </a:r>
                    </a:p>
                  </a:txBody>
                  <a:tcPr/>
                </a:tc>
                <a:extLst>
                  <a:ext uri="{0D108BD9-81ED-4DB2-BD59-A6C34878D82A}">
                    <a16:rowId xmlns:a16="http://schemas.microsoft.com/office/drawing/2014/main" val="10006"/>
                  </a:ext>
                </a:extLst>
              </a:tr>
            </a:tbl>
          </a:graphicData>
        </a:graphic>
      </p:graphicFrame>
      <p:sp>
        <p:nvSpPr>
          <p:cNvPr id="8" name="Oval 7"/>
          <p:cNvSpPr/>
          <p:nvPr/>
        </p:nvSpPr>
        <p:spPr>
          <a:xfrm>
            <a:off x="7070068" y="3857527"/>
            <a:ext cx="972000" cy="864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Q-Value</a:t>
            </a:r>
          </a:p>
        </p:txBody>
      </p:sp>
      <p:sp>
        <p:nvSpPr>
          <p:cNvPr id="9" name="TextBox 8"/>
          <p:cNvSpPr txBox="1"/>
          <p:nvPr/>
        </p:nvSpPr>
        <p:spPr>
          <a:xfrm>
            <a:off x="4781550" y="2774495"/>
            <a:ext cx="1847849" cy="369332"/>
          </a:xfrm>
          <a:prstGeom prst="rect">
            <a:avLst/>
          </a:prstGeom>
          <a:noFill/>
        </p:spPr>
        <p:txBody>
          <a:bodyPr wrap="square" rtlCol="0">
            <a:spAutoFit/>
          </a:bodyPr>
          <a:lstStyle/>
          <a:p>
            <a:pPr algn="ctr"/>
            <a:r>
              <a:rPr lang="pt-BR" b="1" dirty="0"/>
              <a:t>Q-Table</a:t>
            </a:r>
          </a:p>
        </p:txBody>
      </p:sp>
      <p:cxnSp>
        <p:nvCxnSpPr>
          <p:cNvPr id="11" name="Straight Arrow Connector 10"/>
          <p:cNvCxnSpPr>
            <a:stCxn id="5" idx="6"/>
          </p:cNvCxnSpPr>
          <p:nvPr/>
        </p:nvCxnSpPr>
        <p:spPr>
          <a:xfrm>
            <a:off x="3841966" y="3857527"/>
            <a:ext cx="939584" cy="3144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4327966" y="4440097"/>
            <a:ext cx="453584" cy="417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3"/>
            <a:endCxn id="8" idx="2"/>
          </p:cNvCxnSpPr>
          <p:nvPr/>
        </p:nvCxnSpPr>
        <p:spPr>
          <a:xfrm>
            <a:off x="6629400" y="4289527"/>
            <a:ext cx="4406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Bender (Futurama) - Wikiped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1898389" y="3651246"/>
            <a:ext cx="1084669" cy="1577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166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Agrupar 13">
            <a:extLst>
              <a:ext uri="{FF2B5EF4-FFF2-40B4-BE49-F238E27FC236}">
                <a16:creationId xmlns:a16="http://schemas.microsoft.com/office/drawing/2014/main" id="{698E9DAF-7B52-137C-D8B4-D4404D6F5AEA}"/>
              </a:ext>
            </a:extLst>
          </p:cNvPr>
          <p:cNvGrpSpPr/>
          <p:nvPr/>
        </p:nvGrpSpPr>
        <p:grpSpPr>
          <a:xfrm>
            <a:off x="4467688" y="180424"/>
            <a:ext cx="2154986" cy="6537876"/>
            <a:chOff x="4467688" y="180424"/>
            <a:chExt cx="2154986" cy="6537876"/>
          </a:xfrm>
        </p:grpSpPr>
        <p:pic>
          <p:nvPicPr>
            <p:cNvPr id="4" name="Picture 2" descr="Reinforcement Learning - simply explained! | Data Basecamp">
              <a:extLst>
                <a:ext uri="{FF2B5EF4-FFF2-40B4-BE49-F238E27FC236}">
                  <a16:creationId xmlns:a16="http://schemas.microsoft.com/office/drawing/2014/main" id="{C18D3658-DB69-49BB-2F30-688D9FA67B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27" t="39662" r="69957" b="6431"/>
            <a:stretch/>
          </p:blipFill>
          <p:spPr bwMode="auto">
            <a:xfrm>
              <a:off x="4721790" y="600142"/>
              <a:ext cx="1646786" cy="185358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Reinforcement Learning - simply explained! | Data Basecamp">
              <a:extLst>
                <a:ext uri="{FF2B5EF4-FFF2-40B4-BE49-F238E27FC236}">
                  <a16:creationId xmlns:a16="http://schemas.microsoft.com/office/drawing/2014/main" id="{D38FB2A8-263D-1598-21C2-01E669386C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083" t="34655" r="2448" b="2776"/>
            <a:stretch/>
          </p:blipFill>
          <p:spPr bwMode="auto">
            <a:xfrm>
              <a:off x="4467693" y="4003851"/>
              <a:ext cx="2154981" cy="232074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onector de Seta Reta 5">
              <a:extLst>
                <a:ext uri="{FF2B5EF4-FFF2-40B4-BE49-F238E27FC236}">
                  <a16:creationId xmlns:a16="http://schemas.microsoft.com/office/drawing/2014/main" id="{91299C5E-33A6-592E-F7DF-D6FF463A24CD}"/>
                </a:ext>
              </a:extLst>
            </p:cNvPr>
            <p:cNvCxnSpPr>
              <a:cxnSpLocks/>
            </p:cNvCxnSpPr>
            <p:nvPr/>
          </p:nvCxnSpPr>
          <p:spPr>
            <a:xfrm>
              <a:off x="4970643" y="2437035"/>
              <a:ext cx="0" cy="162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CaixaDeTexto 6">
              <a:extLst>
                <a:ext uri="{FF2B5EF4-FFF2-40B4-BE49-F238E27FC236}">
                  <a16:creationId xmlns:a16="http://schemas.microsoft.com/office/drawing/2014/main" id="{07D6E9B3-8BC5-ED0D-AF89-84B138D6CA78}"/>
                </a:ext>
              </a:extLst>
            </p:cNvPr>
            <p:cNvSpPr txBox="1"/>
            <p:nvPr/>
          </p:nvSpPr>
          <p:spPr>
            <a:xfrm>
              <a:off x="4721788" y="180424"/>
              <a:ext cx="1646786" cy="461665"/>
            </a:xfrm>
            <a:prstGeom prst="rect">
              <a:avLst/>
            </a:prstGeom>
            <a:noFill/>
          </p:spPr>
          <p:txBody>
            <a:bodyPr wrap="square" rtlCol="0">
              <a:spAutoFit/>
            </a:bodyPr>
            <a:lstStyle/>
            <a:p>
              <a:pPr algn="ctr"/>
              <a:r>
                <a:rPr lang="pt-BR" sz="2400" b="1" dirty="0"/>
                <a:t>Agente</a:t>
              </a:r>
            </a:p>
          </p:txBody>
        </p:sp>
        <p:cxnSp>
          <p:nvCxnSpPr>
            <p:cNvPr id="8" name="Conector de Seta Reta 7">
              <a:extLst>
                <a:ext uri="{FF2B5EF4-FFF2-40B4-BE49-F238E27FC236}">
                  <a16:creationId xmlns:a16="http://schemas.microsoft.com/office/drawing/2014/main" id="{B421DA97-1CBD-4A22-934F-6A2077BAEF94}"/>
                </a:ext>
              </a:extLst>
            </p:cNvPr>
            <p:cNvCxnSpPr>
              <a:cxnSpLocks/>
            </p:cNvCxnSpPr>
            <p:nvPr/>
          </p:nvCxnSpPr>
          <p:spPr>
            <a:xfrm flipV="1">
              <a:off x="5511800" y="2437035"/>
              <a:ext cx="0" cy="162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de Seta Reta 8">
              <a:extLst>
                <a:ext uri="{FF2B5EF4-FFF2-40B4-BE49-F238E27FC236}">
                  <a16:creationId xmlns:a16="http://schemas.microsoft.com/office/drawing/2014/main" id="{F244F0BA-A684-0433-B7E4-FF4354608EEE}"/>
                </a:ext>
              </a:extLst>
            </p:cNvPr>
            <p:cNvCxnSpPr>
              <a:cxnSpLocks/>
            </p:cNvCxnSpPr>
            <p:nvPr/>
          </p:nvCxnSpPr>
          <p:spPr>
            <a:xfrm flipV="1">
              <a:off x="6096000" y="2437035"/>
              <a:ext cx="0" cy="162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CaixaDeTexto 9">
              <a:extLst>
                <a:ext uri="{FF2B5EF4-FFF2-40B4-BE49-F238E27FC236}">
                  <a16:creationId xmlns:a16="http://schemas.microsoft.com/office/drawing/2014/main" id="{122F905C-A4E6-E8EF-503A-B3A7AC10F2BD}"/>
                </a:ext>
              </a:extLst>
            </p:cNvPr>
            <p:cNvSpPr txBox="1"/>
            <p:nvPr/>
          </p:nvSpPr>
          <p:spPr>
            <a:xfrm rot="16200000">
              <a:off x="4553888" y="3067847"/>
              <a:ext cx="1597575" cy="369332"/>
            </a:xfrm>
            <a:prstGeom prst="rect">
              <a:avLst/>
            </a:prstGeom>
            <a:noFill/>
          </p:spPr>
          <p:txBody>
            <a:bodyPr wrap="square" rtlCol="0">
              <a:spAutoFit/>
            </a:bodyPr>
            <a:lstStyle/>
            <a:p>
              <a:pPr algn="ctr"/>
              <a:r>
                <a:rPr lang="pt-BR" b="1" dirty="0"/>
                <a:t>Recompensas</a:t>
              </a:r>
            </a:p>
          </p:txBody>
        </p:sp>
        <p:sp>
          <p:nvSpPr>
            <p:cNvPr id="11" name="CaixaDeTexto 10">
              <a:extLst>
                <a:ext uri="{FF2B5EF4-FFF2-40B4-BE49-F238E27FC236}">
                  <a16:creationId xmlns:a16="http://schemas.microsoft.com/office/drawing/2014/main" id="{2208329D-097F-19D5-1F5E-2D318C2E61A1}"/>
                </a:ext>
              </a:extLst>
            </p:cNvPr>
            <p:cNvSpPr txBox="1"/>
            <p:nvPr/>
          </p:nvSpPr>
          <p:spPr>
            <a:xfrm rot="16200000">
              <a:off x="5134492" y="3079058"/>
              <a:ext cx="1620001" cy="369332"/>
            </a:xfrm>
            <a:prstGeom prst="rect">
              <a:avLst/>
            </a:prstGeom>
            <a:noFill/>
          </p:spPr>
          <p:txBody>
            <a:bodyPr wrap="square" rtlCol="0">
              <a:spAutoFit/>
            </a:bodyPr>
            <a:lstStyle/>
            <a:p>
              <a:pPr algn="ctr"/>
              <a:r>
                <a:rPr lang="pt-BR" b="1" dirty="0"/>
                <a:t>Estados</a:t>
              </a:r>
            </a:p>
          </p:txBody>
        </p:sp>
        <p:sp>
          <p:nvSpPr>
            <p:cNvPr id="12" name="CaixaDeTexto 11">
              <a:extLst>
                <a:ext uri="{FF2B5EF4-FFF2-40B4-BE49-F238E27FC236}">
                  <a16:creationId xmlns:a16="http://schemas.microsoft.com/office/drawing/2014/main" id="{91E4494E-AFA3-B1CF-6E7C-52C7BB960702}"/>
                </a:ext>
              </a:extLst>
            </p:cNvPr>
            <p:cNvSpPr txBox="1"/>
            <p:nvPr/>
          </p:nvSpPr>
          <p:spPr>
            <a:xfrm rot="16200000">
              <a:off x="3975800" y="3104634"/>
              <a:ext cx="1671153" cy="369332"/>
            </a:xfrm>
            <a:prstGeom prst="rect">
              <a:avLst/>
            </a:prstGeom>
            <a:noFill/>
          </p:spPr>
          <p:txBody>
            <a:bodyPr wrap="square" rtlCol="0">
              <a:spAutoFit/>
            </a:bodyPr>
            <a:lstStyle/>
            <a:p>
              <a:pPr algn="ctr"/>
              <a:r>
                <a:rPr lang="pt-BR" b="1" dirty="0"/>
                <a:t>Ações</a:t>
              </a:r>
            </a:p>
          </p:txBody>
        </p:sp>
        <p:sp>
          <p:nvSpPr>
            <p:cNvPr id="13" name="CaixaDeTexto 12">
              <a:extLst>
                <a:ext uri="{FF2B5EF4-FFF2-40B4-BE49-F238E27FC236}">
                  <a16:creationId xmlns:a16="http://schemas.microsoft.com/office/drawing/2014/main" id="{9A6BEF60-3DB8-891F-CEF6-9DD12C7E52AF}"/>
                </a:ext>
              </a:extLst>
            </p:cNvPr>
            <p:cNvSpPr txBox="1"/>
            <p:nvPr/>
          </p:nvSpPr>
          <p:spPr>
            <a:xfrm>
              <a:off x="4467688" y="6256635"/>
              <a:ext cx="2154981" cy="461665"/>
            </a:xfrm>
            <a:prstGeom prst="rect">
              <a:avLst/>
            </a:prstGeom>
            <a:noFill/>
          </p:spPr>
          <p:txBody>
            <a:bodyPr wrap="square" rtlCol="0">
              <a:spAutoFit/>
            </a:bodyPr>
            <a:lstStyle/>
            <a:p>
              <a:pPr algn="ctr"/>
              <a:r>
                <a:rPr lang="pt-BR" sz="2400" b="1" dirty="0"/>
                <a:t>Ambiente</a:t>
              </a:r>
            </a:p>
          </p:txBody>
        </p:sp>
      </p:grpSp>
    </p:spTree>
    <p:extLst>
      <p:ext uri="{BB962C8B-B14F-4D97-AF65-F5344CB8AC3E}">
        <p14:creationId xmlns:p14="http://schemas.microsoft.com/office/powerpoint/2010/main" val="11474216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Agrupar 15">
            <a:extLst>
              <a:ext uri="{FF2B5EF4-FFF2-40B4-BE49-F238E27FC236}">
                <a16:creationId xmlns:a16="http://schemas.microsoft.com/office/drawing/2014/main" id="{A73D2FAF-4951-BE02-37E2-96325B7C2E4A}"/>
              </a:ext>
            </a:extLst>
          </p:cNvPr>
          <p:cNvGrpSpPr/>
          <p:nvPr/>
        </p:nvGrpSpPr>
        <p:grpSpPr>
          <a:xfrm>
            <a:off x="1353292" y="1871645"/>
            <a:ext cx="5678303" cy="2318870"/>
            <a:chOff x="1353292" y="1871645"/>
            <a:chExt cx="5678303" cy="2318870"/>
          </a:xfrm>
        </p:grpSpPr>
        <p:pic>
          <p:nvPicPr>
            <p:cNvPr id="4" name="Picture 2" descr="Reinforcement Learning - simply explained! | Data Basecamp">
              <a:extLst>
                <a:ext uri="{FF2B5EF4-FFF2-40B4-BE49-F238E27FC236}">
                  <a16:creationId xmlns:a16="http://schemas.microsoft.com/office/drawing/2014/main" id="{C18D3658-DB69-49BB-2F30-688D9FA67B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27" t="39662" r="69957" b="6431"/>
            <a:stretch/>
          </p:blipFill>
          <p:spPr bwMode="auto">
            <a:xfrm>
              <a:off x="1353293" y="2336932"/>
              <a:ext cx="1646786" cy="1853583"/>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onector de Seta Reta 5">
              <a:extLst>
                <a:ext uri="{FF2B5EF4-FFF2-40B4-BE49-F238E27FC236}">
                  <a16:creationId xmlns:a16="http://schemas.microsoft.com/office/drawing/2014/main" id="{91299C5E-33A6-592E-F7DF-D6FF463A24CD}"/>
                </a:ext>
              </a:extLst>
            </p:cNvPr>
            <p:cNvCxnSpPr>
              <a:cxnSpLocks/>
            </p:cNvCxnSpPr>
            <p:nvPr/>
          </p:nvCxnSpPr>
          <p:spPr>
            <a:xfrm rot="16200000">
              <a:off x="3719217" y="1974447"/>
              <a:ext cx="0" cy="144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CaixaDeTexto 6">
              <a:extLst>
                <a:ext uri="{FF2B5EF4-FFF2-40B4-BE49-F238E27FC236}">
                  <a16:creationId xmlns:a16="http://schemas.microsoft.com/office/drawing/2014/main" id="{07D6E9B3-8BC5-ED0D-AF89-84B138D6CA78}"/>
                </a:ext>
              </a:extLst>
            </p:cNvPr>
            <p:cNvSpPr txBox="1"/>
            <p:nvPr/>
          </p:nvSpPr>
          <p:spPr>
            <a:xfrm>
              <a:off x="1353292" y="1871645"/>
              <a:ext cx="1646786" cy="461665"/>
            </a:xfrm>
            <a:prstGeom prst="rect">
              <a:avLst/>
            </a:prstGeom>
            <a:noFill/>
          </p:spPr>
          <p:txBody>
            <a:bodyPr wrap="square" rtlCol="0">
              <a:spAutoFit/>
            </a:bodyPr>
            <a:lstStyle/>
            <a:p>
              <a:pPr algn="ctr"/>
              <a:r>
                <a:rPr lang="pt-BR" sz="2400" b="1" dirty="0"/>
                <a:t>Agente</a:t>
              </a:r>
            </a:p>
          </p:txBody>
        </p:sp>
        <p:cxnSp>
          <p:nvCxnSpPr>
            <p:cNvPr id="8" name="Conector de Seta Reta 7">
              <a:extLst>
                <a:ext uri="{FF2B5EF4-FFF2-40B4-BE49-F238E27FC236}">
                  <a16:creationId xmlns:a16="http://schemas.microsoft.com/office/drawing/2014/main" id="{B421DA97-1CBD-4A22-934F-6A2077BAEF94}"/>
                </a:ext>
              </a:extLst>
            </p:cNvPr>
            <p:cNvCxnSpPr>
              <a:cxnSpLocks/>
            </p:cNvCxnSpPr>
            <p:nvPr/>
          </p:nvCxnSpPr>
          <p:spPr>
            <a:xfrm rot="16200000" flipV="1">
              <a:off x="3717673" y="3244808"/>
              <a:ext cx="0" cy="144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de Seta Reta 8">
              <a:extLst>
                <a:ext uri="{FF2B5EF4-FFF2-40B4-BE49-F238E27FC236}">
                  <a16:creationId xmlns:a16="http://schemas.microsoft.com/office/drawing/2014/main" id="{F244F0BA-A684-0433-B7E4-FF4354608EEE}"/>
                </a:ext>
              </a:extLst>
            </p:cNvPr>
            <p:cNvCxnSpPr>
              <a:cxnSpLocks/>
            </p:cNvCxnSpPr>
            <p:nvPr/>
          </p:nvCxnSpPr>
          <p:spPr>
            <a:xfrm rot="16200000" flipV="1">
              <a:off x="3719217" y="2625951"/>
              <a:ext cx="0" cy="14400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CaixaDeTexto 9">
              <a:extLst>
                <a:ext uri="{FF2B5EF4-FFF2-40B4-BE49-F238E27FC236}">
                  <a16:creationId xmlns:a16="http://schemas.microsoft.com/office/drawing/2014/main" id="{122F905C-A4E6-E8EF-503A-B3A7AC10F2BD}"/>
                </a:ext>
              </a:extLst>
            </p:cNvPr>
            <p:cNvSpPr txBox="1"/>
            <p:nvPr/>
          </p:nvSpPr>
          <p:spPr>
            <a:xfrm>
              <a:off x="2997673" y="2986577"/>
              <a:ext cx="1455378" cy="338554"/>
            </a:xfrm>
            <a:prstGeom prst="rect">
              <a:avLst/>
            </a:prstGeom>
            <a:noFill/>
          </p:spPr>
          <p:txBody>
            <a:bodyPr wrap="square" rtlCol="0">
              <a:spAutoFit/>
            </a:bodyPr>
            <a:lstStyle/>
            <a:p>
              <a:pPr algn="ctr"/>
              <a:r>
                <a:rPr lang="pt-BR" sz="1600" b="1" dirty="0"/>
                <a:t>Recompensas</a:t>
              </a:r>
            </a:p>
          </p:txBody>
        </p:sp>
        <p:sp>
          <p:nvSpPr>
            <p:cNvPr id="11" name="CaixaDeTexto 10">
              <a:extLst>
                <a:ext uri="{FF2B5EF4-FFF2-40B4-BE49-F238E27FC236}">
                  <a16:creationId xmlns:a16="http://schemas.microsoft.com/office/drawing/2014/main" id="{2208329D-097F-19D5-1F5E-2D318C2E61A1}"/>
                </a:ext>
              </a:extLst>
            </p:cNvPr>
            <p:cNvSpPr txBox="1"/>
            <p:nvPr/>
          </p:nvSpPr>
          <p:spPr>
            <a:xfrm>
              <a:off x="3013050" y="3626254"/>
              <a:ext cx="1424623" cy="338554"/>
            </a:xfrm>
            <a:prstGeom prst="rect">
              <a:avLst/>
            </a:prstGeom>
            <a:noFill/>
          </p:spPr>
          <p:txBody>
            <a:bodyPr wrap="square" rtlCol="0">
              <a:spAutoFit/>
            </a:bodyPr>
            <a:lstStyle/>
            <a:p>
              <a:pPr algn="ctr"/>
              <a:r>
                <a:rPr lang="pt-BR" sz="1600" b="1" dirty="0"/>
                <a:t>Estados</a:t>
              </a:r>
            </a:p>
          </p:txBody>
        </p:sp>
        <p:sp>
          <p:nvSpPr>
            <p:cNvPr id="12" name="CaixaDeTexto 11">
              <a:extLst>
                <a:ext uri="{FF2B5EF4-FFF2-40B4-BE49-F238E27FC236}">
                  <a16:creationId xmlns:a16="http://schemas.microsoft.com/office/drawing/2014/main" id="{91E4494E-AFA3-B1CF-6E7C-52C7BB960702}"/>
                </a:ext>
              </a:extLst>
            </p:cNvPr>
            <p:cNvSpPr txBox="1"/>
            <p:nvPr/>
          </p:nvSpPr>
          <p:spPr>
            <a:xfrm>
              <a:off x="2985383" y="2363141"/>
              <a:ext cx="1440000" cy="338554"/>
            </a:xfrm>
            <a:prstGeom prst="rect">
              <a:avLst/>
            </a:prstGeom>
            <a:noFill/>
          </p:spPr>
          <p:txBody>
            <a:bodyPr wrap="square" rtlCol="0">
              <a:spAutoFit/>
            </a:bodyPr>
            <a:lstStyle/>
            <a:p>
              <a:pPr algn="ctr"/>
              <a:r>
                <a:rPr lang="pt-BR" sz="1600" b="1" dirty="0"/>
                <a:t>Ações</a:t>
              </a:r>
            </a:p>
          </p:txBody>
        </p:sp>
        <p:sp>
          <p:nvSpPr>
            <p:cNvPr id="13" name="CaixaDeTexto 12">
              <a:extLst>
                <a:ext uri="{FF2B5EF4-FFF2-40B4-BE49-F238E27FC236}">
                  <a16:creationId xmlns:a16="http://schemas.microsoft.com/office/drawing/2014/main" id="{9A6BEF60-3DB8-891F-CEF6-9DD12C7E52AF}"/>
                </a:ext>
              </a:extLst>
            </p:cNvPr>
            <p:cNvSpPr txBox="1"/>
            <p:nvPr/>
          </p:nvSpPr>
          <p:spPr>
            <a:xfrm>
              <a:off x="4453051" y="1871646"/>
              <a:ext cx="2578544" cy="461665"/>
            </a:xfrm>
            <a:prstGeom prst="rect">
              <a:avLst/>
            </a:prstGeom>
            <a:noFill/>
          </p:spPr>
          <p:txBody>
            <a:bodyPr wrap="square" rtlCol="0">
              <a:spAutoFit/>
            </a:bodyPr>
            <a:lstStyle/>
            <a:p>
              <a:pPr algn="ctr"/>
              <a:r>
                <a:rPr lang="pt-BR" sz="2400" b="1" dirty="0"/>
                <a:t>Ambiente</a:t>
              </a:r>
            </a:p>
          </p:txBody>
        </p:sp>
        <p:pic>
          <p:nvPicPr>
            <p:cNvPr id="1026" name="Picture 2" descr="Pac-Man completa 33 anos com direito a novo game, relembre o clássico">
              <a:extLst>
                <a:ext uri="{FF2B5EF4-FFF2-40B4-BE49-F238E27FC236}">
                  <a16:creationId xmlns:a16="http://schemas.microsoft.com/office/drawing/2014/main" id="{4A3183C1-BE93-0F6B-425B-461EFFF4B3D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496" t="973" r="2688" b="2361"/>
            <a:stretch/>
          </p:blipFill>
          <p:spPr bwMode="auto">
            <a:xfrm>
              <a:off x="4453051" y="2333311"/>
              <a:ext cx="2578544" cy="18535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713446528"/>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10345</TotalTime>
  <Words>8906</Words>
  <Application>Microsoft Office PowerPoint</Application>
  <PresentationFormat>Widescreen</PresentationFormat>
  <Paragraphs>665</Paragraphs>
  <Slides>48</Slides>
  <Notes>32</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48</vt:i4>
      </vt:variant>
    </vt:vector>
  </HeadingPairs>
  <TitlesOfParts>
    <vt:vector size="56" baseType="lpstr">
      <vt:lpstr>Arial</vt:lpstr>
      <vt:lpstr>Calibri</vt:lpstr>
      <vt:lpstr>Calibri Light</vt:lpstr>
      <vt:lpstr>Cambria Math</vt:lpstr>
      <vt:lpstr>Courier New</vt:lpstr>
      <vt:lpstr>Söhne</vt:lpstr>
      <vt:lpstr>Wingdings</vt:lpstr>
      <vt:lpstr>Tema do Office</vt:lpstr>
      <vt:lpstr>T319 - Introdução ao Aprendizado de Máquina: Introdução</vt:lpstr>
      <vt:lpstr>A disciplina</vt:lpstr>
      <vt:lpstr>Cronograma</vt:lpstr>
      <vt:lpstr>Objetivo do curso</vt:lpstr>
      <vt:lpstr>Critérios de avaliação</vt:lpstr>
      <vt:lpstr>Apresentação do PowerPoint</vt:lpstr>
      <vt:lpstr>Motivação</vt:lpstr>
      <vt:lpstr>Motivação</vt:lpstr>
      <vt:lpstr>Motivação</vt:lpstr>
      <vt:lpstr>Apresentação do PowerPoint</vt:lpstr>
      <vt:lpstr>O que é inteligência artificial?</vt:lpstr>
      <vt:lpstr>O que é inteligência artificial?</vt:lpstr>
      <vt:lpstr>O problema da inteligência artificial</vt:lpstr>
      <vt:lpstr>Apresentação do PowerPoint</vt:lpstr>
      <vt:lpstr>Subáreas da inteligência artificial</vt:lpstr>
      <vt:lpstr>Subáreas da inteligência artificial</vt:lpstr>
      <vt:lpstr>Subáreas da inteligência artificial</vt:lpstr>
      <vt:lpstr>Por que ML é importante?</vt:lpstr>
      <vt:lpstr>Apresentação do PowerPoint</vt:lpstr>
      <vt:lpstr>O que é o aprendizado de máquina?</vt:lpstr>
      <vt:lpstr>O que é o aprendizado de máquina?</vt:lpstr>
      <vt:lpstr>Paradigma da programação tradicional</vt:lpstr>
      <vt:lpstr>O paradigma do aprendizado de máquina</vt:lpstr>
      <vt:lpstr>Generalização</vt:lpstr>
      <vt:lpstr>Exemplos de aplicações de ML em várias áreas</vt:lpstr>
      <vt:lpstr>Principais motivos da difusão do ML</vt:lpstr>
      <vt:lpstr>Paradigmas de aprendizado de máquina</vt:lpstr>
      <vt:lpstr>Aprendizado supervisionado</vt:lpstr>
      <vt:lpstr>Objetivo dos algoritmos supervisionados</vt:lpstr>
      <vt:lpstr>Aprendizado não-supervisionado</vt:lpstr>
      <vt:lpstr>Aprendizado não-supervisionado</vt:lpstr>
      <vt:lpstr>Aprendizado por reforço</vt:lpstr>
      <vt:lpstr>Aprendizado por reforço</vt:lpstr>
      <vt:lpstr>Executando códigos</vt:lpstr>
      <vt:lpstr>Goolge Colaboratory (Colab)</vt:lpstr>
      <vt:lpstr>Objetivo do curso</vt:lpstr>
      <vt:lpstr>Objetivo do curso</vt:lpstr>
      <vt:lpstr>Referências</vt:lpstr>
      <vt:lpstr>Avisos</vt:lpstr>
      <vt:lpstr>Avisos</vt:lpstr>
      <vt:lpstr>Tarefas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2231</cp:revision>
  <dcterms:created xsi:type="dcterms:W3CDTF">2020-01-20T13:50:05Z</dcterms:created>
  <dcterms:modified xsi:type="dcterms:W3CDTF">2026-07-31T22:29:33Z</dcterms:modified>
</cp:coreProperties>
</file>