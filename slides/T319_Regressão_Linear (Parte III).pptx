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59" r:id="rId5"/>
    <p:sldId id="463" r:id="rId6"/>
    <p:sldId id="485" r:id="rId7"/>
    <p:sldId id="487" r:id="rId8"/>
    <p:sldId id="513" r:id="rId9"/>
    <p:sldId id="489" r:id="rId10"/>
    <p:sldId id="488" r:id="rId11"/>
    <p:sldId id="515" r:id="rId12"/>
    <p:sldId id="486" r:id="rId13"/>
    <p:sldId id="492" r:id="rId14"/>
    <p:sldId id="493" r:id="rId15"/>
    <p:sldId id="501" r:id="rId16"/>
    <p:sldId id="494" r:id="rId17"/>
    <p:sldId id="490" r:id="rId18"/>
    <p:sldId id="497" r:id="rId19"/>
    <p:sldId id="499" r:id="rId20"/>
    <p:sldId id="500" r:id="rId21"/>
    <p:sldId id="502" r:id="rId22"/>
    <p:sldId id="495" r:id="rId23"/>
    <p:sldId id="516" r:id="rId24"/>
    <p:sldId id="496" r:id="rId25"/>
    <p:sldId id="512" r:id="rId26"/>
    <p:sldId id="504" r:id="rId27"/>
    <p:sldId id="518" r:id="rId28"/>
    <p:sldId id="508" r:id="rId29"/>
    <p:sldId id="510" r:id="rId30"/>
    <p:sldId id="511" r:id="rId31"/>
    <p:sldId id="482" r:id="rId32"/>
    <p:sldId id="317" r:id="rId33"/>
    <p:sldId id="332" r:id="rId34"/>
    <p:sldId id="299" r:id="rId35"/>
    <p:sldId id="285" r:id="rId36"/>
    <p:sldId id="415" r:id="rId37"/>
    <p:sldId id="283" r:id="rId38"/>
    <p:sldId id="274" r:id="rId39"/>
    <p:sldId id="278" r:id="rId40"/>
    <p:sldId id="292" r:id="rId41"/>
    <p:sldId id="498" r:id="rId42"/>
    <p:sldId id="295" r:id="rId43"/>
    <p:sldId id="396" r:id="rId44"/>
    <p:sldId id="484" r:id="rId45"/>
    <p:sldId id="421" r:id="rId46"/>
    <p:sldId id="423" r:id="rId47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2680" autoAdjust="0"/>
  </p:normalViewPr>
  <p:slideViewPr>
    <p:cSldViewPr snapToGrid="0">
      <p:cViewPr varScale="1">
        <p:scale>
          <a:sx n="102" d="100"/>
          <a:sy n="102" d="100"/>
        </p:scale>
        <p:origin x="9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passo é adaptado com base no histórico (</a:t>
            </a:r>
            <a:r>
              <a:rPr lang="en-US" dirty="0" err="1"/>
              <a:t>comportamento</a:t>
            </a:r>
            <a:r>
              <a:rPr lang="en-US" dirty="0"/>
              <a:t> passado)</a:t>
            </a:r>
            <a:r>
              <a:rPr lang="pt-BR" dirty="0"/>
              <a:t> dos gradientes.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186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jpeg"/><Relationship Id="rId4" Type="http://schemas.openxmlformats.org/officeDocument/2006/relationships/image" Target="../media/image52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da taxa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5516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taxa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551629" cy="5032375"/>
              </a:xfrm>
              <a:blipFill>
                <a:blip r:embed="rId2"/>
                <a:stretch>
                  <a:fillRect l="-1676" t="-1937" r="-1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579909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 taxa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ela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2225495"/>
            <a:ext cx="10935878" cy="24070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400" b="1" i="1" dirty="0"/>
              <a:t>Portanto, como veremos, a escolha da taxa de aprendizagem é muito importante para o </a:t>
            </a:r>
            <a:r>
              <a:rPr lang="pt-BR" sz="4400" b="1" i="1" dirty="0">
                <a:solidFill>
                  <a:schemeClr val="accent2"/>
                </a:solidFill>
              </a:rPr>
              <a:t>aprendizado</a:t>
            </a:r>
            <a:r>
              <a:rPr lang="pt-BR" sz="4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da taxa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da taxa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a taxa de aprendizagem afeta a convergência de um modelo.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a taxa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a taxa seja grande, o algoritmo pode nunca convergir.</a:t>
                </a:r>
              </a:p>
              <a:p>
                <a:r>
                  <a:rPr lang="pt-BR" dirty="0"/>
                  <a:t>Se a taxa 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3126" y="1825624"/>
            <a:ext cx="6312610" cy="5032375"/>
          </a:xfrm>
        </p:spPr>
        <p:txBody>
          <a:bodyPr>
            <a:normAutofit/>
          </a:bodyPr>
          <a:lstStyle/>
          <a:p>
            <a:r>
              <a:rPr lang="pt-BR" dirty="0"/>
              <a:t>Em outros casos, quando a taxa é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a cada época, o algoritmo “pula” para um </a:t>
            </a:r>
            <a:r>
              <a:rPr lang="pt-BR" b="1" i="1" dirty="0">
                <a:solidFill>
                  <a:srgbClr val="7030A0"/>
                </a:solidFill>
              </a:rPr>
              <a:t>valor de erro mais alto do que o anterior </a:t>
            </a:r>
            <a:r>
              <a:rPr lang="pt-BR" dirty="0"/>
              <a:t>e, assim, acaba divergindo.</a:t>
            </a:r>
          </a:p>
          <a:p>
            <a:r>
              <a:rPr lang="pt-BR" dirty="0"/>
              <a:t>Ou seja, ao invés de se aproximar do ponto de mínimo a cada época, ele </a:t>
            </a:r>
            <a:r>
              <a:rPr lang="pt-BR" b="1" i="1" dirty="0">
                <a:solidFill>
                  <a:schemeClr val="accent2"/>
                </a:solidFill>
              </a:rPr>
              <a:t>se distancia dele</a:t>
            </a:r>
            <a:r>
              <a:rPr lang="pt-BR" dirty="0"/>
              <a:t>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da taxa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 de aprendizagem é muito pequena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iterações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iterações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7097" y="1825624"/>
                <a:ext cx="729634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rápidas e menos complexas</a:t>
                </a:r>
                <a:r>
                  <a:rPr lang="pt-BR" dirty="0"/>
                  <a:t>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estimativa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ruido</a:t>
                </a:r>
                <a:r>
                  <a:rPr lang="pt-BR" dirty="0"/>
                  <a:t>, eles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ficam oscilando ao redor dele).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7097" y="1825624"/>
                <a:ext cx="7296346" cy="5032375"/>
              </a:xfrm>
              <a:blipFill>
                <a:blip r:embed="rId2"/>
                <a:stretch>
                  <a:fillRect l="-1504" t="-1937" r="-2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EC42-2ACC-2FC6-E985-3086CBDF7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511E-2ADF-BE92-63B5-8C3324D0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38911-187A-BB31-817A-F09DF8DE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8306" y="1825624"/>
            <a:ext cx="7723694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do passo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do passo</a:t>
            </a:r>
            <a:r>
              <a:rPr lang="pt-BR" dirty="0"/>
              <a:t>: força a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/>
              <a:t>Ajuste adaptativo</a:t>
            </a:r>
            <a:r>
              <a:rPr lang="pt-BR"/>
              <a:t>: passos independentes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Termo momentum</a:t>
            </a:r>
            <a:r>
              <a:rPr lang="pt-BR" dirty="0"/>
              <a:t>: redução da variação de direção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D64F838-936F-355B-0DA2-B5F57578C5DE}"/>
              </a:ext>
            </a:extLst>
          </p:cNvPr>
          <p:cNvGrpSpPr/>
          <p:nvPr/>
        </p:nvGrpSpPr>
        <p:grpSpPr>
          <a:xfrm>
            <a:off x="649663" y="2443375"/>
            <a:ext cx="3456831" cy="3395438"/>
            <a:chOff x="338579" y="2405668"/>
            <a:chExt cx="3456831" cy="339543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51F0C5-9F3A-DC7B-9FF5-1DD6FD4844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13" r="9292" b="2280"/>
            <a:stretch/>
          </p:blipFill>
          <p:spPr>
            <a:xfrm>
              <a:off x="338579" y="2405668"/>
              <a:ext cx="3296575" cy="3118439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B3814E3E-CFEA-A936-CCE6-0F39D8FC7B56}"/>
                </a:ext>
              </a:extLst>
            </p:cNvPr>
            <p:cNvSpPr txBox="1"/>
            <p:nvPr/>
          </p:nvSpPr>
          <p:spPr>
            <a:xfrm>
              <a:off x="748196" y="5524107"/>
              <a:ext cx="30472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/>
                <a:t>Gradiente descendente estocástico (SGD)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3145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do passo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o passo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haja a convergência.</a:t>
                </a:r>
              </a:p>
              <a:p>
                <a:r>
                  <a:rPr lang="pt-BR" dirty="0"/>
                  <a:t>Veremos em breve um exemplo de como ela funciona.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56769" cy="1325563"/>
          </a:xfrm>
        </p:spPr>
        <p:txBody>
          <a:bodyPr/>
          <a:lstStyle/>
          <a:p>
            <a:r>
              <a:rPr lang="pt-BR" dirty="0"/>
              <a:t>Técnicas mais comuns para a redução do passo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do passo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o passo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passo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  <a:blipFill>
                <a:blip r:embed="rId2"/>
                <a:stretch>
                  <a:fillRect l="-936" t="-1937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para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o passo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  <a:blipFill>
                <a:blip r:embed="rId2"/>
                <a:stretch>
                  <a:fillRect l="-1080" t="-2663" r="-43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DAB7-81B5-3D1B-C4D3-AF73617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Variação adaptativa dos passos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5DF8-C455-D55B-1076-4FD7884AA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Estas técnicas ajustam </a:t>
            </a:r>
            <a:r>
              <a:rPr lang="pt-BR" b="1" i="1" dirty="0">
                <a:solidFill>
                  <a:schemeClr val="accent2"/>
                </a:solidFill>
              </a:rPr>
              <a:t>automaticamente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passo de aprendizado </a:t>
            </a:r>
            <a:r>
              <a:rPr lang="pt-BR" b="1" i="1" dirty="0">
                <a:solidFill>
                  <a:schemeClr val="accent2"/>
                </a:solidFill>
              </a:rPr>
              <a:t>para cada peso</a:t>
            </a:r>
            <a:r>
              <a:rPr lang="pt-BR" dirty="0"/>
              <a:t> ao longo do treinamento, em vez de usar um único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peso do modelo tem seu próprio passo de aprendizagem.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passo é adaptado com base no histórico dos gradientes.</a:t>
            </a:r>
          </a:p>
          <a:p>
            <a:r>
              <a:rPr lang="pt-BR" dirty="0"/>
              <a:t>As técnicas mais conhecidas são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Adam.</a:t>
            </a:r>
            <a:r>
              <a:rPr lang="pt-BR" b="1" dirty="0"/>
              <a:t> </a:t>
            </a:r>
          </a:p>
          <a:p>
            <a:r>
              <a:rPr lang="pt-BR" b="1" dirty="0" err="1"/>
              <a:t>AdaGrad</a:t>
            </a:r>
            <a:r>
              <a:rPr lang="pt-BR" dirty="0"/>
              <a:t> reduz o passo usando o acúmulo de gradientes anteriores, mas sofre com a redução excessiva do passo ao longo do tempo.</a:t>
            </a:r>
          </a:p>
          <a:p>
            <a:r>
              <a:rPr lang="pt-BR" b="1" dirty="0" err="1"/>
              <a:t>RMSProp</a:t>
            </a:r>
            <a:r>
              <a:rPr lang="pt-BR" dirty="0"/>
              <a:t> usa uma média móvel dos gradientes anteriores para evitar que a passo caia demais.</a:t>
            </a:r>
          </a:p>
          <a:p>
            <a:r>
              <a:rPr lang="pt-BR" b="1" dirty="0"/>
              <a:t>Adam</a:t>
            </a:r>
            <a:r>
              <a:rPr lang="pt-BR" dirty="0"/>
              <a:t> combina </a:t>
            </a:r>
            <a:r>
              <a:rPr lang="pt-BR" dirty="0" err="1"/>
              <a:t>RMSProp</a:t>
            </a:r>
            <a:r>
              <a:rPr lang="pt-BR" dirty="0"/>
              <a:t> com o termo momento (média dos gradientes).</a:t>
            </a:r>
          </a:p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não precisam de ajuste de nenhum </a:t>
            </a:r>
            <a:r>
              <a:rPr lang="pt-BR" b="1" i="1" dirty="0" err="1">
                <a:solidFill>
                  <a:srgbClr val="00B050"/>
                </a:solidFill>
              </a:rPr>
              <a:t>hiperparâmetro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030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O caminho com </a:t>
            </a:r>
            <a:r>
              <a:rPr lang="pt-BR" sz="2800" b="1" i="1" dirty="0"/>
              <a:t>decaimento gradual </a:t>
            </a:r>
            <a:r>
              <a:rPr lang="pt-BR" sz="2800" dirty="0"/>
              <a:t>também não é regular para o ponto de mínimo.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algumas 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passo não influencia na direção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apenas no tamanho</a:t>
            </a:r>
            <a:r>
              <a:rPr lang="pt-BR" dirty="0"/>
              <a:t> do deslocamento.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do passo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 xmlns="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 passo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nl-B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nl-B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i="0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i="0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F4A17E5-ECCE-48A8-A291-06961455A1A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421A6D-F900-459F-9179-A64A47727DAC}">
  <ds:schemaRefs>
    <ds:schemaRef ds:uri="http://schemas.microsoft.com/office/2006/documentManagement/types"/>
    <ds:schemaRef ds:uri="026c264a-64f6-48aa-bde0-8bf9e5064f89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765951F-25BB-44C2-B87A-A88FE1B68A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20185</TotalTime>
  <Words>5358</Words>
  <Application>Microsoft Office PowerPoint</Application>
  <PresentationFormat>Widescreen</PresentationFormat>
  <Paragraphs>392</Paragraphs>
  <Slides>43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da taxa de aprendizagem</vt:lpstr>
      <vt:lpstr>Escolha da taxa de aprendizagem</vt:lpstr>
      <vt:lpstr>Escolha da taxa de aprendizagem</vt:lpstr>
      <vt:lpstr>Apresentação do PowerPoint</vt:lpstr>
      <vt:lpstr>Escolha da taxa de aprendizagem</vt:lpstr>
      <vt:lpstr>Escolha da taxa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Redução gradual do passo de aprendizagem</vt:lpstr>
      <vt:lpstr>Técnicas mais comuns para a redução do passo</vt:lpstr>
      <vt:lpstr>Termo momentum</vt:lpstr>
      <vt:lpstr>Variação adaptativa dos passos</vt:lpstr>
      <vt:lpstr>Exemplo de redução programada com GDE</vt:lpstr>
      <vt:lpstr>Exemplo de redução programada com GDE</vt:lpstr>
      <vt:lpstr>Exemplo de redução programada com GDE</vt:lpstr>
      <vt:lpstr>Tarefas</vt:lpstr>
      <vt:lpstr>Apresentação do PowerPoint</vt:lpstr>
      <vt:lpstr>Apresentação do PowerPoint</vt:lpstr>
      <vt:lpstr>FIGURAS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2429</cp:revision>
  <dcterms:created xsi:type="dcterms:W3CDTF">2020-02-17T11:18:32Z</dcterms:created>
  <dcterms:modified xsi:type="dcterms:W3CDTF">2026-09-25T18:31:37Z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