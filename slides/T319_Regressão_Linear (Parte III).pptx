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8"/>
  </p:notesMasterIdLst>
  <p:sldIdLst>
    <p:sldId id="259" r:id="rId5"/>
    <p:sldId id="463" r:id="rId6"/>
    <p:sldId id="485" r:id="rId7"/>
    <p:sldId id="487" r:id="rId8"/>
    <p:sldId id="513" r:id="rId9"/>
    <p:sldId id="489" r:id="rId10"/>
    <p:sldId id="488" r:id="rId11"/>
    <p:sldId id="515" r:id="rId12"/>
    <p:sldId id="486" r:id="rId13"/>
    <p:sldId id="492" r:id="rId14"/>
    <p:sldId id="493" r:id="rId15"/>
    <p:sldId id="501" r:id="rId16"/>
    <p:sldId id="494" r:id="rId17"/>
    <p:sldId id="490" r:id="rId18"/>
    <p:sldId id="497" r:id="rId19"/>
    <p:sldId id="499" r:id="rId20"/>
    <p:sldId id="500" r:id="rId21"/>
    <p:sldId id="502" r:id="rId22"/>
    <p:sldId id="495" r:id="rId23"/>
    <p:sldId id="516" r:id="rId24"/>
    <p:sldId id="496" r:id="rId25"/>
    <p:sldId id="512" r:id="rId26"/>
    <p:sldId id="504" r:id="rId27"/>
    <p:sldId id="518" r:id="rId28"/>
    <p:sldId id="508" r:id="rId29"/>
    <p:sldId id="510" r:id="rId30"/>
    <p:sldId id="511" r:id="rId31"/>
    <p:sldId id="482" r:id="rId32"/>
    <p:sldId id="317" r:id="rId33"/>
    <p:sldId id="332" r:id="rId34"/>
    <p:sldId id="299" r:id="rId35"/>
    <p:sldId id="285" r:id="rId36"/>
    <p:sldId id="415" r:id="rId37"/>
    <p:sldId id="283" r:id="rId38"/>
    <p:sldId id="274" r:id="rId39"/>
    <p:sldId id="278" r:id="rId40"/>
    <p:sldId id="292" r:id="rId41"/>
    <p:sldId id="498" r:id="rId42"/>
    <p:sldId id="295" r:id="rId43"/>
    <p:sldId id="396" r:id="rId44"/>
    <p:sldId id="484" r:id="rId45"/>
    <p:sldId id="421" r:id="rId46"/>
    <p:sldId id="423" r:id="rId47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2680" autoAdjust="0"/>
  </p:normalViewPr>
  <p:slideViewPr>
    <p:cSldViewPr snapToGrid="0">
      <p:cViewPr varScale="1">
        <p:scale>
          <a:sx n="102" d="100"/>
          <a:sy n="102" d="100"/>
        </p:scale>
        <p:origin x="9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5092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8AB0C-D174-227A-BD51-36246707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4E4E0D-D7AE-CA65-005C-7F2AA44B1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D45B2D-93B1-B492-046D-31D637D31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545EF8-C430-5B8E-0455-9C90ED3C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6366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https://colab.research.google.com/github/zz4fap/t319_aprendizado_de_maquina/blob/main/notebooks/regression/selecionando_o_passo_de_aprendizagem.ipynb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Hiperparâmetro: parâmetro que influencia no aprendizado do algoritmo,</a:t>
            </a:r>
            <a:r>
              <a:rPr lang="pt-BR" baseline="0" dirty="0"/>
              <a:t> ou seja, dita seu aprendizado. Não é um parâmetro aprendido pelo modelo como no caso dos pesos de um modelo de regressão linear.</a:t>
            </a:r>
            <a:endParaRPr lang="pt-BR" dirty="0"/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para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5689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3088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696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85167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998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sabemos se o gradiente</a:t>
            </a:r>
            <a:r>
              <a:rPr lang="pt-BR" baseline="0" dirty="0"/>
              <a:t> descendente está funcionando corretamente em relação ao aprendizado?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</a:t>
            </a:r>
            <a:r>
              <a:rPr lang="pt-BR" baseline="0" dirty="0"/>
              <a:t> você consegue </a:t>
            </a:r>
            <a:r>
              <a:rPr lang="pt-BR" baseline="0" dirty="0" err="1"/>
              <a:t>debugar</a:t>
            </a:r>
            <a:r>
              <a:rPr lang="pt-BR" baseline="0" dirty="0"/>
              <a:t>/depurar o algoritmo do gradiente descendente quando não é possível se plotar o gráfico de contorno e verificar o caminho seguido pelo algoritmo?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2861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momento faz uma média temporal dos vetores gradientes passados.</a:t>
            </a:r>
          </a:p>
          <a:p>
            <a:r>
              <a:rPr lang="pt-BR" dirty="0"/>
              <a:t>Pode ser entendido como o batelada, mas só que temporalmente.</a:t>
            </a:r>
          </a:p>
          <a:p>
            <a:endParaRPr lang="pt-BR" dirty="0"/>
          </a:p>
          <a:p>
            <a:r>
              <a:rPr lang="pt-BR" dirty="0"/>
              <a:t>O termo momento adiciona a média móvel exponencialmente decrescente das estimativas anteriores do gradiente.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601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passo é adaptado com base no histórico (</a:t>
            </a:r>
            <a:r>
              <a:rPr lang="en-US" dirty="0" err="1"/>
              <a:t>comportamento</a:t>
            </a:r>
            <a:r>
              <a:rPr lang="en-US" dirty="0"/>
              <a:t> passado)</a:t>
            </a:r>
            <a:r>
              <a:rPr lang="pt-BR" dirty="0"/>
              <a:t> dos gradientes.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1865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06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58706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25693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https://colab.research.google.com/github/zz4fap/t319_aprendizado_de_maquina/blob/main/labs/Laboratorio4.ipynb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99250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49383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4719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51098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76093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momentum aumenta para dimensões cujos gradientes apontam nas mesmas direções e reduz atualizações para dimensões cujos gradientes mudam de direção. Como resultado, temos convergência mais rápida e oscilação reduzida.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6674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olab.research.google.com/github/zz4fap/t319_aprendizado_de_maquina/blob/main/notebooks/regression/selecionando_o_passo_de_aprendizagem.ipynb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github/zz4fap/t319_aprendizado_de_maquina/blob/main/notebooks/regression/gd_versions/gde_com_redu&#231;&#227;o_gradual.ipynb" TargetMode="External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4.ipynb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jpe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9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4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390.png"/><Relationship Id="rId4" Type="http://schemas.openxmlformats.org/officeDocument/2006/relationships/image" Target="../media/image4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47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Recapitulando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tópico anterior, falamos sobre o vetor gradiente.</a:t>
                </a:r>
              </a:p>
              <a:p>
                <a:r>
                  <a:rPr lang="pt-BR" dirty="0"/>
                  <a:t>Aprendemos dois algoritmos que usam o vetor gradiente para a resolução de problemas de otimização: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ascendente </a:t>
                </a:r>
                <a:r>
                  <a:rPr lang="pt-BR" dirty="0"/>
                  <a:t>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maximização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</a:t>
                </a:r>
                <a:r>
                  <a:rPr lang="pt-BR" dirty="0"/>
                  <a:t> 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minimização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Aprendemos as três versões do gradiente descendente: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Batelada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Estocástico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Mini-batch</a:t>
                </a:r>
              </a:p>
              <a:p>
                <a:r>
                  <a:rPr lang="pt-BR" dirty="0"/>
                  <a:t>Neste tópico, discutiremos o quão importante é o ajuste da taxa de aprendizagem,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  <a:blipFill>
                <a:blip r:embed="rId2"/>
                <a:stretch>
                  <a:fillRect l="-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77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nós vimos antes, no gradiente descendente, o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negativo</a:t>
                </a:r>
                <a:r>
                  <a:rPr lang="pt-BR" dirty="0"/>
                  <a:t> 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direção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de decrescimento mais rápido de uma função</a:t>
                </a:r>
                <a:r>
                  <a:rPr lang="pt-BR" b="0" i="0" dirty="0">
                    <a:effectLst/>
                  </a:rPr>
                  <a:t> a partir de um ponto qualquer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e sua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magnitude</a:t>
                </a:r>
                <a:r>
                  <a:rPr lang="pt-BR" b="0" i="0" dirty="0">
                    <a:effectLst/>
                  </a:rPr>
                  <a:t> indica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taxa de variação da função</a:t>
                </a:r>
                <a:r>
                  <a:rPr lang="pt-BR" b="0" i="0" dirty="0">
                    <a:effectLst/>
                  </a:rPr>
                  <a:t> nessa direção.</a:t>
                </a:r>
                <a:endParaRPr lang="pt-BR" b="1" i="1" dirty="0">
                  <a:effectLst/>
                </a:endParaRPr>
              </a:p>
              <a:p>
                <a:r>
                  <a:rPr lang="pt-BR" dirty="0"/>
                  <a:t>Porém,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não nos informa a distância até o ponto de máximo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  <a:blipFill>
                <a:blip r:embed="rId2"/>
                <a:stretch>
                  <a:fillRect l="-168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860F9137-10B0-2765-3CAF-0E8F4196E6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46"/>
          <a:stretch/>
        </p:blipFill>
        <p:spPr>
          <a:xfrm>
            <a:off x="191677" y="2780906"/>
            <a:ext cx="5270984" cy="1888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3534" y="1825624"/>
                <a:ext cx="655162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andarmos na direção oposta à apontada pelo vetor gradiente</a:t>
                </a:r>
                <a:r>
                  <a:rPr lang="pt-BR" dirty="0"/>
                  <a:t>, usamos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porcentagem</a:t>
                </a:r>
                <a:r>
                  <a:rPr lang="pt-BR" dirty="0"/>
                  <a:t> do seu valor.</a:t>
                </a:r>
              </a:p>
              <a:p>
                <a:r>
                  <a:rPr lang="pt-BR" dirty="0"/>
                  <a:t>Essa porcentagem é dada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taxa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que é sempre um valor maior do que zero.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3534" y="1825624"/>
                <a:ext cx="6551629" cy="5032375"/>
              </a:xfrm>
              <a:blipFill>
                <a:blip r:embed="rId2"/>
                <a:stretch>
                  <a:fillRect l="-1676" t="-1937" r="-1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89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23DEB1-E32D-5111-52A9-A936D5B1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3534" y="1825624"/>
            <a:ext cx="6579909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A taxa de aprendizagem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controla o quão "grande" ou "pequena"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atualização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aplicada aos pesos </a:t>
            </a:r>
            <a:r>
              <a:rPr lang="pt-BR" b="0" i="0" dirty="0">
                <a:effectLst/>
              </a:rPr>
              <a:t>do modelo em cada iteração do processo de treinamento.</a:t>
            </a:r>
          </a:p>
          <a:p>
            <a:r>
              <a:rPr lang="pt-BR" dirty="0"/>
              <a:t>Ou seja, ela determina o </a:t>
            </a:r>
            <a:r>
              <a:rPr lang="pt-BR" b="1" i="1" dirty="0">
                <a:solidFill>
                  <a:schemeClr val="accent2"/>
                </a:solidFill>
              </a:rPr>
              <a:t>tamanho do passo</a:t>
            </a:r>
            <a:r>
              <a:rPr lang="pt-BR" b="1" i="1" dirty="0">
                <a:solidFill>
                  <a:srgbClr val="00B050"/>
                </a:solidFill>
              </a:rPr>
              <a:t> dado na direção oposta à indicada pelo vetor gradiente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FF0000"/>
                </a:solidFill>
                <a:effectLst/>
              </a:rPr>
              <a:t>Porém, qual deve ser </a:t>
            </a:r>
            <a:r>
              <a:rPr lang="pt-BR" b="1" i="1" dirty="0">
                <a:solidFill>
                  <a:srgbClr val="FF0000"/>
                </a:solidFill>
              </a:rPr>
              <a:t>o tamanho desse passo?</a:t>
            </a:r>
            <a:endParaRPr lang="pt-BR" b="1" i="1" dirty="0">
              <a:solidFill>
                <a:srgbClr val="FF0000"/>
              </a:solidFill>
              <a:effectLst/>
            </a:endParaRPr>
          </a:p>
          <a:p>
            <a:endParaRPr lang="pt-BR" dirty="0"/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966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F82374-172C-DD33-1E6D-772199B0F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61" y="1883388"/>
            <a:ext cx="10935878" cy="309122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b="1" i="1" dirty="0"/>
              <a:t>Portanto, como veremos, a escolha da taxa de aprendizagem é muito importante para o </a:t>
            </a:r>
            <a:r>
              <a:rPr lang="pt-BR" sz="5400" b="1" i="1" dirty="0">
                <a:solidFill>
                  <a:schemeClr val="accent2"/>
                </a:solidFill>
              </a:rPr>
              <a:t>aprendizado</a:t>
            </a:r>
            <a:r>
              <a:rPr lang="pt-BR" sz="5400" b="1" i="1" dirty="0"/>
              <a:t> de um modelo de ML.</a:t>
            </a:r>
          </a:p>
        </p:txBody>
      </p:sp>
    </p:spTree>
    <p:extLst>
      <p:ext uri="{BB962C8B-B14F-4D97-AF65-F5344CB8AC3E}">
        <p14:creationId xmlns:p14="http://schemas.microsoft.com/office/powerpoint/2010/main" val="84098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6FB011-1700-FEDE-C81B-65D08163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7D7F6-2609-AE39-CC56-50E8812A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80974" cy="5032375"/>
          </a:xfrm>
        </p:spPr>
        <p:txBody>
          <a:bodyPr>
            <a:normAutofit/>
          </a:bodyPr>
          <a:lstStyle/>
          <a:p>
            <a:r>
              <a:rPr lang="pt-BR" dirty="0"/>
              <a:t>A taxa </a:t>
            </a:r>
            <a:r>
              <a:rPr lang="pt-BR" b="0" i="0" dirty="0">
                <a:effectLst/>
              </a:rPr>
              <a:t>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que influencia diretamente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e a convergência </a:t>
            </a:r>
            <a:r>
              <a:rPr lang="pt-BR" b="0" i="0" dirty="0">
                <a:effectLst/>
              </a:rPr>
              <a:t>do algoritmo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i="0" dirty="0">
                <a:effectLst/>
              </a:rPr>
              <a:t>Hiperparâmetros</a:t>
            </a:r>
            <a:r>
              <a:rPr lang="pt-BR" sz="2400" b="0" i="0" dirty="0">
                <a:effectLst/>
              </a:rPr>
              <a:t>: são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parâmetros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não são aprendidos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sz="2400" b="0" i="0" dirty="0">
                <a:effectLst/>
              </a:rPr>
              <a:t>do modelo, mas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influenciam</a:t>
            </a:r>
            <a:r>
              <a:rPr lang="pt-BR" sz="2400" b="0" i="0" dirty="0">
                <a:effectLst/>
              </a:rPr>
              <a:t> </a:t>
            </a:r>
            <a:r>
              <a:rPr lang="pt-BR" sz="2400" dirty="0"/>
              <a:t>seu</a:t>
            </a:r>
            <a:r>
              <a:rPr lang="pt-BR" sz="2400" b="0" i="0" dirty="0">
                <a:effectLst/>
              </a:rPr>
              <a:t> aprendizado.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pequenos </a:t>
            </a:r>
            <a:r>
              <a:rPr lang="pt-BR" b="0" i="0" dirty="0">
                <a:effectLst/>
              </a:rPr>
              <a:t>podem resultar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 lento</a:t>
            </a:r>
            <a:r>
              <a:rPr lang="pt-BR" b="0" i="0" dirty="0">
                <a:effectLst/>
              </a:rPr>
              <a:t>, enquanto 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grandes</a:t>
            </a:r>
            <a:r>
              <a:rPr lang="pt-BR" b="0" i="0" dirty="0">
                <a:effectLst/>
              </a:rPr>
              <a:t> podem causar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divergência</a:t>
            </a:r>
            <a:r>
              <a:rPr lang="pt-BR" b="0" i="0" dirty="0">
                <a:effectLst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38094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269A-BAE6-D3D2-D3D5-D372995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D89F4-1942-2D2B-889C-C3577D0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Em geral, a escolha da taxa é feita </a:t>
                </a:r>
                <a:r>
                  <a:rPr lang="pt-BR" b="1" i="0" dirty="0">
                    <a:solidFill>
                      <a:schemeClr val="accent2"/>
                    </a:solidFill>
                    <a:effectLst/>
                  </a:rPr>
                  <a:t>empiricamente</a:t>
                </a:r>
                <a:r>
                  <a:rPr lang="pt-BR" b="0" i="0" dirty="0">
                    <a:effectLst/>
                  </a:rPr>
                  <a:t> por meio de experimentação.</a:t>
                </a:r>
              </a:p>
              <a:p>
                <a:r>
                  <a:rPr lang="pt-BR" dirty="0"/>
                  <a:t>Uma regra empírica para a </a:t>
                </a:r>
                <a:r>
                  <a:rPr lang="pt-BR" b="1" i="1" dirty="0"/>
                  <a:t>exploração</a:t>
                </a:r>
                <a:r>
                  <a:rPr lang="pt-BR" dirty="0"/>
                  <a:t> da taxa de aprendizagem é usar a seguinte sequência (</a:t>
                </a:r>
                <a:r>
                  <a:rPr lang="pt-BR" b="1" i="1" dirty="0"/>
                  <a:t>ajuste manual</a:t>
                </a:r>
                <a:r>
                  <a:rPr lang="pt-BR" dirty="0"/>
                  <a:t>):</a:t>
                </a:r>
              </a:p>
              <a:p>
                <a:pPr marL="0" indent="0">
                  <a:buNone/>
                </a:pPr>
                <a:endParaRPr lang="pt-BR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0.001, 0.003, 0.01, 0.03, 0.1, 0.3, 1.0, …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Vejamos um exemplo sobre como a taxa de aprendizagem afeta a convergência de um modelo.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3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16">
            <a:extLst>
              <a:ext uri="{FF2B5EF4-FFF2-40B4-BE49-F238E27FC236}">
                <a16:creationId xmlns:a16="http://schemas.microsoft.com/office/drawing/2014/main" id="{1A2AFCEC-F229-2F9D-721F-2B79E5A495C4}"/>
              </a:ext>
            </a:extLst>
          </p:cNvPr>
          <p:cNvSpPr/>
          <p:nvPr/>
        </p:nvSpPr>
        <p:spPr>
          <a:xfrm rot="7589185">
            <a:off x="4144164" y="308292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/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c 18">
            <a:extLst>
              <a:ext uri="{FF2B5EF4-FFF2-40B4-BE49-F238E27FC236}">
                <a16:creationId xmlns:a16="http://schemas.microsoft.com/office/drawing/2014/main" id="{CFDF7D89-CCC3-6619-B407-4DA4B327E47C}"/>
              </a:ext>
            </a:extLst>
          </p:cNvPr>
          <p:cNvSpPr/>
          <p:nvPr/>
        </p:nvSpPr>
        <p:spPr>
          <a:xfrm rot="7589185">
            <a:off x="5120693" y="310929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/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c 20">
            <a:extLst>
              <a:ext uri="{FF2B5EF4-FFF2-40B4-BE49-F238E27FC236}">
                <a16:creationId xmlns:a16="http://schemas.microsoft.com/office/drawing/2014/main" id="{818E0AB7-C50C-DAE7-2D8D-E8DD94FA3182}"/>
              </a:ext>
            </a:extLst>
          </p:cNvPr>
          <p:cNvSpPr/>
          <p:nvPr/>
        </p:nvSpPr>
        <p:spPr>
          <a:xfrm rot="7381844">
            <a:off x="6086074" y="3318117"/>
            <a:ext cx="821031" cy="115523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/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22">
            <a:extLst>
              <a:ext uri="{FF2B5EF4-FFF2-40B4-BE49-F238E27FC236}">
                <a16:creationId xmlns:a16="http://schemas.microsoft.com/office/drawing/2014/main" id="{AB2099C8-9393-2A15-B4B2-07F28FB94BED}"/>
              </a:ext>
            </a:extLst>
          </p:cNvPr>
          <p:cNvSpPr/>
          <p:nvPr/>
        </p:nvSpPr>
        <p:spPr>
          <a:xfrm rot="7285154">
            <a:off x="6889653" y="3381245"/>
            <a:ext cx="729866" cy="108008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Arc 25">
            <a:extLst>
              <a:ext uri="{FF2B5EF4-FFF2-40B4-BE49-F238E27FC236}">
                <a16:creationId xmlns:a16="http://schemas.microsoft.com/office/drawing/2014/main" id="{C78F8B88-FAE6-2A19-6579-85CC3113D217}"/>
              </a:ext>
            </a:extLst>
          </p:cNvPr>
          <p:cNvSpPr/>
          <p:nvPr/>
        </p:nvSpPr>
        <p:spPr>
          <a:xfrm rot="7043539">
            <a:off x="7606310" y="3535049"/>
            <a:ext cx="574483" cy="919370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Arc 26">
            <a:extLst>
              <a:ext uri="{FF2B5EF4-FFF2-40B4-BE49-F238E27FC236}">
                <a16:creationId xmlns:a16="http://schemas.microsoft.com/office/drawing/2014/main" id="{7B79369F-B410-B830-3CB9-B764FE8A4AAE}"/>
              </a:ext>
            </a:extLst>
          </p:cNvPr>
          <p:cNvSpPr/>
          <p:nvPr/>
        </p:nvSpPr>
        <p:spPr>
          <a:xfrm rot="7439932">
            <a:off x="8202137" y="3614087"/>
            <a:ext cx="492730" cy="824698"/>
          </a:xfrm>
          <a:prstGeom prst="arc">
            <a:avLst>
              <a:gd name="adj1" fmla="val 15558147"/>
              <a:gd name="adj2" fmla="val 2091548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/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/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/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3">
            <a:extLst>
              <a:ext uri="{FF2B5EF4-FFF2-40B4-BE49-F238E27FC236}">
                <a16:creationId xmlns:a16="http://schemas.microsoft.com/office/drawing/2014/main" id="{ECC1348D-ED69-1853-49EB-C944A25E0844}"/>
              </a:ext>
            </a:extLst>
          </p:cNvPr>
          <p:cNvSpPr/>
          <p:nvPr/>
        </p:nvSpPr>
        <p:spPr>
          <a:xfrm>
            <a:off x="0" y="6572663"/>
            <a:ext cx="383802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hlinkClick r:id="rId10"/>
              </a:rPr>
              <a:t>Exemplo: </a:t>
            </a:r>
            <a:r>
              <a:rPr lang="pt-BR" sz="1200" dirty="0" err="1">
                <a:hlinkClick r:id="rId10"/>
              </a:rPr>
              <a:t>selecionando_o_passo_de_aprendizagem.ipynb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9471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D4CFC-DDCB-8078-3C54-56133CAA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pequeno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a taxa de aprendizagem seja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pequeno</a:t>
                </a:r>
                <a:r>
                  <a:rPr lang="pt-BR" dirty="0"/>
                  <a:t>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do algoritmo será muito lenta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pt-BR" dirty="0"/>
                  <a:t>, o algoritmo atinge o ponto de mínimo, i.e., converge, após mais de 250 épocas.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7030A0"/>
                    </a:solidFill>
                  </a:rPr>
                  <a:t>Passos muito curtos</a:t>
                </a:r>
                <a:r>
                  <a:rPr lang="pt-BR" dirty="0"/>
                  <a:t>, fazem com que o algoritmo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caminhe vagarosamente em direção ao mínimo global da função de erro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  <a:blipFill>
                <a:blip r:embed="rId3"/>
                <a:stretch>
                  <a:fillRect l="-978" t="-3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>
            <a:extLst>
              <a:ext uri="{FF2B5EF4-FFF2-40B4-BE49-F238E27FC236}">
                <a16:creationId xmlns:a16="http://schemas.microsoft.com/office/drawing/2014/main" id="{404700FD-2AD0-0263-A281-0518044D23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529581"/>
            <a:ext cx="2794921" cy="2233394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C026D89-CF0B-9034-ECD6-7E0ECB93400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1" r="9381" b="2090"/>
          <a:stretch/>
        </p:blipFill>
        <p:spPr>
          <a:xfrm>
            <a:off x="5117246" y="4529581"/>
            <a:ext cx="2461767" cy="2230891"/>
          </a:xfrm>
          <a:prstGeom prst="rect">
            <a:avLst/>
          </a:prstGeom>
        </p:spPr>
      </p:pic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ACB6AA-75DC-2F42-67F7-9B365EB6FD7D}"/>
              </a:ext>
            </a:extLst>
          </p:cNvPr>
          <p:cNvCxnSpPr>
            <a:cxnSpLocks/>
          </p:cNvCxnSpPr>
          <p:nvPr/>
        </p:nvCxnSpPr>
        <p:spPr>
          <a:xfrm flipV="1">
            <a:off x="5119618" y="6502653"/>
            <a:ext cx="303166" cy="257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/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400" dirty="0"/>
                  <a:t> inicial</a:t>
                </a:r>
              </a:p>
            </p:txBody>
          </p:sp>
        </mc:Choice>
        <mc:Fallback xmlns="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F21DC2AF-EDF3-1582-F5C3-58459BFDB9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420224" y="4529582"/>
            <a:ext cx="2010613" cy="223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86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07E1E-02FA-BE90-DF8D-F7CD2EFB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a taxa seja grande, o algoritmo pode nunca convergir.</a:t>
                </a:r>
              </a:p>
              <a:p>
                <a:r>
                  <a:rPr lang="pt-BR" dirty="0"/>
                  <a:t>Se a taxa for grande,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mas não tão grande assim</a:t>
                </a:r>
                <a:r>
                  <a:rPr lang="pt-BR" dirty="0"/>
                  <a:t>, o algoritmo pode ficar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pulando</a:t>
                </a:r>
                <a:r>
                  <a:rPr lang="pt-BR" dirty="0"/>
                  <a:t>” ou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oscilando</a:t>
                </a:r>
                <a:r>
                  <a:rPr lang="pt-BR" dirty="0"/>
                  <a:t>”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um lado para o outro da superfície de erro </a:t>
                </a:r>
                <a:r>
                  <a:rPr lang="pt-BR" dirty="0"/>
                  <a:t>até que, por sorte, ele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No exemplo abaixo,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oscila inicialmente, mas acaba convergindo após 20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  <a:blipFill>
                <a:blip r:embed="rId3"/>
                <a:stretch>
                  <a:fillRect l="-975" t="-19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>
            <a:extLst>
              <a:ext uri="{FF2B5EF4-FFF2-40B4-BE49-F238E27FC236}">
                <a16:creationId xmlns:a16="http://schemas.microsoft.com/office/drawing/2014/main" id="{E1C923F9-D8D5-387C-D5B7-782CE5422B7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1172949" y="4372942"/>
            <a:ext cx="2677839" cy="2368858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5F7D6C9C-2DF4-F962-D10F-5412C1DA080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40" r="9378" b="2314"/>
          <a:stretch/>
        </p:blipFill>
        <p:spPr>
          <a:xfrm>
            <a:off x="5413644" y="4373526"/>
            <a:ext cx="2369910" cy="2373159"/>
          </a:xfrm>
          <a:prstGeom prst="rect">
            <a:avLst/>
          </a:prstGeom>
        </p:spPr>
      </p:pic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98A69CEB-47F4-A85F-762F-6622419002E6}"/>
              </a:ext>
            </a:extLst>
          </p:cNvPr>
          <p:cNvCxnSpPr>
            <a:cxnSpLocks/>
          </p:cNvCxnSpPr>
          <p:nvPr/>
        </p:nvCxnSpPr>
        <p:spPr>
          <a:xfrm flipV="1">
            <a:off x="5385153" y="6533910"/>
            <a:ext cx="277779" cy="165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/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232E825-A6A5-D6AD-ED62-433ACECDE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337328" y="4375353"/>
            <a:ext cx="2129926" cy="236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93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3126" y="1825624"/>
            <a:ext cx="6312610" cy="5032375"/>
          </a:xfrm>
        </p:spPr>
        <p:txBody>
          <a:bodyPr>
            <a:normAutofit/>
          </a:bodyPr>
          <a:lstStyle/>
          <a:p>
            <a:r>
              <a:rPr lang="pt-BR" dirty="0"/>
              <a:t>Em outros casos, quando a taxa é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a cada época, o algoritmo “pula” para um </a:t>
            </a:r>
            <a:r>
              <a:rPr lang="pt-BR" b="1" i="1" dirty="0">
                <a:solidFill>
                  <a:srgbClr val="7030A0"/>
                </a:solidFill>
              </a:rPr>
              <a:t>valor de erro mais alto do que o anterior </a:t>
            </a:r>
            <a:r>
              <a:rPr lang="pt-BR" dirty="0"/>
              <a:t>e, assim, acaba divergindo.</a:t>
            </a:r>
          </a:p>
          <a:p>
            <a:r>
              <a:rPr lang="pt-BR" dirty="0"/>
              <a:t>Ou seja, ao invés de se aproximar do ponto de mínimo a cada época, ele </a:t>
            </a:r>
            <a:r>
              <a:rPr lang="pt-BR" b="1" i="1" dirty="0">
                <a:solidFill>
                  <a:schemeClr val="accent2"/>
                </a:solidFill>
              </a:rPr>
              <a:t>se distancia dele</a:t>
            </a:r>
            <a:r>
              <a:rPr lang="pt-BR" dirty="0"/>
              <a:t>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42736" y="2371269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373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2811" y="1825624"/>
            <a:ext cx="6424863" cy="5032375"/>
          </a:xfrm>
        </p:spPr>
        <p:txBody>
          <a:bodyPr>
            <a:normAutofit/>
          </a:bodyPr>
          <a:lstStyle/>
          <a:p>
            <a:r>
              <a:rPr lang="pt-BR" dirty="0"/>
              <a:t>Nesse caso ocorre um </a:t>
            </a:r>
            <a:r>
              <a:rPr lang="pt-BR" b="1" i="1" dirty="0">
                <a:solidFill>
                  <a:srgbClr val="00B050"/>
                </a:solidFill>
              </a:rPr>
              <a:t>ciclo de feedback positivo </a:t>
            </a:r>
            <a:r>
              <a:rPr lang="pt-BR" dirty="0"/>
              <a:t>onde </a:t>
            </a:r>
            <a:r>
              <a:rPr lang="pt-BR" b="1" i="1" dirty="0">
                <a:solidFill>
                  <a:srgbClr val="00B050"/>
                </a:solidFill>
              </a:rPr>
              <a:t>a cada época </a:t>
            </a:r>
            <a:r>
              <a:rPr lang="pt-BR" dirty="0"/>
              <a:t>os valores dos </a:t>
            </a:r>
            <a:r>
              <a:rPr lang="pt-BR" b="1" i="1" dirty="0">
                <a:solidFill>
                  <a:srgbClr val="00B050"/>
                </a:solidFill>
              </a:rPr>
              <a:t>gradientes</a:t>
            </a:r>
            <a:r>
              <a:rPr lang="pt-BR" dirty="0"/>
              <a:t> e, consequentemente, dos </a:t>
            </a:r>
            <a:r>
              <a:rPr lang="pt-BR" b="1" i="1" dirty="0">
                <a:solidFill>
                  <a:srgbClr val="00B050"/>
                </a:solidFill>
              </a:rPr>
              <a:t>pesos se tornam maiores e maiores </a:t>
            </a:r>
            <a:r>
              <a:rPr lang="pt-BR" dirty="0"/>
              <a:t>até que ocorra o </a:t>
            </a:r>
            <a:r>
              <a:rPr lang="pt-BR" b="1" i="1" dirty="0">
                <a:solidFill>
                  <a:srgbClr val="7030A0"/>
                </a:solidFill>
              </a:rPr>
              <a:t>estouro (overflow) da representação numérica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Overflow</a:t>
            </a:r>
            <a:r>
              <a:rPr lang="pt-BR" dirty="0"/>
              <a:t>: problema que ocorre quando uma variável não pode mais representar um valor, pois ele é maior do que o intervalo que ela pode armazenar.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30705" y="2383300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012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ideal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</p:spPr>
            <p:txBody>
              <a:bodyPr/>
              <a:lstStyle/>
              <a:p>
                <a:r>
                  <a:rPr lang="pt-BR" dirty="0"/>
                  <a:t>Portanto, o valor da taxa de aprendizagem deve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explorado</a:t>
                </a:r>
                <a:r>
                  <a:rPr lang="pt-BR" dirty="0"/>
                  <a:t> para se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ideal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acelere a convergência </a:t>
                </a:r>
                <a:r>
                  <a:rPr lang="pt-BR" dirty="0"/>
                  <a:t>de forma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estável</a:t>
                </a:r>
                <a:r>
                  <a:rPr lang="pt-BR" dirty="0"/>
                  <a:t>, ou seja, sem oscilações.</a:t>
                </a:r>
              </a:p>
              <a:p>
                <a:r>
                  <a:rPr lang="pt-BR" dirty="0"/>
                  <a:t>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converge de forma estável para o </a:t>
                </a:r>
                <a:r>
                  <a:rPr lang="pt-BR" b="1" i="1" dirty="0"/>
                  <a:t>mínimo global </a:t>
                </a:r>
                <a:r>
                  <a:rPr lang="pt-BR" dirty="0"/>
                  <a:t>em apenas 3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  <a:blipFill>
                <a:blip r:embed="rId3"/>
                <a:stretch>
                  <a:fillRect l="-982" t="-1937" r="-1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7">
            <a:extLst>
              <a:ext uri="{FF2B5EF4-FFF2-40B4-BE49-F238E27FC236}">
                <a16:creationId xmlns:a16="http://schemas.microsoft.com/office/drawing/2014/main" id="{29582EC0-E28F-B3E1-4D3A-BFB180B4320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469481"/>
            <a:ext cx="2874467" cy="2187131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70A2BD3-D0B6-B61F-E496-0B0E7C544D6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1" r="9667" b="2678"/>
          <a:stretch/>
        </p:blipFill>
        <p:spPr>
          <a:xfrm>
            <a:off x="5371384" y="4473509"/>
            <a:ext cx="2532017" cy="2183104"/>
          </a:xfrm>
          <a:prstGeom prst="rect">
            <a:avLst/>
          </a:prstGeom>
        </p:spPr>
      </p:pic>
      <p:cxnSp>
        <p:nvCxnSpPr>
          <p:cNvPr id="9" name="Straight Arrow Connector 23">
            <a:extLst>
              <a:ext uri="{FF2B5EF4-FFF2-40B4-BE49-F238E27FC236}">
                <a16:creationId xmlns:a16="http://schemas.microsoft.com/office/drawing/2014/main" id="{FCFA597F-5193-525D-A4F3-5192D411BA64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371383" y="6492876"/>
            <a:ext cx="231207" cy="72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/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blipFill>
                <a:blip r:embed="rId6"/>
                <a:stretch>
                  <a:fillRect l="-4545" r="-4545"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D97E89BE-830C-9FF1-89B2-40ABC6CE0F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56"/>
          <a:stretch/>
        </p:blipFill>
        <p:spPr bwMode="auto">
          <a:xfrm>
            <a:off x="9679905" y="4469480"/>
            <a:ext cx="2022177" cy="218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56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5A032-6954-55F0-305E-6B33F6A7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2B770-C618-DF43-C765-CC948AA99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3914" y="1825624"/>
            <a:ext cx="7045792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Nem sempre nós iremos conseguir plotar as superfícies de erro e de contorno </a:t>
            </a:r>
            <a:r>
              <a:rPr lang="pt-BR" dirty="0"/>
              <a:t>para analisarmos o treinamento de um modelo.</a:t>
            </a:r>
          </a:p>
          <a:p>
            <a:r>
              <a:rPr lang="pt-BR" dirty="0"/>
              <a:t>Por exemplo, quando tivermos </a:t>
            </a:r>
            <a:r>
              <a:rPr lang="pt-BR" b="1" i="1" dirty="0">
                <a:solidFill>
                  <a:srgbClr val="00B050"/>
                </a:solidFill>
              </a:rPr>
              <a:t>três atributos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superfície de erro terá quatro dimensões</a:t>
            </a:r>
            <a:r>
              <a:rPr lang="pt-BR" dirty="0"/>
              <a:t>, tornando sua análise mais difícil.</a:t>
            </a:r>
          </a:p>
          <a:p>
            <a:r>
              <a:rPr lang="pt-BR" dirty="0"/>
              <a:t>Assim, em geral, usamos a </a:t>
            </a:r>
            <a:r>
              <a:rPr lang="pt-BR" b="1" i="1" dirty="0">
                <a:solidFill>
                  <a:srgbClr val="00B050"/>
                </a:solidFill>
              </a:rPr>
              <a:t>curva do erro (i.e., EQM) em função das iterações</a:t>
            </a:r>
            <a:r>
              <a:rPr lang="pt-BR" dirty="0"/>
              <a:t> de treinamento para analisar o aprendizado de um modelo.</a:t>
            </a:r>
          </a:p>
          <a:p>
            <a:r>
              <a:rPr lang="pt-BR" dirty="0"/>
              <a:t>Vejamos alguns exemplos.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A05E0-AD99-1037-FAD5-43DCC4317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7" y="1938959"/>
            <a:ext cx="4332567" cy="43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821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759" y="1825624"/>
            <a:ext cx="720555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A figura ao lado mostra o </a:t>
            </a:r>
            <a:r>
              <a:rPr lang="pt-BR" b="1" i="1" dirty="0">
                <a:solidFill>
                  <a:srgbClr val="00B050"/>
                </a:solidFill>
              </a:rPr>
              <a:t>comportamento esperado</a:t>
            </a:r>
            <a:r>
              <a:rPr lang="pt-BR" dirty="0"/>
              <a:t> quando o </a:t>
            </a:r>
            <a:r>
              <a:rPr lang="pt-BR" b="1" i="1" dirty="0">
                <a:solidFill>
                  <a:srgbClr val="7030A0"/>
                </a:solidFill>
              </a:rPr>
              <a:t>passo</a:t>
            </a:r>
            <a:r>
              <a:rPr lang="pt-BR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tem o tamanho ideal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</a:t>
            </a:r>
            <a:r>
              <a:rPr lang="pt-BR" dirty="0"/>
              <a:t> nesse caso é </a:t>
            </a:r>
            <a:r>
              <a:rPr lang="pt-BR" b="1" i="1" dirty="0">
                <a:solidFill>
                  <a:srgbClr val="00B050"/>
                </a:solidFill>
              </a:rPr>
              <a:t>rápida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erro diminui rapidamente nas primeiras iterações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Conforme o treinamento continua,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se estabiliza e exibe uma redução suave </a:t>
            </a:r>
            <a:r>
              <a:rPr lang="pt-BR" b="0" i="0" dirty="0">
                <a:effectLst/>
              </a:rPr>
              <a:t>(i.e., mais lenta).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 é atingida quando o erro se torna praticamente constante</a:t>
            </a:r>
            <a:r>
              <a:rPr lang="pt-BR" dirty="0"/>
              <a:t> ao longo das iterações, indicando que os </a:t>
            </a:r>
            <a:r>
              <a:rPr lang="pt-BR" b="1" i="1" dirty="0">
                <a:solidFill>
                  <a:srgbClr val="00B050"/>
                </a:solidFill>
              </a:rPr>
              <a:t>pesos não são mais atualizados</a:t>
            </a:r>
            <a:r>
              <a:rPr lang="pt-BR" dirty="0"/>
              <a:t>, pois o mínimo da função foi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o treinamento pode ser encerrado quando o erro entre duas iterações consecutivas for menor do que um valor pré-definido (e.g., 1e-5).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293314C-8B6C-5D4F-5881-F593688456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9" r="5247" b="4211"/>
          <a:stretch/>
        </p:blipFill>
        <p:spPr>
          <a:xfrm>
            <a:off x="1126965" y="1825624"/>
            <a:ext cx="3016083" cy="2318698"/>
          </a:xfrm>
          <a:prstGeom prst="rect">
            <a:avLst/>
          </a:prstGeom>
        </p:spPr>
      </p:pic>
      <p:pic>
        <p:nvPicPr>
          <p:cNvPr id="10" name="Picture 45">
            <a:extLst>
              <a:ext uri="{FF2B5EF4-FFF2-40B4-BE49-F238E27FC236}">
                <a16:creationId xmlns:a16="http://schemas.microsoft.com/office/drawing/2014/main" id="{66C6627B-DA15-B458-83D7-BE121EE161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76" r="2118" b="6675"/>
          <a:stretch/>
        </p:blipFill>
        <p:spPr>
          <a:xfrm>
            <a:off x="1126964" y="4793527"/>
            <a:ext cx="3016082" cy="1794045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4EB6EC90-C16B-1D01-E136-93055342AD29}"/>
              </a:ext>
            </a:extLst>
          </p:cNvPr>
          <p:cNvSpPr/>
          <p:nvPr/>
        </p:nvSpPr>
        <p:spPr>
          <a:xfrm rot="5400000">
            <a:off x="2379334" y="425837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605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 de aprendizagem é muito pequena</a:t>
            </a:r>
            <a:r>
              <a:rPr lang="pt-BR" dirty="0"/>
              <a:t>.</a:t>
            </a:r>
          </a:p>
          <a:p>
            <a:r>
              <a:rPr lang="pt-BR" dirty="0"/>
              <a:t>Nesse caso, a </a:t>
            </a:r>
            <a:r>
              <a:rPr lang="pt-BR" b="1" i="1" dirty="0">
                <a:solidFill>
                  <a:srgbClr val="00B050"/>
                </a:solidFill>
              </a:rPr>
              <a:t>convergência é muito lenta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Após várias iterações </a:t>
            </a:r>
            <a:r>
              <a:rPr lang="pt-BR" dirty="0"/>
              <a:t>de treinamento, o </a:t>
            </a:r>
            <a:r>
              <a:rPr lang="pt-BR" b="1" i="1" dirty="0">
                <a:solidFill>
                  <a:srgbClr val="00B050"/>
                </a:solidFill>
              </a:rPr>
              <a:t>erro ainda não se estabilizou</a:t>
            </a:r>
            <a:r>
              <a:rPr lang="pt-BR" dirty="0"/>
              <a:t>.</a:t>
            </a:r>
          </a:p>
          <a:p>
            <a:r>
              <a:rPr lang="pt-BR" dirty="0"/>
              <a:t>Levaria </a:t>
            </a:r>
            <a:r>
              <a:rPr lang="pt-BR" b="1" i="1" dirty="0">
                <a:solidFill>
                  <a:srgbClr val="00B050"/>
                </a:solidFill>
              </a:rPr>
              <a:t>muito tempo </a:t>
            </a:r>
            <a:r>
              <a:rPr lang="pt-BR" dirty="0"/>
              <a:t>para que o modelo atingisse o </a:t>
            </a:r>
            <a:r>
              <a:rPr lang="pt-BR" b="1" i="1" dirty="0">
                <a:solidFill>
                  <a:srgbClr val="00B050"/>
                </a:solidFill>
              </a:rPr>
              <a:t>ponto de mínimo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4D98EC-18C1-B474-4AD7-1E84455AA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690688"/>
            <a:ext cx="3313792" cy="2682314"/>
          </a:xfrm>
          <a:prstGeom prst="rect">
            <a:avLst/>
          </a:prstGeom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C7BFA423-C107-AD7A-127F-D33717E52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447" b="7099"/>
          <a:stretch/>
        </p:blipFill>
        <p:spPr>
          <a:xfrm>
            <a:off x="1331495" y="4788569"/>
            <a:ext cx="3313799" cy="1937087"/>
          </a:xfrm>
          <a:prstGeom prst="rect">
            <a:avLst/>
          </a:prstGeom>
        </p:spPr>
      </p:pic>
      <p:sp>
        <p:nvSpPr>
          <p:cNvPr id="10" name="Right Arrow 50">
            <a:extLst>
              <a:ext uri="{FF2B5EF4-FFF2-40B4-BE49-F238E27FC236}">
                <a16:creationId xmlns:a16="http://schemas.microsoft.com/office/drawing/2014/main" id="{BA2D2D3D-32FC-6420-C5CF-5B8A6005C115}"/>
              </a:ext>
            </a:extLst>
          </p:cNvPr>
          <p:cNvSpPr/>
          <p:nvPr/>
        </p:nvSpPr>
        <p:spPr>
          <a:xfrm rot="5400000">
            <a:off x="2732720" y="4322347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9161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 de aprendizagem é muito grande</a:t>
            </a:r>
            <a:r>
              <a:rPr lang="pt-BR" dirty="0"/>
              <a:t>.</a:t>
            </a:r>
          </a:p>
          <a:p>
            <a:r>
              <a:rPr lang="pt-BR" dirty="0"/>
              <a:t>Nesse caso, ocorre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00B050"/>
                </a:solidFill>
              </a:rPr>
              <a:t>erro aumenta mais e mais ao longo do treinamento</a:t>
            </a:r>
            <a:r>
              <a:rPr lang="pt-BR" dirty="0"/>
              <a:t>, indicando que o algoritmo está se </a:t>
            </a:r>
            <a:r>
              <a:rPr lang="pt-BR" b="1" i="1" dirty="0">
                <a:solidFill>
                  <a:srgbClr val="00B050"/>
                </a:solidFill>
              </a:rPr>
              <a:t>distanciando do ponto de mínimo</a:t>
            </a:r>
            <a:r>
              <a:rPr lang="pt-BR" dirty="0"/>
              <a:t>.</a:t>
            </a:r>
          </a:p>
          <a:p>
            <a:r>
              <a:rPr lang="pt-BR" dirty="0"/>
              <a:t>Se o treinamento continuar, os gradientes e pesos podem se tornar tão grandes que ocorre o </a:t>
            </a:r>
            <a:r>
              <a:rPr lang="pt-BR" b="1" i="1" dirty="0">
                <a:solidFill>
                  <a:srgbClr val="00B050"/>
                </a:solidFill>
              </a:rPr>
              <a:t>estouro da representação numérica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FC005A-1D53-9B54-E0D7-5694609ACA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99" y="1690688"/>
            <a:ext cx="3269165" cy="2604586"/>
          </a:xfrm>
          <a:prstGeom prst="rect">
            <a:avLst/>
          </a:prstGeom>
        </p:spPr>
      </p:pic>
      <p:pic>
        <p:nvPicPr>
          <p:cNvPr id="6" name="Picture 47">
            <a:extLst>
              <a:ext uri="{FF2B5EF4-FFF2-40B4-BE49-F238E27FC236}">
                <a16:creationId xmlns:a16="http://schemas.microsoft.com/office/drawing/2014/main" id="{1B70BF55-F459-13C2-D9A0-CD0EAFBFA2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118" b="2470"/>
          <a:stretch/>
        </p:blipFill>
        <p:spPr>
          <a:xfrm>
            <a:off x="1295399" y="4632159"/>
            <a:ext cx="3267945" cy="2100950"/>
          </a:xfrm>
          <a:prstGeom prst="rect">
            <a:avLst/>
          </a:prstGeom>
        </p:spPr>
      </p:pic>
      <p:sp>
        <p:nvSpPr>
          <p:cNvPr id="8" name="Right Arrow 50">
            <a:extLst>
              <a:ext uri="{FF2B5EF4-FFF2-40B4-BE49-F238E27FC236}">
                <a16:creationId xmlns:a16="http://schemas.microsoft.com/office/drawing/2014/main" id="{4CE3CAAF-5324-581B-5F00-C22061374152}"/>
              </a:ext>
            </a:extLst>
          </p:cNvPr>
          <p:cNvSpPr/>
          <p:nvPr/>
        </p:nvSpPr>
        <p:spPr>
          <a:xfrm rot="5400000">
            <a:off x="2673700" y="4253165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14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7B9D9473-4E8E-377D-B1BB-4267C247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5316" y="1825624"/>
            <a:ext cx="6196264" cy="5032375"/>
          </a:xfrm>
        </p:spPr>
        <p:txBody>
          <a:bodyPr/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</a:t>
            </a:r>
            <a:r>
              <a:rPr lang="pt-BR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de aprendizagem é grande, mas não tão grande assim</a:t>
            </a:r>
            <a:r>
              <a:rPr lang="pt-BR" dirty="0"/>
              <a:t>.</a:t>
            </a:r>
          </a:p>
          <a:p>
            <a:r>
              <a:rPr lang="pt-BR" dirty="0"/>
              <a:t>Nesse caso, o </a:t>
            </a:r>
            <a:r>
              <a:rPr lang="pt-BR" b="1" i="1" dirty="0">
                <a:solidFill>
                  <a:srgbClr val="00B050"/>
                </a:solidFill>
              </a:rPr>
              <a:t>erro oscila</a:t>
            </a:r>
            <a:r>
              <a:rPr lang="pt-BR" dirty="0"/>
              <a:t>, aumentando e diminuindo.</a:t>
            </a:r>
          </a:p>
          <a:p>
            <a:r>
              <a:rPr lang="pt-BR" dirty="0"/>
              <a:t>Por ventura, a </a:t>
            </a:r>
            <a:r>
              <a:rPr lang="pt-BR" b="1" i="1" dirty="0">
                <a:solidFill>
                  <a:srgbClr val="00B050"/>
                </a:solidFill>
              </a:rPr>
              <a:t>convergência pode ocorrer após algumas iterações</a:t>
            </a:r>
            <a:r>
              <a:rPr lang="pt-BR" dirty="0"/>
              <a:t>.</a:t>
            </a:r>
          </a:p>
        </p:txBody>
      </p:sp>
      <p:pic>
        <p:nvPicPr>
          <p:cNvPr id="10" name="Picture 48">
            <a:extLst>
              <a:ext uri="{FF2B5EF4-FFF2-40B4-BE49-F238E27FC236}">
                <a16:creationId xmlns:a16="http://schemas.microsoft.com/office/drawing/2014/main" id="{D5B8F54A-8717-FA32-510A-0E14A5CF87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" t="48707" r="2776" b="2150"/>
          <a:stretch/>
        </p:blipFill>
        <p:spPr>
          <a:xfrm>
            <a:off x="1594185" y="4653334"/>
            <a:ext cx="3281108" cy="2120444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05CC92E3-E5FB-1345-F6D4-88C0AEB16050}"/>
              </a:ext>
            </a:extLst>
          </p:cNvPr>
          <p:cNvSpPr/>
          <p:nvPr/>
        </p:nvSpPr>
        <p:spPr>
          <a:xfrm rot="5400000">
            <a:off x="2979068" y="418711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6A984-4C12-5C6B-CD25-7DEBA9A87D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85" y="1833803"/>
            <a:ext cx="3585591" cy="23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22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7096" y="1825624"/>
                <a:ext cx="737490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versões estocásticas do GD, i.e., SGD e mini-</a:t>
                </a:r>
                <a:r>
                  <a:rPr lang="pt-BR" i="1" dirty="0"/>
                  <a:t>batch</a:t>
                </a:r>
                <a:r>
                  <a:rPr lang="pt-BR" dirty="0"/>
                  <a:t> (principalmente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é pequeno), são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rápidas e menos complexas</a:t>
                </a:r>
                <a:r>
                  <a:rPr lang="pt-BR" dirty="0"/>
                  <a:t> computacionalmente que o GDB. </a:t>
                </a:r>
              </a:p>
              <a:p>
                <a:r>
                  <a:rPr lang="pt-BR" dirty="0"/>
                  <a:t>Porém, elas têm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caminho irregular para o ponto de mínimo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Devido à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estimativa</a:t>
                </a:r>
                <a:r>
                  <a:rPr lang="pt-BR" dirty="0"/>
                  <a:t> do vetor gradiente.</a:t>
                </a:r>
              </a:p>
              <a:p>
                <a:r>
                  <a:rPr lang="pt-BR" dirty="0"/>
                  <a:t>Além disso, quando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amostras</a:t>
                </a:r>
                <a:r>
                  <a:rPr lang="pt-BR" dirty="0"/>
                  <a:t> do conjunto de treinamento estão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contaminadas com ruído</a:t>
                </a:r>
                <a:r>
                  <a:rPr lang="pt-BR" dirty="0"/>
                  <a:t>, elas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podem não convergir </a:t>
                </a:r>
                <a:r>
                  <a:rPr lang="pt-BR" dirty="0"/>
                  <a:t>para o mínimo (i.e., ficam oscilando ao redor dele).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7096" y="1825624"/>
                <a:ext cx="7374903" cy="5032375"/>
              </a:xfrm>
              <a:blipFill>
                <a:blip r:embed="rId2"/>
                <a:stretch>
                  <a:fillRect l="-1488" t="-1937" r="-2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1999DB96-4912-8E62-FC86-88BC7EE4F2D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0EFF700-9F19-94D4-EF85-7E68B1E612EC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384099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EC42-2ACC-2FC6-E985-3086CBDF7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511E-2ADF-BE92-63B5-8C3324D0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38911-187A-BB31-817A-F09DF8DE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8306" y="1825624"/>
            <a:ext cx="7723694" cy="5032375"/>
          </a:xfrm>
        </p:spPr>
        <p:txBody>
          <a:bodyPr>
            <a:normAutofit/>
          </a:bodyPr>
          <a:lstStyle/>
          <a:p>
            <a:r>
              <a:rPr lang="pt-BR" dirty="0"/>
              <a:t>Esses problemas </a:t>
            </a:r>
            <a:r>
              <a:rPr lang="pt-BR" b="1" i="1" dirty="0">
                <a:solidFill>
                  <a:srgbClr val="00B050"/>
                </a:solidFill>
              </a:rPr>
              <a:t>impactam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desempenho do modelo </a:t>
            </a:r>
            <a:r>
              <a:rPr lang="pt-BR" dirty="0"/>
              <a:t>e deixam o </a:t>
            </a:r>
            <a:r>
              <a:rPr lang="pt-BR" b="1" i="1" dirty="0">
                <a:solidFill>
                  <a:srgbClr val="00B050"/>
                </a:solidFill>
              </a:rPr>
              <a:t>treinamento lento </a:t>
            </a:r>
            <a:r>
              <a:rPr lang="pt-BR" dirty="0"/>
              <a:t>e, possivelmente, </a:t>
            </a:r>
            <a:r>
              <a:rPr lang="pt-BR" b="1" i="1" dirty="0">
                <a:solidFill>
                  <a:srgbClr val="00B050"/>
                </a:solidFill>
              </a:rPr>
              <a:t>instável</a:t>
            </a:r>
            <a:r>
              <a:rPr lang="pt-BR" dirty="0"/>
              <a:t>.</a:t>
            </a:r>
          </a:p>
          <a:p>
            <a:r>
              <a:rPr lang="pt-BR" dirty="0"/>
              <a:t>Entretanto, existem </a:t>
            </a:r>
            <a:r>
              <a:rPr lang="pt-BR" b="1" i="1" dirty="0">
                <a:solidFill>
                  <a:srgbClr val="00B050"/>
                </a:solidFill>
              </a:rPr>
              <a:t>técnicas para minimizar </a:t>
            </a:r>
            <a:r>
              <a:rPr lang="pt-BR" dirty="0"/>
              <a:t>esses problemas, deixando essas versões do GD </a:t>
            </a:r>
            <a:r>
              <a:rPr lang="pt-BR" b="1" i="1" dirty="0">
                <a:solidFill>
                  <a:srgbClr val="00B050"/>
                </a:solidFill>
              </a:rPr>
              <a:t>mais comportadas</a:t>
            </a:r>
            <a:r>
              <a:rPr lang="pt-BR" dirty="0"/>
              <a:t>.</a:t>
            </a:r>
          </a:p>
          <a:p>
            <a:r>
              <a:rPr lang="pt-BR" dirty="0"/>
              <a:t>As mais conhecidas envolvem o </a:t>
            </a:r>
            <a:r>
              <a:rPr lang="pt-BR" b="1" i="1" dirty="0">
                <a:solidFill>
                  <a:srgbClr val="7030A0"/>
                </a:solidFill>
              </a:rPr>
              <a:t>ajuste da taxa de aprendizagem </a:t>
            </a:r>
            <a:r>
              <a:rPr lang="pt-BR" dirty="0"/>
              <a:t>e/ou do </a:t>
            </a:r>
            <a:r>
              <a:rPr lang="pt-BR" b="1" i="1" dirty="0">
                <a:solidFill>
                  <a:srgbClr val="7030A0"/>
                </a:solidFill>
              </a:rPr>
              <a:t>termo de atualização dos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do passo</a:t>
            </a:r>
            <a:r>
              <a:rPr lang="pt-BR" dirty="0"/>
              <a:t>: força a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Ajuste adaptativo</a:t>
            </a:r>
            <a:r>
              <a:rPr lang="pt-BR" dirty="0"/>
              <a:t>: usa taxas independentes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Termo momentum</a:t>
            </a:r>
            <a:r>
              <a:rPr lang="pt-BR" dirty="0"/>
              <a:t>: redução da variação de direção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D64F838-936F-355B-0DA2-B5F57578C5DE}"/>
              </a:ext>
            </a:extLst>
          </p:cNvPr>
          <p:cNvGrpSpPr/>
          <p:nvPr/>
        </p:nvGrpSpPr>
        <p:grpSpPr>
          <a:xfrm>
            <a:off x="649663" y="2443375"/>
            <a:ext cx="3456831" cy="3395438"/>
            <a:chOff x="338579" y="2405668"/>
            <a:chExt cx="3456831" cy="339543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51F0C5-9F3A-DC7B-9FF5-1DD6FD4844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13" r="9292" b="2280"/>
            <a:stretch/>
          </p:blipFill>
          <p:spPr>
            <a:xfrm>
              <a:off x="338579" y="2405668"/>
              <a:ext cx="3296575" cy="3118439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B3814E3E-CFEA-A936-CCE6-0F39D8FC7B56}"/>
                </a:ext>
              </a:extLst>
            </p:cNvPr>
            <p:cNvSpPr txBox="1"/>
            <p:nvPr/>
          </p:nvSpPr>
          <p:spPr>
            <a:xfrm>
              <a:off x="748196" y="5524107"/>
              <a:ext cx="30472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/>
                <a:t>Gradiente descendente estocástico (SGD)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3145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>
                    <a:solidFill>
                      <a:srgbClr val="7030A0"/>
                    </a:solidFill>
                  </a:rPr>
                  <a:t>Redução gradual </a:t>
                </a:r>
                <a:r>
                  <a:rPr lang="pt-BR" dirty="0"/>
                  <a:t>(ou decaimento) da taxa de aprendizagem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diminui gradualmente a taxa de aprendizagem</a:t>
                </a:r>
                <a:r>
                  <a:rPr lang="pt-BR" dirty="0"/>
                  <a:t> ao longo do treinamento.</a:t>
                </a:r>
                <a:endParaRPr lang="pt-BR" b="1" dirty="0"/>
              </a:p>
              <a:p>
                <a:r>
                  <a:rPr lang="pt-BR" b="0" i="0" dirty="0">
                    <a:effectLst/>
                  </a:rPr>
                  <a:t>A redução da taxa de aprendizagem faz com que as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atualizações dos pesos se tornem cada vez menores</a:t>
                </a:r>
                <a:r>
                  <a:rPr lang="pt-BR" b="0" i="0" dirty="0">
                    <a:effectLst/>
                  </a:rPr>
                  <a:t> à medida que o treinamento progride, o que pode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melhorar (ou forçar) a convergência</a:t>
                </a:r>
                <a:r>
                  <a:rPr lang="pt-BR" b="0" i="0" dirty="0">
                    <a:effectLst/>
                  </a:rPr>
                  <a:t>.</a:t>
                </a:r>
              </a:p>
              <a:p>
                <a:pPr marL="0" indent="0">
                  <a:buNone/>
                </a:pPr>
                <a:endParaRPr lang="pt-BR" sz="800" b="0" i="0" dirty="0">
                  <a:effectLst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número da iteração de atualização atual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é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 mais simples</a:t>
                </a:r>
                <a:r>
                  <a:rPr lang="pt-BR" dirty="0"/>
                  <a:t> das que veremos,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mas precisamos encontrar os hiperparâmetros</a:t>
                </a:r>
                <a:r>
                  <a:rPr lang="pt-BR" dirty="0"/>
                  <a:t> que dão a taxa ideal de redução do passo de aprendizagem de forma que que o algoritmo convirja.</a:t>
                </a:r>
              </a:p>
              <a:p>
                <a:r>
                  <a:rPr lang="pt-BR" dirty="0"/>
                  <a:t>Veremos em breve um exemplo de como ela funciona. 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2"/>
                <a:stretch>
                  <a:fillRect l="-1145" t="-2663" r="-1091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F3C49CDB-DEA1-DD50-127B-71A2D929D6C4}"/>
              </a:ext>
            </a:extLst>
          </p:cNvPr>
          <p:cNvSpPr/>
          <p:nvPr/>
        </p:nvSpPr>
        <p:spPr>
          <a:xfrm>
            <a:off x="6689098" y="3894953"/>
            <a:ext cx="642266" cy="442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5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B853DE-E713-4707-319D-273A1EFA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56769" cy="1325563"/>
          </a:xfrm>
        </p:spPr>
        <p:txBody>
          <a:bodyPr/>
          <a:lstStyle/>
          <a:p>
            <a:r>
              <a:rPr lang="pt-BR" dirty="0"/>
              <a:t>Técnicas mais comuns para a redução do passo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46964" cy="5032375"/>
              </a:xfrm>
            </p:spPr>
            <p:txBody>
              <a:bodyPr/>
              <a:lstStyle/>
              <a:p>
                <a:r>
                  <a:rPr lang="pt-BR" dirty="0"/>
                  <a:t>As três técnicas mais comuns para a </a:t>
                </a:r>
                <a:r>
                  <a:rPr lang="pt-BR" b="1" i="1" dirty="0"/>
                  <a:t>redução gradual</a:t>
                </a:r>
                <a:r>
                  <a:rPr lang="pt-BR" dirty="0"/>
                  <a:t> da taxa de aprendizagem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por etapas ou degraus</a:t>
                </a:r>
                <a:r>
                  <a:rPr lang="pt-BR" dirty="0"/>
                  <a:t>: reduz a taxa de aprendizagem inicial,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de um fator,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a cada número pré-definido de iterações,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. Um valor típico para reduzir a taxa de aprendizado é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a 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de iterações.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exponencial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𝑘𝑖</m:t>
                        </m:r>
                      </m:sup>
                    </m:sSup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a taxa de aprendizagem inicial, a taxa de decrescimento e o número da iteração de atualização atual,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temporal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𝑘𝑖</m:t>
                            </m:r>
                          </m:e>
                        </m:d>
                      </m:den>
                    </m:f>
                  </m:oMath>
                </a14:m>
                <a:r>
                  <a:rPr lang="pt-BR" dirty="0"/>
                  <a:t>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têm o mesmo significado que no decaimento exponencial.</a:t>
                </a:r>
              </a:p>
              <a:p>
                <a:r>
                  <a:rPr lang="pt-BR" dirty="0"/>
                  <a:t>Entretanto, percebam que ainda temos que encontrar os valores ideais para os </a:t>
                </a:r>
                <a:r>
                  <a:rPr lang="pt-BR" b="1" i="1" dirty="0"/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46964" cy="5032375"/>
              </a:xfrm>
              <a:blipFill>
                <a:blip r:embed="rId2"/>
                <a:stretch>
                  <a:fillRect l="-921" t="-1937" r="-1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70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momentum </a:t>
                </a:r>
                <a:r>
                  <a:rPr lang="pt-BR" dirty="0"/>
                  <a:t>adiciona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do histórico de estimativas do vetor gradientes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menos ruidosas</a:t>
                </a:r>
                <a:r>
                  <a:rPr lang="pt-BR" dirty="0"/>
                  <a:t>, e,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acelerando a convergência </a:t>
                </a:r>
                <a:r>
                  <a:rPr lang="pt-BR" dirty="0"/>
                  <a:t>do algoritmo.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 para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iteração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, chamado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, determina a quantidade de estimativas anteriores que são consideradas no cálculo da média.</a:t>
                </a:r>
              </a:p>
              <a:p>
                <a:r>
                  <a:rPr lang="pt-BR" dirty="0"/>
                  <a:t>Em geral, a taxa de aprendizagem é constante, mas pode decair também.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  <a:blipFill>
                <a:blip r:embed="rId3"/>
                <a:stretch>
                  <a:fillRect l="-1080" t="-2663" r="-432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55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DAB7-81B5-3D1B-C4D3-AF73617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Variação adaptativa dos passos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F5DF8-C455-D55B-1076-4FD7884AA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Estas técnicas ajustam </a:t>
            </a:r>
            <a:r>
              <a:rPr lang="pt-BR" b="1" i="1" dirty="0">
                <a:solidFill>
                  <a:schemeClr val="accent2"/>
                </a:solidFill>
              </a:rPr>
              <a:t>automaticamente</a:t>
            </a:r>
            <a:r>
              <a:rPr lang="pt-BR" dirty="0"/>
              <a:t> a </a:t>
            </a:r>
            <a:r>
              <a:rPr lang="pt-BR" b="1" i="1" dirty="0">
                <a:solidFill>
                  <a:srgbClr val="00B050"/>
                </a:solidFill>
              </a:rPr>
              <a:t>taxa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de aprendizado </a:t>
            </a:r>
            <a:r>
              <a:rPr lang="pt-BR" b="1" i="1" dirty="0">
                <a:solidFill>
                  <a:schemeClr val="accent2"/>
                </a:solidFill>
              </a:rPr>
              <a:t>para cada peso</a:t>
            </a:r>
            <a:r>
              <a:rPr lang="pt-BR" dirty="0"/>
              <a:t> ao longo do treinamento, em vez de usar um único valor fixo.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peso do modelo tem sua própria taxa de aprendizagem.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taxa é adaptada com base no histórico dos gradientes.</a:t>
            </a:r>
          </a:p>
          <a:p>
            <a:r>
              <a:rPr lang="pt-BR" dirty="0"/>
              <a:t>As técnicas mais conhecidas são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 e Adam.</a:t>
            </a:r>
            <a:r>
              <a:rPr lang="pt-BR" b="1" dirty="0"/>
              <a:t> </a:t>
            </a:r>
          </a:p>
          <a:p>
            <a:r>
              <a:rPr lang="pt-BR" b="1" dirty="0" err="1"/>
              <a:t>AdaGrad</a:t>
            </a:r>
            <a:r>
              <a:rPr lang="pt-BR" dirty="0"/>
              <a:t> reduz a taxa usando o acúmulo de gradientes anteriores, mas sofre com a redução excessiva do passo ao longo do tempo.</a:t>
            </a:r>
          </a:p>
          <a:p>
            <a:r>
              <a:rPr lang="pt-BR" b="1" dirty="0" err="1"/>
              <a:t>RMSProp</a:t>
            </a:r>
            <a:r>
              <a:rPr lang="pt-BR" dirty="0"/>
              <a:t> usa uma média móvel dos gradientes anteriores para evitar que a passo caia demais.</a:t>
            </a:r>
          </a:p>
          <a:p>
            <a:r>
              <a:rPr lang="pt-BR" b="1" dirty="0"/>
              <a:t>Adam</a:t>
            </a:r>
            <a:r>
              <a:rPr lang="pt-BR" dirty="0"/>
              <a:t> combina </a:t>
            </a:r>
            <a:r>
              <a:rPr lang="pt-BR" dirty="0" err="1"/>
              <a:t>RMSProp</a:t>
            </a:r>
            <a:r>
              <a:rPr lang="pt-BR" dirty="0"/>
              <a:t> com o termo momento (média dos gradientes).</a:t>
            </a:r>
          </a:p>
          <a:p>
            <a:r>
              <a:rPr lang="pt-BR" dirty="0"/>
              <a:t>Em geral, </a:t>
            </a:r>
            <a:r>
              <a:rPr lang="pt-BR" b="1" i="1" dirty="0">
                <a:solidFill>
                  <a:srgbClr val="00B050"/>
                </a:solidFill>
              </a:rPr>
              <a:t>não precisam de ajuste de nenhum </a:t>
            </a:r>
            <a:r>
              <a:rPr lang="pt-BR" b="1" i="1" dirty="0" err="1">
                <a:solidFill>
                  <a:srgbClr val="00B050"/>
                </a:solidFill>
              </a:rPr>
              <a:t>hiperparâmetro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030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8477" y="1825624"/>
            <a:ext cx="4104319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dirty="0"/>
              <a:t>Mesmo com </a:t>
            </a:r>
            <a:r>
              <a:rPr lang="pt-BR" sz="2800" b="1" i="1" dirty="0"/>
              <a:t>decaimento gradual</a:t>
            </a:r>
            <a:r>
              <a:rPr lang="pt-BR" sz="2800" dirty="0"/>
              <a:t>, o caminho para o ponto de mínimo não é regular.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Ele a</a:t>
            </a:r>
            <a:r>
              <a:rPr lang="pt-BR" sz="2800" dirty="0"/>
              <a:t>presenta </a:t>
            </a:r>
            <a:r>
              <a:rPr lang="pt-BR" sz="2800" b="1" i="1" dirty="0"/>
              <a:t>mudanças de direção</a:t>
            </a:r>
            <a:r>
              <a:rPr lang="pt-BR" sz="2800" dirty="0"/>
              <a:t> ao longo do caminho.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b="1" i="1" dirty="0">
                <a:solidFill>
                  <a:schemeClr val="accent2"/>
                </a:solidFill>
              </a:rPr>
              <a:t>A taxa não influencia na direção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apenas no tamanho</a:t>
            </a:r>
            <a:r>
              <a:rPr lang="pt-BR" dirty="0"/>
              <a:t> do deslocamento (i.e., do passo). </a:t>
            </a:r>
            <a:endParaRPr lang="pt-BR" sz="2800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442B2E9-3D88-DFD3-E99D-F5C7DD986DCA}"/>
              </a:ext>
            </a:extLst>
          </p:cNvPr>
          <p:cNvSpPr txBox="1"/>
          <p:nvPr/>
        </p:nvSpPr>
        <p:spPr>
          <a:xfrm>
            <a:off x="9341636" y="6597096"/>
            <a:ext cx="28990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8"/>
              </a:rPr>
              <a:t>Exemplo: </a:t>
            </a:r>
            <a:r>
              <a:rPr lang="pt-BR" sz="1200" dirty="0" err="1">
                <a:hlinkClick r:id="rId8"/>
              </a:rPr>
              <a:t>gde_com_redução_gradual.ipynb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10879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Porém, a </a:t>
                </a:r>
                <a:r>
                  <a:rPr lang="pt-BR" sz="2800" b="1" i="1" dirty="0"/>
                  <a:t>oscilação em torno do mínimo é bastante reduzida </a:t>
                </a:r>
                <a:r>
                  <a:rPr lang="pt-BR" sz="2800" dirty="0"/>
                  <a:t>devido à </a:t>
                </a:r>
                <a:r>
                  <a:rPr lang="pt-BR" sz="2800" b="1" i="1" dirty="0"/>
                  <a:t>diminuição gradual </a:t>
                </a:r>
                <a:r>
                  <a:rPr lang="pt-BR" sz="2800" dirty="0"/>
                  <a:t>da taxa de aprendizagem,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Conseguimos observar o efeito da redução de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 nas figuras que mostram os elementos do vetor gradiente e de atualização.</a:t>
                </a:r>
              </a:p>
            </p:txBody>
          </p:sp>
        </mc:Choice>
        <mc:Fallback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  <a:blipFill>
                <a:blip r:embed="rId8"/>
                <a:stretch>
                  <a:fillRect l="-2671" t="-1937" r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1926192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b="1" dirty="0"/>
              <a:t>Conclusão</a:t>
            </a:r>
            <a:r>
              <a:rPr lang="pt-BR" sz="2800" dirty="0"/>
              <a:t>: uma taxa de aprendizagem que tem seu valor reduzido ao longo das iterações de treinamento permite que que </a:t>
            </a:r>
            <a:r>
              <a:rPr lang="pt-BR" sz="2800" b="1" i="1" dirty="0">
                <a:solidFill>
                  <a:schemeClr val="accent1"/>
                </a:solidFill>
              </a:rPr>
              <a:t>versões estocásticas do gradiente descendente se estabilizem </a:t>
            </a:r>
            <a:r>
              <a:rPr lang="pt-BR" sz="2800" dirty="0"/>
              <a:t>próximo ao ponto de mínimo global.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3629485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5254" cy="5032376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III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#4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</a:t>
            </a:r>
            <a:r>
              <a:rPr lang="pt-BR" dirty="0" err="1"/>
              <a:t>Recordings</a:t>
            </a:r>
            <a:r>
              <a:rPr lang="pt-BR" dirty="0"/>
              <a:t> -&gt; Laboratório #4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9093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Nenhuma descrição de foto disponív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6" y="201872"/>
            <a:ext cx="2856519" cy="285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Eric Jang: Machine Learning Mem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407" y="100064"/>
            <a:ext cx="3676745" cy="31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chine learning meme | Programmer humor, Silly memes, Original mem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501" y="402472"/>
            <a:ext cx="2780309" cy="313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rom Hello world to directly Machine Learning? : ProgrammerHumo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77" y="3274522"/>
            <a:ext cx="2560736" cy="338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25+ Best Machine Learning Memes | Know Memes, Imgur Memes, Artificial  Intelligence Meme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70" y="3792114"/>
            <a:ext cx="3377487" cy="2713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The Role of Mathematics in Machine Learning | by Balaka Biswas | Level Up  Codi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152" y="3538660"/>
            <a:ext cx="3329401" cy="322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569" y="2494549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1748780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592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/>
          <p:cNvGrpSpPr/>
          <p:nvPr/>
        </p:nvGrpSpPr>
        <p:grpSpPr>
          <a:xfrm>
            <a:off x="1226234" y="657185"/>
            <a:ext cx="3578724" cy="4587393"/>
            <a:chOff x="1226234" y="657185"/>
            <a:chExt cx="3578724" cy="4587393"/>
          </a:xfrm>
        </p:grpSpPr>
        <p:grpSp>
          <p:nvGrpSpPr>
            <p:cNvPr id="25" name="Group 24"/>
            <p:cNvGrpSpPr/>
            <p:nvPr/>
          </p:nvGrpSpPr>
          <p:grpSpPr>
            <a:xfrm rot="10800000">
              <a:off x="1569134" y="657185"/>
              <a:ext cx="2806700" cy="4067687"/>
              <a:chOff x="5943600" y="2032000"/>
              <a:chExt cx="2806700" cy="4067687"/>
            </a:xfrm>
          </p:grpSpPr>
          <p:sp>
            <p:nvSpPr>
              <p:cNvPr id="26" name="Oval 25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30" name="Flowchart: Connector 29"/>
            <p:cNvSpPr/>
            <p:nvPr/>
          </p:nvSpPr>
          <p:spPr>
            <a:xfrm>
              <a:off x="2915334" y="4682376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>
              <a:off x="1232584" y="293725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1226234" y="4738488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/>
            <p:cNvCxnSpPr/>
            <p:nvPr/>
          </p:nvCxnSpPr>
          <p:spPr>
            <a:xfrm rot="5400000">
              <a:off x="1234573" y="4193493"/>
              <a:ext cx="108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/>
            <p:cNvSpPr/>
            <p:nvPr/>
          </p:nvSpPr>
          <p:spPr>
            <a:xfrm>
              <a:off x="1399362" y="4721358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37" name="Flowchart: Connector 36"/>
            <p:cNvSpPr/>
            <p:nvPr/>
          </p:nvSpPr>
          <p:spPr>
            <a:xfrm>
              <a:off x="2279398" y="4435292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Flowchart: Connector 44"/>
            <p:cNvSpPr/>
            <p:nvPr/>
          </p:nvSpPr>
          <p:spPr>
            <a:xfrm>
              <a:off x="4090837" y="370600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Flowchart: Connector 45"/>
            <p:cNvSpPr/>
            <p:nvPr/>
          </p:nvSpPr>
          <p:spPr>
            <a:xfrm>
              <a:off x="1736473" y="354822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3" name="Curved Connector 52"/>
            <p:cNvCxnSpPr>
              <a:stCxn id="46" idx="7"/>
              <a:endCxn id="37" idx="7"/>
            </p:cNvCxnSpPr>
            <p:nvPr/>
          </p:nvCxnSpPr>
          <p:spPr>
            <a:xfrm rot="16200000" flipH="1">
              <a:off x="1637571" y="3735162"/>
              <a:ext cx="887069" cy="542925"/>
            </a:xfrm>
            <a:prstGeom prst="curvedConnector3">
              <a:avLst>
                <a:gd name="adj1" fmla="val -2744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urved Connector 53"/>
            <p:cNvCxnSpPr>
              <a:stCxn id="37" idx="0"/>
            </p:cNvCxnSpPr>
            <p:nvPr/>
          </p:nvCxnSpPr>
          <p:spPr>
            <a:xfrm rot="5400000" flipH="1" flipV="1">
              <a:off x="2876235" y="3220688"/>
              <a:ext cx="660631" cy="176857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lowchart: Connector 54"/>
            <p:cNvSpPr/>
            <p:nvPr/>
          </p:nvSpPr>
          <p:spPr>
            <a:xfrm>
              <a:off x="3498051" y="449719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6" name="Curved Connector 55"/>
            <p:cNvCxnSpPr>
              <a:stCxn id="45" idx="2"/>
            </p:cNvCxnSpPr>
            <p:nvPr/>
          </p:nvCxnSpPr>
          <p:spPr>
            <a:xfrm rot="10800000" flipV="1">
              <a:off x="3540913" y="3756767"/>
              <a:ext cx="549924" cy="72680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Flowchart: Connector 59"/>
            <p:cNvSpPr/>
            <p:nvPr/>
          </p:nvSpPr>
          <p:spPr>
            <a:xfrm>
              <a:off x="1849761" y="382072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61" name="Curved Connector 60"/>
            <p:cNvCxnSpPr>
              <a:stCxn id="55" idx="0"/>
            </p:cNvCxnSpPr>
            <p:nvPr/>
          </p:nvCxnSpPr>
          <p:spPr>
            <a:xfrm rot="16200000" flipV="1">
              <a:off x="2433788" y="3390064"/>
              <a:ext cx="625712" cy="158854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537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13689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cxnSp>
          <p:nvCxnSpPr>
            <p:cNvPr id="5" name="Straight Arrow Connector 4"/>
            <p:cNvCxnSpPr/>
            <p:nvPr/>
          </p:nvCxnSpPr>
          <p:spPr>
            <a:xfrm>
              <a:off x="6804722" y="3162300"/>
              <a:ext cx="358078" cy="97155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693861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antes do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644147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2" idx="0"/>
            </p:cNvCxnSpPr>
            <p:nvPr/>
          </p:nvCxnSpPr>
          <p:spPr>
            <a:xfrm flipV="1">
              <a:off x="69862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negativo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</a:t>
                  </a:r>
                  <a:r>
                    <a:rPr lang="nl-BE" sz="1400" dirty="0" err="1"/>
                    <a:t>aumenta</a:t>
                  </a:r>
                  <a:r>
                    <a:rPr lang="nl-BE" sz="1400" dirty="0"/>
                    <a:t>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670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após</a:t>
                  </a:r>
                  <a:r>
                    <a:rPr lang="en-US" sz="1400" b="1" dirty="0"/>
                    <a:t> 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882272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82054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positivo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diminiu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 flipH="1">
              <a:off x="9179906" y="3209455"/>
              <a:ext cx="396591" cy="907881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931986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</p:spTree>
    <p:extLst>
      <p:ext uri="{BB962C8B-B14F-4D97-AF65-F5344CB8AC3E}">
        <p14:creationId xmlns:p14="http://schemas.microsoft.com/office/powerpoint/2010/main" val="1130214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497840" y="1894739"/>
            <a:ext cx="3469041" cy="2223658"/>
            <a:chOff x="6426200" y="2839619"/>
            <a:chExt cx="3469041" cy="2223658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867643" y="4416946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24020" y="1913568"/>
            <a:ext cx="3469041" cy="2223658"/>
            <a:chOff x="4224020" y="1913568"/>
            <a:chExt cx="3469041" cy="2223658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665463" y="3490895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393632" y="1979992"/>
            <a:ext cx="3469041" cy="2223658"/>
            <a:chOff x="8393632" y="1979992"/>
            <a:chExt cx="3469041" cy="2223658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835075" y="3557319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0370" y="4542555"/>
            <a:ext cx="3469041" cy="2223658"/>
            <a:chOff x="4230370" y="4542555"/>
            <a:chExt cx="3469041" cy="222365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671813" y="6119882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2620ABF-E321-9ABC-ED6E-FB16A8A29981}"/>
              </a:ext>
            </a:extLst>
          </p:cNvPr>
          <p:cNvGrpSpPr/>
          <p:nvPr/>
        </p:nvGrpSpPr>
        <p:grpSpPr>
          <a:xfrm>
            <a:off x="8335688" y="4554187"/>
            <a:ext cx="3469041" cy="2223658"/>
            <a:chOff x="8335688" y="4554187"/>
            <a:chExt cx="3469041" cy="222365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1F07AD3-C43C-3EF3-C1A6-E7B81D86A383}"/>
                </a:ext>
              </a:extLst>
            </p:cNvPr>
            <p:cNvCxnSpPr/>
            <p:nvPr/>
          </p:nvCxnSpPr>
          <p:spPr>
            <a:xfrm>
              <a:off x="8342038" y="4639440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BC543EE-CF2A-8C15-6C3D-912147234AE0}"/>
                </a:ext>
              </a:extLst>
            </p:cNvPr>
            <p:cNvCxnSpPr/>
            <p:nvPr/>
          </p:nvCxnSpPr>
          <p:spPr>
            <a:xfrm flipH="1">
              <a:off x="8335688" y="6440677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/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FB7A30-F8C3-1274-E38B-5CA9B319A418}"/>
                </a:ext>
              </a:extLst>
            </p:cNvPr>
            <p:cNvSpPr/>
            <p:nvPr/>
          </p:nvSpPr>
          <p:spPr>
            <a:xfrm>
              <a:off x="10777131" y="6131514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4FAE4C-636D-E13D-07E0-532FEF9CBD06}"/>
                </a:ext>
              </a:extLst>
            </p:cNvPr>
            <p:cNvGrpSpPr/>
            <p:nvPr/>
          </p:nvGrpSpPr>
          <p:grpSpPr>
            <a:xfrm rot="1423444">
              <a:off x="8401580" y="5433605"/>
              <a:ext cx="2422570" cy="464820"/>
              <a:chOff x="4856408" y="5438056"/>
              <a:chExt cx="2422570" cy="464820"/>
            </a:xfrm>
          </p:grpSpPr>
          <p:sp>
            <p:nvSpPr>
              <p:cNvPr id="10" name="Freeform 26">
                <a:extLst>
                  <a:ext uri="{FF2B5EF4-FFF2-40B4-BE49-F238E27FC236}">
                    <a16:creationId xmlns:a16="http://schemas.microsoft.com/office/drawing/2014/main" id="{AE8EC5AB-93C0-B973-26F3-8DDD17A9B33B}"/>
                  </a:ext>
                </a:extLst>
              </p:cNvPr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" name="Freeform 27">
                <a:extLst>
                  <a:ext uri="{FF2B5EF4-FFF2-40B4-BE49-F238E27FC236}">
                    <a16:creationId xmlns:a16="http://schemas.microsoft.com/office/drawing/2014/main" id="{E928966C-A824-A2F4-887E-862DC688257A}"/>
                  </a:ext>
                </a:extLst>
              </p:cNvPr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Freeform 34">
                <a:extLst>
                  <a:ext uri="{FF2B5EF4-FFF2-40B4-BE49-F238E27FC236}">
                    <a16:creationId xmlns:a16="http://schemas.microsoft.com/office/drawing/2014/main" id="{D08047DA-2B02-297D-3278-FF44AE4F8AE3}"/>
                  </a:ext>
                </a:extLst>
              </p:cNvPr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Freeform 35">
                <a:extLst>
                  <a:ext uri="{FF2B5EF4-FFF2-40B4-BE49-F238E27FC236}">
                    <a16:creationId xmlns:a16="http://schemas.microsoft.com/office/drawing/2014/main" id="{FA856DD1-6465-F1A3-560E-43AFCAAF97A8}"/>
                  </a:ext>
                </a:extLst>
              </p:cNvPr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Freeform 37">
                <a:extLst>
                  <a:ext uri="{FF2B5EF4-FFF2-40B4-BE49-F238E27FC236}">
                    <a16:creationId xmlns:a16="http://schemas.microsoft.com/office/drawing/2014/main" id="{8998C0C6-0D11-1511-B6BF-56A141C484A7}"/>
                  </a:ext>
                </a:extLst>
              </p:cNvPr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Freeform 38">
                <a:extLst>
                  <a:ext uri="{FF2B5EF4-FFF2-40B4-BE49-F238E27FC236}">
                    <a16:creationId xmlns:a16="http://schemas.microsoft.com/office/drawing/2014/main" id="{2D32C797-DDEC-6196-C4B2-48A37B3F489E}"/>
                  </a:ext>
                </a:extLst>
              </p:cNvPr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66128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510540" y="739715"/>
            <a:ext cx="3197975" cy="2476760"/>
            <a:chOff x="6426200" y="2839619"/>
            <a:chExt cx="3197975" cy="2476760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409450" y="4731604"/>
              <a:ext cx="121472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36720" y="758544"/>
            <a:ext cx="3069922" cy="2495521"/>
            <a:chOff x="4224020" y="1913568"/>
            <a:chExt cx="3069922" cy="2495521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266344" y="3824314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406332" y="824968"/>
            <a:ext cx="3105799" cy="2479912"/>
            <a:chOff x="8393632" y="1979992"/>
            <a:chExt cx="3105799" cy="2479912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471833" y="3875129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6720" y="3937354"/>
            <a:ext cx="3002261" cy="2470028"/>
            <a:chOff x="4230370" y="4542555"/>
            <a:chExt cx="3002261" cy="247002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205033" y="6427808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7213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/>
          <p:cNvGrpSpPr/>
          <p:nvPr/>
        </p:nvGrpSpPr>
        <p:grpSpPr>
          <a:xfrm>
            <a:off x="6818898" y="2134388"/>
            <a:ext cx="3549478" cy="3157828"/>
            <a:chOff x="6818898" y="2134388"/>
            <a:chExt cx="3549478" cy="3157828"/>
          </a:xfrm>
        </p:grpSpPr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9" name="Straight Connector 118"/>
            <p:cNvCxnSpPr/>
            <p:nvPr/>
          </p:nvCxnSpPr>
          <p:spPr>
            <a:xfrm flipH="1">
              <a:off x="7936368" y="4340403"/>
              <a:ext cx="136931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flipH="1">
              <a:off x="8074119" y="4165165"/>
              <a:ext cx="153100" cy="17526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flipH="1">
              <a:off x="8216880" y="4030041"/>
              <a:ext cx="86539" cy="1506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flipH="1">
              <a:off x="8304826" y="3915692"/>
              <a:ext cx="65154" cy="11250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>
              <a:off x="8368145" y="3829031"/>
              <a:ext cx="65154" cy="921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5" name="Straight Connector 114"/>
            <p:cNvCxnSpPr/>
            <p:nvPr/>
          </p:nvCxnSpPr>
          <p:spPr>
            <a:xfrm flipH="1">
              <a:off x="7750018" y="4513680"/>
              <a:ext cx="193832" cy="18285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Multiply 131"/>
            <p:cNvSpPr>
              <a:spLocks noChangeAspect="1"/>
            </p:cNvSpPr>
            <p:nvPr/>
          </p:nvSpPr>
          <p:spPr>
            <a:xfrm>
              <a:off x="7907441" y="44699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91128" y="435855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4" name="Multiply 133"/>
            <p:cNvSpPr>
              <a:spLocks noChangeAspect="1"/>
            </p:cNvSpPr>
            <p:nvPr/>
          </p:nvSpPr>
          <p:spPr>
            <a:xfrm>
              <a:off x="8073299" y="425760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5" name="Multiply 134"/>
            <p:cNvSpPr>
              <a:spLocks noChangeAspect="1"/>
            </p:cNvSpPr>
            <p:nvPr/>
          </p:nvSpPr>
          <p:spPr>
            <a:xfrm>
              <a:off x="8300077" y="39203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75312" y="413656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5" name="Multiply 154"/>
            <p:cNvSpPr>
              <a:spLocks noChangeAspect="1"/>
            </p:cNvSpPr>
            <p:nvPr/>
          </p:nvSpPr>
          <p:spPr>
            <a:xfrm>
              <a:off x="8241507" y="401144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6" name="Group 165"/>
          <p:cNvGrpSpPr/>
          <p:nvPr/>
        </p:nvGrpSpPr>
        <p:grpSpPr>
          <a:xfrm>
            <a:off x="2817120" y="895312"/>
            <a:ext cx="3539783" cy="4892060"/>
            <a:chOff x="2817120" y="895312"/>
            <a:chExt cx="3539783" cy="4892060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3657598" y="1683325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4017598" y="2042031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4377598" y="2402031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4197598" y="2222031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3837598" y="1862031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3477598" y="1502031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>
              <a:off x="4253250" y="5216278"/>
              <a:ext cx="386493" cy="15378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Multiply 135"/>
            <p:cNvSpPr>
              <a:spLocks/>
            </p:cNvSpPr>
            <p:nvPr/>
          </p:nvSpPr>
          <p:spPr>
            <a:xfrm>
              <a:off x="4216841" y="533844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7" name="Multiply 136"/>
            <p:cNvSpPr>
              <a:spLocks/>
            </p:cNvSpPr>
            <p:nvPr/>
          </p:nvSpPr>
          <p:spPr>
            <a:xfrm>
              <a:off x="4598658" y="517060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4468132" y="3344554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1" name="Straight Connector 70"/>
            <p:cNvCxnSpPr/>
            <p:nvPr/>
          </p:nvCxnSpPr>
          <p:spPr>
            <a:xfrm flipH="1" flipV="1">
              <a:off x="4516368" y="3611183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 rot="5400000" flipH="1" flipV="1">
              <a:off x="4522774" y="366130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5400000" flipH="1" flipV="1">
              <a:off x="4540454" y="3778347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 flipH="1" flipV="1">
              <a:off x="4551995" y="384103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5400000" flipH="1" flipV="1">
              <a:off x="4557568" y="3898479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Multiply 137"/>
            <p:cNvSpPr>
              <a:spLocks noChangeAspect="1"/>
            </p:cNvSpPr>
            <p:nvPr/>
          </p:nvSpPr>
          <p:spPr>
            <a:xfrm>
              <a:off x="4396841" y="4994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8" name="Straight Connector 97"/>
            <p:cNvCxnSpPr/>
            <p:nvPr/>
          </p:nvCxnSpPr>
          <p:spPr>
            <a:xfrm flipV="1">
              <a:off x="4433250" y="4936612"/>
              <a:ext cx="145222" cy="10177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4433250" y="5036924"/>
              <a:ext cx="206493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Multiply 138"/>
            <p:cNvSpPr>
              <a:spLocks noChangeAspect="1"/>
            </p:cNvSpPr>
            <p:nvPr/>
          </p:nvSpPr>
          <p:spPr>
            <a:xfrm>
              <a:off x="4541256" y="489210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0" name="Multiply 139"/>
            <p:cNvSpPr>
              <a:spLocks noChangeAspect="1"/>
            </p:cNvSpPr>
            <p:nvPr/>
          </p:nvSpPr>
          <p:spPr>
            <a:xfrm>
              <a:off x="4416484" y="478241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1" name="Multiply 140"/>
            <p:cNvSpPr>
              <a:spLocks noChangeAspect="1"/>
            </p:cNvSpPr>
            <p:nvPr/>
          </p:nvSpPr>
          <p:spPr>
            <a:xfrm>
              <a:off x="4527814" y="466584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2" name="Multiply 141"/>
            <p:cNvSpPr>
              <a:spLocks/>
            </p:cNvSpPr>
            <p:nvPr/>
          </p:nvSpPr>
          <p:spPr>
            <a:xfrm>
              <a:off x="4432482" y="449732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3" name="Multiply 142"/>
            <p:cNvSpPr>
              <a:spLocks/>
            </p:cNvSpPr>
            <p:nvPr/>
          </p:nvSpPr>
          <p:spPr>
            <a:xfrm>
              <a:off x="4586752" y="4430025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4" name="Multiply 143"/>
            <p:cNvSpPr>
              <a:spLocks/>
            </p:cNvSpPr>
            <p:nvPr/>
          </p:nvSpPr>
          <p:spPr>
            <a:xfrm>
              <a:off x="4489301" y="425465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5" name="Multiply 144"/>
            <p:cNvSpPr>
              <a:spLocks/>
            </p:cNvSpPr>
            <p:nvPr/>
          </p:nvSpPr>
          <p:spPr>
            <a:xfrm>
              <a:off x="4647454" y="4169248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6" name="Multiply 145"/>
            <p:cNvSpPr>
              <a:spLocks/>
            </p:cNvSpPr>
            <p:nvPr/>
          </p:nvSpPr>
          <p:spPr>
            <a:xfrm>
              <a:off x="4515354" y="4085156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7" name="Multiply 146"/>
            <p:cNvSpPr>
              <a:spLocks noChangeAspect="1"/>
            </p:cNvSpPr>
            <p:nvPr/>
          </p:nvSpPr>
          <p:spPr>
            <a:xfrm>
              <a:off x="4601229" y="3950902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8" name="Multiply 147"/>
            <p:cNvSpPr>
              <a:spLocks noChangeAspect="1"/>
            </p:cNvSpPr>
            <p:nvPr/>
          </p:nvSpPr>
          <p:spPr>
            <a:xfrm>
              <a:off x="4598029" y="3846380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9" name="Multiply 148"/>
            <p:cNvSpPr>
              <a:spLocks noChangeAspect="1"/>
            </p:cNvSpPr>
            <p:nvPr/>
          </p:nvSpPr>
          <p:spPr>
            <a:xfrm>
              <a:off x="4517694" y="3803997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0" name="Multiply 149"/>
            <p:cNvSpPr>
              <a:spLocks noChangeAspect="1"/>
            </p:cNvSpPr>
            <p:nvPr/>
          </p:nvSpPr>
          <p:spPr>
            <a:xfrm>
              <a:off x="4496498" y="3683246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1" name="Multiply 150"/>
            <p:cNvSpPr>
              <a:spLocks noChangeAspect="1"/>
            </p:cNvSpPr>
            <p:nvPr/>
          </p:nvSpPr>
          <p:spPr>
            <a:xfrm>
              <a:off x="4486717" y="3557718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0" name="Straight Connector 79"/>
            <p:cNvCxnSpPr/>
            <p:nvPr/>
          </p:nvCxnSpPr>
          <p:spPr>
            <a:xfrm rot="10800000" flipH="1" flipV="1">
              <a:off x="4569109" y="3960140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4551996" y="4006045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rot="5400000" flipV="1">
              <a:off x="4570316" y="4113719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4522717" y="4217178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rot="5400000" flipH="1">
              <a:off x="4490591" y="4331172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rot="10800000" flipH="1">
              <a:off x="4466582" y="4460600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 rot="16200000" flipH="1">
              <a:off x="4438387" y="4578734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 flipV="1">
              <a:off x="4460231" y="4699147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 rot="5400000" flipV="1">
              <a:off x="4470137" y="4820883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V="1">
              <a:off x="4513192" y="3490807"/>
              <a:ext cx="42247" cy="12037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0800000" flipH="1" flipV="1">
              <a:off x="4527096" y="3725595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Multiply 151"/>
            <p:cNvSpPr>
              <a:spLocks noChangeAspect="1"/>
            </p:cNvSpPr>
            <p:nvPr/>
          </p:nvSpPr>
          <p:spPr>
            <a:xfrm>
              <a:off x="4568482" y="3722621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3" name="Multiply 152"/>
            <p:cNvSpPr>
              <a:spLocks noChangeAspect="1"/>
            </p:cNvSpPr>
            <p:nvPr/>
          </p:nvSpPr>
          <p:spPr>
            <a:xfrm>
              <a:off x="4553694" y="3612134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/>
            <p:nvPr/>
          </p:nvCxnSpPr>
          <p:spPr>
            <a:xfrm>
              <a:off x="3030134" y="1302987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4496439" y="4118552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08471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936633" y="2134388"/>
            <a:ext cx="3836177" cy="3649708"/>
            <a:chOff x="936633" y="2134388"/>
            <a:chExt cx="3836177" cy="3649708"/>
          </a:xfrm>
        </p:grpSpPr>
        <p:grpSp>
          <p:nvGrpSpPr>
            <p:cNvPr id="56" name="Group 55"/>
            <p:cNvGrpSpPr/>
            <p:nvPr/>
          </p:nvGrpSpPr>
          <p:grpSpPr>
            <a:xfrm>
              <a:off x="1705732" y="2134388"/>
              <a:ext cx="3067078" cy="3649708"/>
              <a:chOff x="1705732" y="2134388"/>
              <a:chExt cx="3067078" cy="3649708"/>
            </a:xfrm>
          </p:grpSpPr>
          <p:sp>
            <p:nvSpPr>
              <p:cNvPr id="29" name="Oval 28"/>
              <p:cNvSpPr/>
              <p:nvPr/>
            </p:nvSpPr>
            <p:spPr>
              <a:xfrm>
                <a:off x="1800709" y="25585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1980709" y="27385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2160709" y="29185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2340709" y="30985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2520709" y="32785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2700709" y="34585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Multiply 34"/>
              <p:cNvSpPr>
                <a:spLocks noChangeAspect="1"/>
              </p:cNvSpPr>
              <p:nvPr/>
            </p:nvSpPr>
            <p:spPr>
              <a:xfrm>
                <a:off x="2797024" y="3544166"/>
                <a:ext cx="158298" cy="180000"/>
              </a:xfrm>
              <a:prstGeom prst="mathMultiply">
                <a:avLst/>
              </a:prstGeom>
              <a:solidFill>
                <a:schemeClr val="accent6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/>
                  <p:cNvSpPr txBox="1"/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8" name="TextBox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9" name="TextBox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ectangle 39"/>
              <p:cNvSpPr/>
              <p:nvPr/>
            </p:nvSpPr>
            <p:spPr>
              <a:xfrm rot="2700000">
                <a:off x="1772158" y="4675745"/>
                <a:ext cx="864000" cy="864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i="0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8929" r="-3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/>
              <p:cNvCxnSpPr/>
              <p:nvPr/>
            </p:nvCxnSpPr>
            <p:spPr>
              <a:xfrm rot="5400000">
                <a:off x="3287827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>
                <a:off x="221018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/>
              <p:nvPr/>
            </p:nvSpPr>
            <p:spPr>
              <a:xfrm>
                <a:off x="2158585" y="4458583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/>
                  <p:cNvSpPr/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3" name="Rectangle 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/>
            <p:cNvSpPr txBox="1"/>
            <p:nvPr/>
          </p:nvSpPr>
          <p:spPr>
            <a:xfrm>
              <a:off x="936633" y="4158937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59" name="Straight Arrow Connector 58"/>
            <p:cNvCxnSpPr>
              <a:endCxn id="50" idx="2"/>
            </p:cNvCxnSpPr>
            <p:nvPr/>
          </p:nvCxnSpPr>
          <p:spPr>
            <a:xfrm>
              <a:off x="1784106" y="4369151"/>
              <a:ext cx="374479" cy="140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5921535" y="2134388"/>
            <a:ext cx="3675609" cy="3546185"/>
            <a:chOff x="5921535" y="2134388"/>
            <a:chExt cx="3675609" cy="3546185"/>
          </a:xfrm>
        </p:grpSpPr>
        <p:grpSp>
          <p:nvGrpSpPr>
            <p:cNvPr id="55" name="Group 54"/>
            <p:cNvGrpSpPr/>
            <p:nvPr/>
          </p:nvGrpSpPr>
          <p:grpSpPr>
            <a:xfrm>
              <a:off x="6542714" y="2134388"/>
              <a:ext cx="3054430" cy="3546185"/>
              <a:chOff x="6542714" y="2134388"/>
              <a:chExt cx="3054430" cy="35461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TextBox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8" name="TextBox 2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Oval 40"/>
              <p:cNvSpPr/>
              <p:nvPr/>
            </p:nvSpPr>
            <p:spPr>
              <a:xfrm>
                <a:off x="6542714" y="4601785"/>
                <a:ext cx="1008000" cy="10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6626709" y="25712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806709" y="27512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986709" y="29312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7166709" y="31112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7346709" y="32912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7526709" y="34712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Multiply 47"/>
              <p:cNvSpPr>
                <a:spLocks noChangeAspect="1"/>
              </p:cNvSpPr>
              <p:nvPr/>
            </p:nvSpPr>
            <p:spPr>
              <a:xfrm>
                <a:off x="7623024" y="3556866"/>
                <a:ext cx="158298" cy="180000"/>
              </a:xfrm>
              <a:prstGeom prst="mathMultiply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7209452" y="4588707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i="0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l="-9091" r="-545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/>
              <p:cNvCxnSpPr/>
              <p:nvPr/>
            </p:nvCxnSpPr>
            <p:spPr>
              <a:xfrm rot="5400000">
                <a:off x="8121956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>
                <a:off x="703887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/>
                  <p:cNvSpPr/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4" name="Rectangle 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7" name="TextBox 66"/>
            <p:cNvSpPr txBox="1"/>
            <p:nvPr/>
          </p:nvSpPr>
          <p:spPr>
            <a:xfrm>
              <a:off x="5921535" y="4379643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>
              <a:off x="6763186" y="4583136"/>
              <a:ext cx="446266" cy="4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773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825535" y="2360642"/>
            <a:ext cx="3217781" cy="2544915"/>
            <a:chOff x="8677971" y="3786094"/>
            <a:chExt cx="3514029" cy="273046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77971" y="4063458"/>
              <a:ext cx="3514029" cy="245309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107097" y="3786094"/>
              <a:ext cx="26068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Gradiente Descendente Estocástico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06854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/>
          <p:cNvGrpSpPr/>
          <p:nvPr/>
        </p:nvGrpSpPr>
        <p:grpSpPr>
          <a:xfrm>
            <a:off x="703328" y="1720211"/>
            <a:ext cx="4337255" cy="3027979"/>
            <a:chOff x="703328" y="1720211"/>
            <a:chExt cx="4337255" cy="30279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8" name="Group 147"/>
            <p:cNvGrpSpPr/>
            <p:nvPr/>
          </p:nvGrpSpPr>
          <p:grpSpPr>
            <a:xfrm>
              <a:off x="703328" y="1796190"/>
              <a:ext cx="4337255" cy="2952000"/>
              <a:chOff x="703328" y="1796190"/>
              <a:chExt cx="4337255" cy="2952000"/>
            </a:xfrm>
          </p:grpSpPr>
          <p:sp>
            <p:nvSpPr>
              <p:cNvPr id="5" name="Oval 4"/>
              <p:cNvSpPr>
                <a:spLocks/>
              </p:cNvSpPr>
              <p:nvPr/>
            </p:nvSpPr>
            <p:spPr>
              <a:xfrm rot="5400000">
                <a:off x="1914555" y="1533349"/>
                <a:ext cx="1800000" cy="36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" name="Oval 5"/>
              <p:cNvSpPr/>
              <p:nvPr/>
            </p:nvSpPr>
            <p:spPr>
              <a:xfrm rot="5400000">
                <a:off x="2275849" y="1893349"/>
                <a:ext cx="1080000" cy="28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/>
              <p:cNvSpPr/>
              <p:nvPr/>
            </p:nvSpPr>
            <p:spPr>
              <a:xfrm rot="5400000">
                <a:off x="2635849" y="2253349"/>
                <a:ext cx="3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Oval 7"/>
              <p:cNvSpPr/>
              <p:nvPr/>
            </p:nvSpPr>
            <p:spPr>
              <a:xfrm rot="5400000">
                <a:off x="2455849" y="2073349"/>
                <a:ext cx="720000" cy="25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" name="Oval 8"/>
              <p:cNvSpPr/>
              <p:nvPr/>
            </p:nvSpPr>
            <p:spPr>
              <a:xfrm rot="5400000">
                <a:off x="2095849" y="1713349"/>
                <a:ext cx="14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" name="Oval 9"/>
              <p:cNvSpPr>
                <a:spLocks/>
              </p:cNvSpPr>
              <p:nvPr/>
            </p:nvSpPr>
            <p:spPr>
              <a:xfrm rot="5400000">
                <a:off x="1735849" y="1353349"/>
                <a:ext cx="2160000" cy="39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1" name="Straight Connector 10"/>
              <p:cNvCxnSpPr/>
              <p:nvPr/>
            </p:nvCxnSpPr>
            <p:spPr>
              <a:xfrm flipH="1" flipV="1">
                <a:off x="882035" y="2613351"/>
                <a:ext cx="126728" cy="107999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Multiply 13"/>
              <p:cNvSpPr>
                <a:spLocks noChangeAspect="1"/>
              </p:cNvSpPr>
              <p:nvPr/>
            </p:nvSpPr>
            <p:spPr>
              <a:xfrm rot="5400000">
                <a:off x="2765706" y="3264787"/>
                <a:ext cx="108000" cy="122807"/>
              </a:xfrm>
              <a:prstGeom prst="mathMultiply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49" name="Straight Arrow Connector 48"/>
              <p:cNvCxnSpPr/>
              <p:nvPr/>
            </p:nvCxnSpPr>
            <p:spPr>
              <a:xfrm rot="5400000">
                <a:off x="2864103" y="2606190"/>
                <a:ext cx="0" cy="4284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 rot="10800000">
                <a:off x="703328" y="1796190"/>
                <a:ext cx="0" cy="2952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Connector 57"/>
              <p:cNvCxnSpPr/>
              <p:nvPr/>
            </p:nvCxnSpPr>
            <p:spPr>
              <a:xfrm flipH="1">
                <a:off x="1008763" y="2894795"/>
                <a:ext cx="246068" cy="79855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252243" y="2894796"/>
                <a:ext cx="119416" cy="7002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1371659" y="3094820"/>
                <a:ext cx="223667" cy="5002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1595327" y="3094820"/>
                <a:ext cx="116827" cy="39147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1712155" y="3199595"/>
                <a:ext cx="178705" cy="28670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>
                <a:stCxn id="7" idx="5"/>
              </p:cNvCxnSpPr>
              <p:nvPr/>
            </p:nvCxnSpPr>
            <p:spPr>
              <a:xfrm flipH="1" flipV="1">
                <a:off x="1890860" y="3199596"/>
                <a:ext cx="161314" cy="2610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76"/>
              <p:cNvSpPr>
                <a:spLocks noChangeAspect="1"/>
              </p:cNvSpPr>
              <p:nvPr/>
            </p:nvSpPr>
            <p:spPr>
              <a:xfrm rot="5400000">
                <a:off x="2733403" y="2491912"/>
                <a:ext cx="194229" cy="167639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78" name="Straight Connector 77"/>
              <p:cNvCxnSpPr>
                <a:endCxn id="7" idx="5"/>
              </p:cNvCxnSpPr>
              <p:nvPr/>
            </p:nvCxnSpPr>
            <p:spPr>
              <a:xfrm flipH="1">
                <a:off x="2052174" y="3294072"/>
                <a:ext cx="178706" cy="1665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/>
              <p:cNvSpPr>
                <a:spLocks noChangeAspect="1"/>
              </p:cNvSpPr>
              <p:nvPr/>
            </p:nvSpPr>
            <p:spPr>
              <a:xfrm rot="5400000">
                <a:off x="2811989" y="2702869"/>
                <a:ext cx="104228" cy="124287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 flipH="1" flipV="1">
                <a:off x="2226329" y="3290561"/>
                <a:ext cx="325194" cy="10050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>
                <a:off x="2551523" y="3322418"/>
                <a:ext cx="251184" cy="7509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9" name="Group 148"/>
          <p:cNvGrpSpPr/>
          <p:nvPr/>
        </p:nvGrpSpPr>
        <p:grpSpPr>
          <a:xfrm>
            <a:off x="6546300" y="1715075"/>
            <a:ext cx="4305533" cy="3007924"/>
            <a:chOff x="6546300" y="1715075"/>
            <a:chExt cx="4305533" cy="3007924"/>
          </a:xfrm>
        </p:grpSpPr>
        <p:sp>
          <p:nvSpPr>
            <p:cNvPr id="99" name="Oval 98"/>
            <p:cNvSpPr>
              <a:spLocks/>
            </p:cNvSpPr>
            <p:nvPr/>
          </p:nvSpPr>
          <p:spPr>
            <a:xfrm rot="5400000">
              <a:off x="7757527" y="1508158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Oval 99"/>
            <p:cNvSpPr/>
            <p:nvPr/>
          </p:nvSpPr>
          <p:spPr>
            <a:xfrm rot="5400000">
              <a:off x="8118821" y="1868158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Oval 100"/>
            <p:cNvSpPr/>
            <p:nvPr/>
          </p:nvSpPr>
          <p:spPr>
            <a:xfrm rot="5400000">
              <a:off x="8478821" y="2228158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Oval 101"/>
            <p:cNvSpPr/>
            <p:nvPr/>
          </p:nvSpPr>
          <p:spPr>
            <a:xfrm rot="5400000">
              <a:off x="8298821" y="2048158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Oval 102"/>
            <p:cNvSpPr/>
            <p:nvPr/>
          </p:nvSpPr>
          <p:spPr>
            <a:xfrm rot="5400000">
              <a:off x="7938821" y="1688158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Oval 103"/>
            <p:cNvSpPr>
              <a:spLocks/>
            </p:cNvSpPr>
            <p:nvPr/>
          </p:nvSpPr>
          <p:spPr>
            <a:xfrm rot="5400000">
              <a:off x="7578821" y="1328158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" name="Straight Connector 104"/>
            <p:cNvCxnSpPr/>
            <p:nvPr/>
          </p:nvCxnSpPr>
          <p:spPr>
            <a:xfrm flipH="1" flipV="1">
              <a:off x="6725007" y="2588160"/>
              <a:ext cx="126728" cy="1079998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Multiply 105"/>
            <p:cNvSpPr>
              <a:spLocks noChangeAspect="1"/>
            </p:cNvSpPr>
            <p:nvPr/>
          </p:nvSpPr>
          <p:spPr>
            <a:xfrm rot="5400000">
              <a:off x="8610393" y="3244561"/>
              <a:ext cx="108000" cy="122807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 rot="5400000">
              <a:off x="8707075" y="2580999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 rot="10800000">
              <a:off x="6546300" y="1770999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/>
                <p:cNvSpPr txBox="1"/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09" name="TextBox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/>
                <p:cNvSpPr txBox="1"/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10" name="TextBox 1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Oval 116"/>
            <p:cNvSpPr>
              <a:spLocks noChangeAspect="1"/>
            </p:cNvSpPr>
            <p:nvPr/>
          </p:nvSpPr>
          <p:spPr>
            <a:xfrm rot="5400000">
              <a:off x="8576375" y="2466721"/>
              <a:ext cx="194229" cy="167639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9" name="Oval 118"/>
            <p:cNvSpPr>
              <a:spLocks noChangeAspect="1"/>
            </p:cNvSpPr>
            <p:nvPr/>
          </p:nvSpPr>
          <p:spPr>
            <a:xfrm rot="5400000">
              <a:off x="8654961" y="2677678"/>
              <a:ext cx="104228" cy="12428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4" name="Straight Connector 123"/>
            <p:cNvCxnSpPr/>
            <p:nvPr/>
          </p:nvCxnSpPr>
          <p:spPr>
            <a:xfrm flipH="1">
              <a:off x="6858633" y="3322418"/>
              <a:ext cx="262864" cy="34574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 flipV="1">
              <a:off x="7121498" y="3322418"/>
              <a:ext cx="401988" cy="13821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>
              <a:stCxn id="117" idx="4"/>
            </p:cNvCxnSpPr>
            <p:nvPr/>
          </p:nvCxnSpPr>
          <p:spPr>
            <a:xfrm flipH="1">
              <a:off x="7525721" y="3304921"/>
              <a:ext cx="309569" cy="152442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>
              <a:stCxn id="117" idx="5"/>
              <a:endCxn id="117" idx="4"/>
            </p:cNvCxnSpPr>
            <p:nvPr/>
          </p:nvCxnSpPr>
          <p:spPr>
            <a:xfrm flipH="1" flipV="1">
              <a:off x="7835290" y="3304921"/>
              <a:ext cx="245503" cy="6867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>
              <a:endCxn id="117" idx="5"/>
            </p:cNvCxnSpPr>
            <p:nvPr/>
          </p:nvCxnSpPr>
          <p:spPr>
            <a:xfrm flipH="1">
              <a:off x="8080793" y="3300431"/>
              <a:ext cx="308855" cy="7316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/>
            <p:cNvCxnSpPr/>
            <p:nvPr/>
          </p:nvCxnSpPr>
          <p:spPr>
            <a:xfrm flipH="1" flipV="1">
              <a:off x="8387173" y="3301525"/>
              <a:ext cx="247978" cy="6633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27293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/>
          <p:cNvCxnSpPr/>
          <p:nvPr/>
        </p:nvCxnSpPr>
        <p:spPr>
          <a:xfrm>
            <a:off x="4688114" y="4847771"/>
            <a:ext cx="1368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4688114" y="3586843"/>
            <a:ext cx="1514993" cy="126093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688114" y="3568700"/>
            <a:ext cx="722993" cy="127907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411107" y="3577771"/>
            <a:ext cx="792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34114" y="4793773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30"/>
          <p:cNvSpPr txBox="1"/>
          <p:nvPr/>
        </p:nvSpPr>
        <p:spPr>
          <a:xfrm>
            <a:off x="4111398" y="3824968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momentum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8895" y="484777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gradiente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2895" y="397468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 corrente</a:t>
            </a:r>
          </a:p>
        </p:txBody>
      </p:sp>
      <p:pic>
        <p:nvPicPr>
          <p:cNvPr id="34" name="Picture 2" descr="The Ravine - JamBas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147" y="1029161"/>
            <a:ext cx="4280274" cy="4280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622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E765951F-25BB-44C2-B87A-A88FE1B68A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F4A17E5-ECCE-48A8-A291-06961455A1A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4421A6D-F900-459F-9179-A64A47727DAC}">
  <ds:schemaRefs>
    <ds:schemaRef ds:uri="http://schemas.microsoft.com/office/2006/documentManagement/types"/>
    <ds:schemaRef ds:uri="026c264a-64f6-48aa-bde0-8bf9e5064f89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20306</TotalTime>
  <Words>5408</Words>
  <Application>Microsoft Office PowerPoint</Application>
  <PresentationFormat>Widescreen</PresentationFormat>
  <Paragraphs>397</Paragraphs>
  <Slides>43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III)</vt:lpstr>
      <vt:lpstr>Recapitulando</vt:lpstr>
      <vt:lpstr>Escolha da taxa de aprendizagem</vt:lpstr>
      <vt:lpstr>Escolha da taxa de aprendizagem</vt:lpstr>
      <vt:lpstr>Escolha da taxa de aprendizagem</vt:lpstr>
      <vt:lpstr>Apresentação do PowerPoint</vt:lpstr>
      <vt:lpstr>Escolha da taxa de aprendizagem</vt:lpstr>
      <vt:lpstr>Escolha da taxa de aprendizagem</vt:lpstr>
      <vt:lpstr>Passo de aprendizado pequeno</vt:lpstr>
      <vt:lpstr>Passo de aprendizado grande</vt:lpstr>
      <vt:lpstr>Passo de aprendizado grande</vt:lpstr>
      <vt:lpstr>Passo de aprendizado grande</vt:lpstr>
      <vt:lpstr>Passo de aprendizado ideal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Melhorando a convergência das versões estocásticas</vt:lpstr>
      <vt:lpstr>Melhorando a convergência das versões estocásticas</vt:lpstr>
      <vt:lpstr>Redução gradual do passo de aprendizagem</vt:lpstr>
      <vt:lpstr>Técnicas mais comuns para a redução do passo</vt:lpstr>
      <vt:lpstr>Termo momentum</vt:lpstr>
      <vt:lpstr>Variação adaptativa dos passos</vt:lpstr>
      <vt:lpstr>Exemplo de redução programada com GDE</vt:lpstr>
      <vt:lpstr>Exemplo de redução programada com GDE</vt:lpstr>
      <vt:lpstr>Exemplo de redução programada com GDE</vt:lpstr>
      <vt:lpstr>Tarefas</vt:lpstr>
      <vt:lpstr>Apresentação do PowerPoint</vt:lpstr>
      <vt:lpstr>Apresentação do PowerPoint</vt:lpstr>
      <vt:lpstr>FIGURAS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2447</cp:revision>
  <dcterms:created xsi:type="dcterms:W3CDTF">2020-02-17T11:18:32Z</dcterms:created>
  <dcterms:modified xsi:type="dcterms:W3CDTF">2026-10-09T19:06:20Z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