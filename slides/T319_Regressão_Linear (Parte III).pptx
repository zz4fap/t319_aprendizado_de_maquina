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8"/>
  </p:notesMasterIdLst>
  <p:sldIdLst>
    <p:sldId id="259" r:id="rId5"/>
    <p:sldId id="463" r:id="rId6"/>
    <p:sldId id="485" r:id="rId7"/>
    <p:sldId id="487" r:id="rId8"/>
    <p:sldId id="513" r:id="rId9"/>
    <p:sldId id="489" r:id="rId10"/>
    <p:sldId id="488" r:id="rId11"/>
    <p:sldId id="515" r:id="rId12"/>
    <p:sldId id="486" r:id="rId13"/>
    <p:sldId id="492" r:id="rId14"/>
    <p:sldId id="493" r:id="rId15"/>
    <p:sldId id="501" r:id="rId16"/>
    <p:sldId id="494" r:id="rId17"/>
    <p:sldId id="490" r:id="rId18"/>
    <p:sldId id="497" r:id="rId19"/>
    <p:sldId id="499" r:id="rId20"/>
    <p:sldId id="500" r:id="rId21"/>
    <p:sldId id="502" r:id="rId22"/>
    <p:sldId id="495" r:id="rId23"/>
    <p:sldId id="516" r:id="rId24"/>
    <p:sldId id="496" r:id="rId25"/>
    <p:sldId id="512" r:id="rId26"/>
    <p:sldId id="504" r:id="rId27"/>
    <p:sldId id="518" r:id="rId28"/>
    <p:sldId id="508" r:id="rId29"/>
    <p:sldId id="510" r:id="rId30"/>
    <p:sldId id="511" r:id="rId31"/>
    <p:sldId id="482" r:id="rId32"/>
    <p:sldId id="317" r:id="rId33"/>
    <p:sldId id="332" r:id="rId34"/>
    <p:sldId id="299" r:id="rId35"/>
    <p:sldId id="285" r:id="rId36"/>
    <p:sldId id="415" r:id="rId37"/>
    <p:sldId id="283" r:id="rId38"/>
    <p:sldId id="274" r:id="rId39"/>
    <p:sldId id="278" r:id="rId40"/>
    <p:sldId id="292" r:id="rId41"/>
    <p:sldId id="498" r:id="rId42"/>
    <p:sldId id="295" r:id="rId43"/>
    <p:sldId id="396" r:id="rId44"/>
    <p:sldId id="484" r:id="rId45"/>
    <p:sldId id="421" r:id="rId46"/>
    <p:sldId id="423" r:id="rId4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0437" autoAdjust="0"/>
  </p:normalViewPr>
  <p:slideViewPr>
    <p:cSldViewPr snapToGrid="0">
      <p:cViewPr varScale="1">
        <p:scale>
          <a:sx n="102" d="100"/>
          <a:sy n="102" d="100"/>
        </p:scale>
        <p:origin x="9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0AF11-6A8A-4E64-94F5-26D4FBA2A01D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B99DF-01BC-492A-8CEF-4FD88D18DD9D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059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260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Se o</a:t>
            </a:r>
            <a:r>
              <a:rPr lang="pt-BR" sz="1200" baseline="0" dirty="0"/>
              <a:t> passo</a:t>
            </a:r>
            <a:r>
              <a:rPr lang="pt-BR" sz="1200" dirty="0"/>
              <a:t> de aprendizagem for muito pequeno, o algoritmo precisará passar por muitas iterações para convergir, o que levará muito tempo.</a:t>
            </a:r>
          </a:p>
          <a:p>
            <a:endParaRPr lang="pt-BR" sz="1200" dirty="0"/>
          </a:p>
          <a:p>
            <a:r>
              <a:rPr lang="pt-BR" sz="1200" dirty="0"/>
              <a:t>Por outro lado, se ele</a:t>
            </a:r>
            <a:r>
              <a:rPr lang="pt-BR" sz="1200" baseline="0" dirty="0"/>
              <a:t> </a:t>
            </a:r>
            <a:r>
              <a:rPr lang="pt-BR" sz="1200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sz="1200" dirty="0"/>
          </a:p>
          <a:p>
            <a:r>
              <a:rPr lang="pt-BR" sz="1200" dirty="0"/>
              <a:t>Assim, o</a:t>
            </a:r>
            <a:r>
              <a:rPr lang="pt-BR" sz="1200" baseline="0" dirty="0"/>
              <a:t> passo </a:t>
            </a:r>
            <a:r>
              <a:rPr lang="pt-BR" sz="1200" dirty="0"/>
              <a:t>de aprendizagem deve ser experimentado/explorado para encontrar o melhor valor que acelere a descida do gradiente.</a:t>
            </a:r>
          </a:p>
          <a:p>
            <a:endParaRPr lang="pt-BR" sz="1200" dirty="0"/>
          </a:p>
          <a:p>
            <a:r>
              <a:rPr lang="pt-BR" sz="1200" dirty="0"/>
              <a:t>O momentum adiciona uma fração da atualização de peso anterior a atual. Quando o gradiente continua apontando na mesma direção por atualizações consecutivas, isso aumentará o tamanho dos passos dados em direção ao mínimo.</a:t>
            </a:r>
            <a:r>
              <a:rPr lang="pt-BR" sz="1200" baseline="0" dirty="0"/>
              <a:t> </a:t>
            </a:r>
            <a:r>
              <a:rPr lang="pt-BR" sz="1200" dirty="0"/>
              <a:t>Por outro lado, quando o gradiente continua mudando de direção, o momentum suaviza as variações, ou seja, as atualizações.</a:t>
            </a:r>
          </a:p>
          <a:p>
            <a:endParaRPr lang="pt-BR" sz="1200" dirty="0"/>
          </a:p>
          <a:p>
            <a:r>
              <a:rPr lang="pt-BR" sz="1200" b="1" dirty="0"/>
              <a:t>OBS</a:t>
            </a:r>
            <a:r>
              <a:rPr lang="pt-BR" sz="1200" dirty="0"/>
              <a:t>.: Passos largos durante as iterações iniciais e curtos conforme o algoritmo se aproxima do mínimo podem acelerar a convergência.</a:t>
            </a:r>
            <a:r>
              <a:rPr lang="pt-BR" sz="1200" baseline="0" dirty="0"/>
              <a:t> </a:t>
            </a:r>
            <a:r>
              <a:rPr lang="pt-BR" sz="1200" dirty="0"/>
              <a:t>Este tipo de abordagem é implementada por </a:t>
            </a:r>
            <a:r>
              <a:rPr lang="pt-BR" sz="1200" b="1" i="1" dirty="0"/>
              <a:t>esquemas de variação programada</a:t>
            </a:r>
            <a:r>
              <a:rPr lang="pt-BR" sz="1200" dirty="0"/>
              <a:t> do passo de aprendizagem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Por exemplo: momentum, </a:t>
            </a:r>
            <a:r>
              <a:rPr lang="pt-BR" sz="1200" dirty="0" err="1"/>
              <a:t>anelamento</a:t>
            </a:r>
            <a:r>
              <a:rPr lang="pt-BR" sz="1200" dirty="0"/>
              <a:t>, algoritmos de otimização com ajuste adaptativo do passo de aprendizagem (</a:t>
            </a:r>
            <a:r>
              <a:rPr lang="pt-BR" sz="1200" dirty="0" err="1"/>
              <a:t>RMSProp</a:t>
            </a:r>
            <a:r>
              <a:rPr lang="pt-BR" sz="1200" dirty="0"/>
              <a:t>, </a:t>
            </a:r>
            <a:r>
              <a:rPr lang="pt-BR" sz="1200" dirty="0" err="1"/>
              <a:t>AdaGrad</a:t>
            </a:r>
            <a:r>
              <a:rPr lang="pt-BR" sz="1200" dirty="0"/>
              <a:t>, Adam, etc.).</a:t>
            </a:r>
            <a:endParaRPr lang="nl-BE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5092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AB0C-D174-227A-BD51-36246707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4E4E0D-D7AE-CA65-005C-7F2AA44B1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D45B2D-93B1-B492-046D-31D637D31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Se o</a:t>
            </a:r>
            <a:r>
              <a:rPr lang="pt-BR" sz="1200" baseline="0" dirty="0"/>
              <a:t> passo</a:t>
            </a:r>
            <a:r>
              <a:rPr lang="pt-BR" sz="1200" dirty="0"/>
              <a:t> de aprendizagem for muito pequeno, o algoritmo precisará passar por muitas iterações para convergir, o que levará muito tempo.</a:t>
            </a:r>
          </a:p>
          <a:p>
            <a:endParaRPr lang="pt-BR" sz="1200" dirty="0"/>
          </a:p>
          <a:p>
            <a:r>
              <a:rPr lang="pt-BR" sz="1200" dirty="0"/>
              <a:t>Por outro lado, se ele</a:t>
            </a:r>
            <a:r>
              <a:rPr lang="pt-BR" sz="1200" baseline="0" dirty="0"/>
              <a:t> </a:t>
            </a:r>
            <a:r>
              <a:rPr lang="pt-BR" sz="1200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sz="1200" dirty="0"/>
          </a:p>
          <a:p>
            <a:r>
              <a:rPr lang="pt-BR" sz="1200" dirty="0"/>
              <a:t>Assim, o</a:t>
            </a:r>
            <a:r>
              <a:rPr lang="pt-BR" sz="1200" baseline="0" dirty="0"/>
              <a:t> passo </a:t>
            </a:r>
            <a:r>
              <a:rPr lang="pt-BR" sz="1200" dirty="0"/>
              <a:t>de aprendizagem deve ser experimentado/explorado para encontrar o melhor valor que acelere a descida do gradiente.</a:t>
            </a:r>
          </a:p>
          <a:p>
            <a:endParaRPr lang="pt-BR" sz="1200" dirty="0"/>
          </a:p>
          <a:p>
            <a:r>
              <a:rPr lang="pt-BR" sz="1200" dirty="0"/>
              <a:t>O momentum adiciona uma fração da atualização de peso anterior a atual. Quando o gradiente continua apontando na mesma direção por atualizações consecutivas, isso aumentará o tamanho dos passos dados em direção ao mínimo.</a:t>
            </a:r>
            <a:r>
              <a:rPr lang="pt-BR" sz="1200" baseline="0" dirty="0"/>
              <a:t> </a:t>
            </a:r>
            <a:r>
              <a:rPr lang="pt-BR" sz="1200" dirty="0"/>
              <a:t>Por outro lado, quando o gradiente continua mudando de direção, o momentum suaviza as variações, ou seja, as atualizações.</a:t>
            </a:r>
          </a:p>
          <a:p>
            <a:endParaRPr lang="pt-BR" sz="1200" dirty="0"/>
          </a:p>
          <a:p>
            <a:r>
              <a:rPr lang="pt-BR" sz="1200" b="1" dirty="0"/>
              <a:t>OBS</a:t>
            </a:r>
            <a:r>
              <a:rPr lang="pt-BR" sz="1200" dirty="0"/>
              <a:t>.: Passos largos durante as iterações iniciais e curtos conforme o algoritmo se aproxima do mínimo podem acelerar a convergência.</a:t>
            </a:r>
            <a:r>
              <a:rPr lang="pt-BR" sz="1200" baseline="0" dirty="0"/>
              <a:t> </a:t>
            </a:r>
            <a:r>
              <a:rPr lang="pt-BR" sz="1200" dirty="0"/>
              <a:t>Este tipo de abordagem é implementada por </a:t>
            </a:r>
            <a:r>
              <a:rPr lang="pt-BR" sz="1200" b="1" i="1" dirty="0"/>
              <a:t>esquemas de variação programada</a:t>
            </a:r>
            <a:r>
              <a:rPr lang="pt-BR" sz="1200" dirty="0"/>
              <a:t> do passo de aprendizagem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Por exemplo: momentum, </a:t>
            </a:r>
            <a:r>
              <a:rPr lang="pt-BR" sz="1200" dirty="0" err="1"/>
              <a:t>anelamento</a:t>
            </a:r>
            <a:r>
              <a:rPr lang="pt-BR" sz="1200" dirty="0"/>
              <a:t>, algoritmos de otimização com ajuste adaptativo do passo de aprendizagem (</a:t>
            </a:r>
            <a:r>
              <a:rPr lang="pt-BR" sz="1200" dirty="0" err="1"/>
              <a:t>RMSProp</a:t>
            </a:r>
            <a:r>
              <a:rPr lang="pt-BR" sz="1200" dirty="0"/>
              <a:t>, </a:t>
            </a:r>
            <a:r>
              <a:rPr lang="pt-BR" sz="1200" dirty="0" err="1"/>
              <a:t>AdaGrad</a:t>
            </a:r>
            <a:r>
              <a:rPr lang="pt-BR" sz="1200" dirty="0"/>
              <a:t>, Adam, etc.).</a:t>
            </a:r>
            <a:endParaRPr lang="nl-BE" sz="1200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45EF8-C430-5B8E-0455-9C90ED3CE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6366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https://colab.research.google.com/github/zz4fap/t319_aprendizado_de_maquina/blob/main/notebooks/regression/selecionando_o_passo_de_aprendizagem.ipynb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Hiperparâmetro: parâmetro que influencia no aprendizado do algoritmo,</a:t>
            </a:r>
            <a:r>
              <a:rPr lang="pt-BR" baseline="0" dirty="0"/>
              <a:t> ou seja, dita seu aprendizado. Não é um parâmetro aprendido pelo modelo como no caso dos pesos de um modelo de regressão linear.</a:t>
            </a:r>
            <a:endParaRPr lang="pt-BR" dirty="0"/>
          </a:p>
          <a:p>
            <a:endParaRPr lang="pt-BR" dirty="0"/>
          </a:p>
          <a:p>
            <a:r>
              <a:rPr lang="pt-BR" dirty="0"/>
              <a:t>Se o</a:t>
            </a:r>
            <a:r>
              <a:rPr lang="pt-BR" baseline="0" dirty="0"/>
              <a:t> passo</a:t>
            </a:r>
            <a:r>
              <a:rPr lang="pt-BR" dirty="0"/>
              <a:t> de aprendizagem for muito pequeno, o algoritmo precisará passar por muitas iterações para convergir, o que levará muito tempo.</a:t>
            </a:r>
          </a:p>
          <a:p>
            <a:endParaRPr lang="pt-BR" dirty="0"/>
          </a:p>
          <a:p>
            <a:r>
              <a:rPr lang="pt-BR" dirty="0"/>
              <a:t>Por outro lado, se ele</a:t>
            </a:r>
            <a:r>
              <a:rPr lang="pt-BR" baseline="0" dirty="0"/>
              <a:t> </a:t>
            </a:r>
            <a:r>
              <a:rPr lang="pt-BR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dirty="0"/>
          </a:p>
          <a:p>
            <a:r>
              <a:rPr lang="pt-BR" dirty="0"/>
              <a:t>Assim, o</a:t>
            </a:r>
            <a:r>
              <a:rPr lang="pt-BR" baseline="0" dirty="0"/>
              <a:t> passo </a:t>
            </a:r>
            <a:r>
              <a:rPr lang="pt-BR" dirty="0"/>
              <a:t>de aprendizagem deve ser experimentado/explorado para encontrar o melhor valor que acelere a descida do gradiente.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568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Enquanto </a:t>
            </a:r>
            <a:r>
              <a:rPr lang="pt-BR" baseline="0" dirty="0"/>
              <a:t>a </a:t>
            </a:r>
            <a:r>
              <a:rPr lang="pt-BR" dirty="0"/>
              <a:t>direção é determinada pelo</a:t>
            </a:r>
            <a:r>
              <a:rPr lang="pt-BR" baseline="0" dirty="0"/>
              <a:t> vetor</a:t>
            </a:r>
            <a:r>
              <a:rPr lang="pt-BR" dirty="0"/>
              <a:t> gradiente da função de erro, a taxa de aprendizado determina o quão grande um passo é dado nessa direção.</a:t>
            </a:r>
          </a:p>
          <a:p>
            <a:endParaRPr lang="pt-BR" dirty="0"/>
          </a:p>
          <a:p>
            <a:r>
              <a:rPr lang="pt-BR" dirty="0"/>
              <a:t>Se o</a:t>
            </a:r>
            <a:r>
              <a:rPr lang="pt-BR" baseline="0" dirty="0"/>
              <a:t> passo</a:t>
            </a:r>
            <a:r>
              <a:rPr lang="pt-BR" dirty="0"/>
              <a:t> de aprendizagem for muito pequeno, o algoritmo precisará passar por muitas iterações até convergir, o que levará muito tempo.</a:t>
            </a:r>
          </a:p>
          <a:p>
            <a:endParaRPr lang="pt-BR" dirty="0"/>
          </a:p>
          <a:p>
            <a:r>
              <a:rPr lang="pt-BR" dirty="0"/>
              <a:t>Por outro lado, se ele</a:t>
            </a:r>
            <a:r>
              <a:rPr lang="pt-BR" baseline="0" dirty="0"/>
              <a:t> </a:t>
            </a:r>
            <a:r>
              <a:rPr lang="pt-BR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dirty="0"/>
          </a:p>
          <a:p>
            <a:r>
              <a:rPr lang="pt-BR" dirty="0"/>
              <a:t>Assim, o</a:t>
            </a:r>
            <a:r>
              <a:rPr lang="pt-BR" baseline="0" dirty="0"/>
              <a:t> passo </a:t>
            </a:r>
            <a:r>
              <a:rPr lang="pt-BR" dirty="0"/>
              <a:t>de aprendizagem deve ser experimentado/explorado para encontrar o melhor valor que acelere a descida do gradiente.</a:t>
            </a:r>
          </a:p>
          <a:p>
            <a:endParaRPr lang="pt-BR" dirty="0"/>
          </a:p>
          <a:p>
            <a:r>
              <a:rPr lang="pt-BR" dirty="0"/>
              <a:t>Ao usar grandes valores para o passo de aprendizagem, é possível encontrar um ciclo de feedback positivo no qual grandes valores induzem grandes gradientes que, então, induzem uma grande atualização dos pesos. Se essas atualizações aumentarem consistentemente o tamanho dos pesos, então [os pesos] se afastam rapidamente do</a:t>
            </a:r>
            <a:r>
              <a:rPr lang="pt-BR" baseline="0" dirty="0"/>
              <a:t> ponto de mínimo </a:t>
            </a:r>
            <a:r>
              <a:rPr lang="pt-BR" dirty="0"/>
              <a:t>até que ocorra o estouro da precisão numérica.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boa intuição para se ter em mente é que, com uma alta taxa de aprendizado o vetor de pesos “oscila” ou “pula” caoticamente, incapaz de convergir para áreas mais profundas, porém mais estreitas, da superfície de erro. </a:t>
            </a:r>
          </a:p>
          <a:p>
            <a:endParaRPr lang="nl-BE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3088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Enquanto </a:t>
            </a:r>
            <a:r>
              <a:rPr lang="pt-BR" baseline="0" dirty="0"/>
              <a:t>a </a:t>
            </a:r>
            <a:r>
              <a:rPr lang="pt-BR" dirty="0"/>
              <a:t>direção é determinada pelo</a:t>
            </a:r>
            <a:r>
              <a:rPr lang="pt-BR" baseline="0" dirty="0"/>
              <a:t> vetor</a:t>
            </a:r>
            <a:r>
              <a:rPr lang="pt-BR" dirty="0"/>
              <a:t> gradiente da função de erro, a taxa de aprendizado determina o quão grande um passo é dado nessa direção.</a:t>
            </a:r>
          </a:p>
          <a:p>
            <a:endParaRPr lang="pt-BR" dirty="0"/>
          </a:p>
          <a:p>
            <a:r>
              <a:rPr lang="pt-BR" dirty="0"/>
              <a:t>Se o</a:t>
            </a:r>
            <a:r>
              <a:rPr lang="pt-BR" baseline="0" dirty="0"/>
              <a:t> passo</a:t>
            </a:r>
            <a:r>
              <a:rPr lang="pt-BR" dirty="0"/>
              <a:t> de aprendizagem for muito pequeno, o algoritmo precisará passar por muitas iterações até convergir, o que levará muito tempo.</a:t>
            </a:r>
          </a:p>
          <a:p>
            <a:endParaRPr lang="pt-BR" dirty="0"/>
          </a:p>
          <a:p>
            <a:r>
              <a:rPr lang="pt-BR" dirty="0"/>
              <a:t>Por outro lado, se ele</a:t>
            </a:r>
            <a:r>
              <a:rPr lang="pt-BR" baseline="0" dirty="0"/>
              <a:t> </a:t>
            </a:r>
            <a:r>
              <a:rPr lang="pt-BR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dirty="0"/>
          </a:p>
          <a:p>
            <a:r>
              <a:rPr lang="pt-BR" dirty="0"/>
              <a:t>Assim, o</a:t>
            </a:r>
            <a:r>
              <a:rPr lang="pt-BR" baseline="0" dirty="0"/>
              <a:t> passo </a:t>
            </a:r>
            <a:r>
              <a:rPr lang="pt-BR" dirty="0"/>
              <a:t>de aprendizagem deve ser experimentado/explorado para encontrar o melhor valor que acelere a descida do gradiente.</a:t>
            </a:r>
          </a:p>
          <a:p>
            <a:endParaRPr lang="pt-BR" dirty="0"/>
          </a:p>
          <a:p>
            <a:r>
              <a:rPr lang="pt-BR" dirty="0"/>
              <a:t>Ao usar grandes valores para o passo de aprendizagem, é possível encontrar um ciclo de feedback positivo no qual grandes valores induzem grandes gradientes que, então, induzem uma grande atualização dos pesos. Se essas atualizações aumentarem consistentemente o tamanho dos pesos, então [os pesos] se afastam rapidamente do</a:t>
            </a:r>
            <a:r>
              <a:rPr lang="pt-BR" baseline="0" dirty="0"/>
              <a:t> ponto de mínimo </a:t>
            </a:r>
            <a:r>
              <a:rPr lang="pt-BR" dirty="0"/>
              <a:t>até que ocorra o estouro da precisão numérica.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boa intuição para se ter em mente é que, com uma alta taxa de aprendizado o vetor de pesos “oscila” ou “pula” caoticamente, incapaz de convergir para áreas mais profundas, porém mais estreitas, da superfície de erro. </a:t>
            </a:r>
          </a:p>
          <a:p>
            <a:endParaRPr lang="nl-BE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0696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Enquanto </a:t>
            </a:r>
            <a:r>
              <a:rPr lang="pt-BR" baseline="0" dirty="0"/>
              <a:t>a </a:t>
            </a:r>
            <a:r>
              <a:rPr lang="pt-BR" dirty="0"/>
              <a:t>direção é determinada pelo</a:t>
            </a:r>
            <a:r>
              <a:rPr lang="pt-BR" baseline="0" dirty="0"/>
              <a:t> vetor</a:t>
            </a:r>
            <a:r>
              <a:rPr lang="pt-BR" dirty="0"/>
              <a:t> gradiente da função de erro, a taxa de aprendizado determina o quão grande um passo é dado nessa direção.</a:t>
            </a:r>
          </a:p>
          <a:p>
            <a:endParaRPr lang="pt-BR" dirty="0"/>
          </a:p>
          <a:p>
            <a:r>
              <a:rPr lang="pt-BR" dirty="0"/>
              <a:t>Se o</a:t>
            </a:r>
            <a:r>
              <a:rPr lang="pt-BR" baseline="0" dirty="0"/>
              <a:t> passo</a:t>
            </a:r>
            <a:r>
              <a:rPr lang="pt-BR" dirty="0"/>
              <a:t> de aprendizagem for muito pequeno, o algoritmo precisará passar por muitas iterações até convergir, o que levará muito tempo.</a:t>
            </a:r>
          </a:p>
          <a:p>
            <a:endParaRPr lang="pt-BR" dirty="0"/>
          </a:p>
          <a:p>
            <a:r>
              <a:rPr lang="pt-BR" dirty="0"/>
              <a:t>Por outro lado, se ele</a:t>
            </a:r>
            <a:r>
              <a:rPr lang="pt-BR" baseline="0" dirty="0"/>
              <a:t> </a:t>
            </a:r>
            <a:r>
              <a:rPr lang="pt-BR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dirty="0"/>
          </a:p>
          <a:p>
            <a:r>
              <a:rPr lang="pt-BR" dirty="0"/>
              <a:t>Assim, o</a:t>
            </a:r>
            <a:r>
              <a:rPr lang="pt-BR" baseline="0" dirty="0"/>
              <a:t> passo </a:t>
            </a:r>
            <a:r>
              <a:rPr lang="pt-BR" dirty="0"/>
              <a:t>de aprendizagem deve ser experimentado/explorado para encontrar o melhor valor que acelere a descida do gradiente.</a:t>
            </a:r>
          </a:p>
          <a:p>
            <a:endParaRPr lang="pt-BR" dirty="0"/>
          </a:p>
          <a:p>
            <a:r>
              <a:rPr lang="pt-BR" dirty="0"/>
              <a:t>Ao usar grandes valores para o passo de aprendizagem, é possível encontrar um ciclo de feedback positivo no qual grandes valores induzem grandes gradientes que, então, induzem uma grande atualização dos pesos. Se essas atualizações aumentarem consistentemente o tamanho dos pesos, então [os pesos] se afastam rapidamente do</a:t>
            </a:r>
            <a:r>
              <a:rPr lang="pt-BR" baseline="0" dirty="0"/>
              <a:t> ponto de mínimo </a:t>
            </a:r>
            <a:r>
              <a:rPr lang="pt-BR" dirty="0"/>
              <a:t>até que ocorra o estouro da precisão numérica.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boa intuição para se ter em mente é que, com uma alta taxa de aprendizado o vetor de pesos “oscila” ou “pula” caoticamente, incapaz de convergir para áreas mais profundas, porém mais estreitas, da superfície de erro. </a:t>
            </a:r>
          </a:p>
          <a:p>
            <a:endParaRPr lang="nl-BE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85167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Se o</a:t>
            </a:r>
            <a:r>
              <a:rPr lang="pt-BR" sz="1200" baseline="0" dirty="0"/>
              <a:t> passo</a:t>
            </a:r>
            <a:r>
              <a:rPr lang="pt-BR" sz="1200" dirty="0"/>
              <a:t> de aprendizagem for muito pequeno, o algoritmo precisará passar por muitas iterações para convergir, o que levará muito tempo.</a:t>
            </a:r>
          </a:p>
          <a:p>
            <a:endParaRPr lang="pt-BR" sz="1200" dirty="0"/>
          </a:p>
          <a:p>
            <a:r>
              <a:rPr lang="pt-BR" sz="1200" dirty="0"/>
              <a:t>Por outro lado, se ele</a:t>
            </a:r>
            <a:r>
              <a:rPr lang="pt-BR" sz="1200" baseline="0" dirty="0"/>
              <a:t> </a:t>
            </a:r>
            <a:r>
              <a:rPr lang="pt-BR" sz="1200" dirty="0"/>
              <a:t>for muito grande, você pode pular o vale e acabar do outro lado, possivelmente até mais alto do que antes. Isso pode fazer o algoritmo divergir, com valores cada vez maiores, falhando em encontrar uma boa solução.</a:t>
            </a:r>
          </a:p>
          <a:p>
            <a:endParaRPr lang="pt-BR" sz="1200" dirty="0"/>
          </a:p>
          <a:p>
            <a:r>
              <a:rPr lang="pt-BR" sz="1200" dirty="0"/>
              <a:t>Assim, o</a:t>
            </a:r>
            <a:r>
              <a:rPr lang="pt-BR" sz="1200" baseline="0" dirty="0"/>
              <a:t> passo </a:t>
            </a:r>
            <a:r>
              <a:rPr lang="pt-BR" sz="1200" dirty="0"/>
              <a:t>de aprendizagem deve ser experimentado/explorado para encontrar o melhor valor que acelere a descida do gradiente.</a:t>
            </a:r>
          </a:p>
          <a:p>
            <a:endParaRPr lang="pt-BR" sz="1200" dirty="0"/>
          </a:p>
          <a:p>
            <a:r>
              <a:rPr lang="pt-BR" sz="1200" dirty="0"/>
              <a:t>O momentum adiciona uma fração da atualização de peso anterior a atual. Quando o gradiente continua apontando na mesma direção por atualizações consecutivas, isso aumentará o tamanho dos passos dados em direção ao mínimo.</a:t>
            </a:r>
            <a:r>
              <a:rPr lang="pt-BR" sz="1200" baseline="0" dirty="0"/>
              <a:t> </a:t>
            </a:r>
            <a:r>
              <a:rPr lang="pt-BR" sz="1200" dirty="0"/>
              <a:t>Por outro lado, quando o gradiente continua mudando de direção, o momentum suaviza as variações, ou seja, as atualizações.</a:t>
            </a:r>
          </a:p>
          <a:p>
            <a:endParaRPr lang="pt-BR" sz="1200" dirty="0"/>
          </a:p>
          <a:p>
            <a:r>
              <a:rPr lang="pt-BR" sz="1200" b="1" dirty="0"/>
              <a:t>OBS</a:t>
            </a:r>
            <a:r>
              <a:rPr lang="pt-BR" sz="1200" dirty="0"/>
              <a:t>.: Passos largos durante as iterações iniciais e curtos conforme o algoritmo se aproxima do mínimo podem acelerar a convergência.</a:t>
            </a:r>
            <a:r>
              <a:rPr lang="pt-BR" sz="1200" baseline="0" dirty="0"/>
              <a:t> </a:t>
            </a:r>
            <a:r>
              <a:rPr lang="pt-BR" sz="1200" dirty="0"/>
              <a:t>Este tipo de abordagem é implementada por </a:t>
            </a:r>
            <a:r>
              <a:rPr lang="pt-BR" sz="1200" b="1" i="1" dirty="0"/>
              <a:t>esquemas de variação programada</a:t>
            </a:r>
            <a:r>
              <a:rPr lang="pt-BR" sz="1200" dirty="0"/>
              <a:t> do passo de aprendizagem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Por exemplo: momentum, </a:t>
            </a:r>
            <a:r>
              <a:rPr lang="pt-BR" sz="1200" dirty="0" err="1"/>
              <a:t>anelamento</a:t>
            </a:r>
            <a:r>
              <a:rPr lang="pt-BR" sz="1200" dirty="0"/>
              <a:t>, algoritmos de otimização com ajuste adaptativo do passo de aprendizagem (</a:t>
            </a:r>
            <a:r>
              <a:rPr lang="pt-BR" sz="1200" dirty="0" err="1"/>
              <a:t>RMSProp</a:t>
            </a:r>
            <a:r>
              <a:rPr lang="pt-BR" sz="1200" dirty="0"/>
              <a:t>, </a:t>
            </a:r>
            <a:r>
              <a:rPr lang="pt-BR" sz="1200" dirty="0" err="1"/>
              <a:t>AdaGrad</a:t>
            </a:r>
            <a:r>
              <a:rPr lang="pt-BR" sz="1200" dirty="0"/>
              <a:t>, Adam, etc.).</a:t>
            </a:r>
            <a:endParaRPr lang="nl-BE" sz="12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9986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sabemos se o gradiente</a:t>
            </a:r>
            <a:r>
              <a:rPr lang="pt-BR" baseline="0" dirty="0"/>
              <a:t> descendente está funcionando corretamente em relação ao aprendizado?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Como</a:t>
            </a:r>
            <a:r>
              <a:rPr lang="pt-BR" baseline="0" dirty="0"/>
              <a:t> você consegue </a:t>
            </a:r>
            <a:r>
              <a:rPr lang="pt-BR" baseline="0" dirty="0" err="1"/>
              <a:t>debugar</a:t>
            </a:r>
            <a:r>
              <a:rPr lang="pt-BR" baseline="0" dirty="0"/>
              <a:t>/depurar o algoritmo do gradiente descendente quando não é possível se plotar o gráfico de contorno e verificar o caminho seguido pelo algoritmo?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2861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termo momento implementa uma média temporal dos vetores gradientes passados.</a:t>
            </a:r>
          </a:p>
          <a:p>
            <a:r>
              <a:rPr lang="pt-BR" dirty="0"/>
              <a:t>Pode ser entendido como o batelada, mas só que temporalmente.</a:t>
            </a:r>
          </a:p>
          <a:p>
            <a:endParaRPr lang="pt-BR" dirty="0"/>
          </a:p>
          <a:p>
            <a:r>
              <a:rPr lang="pt-BR" dirty="0"/>
              <a:t>O termo momento adiciona a média móvel exponencialmente decrescente das estimativas anteriores do gradiente.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4601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passo é adaptado com base no histórico (</a:t>
            </a:r>
            <a:r>
              <a:rPr lang="en-US" dirty="0" err="1"/>
              <a:t>comportamento</a:t>
            </a:r>
            <a:r>
              <a:rPr lang="en-US" dirty="0"/>
              <a:t> passado)</a:t>
            </a:r>
            <a:r>
              <a:rPr lang="pt-BR" dirty="0"/>
              <a:t> dos gradientes.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3186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/zz4fap/t319_aprendizado_de_maquina/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</a:t>
            </a:r>
            <a:r>
              <a:rPr lang="pt-BR" dirty="0" err="1"/>
              <a:t>regression</a:t>
            </a:r>
            <a:r>
              <a:rPr lang="pt-BR" dirty="0"/>
              <a:t>/</a:t>
            </a:r>
            <a:r>
              <a:rPr lang="pt-BR" dirty="0" err="1"/>
              <a:t>gd_versions</a:t>
            </a:r>
            <a:r>
              <a:rPr lang="pt-BR" dirty="0"/>
              <a:t>/</a:t>
            </a:r>
            <a:r>
              <a:rPr lang="pt-BR" dirty="0" err="1"/>
              <a:t>gde_com_redução_gradual.ipynb</a:t>
            </a:r>
            <a:endParaRPr lang="pt-BR" dirty="0"/>
          </a:p>
          <a:p>
            <a:endParaRPr lang="pt-BR" sz="1200" baseline="0" dirty="0"/>
          </a:p>
          <a:p>
            <a:r>
              <a:rPr lang="pt-BR" sz="1200" baseline="0" dirty="0"/>
              <a:t>Os passos começam com grandes valores (o que ajuda a progredir rapidamente e a escapar de mínimos locais, casos em que a superfície de erro seja bastante irregular) e depois diminuem cada vez mais, permitindo que o algoritmo se estabilize no mínimo global.</a:t>
            </a:r>
          </a:p>
          <a:p>
            <a:endParaRPr lang="pt-BR" sz="1200" baseline="0" dirty="0"/>
          </a:p>
          <a:p>
            <a:r>
              <a:rPr lang="pt-BR" dirty="0"/>
              <a:t>Se a taxa de aprendizagem for reduzida muito rapidamente, o algoritmo poderá ficar preso no mínimo local ou até ficar</a:t>
            </a:r>
            <a:r>
              <a:rPr lang="pt-BR" baseline="0" dirty="0"/>
              <a:t> travado antes de chegar ao mínimo</a:t>
            </a:r>
            <a:r>
              <a:rPr lang="pt-BR" dirty="0"/>
              <a:t>. Se a taxa de aprendizado for reduzida muito lentamente, o algoritmo poderá oscilar ao</a:t>
            </a:r>
            <a:r>
              <a:rPr lang="pt-BR" baseline="0" dirty="0"/>
              <a:t> redor do</a:t>
            </a:r>
            <a:r>
              <a:rPr lang="pt-BR" dirty="0"/>
              <a:t> mínimo por um longo tempo e acabar com uma solução não ótima (</a:t>
            </a:r>
            <a:r>
              <a:rPr lang="pt-BR" dirty="0" err="1"/>
              <a:t>sub-ótima</a:t>
            </a:r>
            <a:r>
              <a:rPr lang="pt-BR" dirty="0"/>
              <a:t>) caso o treinamento se encerre muito cedo.</a:t>
            </a:r>
          </a:p>
          <a:p>
            <a:endParaRPr lang="pt-BR" dirty="0"/>
          </a:p>
          <a:p>
            <a:r>
              <a:rPr lang="pt-BR" b="1" dirty="0"/>
              <a:t>Alguns tipos de esquema para ajuste do passo de aprendizagem são: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por etapas ou degraus</a:t>
            </a:r>
            <a:r>
              <a:rPr lang="pt-BR" dirty="0"/>
              <a:t>: reduz a taxa de aprendizado de algum fator a cada número pré-definido de iterações ou épocas. Os valores típicos são utilizados para reduzir a taxa de aprendizado pela metade a cada número pré-definido de épocas. Esses números dependem muito do tipo de problema e do modelo. Uma heurística que você pode ver na prática é observar o erro de validação durante o treinamento com uma taxa de aprendizado fixa e reduzir a taxa de aprendizado em uma constante (por exemplo, 0,5) sempre que o erro de validação parar de decrescer.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exponencial</a:t>
            </a:r>
            <a:r>
              <a:rPr lang="pt-BR" dirty="0"/>
              <a:t>: tem a forma matemática α = α0 e^(-</a:t>
            </a:r>
            <a:r>
              <a:rPr lang="pt-BR" dirty="0" err="1"/>
              <a:t>kt</a:t>
            </a:r>
            <a:r>
              <a:rPr lang="pt-BR" dirty="0"/>
              <a:t>), onde α0, k são hiperparâmetros e t é o número da iteração (mas você também pode usar o número de épocas).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temporal</a:t>
            </a:r>
            <a:r>
              <a:rPr lang="pt-BR" dirty="0"/>
              <a:t>: tem a forma matemática α = α0 / (1 + </a:t>
            </a:r>
            <a:r>
              <a:rPr lang="pt-BR" dirty="0" err="1"/>
              <a:t>kt</a:t>
            </a:r>
            <a:r>
              <a:rPr lang="pt-BR" dirty="0"/>
              <a:t>), onde a0, k são hiperparâmetros e t é o número da iteração.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Exemplo</a:t>
            </a:r>
            <a:r>
              <a:rPr lang="pt-BR" dirty="0"/>
              <a:t>: stocastic_gradient_descent_with_learning_schedule_and_with_figures.ipynb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690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/zz4fap/t319_aprendizado_de_maquina/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</a:t>
            </a:r>
            <a:r>
              <a:rPr lang="pt-BR" dirty="0" err="1"/>
              <a:t>regression</a:t>
            </a:r>
            <a:r>
              <a:rPr lang="pt-BR" dirty="0"/>
              <a:t>/</a:t>
            </a:r>
            <a:r>
              <a:rPr lang="pt-BR" dirty="0" err="1"/>
              <a:t>gd_versions</a:t>
            </a:r>
            <a:r>
              <a:rPr lang="pt-BR" dirty="0"/>
              <a:t>/</a:t>
            </a:r>
            <a:r>
              <a:rPr lang="pt-BR" dirty="0" err="1"/>
              <a:t>gde_com_redução_gradual.ipynb</a:t>
            </a:r>
            <a:endParaRPr lang="pt-BR" dirty="0"/>
          </a:p>
          <a:p>
            <a:endParaRPr lang="pt-BR" sz="1200" baseline="0" dirty="0"/>
          </a:p>
          <a:p>
            <a:r>
              <a:rPr lang="pt-BR" sz="1200" baseline="0" dirty="0"/>
              <a:t>Os passos começam com grandes valores (o que ajuda a progredir rapidamente e a escapar de mínimos locais, casos em que a superfície de erro seja bastante irregular) e depois diminuem cada vez mais, permitindo que o algoritmo se estabilize no mínimo global.</a:t>
            </a:r>
          </a:p>
          <a:p>
            <a:endParaRPr lang="pt-BR" sz="1200" baseline="0" dirty="0"/>
          </a:p>
          <a:p>
            <a:r>
              <a:rPr lang="pt-BR" dirty="0"/>
              <a:t>Se a taxa de aprendizagem for reduzida muito rapidamente, o algoritmo poderá ficar preso no mínimo local ou até ficar</a:t>
            </a:r>
            <a:r>
              <a:rPr lang="pt-BR" baseline="0" dirty="0"/>
              <a:t> travado antes de chegar ao mínimo</a:t>
            </a:r>
            <a:r>
              <a:rPr lang="pt-BR" dirty="0"/>
              <a:t>. Se a taxa de aprendizado for reduzida muito lentamente, o algoritmo poderá oscilar ao</a:t>
            </a:r>
            <a:r>
              <a:rPr lang="pt-BR" baseline="0" dirty="0"/>
              <a:t> redor do</a:t>
            </a:r>
            <a:r>
              <a:rPr lang="pt-BR" dirty="0"/>
              <a:t> mínimo por um longo tempo e acabar com uma solução não ótima (</a:t>
            </a:r>
            <a:r>
              <a:rPr lang="pt-BR" dirty="0" err="1"/>
              <a:t>sub-ótima</a:t>
            </a:r>
            <a:r>
              <a:rPr lang="pt-BR" dirty="0"/>
              <a:t>) caso o treinamento se encerre muito cedo.</a:t>
            </a:r>
          </a:p>
          <a:p>
            <a:endParaRPr lang="pt-BR" dirty="0"/>
          </a:p>
          <a:p>
            <a:r>
              <a:rPr lang="pt-BR" b="1" dirty="0"/>
              <a:t>Alguns tipos de esquema para ajuste do passo de aprendizagem são: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por etapas ou degraus</a:t>
            </a:r>
            <a:r>
              <a:rPr lang="pt-BR" dirty="0"/>
              <a:t>: reduz a taxa de aprendizado de algum fator a cada número pré-definido de iterações ou épocas. Os valores típicos são utilizados para reduzir a taxa de aprendizado pela metade a cada número pré-definido de épocas. Esses números dependem muito do tipo de problema e do modelo. Uma heurística que você pode ver na prática é observar o erro de validação durante o treinamento com uma taxa de aprendizado fixa e reduzir a taxa de aprendizado em uma constante (por exemplo, 0,5) sempre que o erro de validação parar de decrescer.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exponencial</a:t>
            </a:r>
            <a:r>
              <a:rPr lang="pt-BR" dirty="0"/>
              <a:t>: tem a forma matemática α = α0 e^(-</a:t>
            </a:r>
            <a:r>
              <a:rPr lang="pt-BR" dirty="0" err="1"/>
              <a:t>kt</a:t>
            </a:r>
            <a:r>
              <a:rPr lang="pt-BR" dirty="0"/>
              <a:t>), onde α0, k são hiperparâmetros e t é o número da iteração (mas você também pode usar o número de épocas).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temporal</a:t>
            </a:r>
            <a:r>
              <a:rPr lang="pt-BR" dirty="0"/>
              <a:t>: tem a forma matemática α = α0 / (1 + </a:t>
            </a:r>
            <a:r>
              <a:rPr lang="pt-BR" dirty="0" err="1"/>
              <a:t>kt</a:t>
            </a:r>
            <a:r>
              <a:rPr lang="pt-BR" dirty="0"/>
              <a:t>), onde a0, k são hiperparâmetros e t é o número da iteração.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Exemplo</a:t>
            </a:r>
            <a:r>
              <a:rPr lang="pt-BR" dirty="0"/>
              <a:t>: stocastic_gradient_descent_with_learning_schedule_and_with_figures.ipynb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45870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/zz4fap/t319_aprendizado_de_maquina/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</a:t>
            </a:r>
            <a:r>
              <a:rPr lang="pt-BR" dirty="0" err="1"/>
              <a:t>regression</a:t>
            </a:r>
            <a:r>
              <a:rPr lang="pt-BR" dirty="0"/>
              <a:t>/</a:t>
            </a:r>
            <a:r>
              <a:rPr lang="pt-BR" dirty="0" err="1"/>
              <a:t>gd_versions</a:t>
            </a:r>
            <a:r>
              <a:rPr lang="pt-BR" dirty="0"/>
              <a:t>/</a:t>
            </a:r>
            <a:r>
              <a:rPr lang="pt-BR" dirty="0" err="1"/>
              <a:t>gde_com_redução_gradual.ipynb</a:t>
            </a:r>
            <a:endParaRPr lang="pt-BR" dirty="0"/>
          </a:p>
          <a:p>
            <a:endParaRPr lang="pt-BR" sz="1200" baseline="0" dirty="0"/>
          </a:p>
          <a:p>
            <a:r>
              <a:rPr lang="pt-BR" sz="1200" baseline="0" dirty="0"/>
              <a:t>Os passos começam com grandes valores (o que ajuda a progredir rapidamente e a escapar de mínimos locais, casos em que a superfície de erro seja bastante irregular) e depois diminuem cada vez mais, permitindo que o algoritmo se estabilize no mínimo global.</a:t>
            </a:r>
          </a:p>
          <a:p>
            <a:endParaRPr lang="pt-BR" sz="1200" baseline="0" dirty="0"/>
          </a:p>
          <a:p>
            <a:r>
              <a:rPr lang="pt-BR" dirty="0"/>
              <a:t>Se a taxa de aprendizagem for reduzida muito rapidamente, o algoritmo poderá ficar preso no mínimo local ou até ficar</a:t>
            </a:r>
            <a:r>
              <a:rPr lang="pt-BR" baseline="0" dirty="0"/>
              <a:t> travado antes de chegar ao mínimo</a:t>
            </a:r>
            <a:r>
              <a:rPr lang="pt-BR" dirty="0"/>
              <a:t>. Se a taxa de aprendizado for reduzida muito lentamente, o algoritmo poderá oscilar ao</a:t>
            </a:r>
            <a:r>
              <a:rPr lang="pt-BR" baseline="0" dirty="0"/>
              <a:t> redor do</a:t>
            </a:r>
            <a:r>
              <a:rPr lang="pt-BR" dirty="0"/>
              <a:t> mínimo por um longo tempo e acabar com uma solução não ótima (</a:t>
            </a:r>
            <a:r>
              <a:rPr lang="pt-BR" dirty="0" err="1"/>
              <a:t>sub-ótima</a:t>
            </a:r>
            <a:r>
              <a:rPr lang="pt-BR" dirty="0"/>
              <a:t>) caso o treinamento se encerre muito cedo.</a:t>
            </a:r>
          </a:p>
          <a:p>
            <a:endParaRPr lang="pt-BR" dirty="0"/>
          </a:p>
          <a:p>
            <a:r>
              <a:rPr lang="pt-BR" b="1" dirty="0"/>
              <a:t>Alguns tipos de esquema para ajuste do passo de aprendizagem são: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por etapas ou degraus</a:t>
            </a:r>
            <a:r>
              <a:rPr lang="pt-BR" dirty="0"/>
              <a:t>: reduz a taxa de aprendizado de algum fator a cada número pré-definido de iterações ou épocas. Os valores típicos são utilizados para reduzir a taxa de aprendizado pela metade a cada número pré-definido de épocas. Esses números dependem muito do tipo de problema e do modelo. Uma heurística que você pode ver na prática é observar o erro de validação durante o treinamento com uma taxa de aprendizado fixa e reduzir a taxa de aprendizado em uma constante (por exemplo, 0,5) sempre que o erro de validação parar de decrescer.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exponencial</a:t>
            </a:r>
            <a:r>
              <a:rPr lang="pt-BR" dirty="0"/>
              <a:t>: tem a forma matemática α = α0 e^(-</a:t>
            </a:r>
            <a:r>
              <a:rPr lang="pt-BR" dirty="0" err="1"/>
              <a:t>kt</a:t>
            </a:r>
            <a:r>
              <a:rPr lang="pt-BR" dirty="0"/>
              <a:t>), onde α0, k são hiperparâmetros e t é o número da iteração (mas você também pode usar o número de épocas).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Decaimento temporal</a:t>
            </a:r>
            <a:r>
              <a:rPr lang="pt-BR" dirty="0"/>
              <a:t>: tem a forma matemática α = α0 / (1 + </a:t>
            </a:r>
            <a:r>
              <a:rPr lang="pt-BR" dirty="0" err="1"/>
              <a:t>kt</a:t>
            </a:r>
            <a:r>
              <a:rPr lang="pt-BR" dirty="0"/>
              <a:t>), onde a0, k são hiperparâmetros e t é o número da iteração.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Exemplo</a:t>
            </a:r>
            <a:r>
              <a:rPr lang="pt-BR" dirty="0"/>
              <a:t>: stocastic_gradient_descent_with_learning_schedule_and_with_figures.ipynb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2569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COLAB:</a:t>
            </a:r>
            <a:r>
              <a:rPr lang="pt-BR" baseline="0" dirty="0"/>
              <a:t> </a:t>
            </a:r>
            <a:r>
              <a:rPr lang="pt-BR" dirty="0"/>
              <a:t>https://colab.research.google.com/github/zz4fap/t319_aprendizado_de_maquina/blob/main/labs/Laboratorio4.ipynb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19925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49383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471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5109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7609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termo momentum aumenta para dimensões cujos gradientes apontam nas mesmas direções e reduz atualizações para dimensões cujos gradientes mudam de direção. Como resultado, temos convergência mais rápida e oscilação reduzida.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86674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613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918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696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52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826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666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10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600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290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959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14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15A5-E95B-43EB-9AC7-9A96397448C0}" type="datetimeFigureOut">
              <a:rPr lang="nl-BE" smtClean="0"/>
              <a:t>9/10/2026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678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hyperlink" Target="https://colab.research.google.com/github/zz4fap/t319_aprendizado_de_maquina/blob/main/notebooks/regression/selecionando_o_passo_de_aprendizagem.ipynb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zz4fap/t319_aprendizado_de_maquina/blob/main/notebooks/regression/gd_versions/gde_com_redu&#231;&#227;o_gradual.ipynb" TargetMode="External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19_aprendizado_de_maquina/blob/main/labs/Laboratorio4.ipynb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5" Type="http://schemas.openxmlformats.org/officeDocument/2006/relationships/image" Target="../media/image1120.png"/><Relationship Id="rId4" Type="http://schemas.openxmlformats.org/officeDocument/2006/relationships/image" Target="../media/image11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1.png"/><Relationship Id="rId4" Type="http://schemas.openxmlformats.org/officeDocument/2006/relationships/image" Target="../media/image39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44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390.png"/><Relationship Id="rId4" Type="http://schemas.openxmlformats.org/officeDocument/2006/relationships/image" Target="../media/image4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0.png"/><Relationship Id="rId4" Type="http://schemas.openxmlformats.org/officeDocument/2006/relationships/image" Target="../media/image47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0.png"/><Relationship Id="rId3" Type="http://schemas.openxmlformats.org/officeDocument/2006/relationships/image" Target="../media/image1270.png"/><Relationship Id="rId7" Type="http://schemas.openxmlformats.org/officeDocument/2006/relationships/image" Target="../media/image1310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0.png"/><Relationship Id="rId5" Type="http://schemas.openxmlformats.org/officeDocument/2006/relationships/image" Target="../media/image1290.png"/><Relationship Id="rId4" Type="http://schemas.openxmlformats.org/officeDocument/2006/relationships/image" Target="../media/image1280.png"/><Relationship Id="rId9" Type="http://schemas.openxmlformats.org/officeDocument/2006/relationships/image" Target="../media/image13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T319 - Introdução ao Aprendizado de Máquina:</a:t>
            </a:r>
            <a:br>
              <a:rPr lang="pt-BR" dirty="0"/>
            </a:br>
            <a:r>
              <a:rPr lang="pt-BR" b="1" i="1" dirty="0"/>
              <a:t>Regressão Linear (Parte III)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35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Recapitulando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284672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 tópico anterior, falamos sobre o vetor gradiente.</a:t>
                </a:r>
              </a:p>
              <a:p>
                <a:r>
                  <a:rPr lang="pt-BR" dirty="0"/>
                  <a:t>Aprendemos dois algoritmos que usam o vetor gradiente para a resolução de problemas de otimização: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/>
                  <a:t>Gradiente ascendente </a:t>
                </a:r>
                <a:r>
                  <a:rPr lang="pt-BR" dirty="0"/>
                  <a:t>para problemas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maximização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/>
                  <a:t>Gradiente descendente</a:t>
                </a:r>
                <a:r>
                  <a:rPr lang="pt-BR" dirty="0"/>
                  <a:t> para problemas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minimização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Aprendemos as três versões do gradiente descendente: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Batelada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Estocástico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Mini-batch</a:t>
                </a:r>
              </a:p>
              <a:p>
                <a:r>
                  <a:rPr lang="pt-BR" dirty="0"/>
                  <a:t>Neste tópico, discutiremos o quão importante é o ajuste da taxa de aprendizagem,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284672" cy="5032376"/>
              </a:xfrm>
              <a:blipFill>
                <a:blip r:embed="rId2"/>
                <a:stretch>
                  <a:fillRect l="-918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77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549E3-7E5B-04E3-09ED-A7C3171C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da taxa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323DEB1-E32D-5111-52A9-A936D5B18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3790" y="1825624"/>
                <a:ext cx="649821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Conforme nós vimos antes, no gradiente descendente, o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negativo</a:t>
                </a:r>
                <a:r>
                  <a:rPr lang="pt-BR" dirty="0"/>
                  <a:t> do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vetor gradiente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pt-BR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dá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direção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de decrescimento mais rápido de uma função</a:t>
                </a:r>
                <a:r>
                  <a:rPr lang="pt-BR" b="0" i="0" dirty="0">
                    <a:effectLst/>
                  </a:rPr>
                  <a:t> a partir de um ponto qualquer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0" i="0" dirty="0">
                    <a:effectLst/>
                  </a:rPr>
                  <a:t>e sua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magnitude</a:t>
                </a:r>
                <a:r>
                  <a:rPr lang="pt-BR" b="0" i="0" dirty="0">
                    <a:effectLst/>
                  </a:rPr>
                  <a:t> indica 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taxa de variação da função</a:t>
                </a:r>
                <a:r>
                  <a:rPr lang="pt-BR" b="0" i="0" dirty="0">
                    <a:effectLst/>
                  </a:rPr>
                  <a:t> nessa direção.</a:t>
                </a:r>
                <a:endParaRPr lang="pt-BR" b="1" i="1" dirty="0">
                  <a:effectLst/>
                </a:endParaRPr>
              </a:p>
              <a:p>
                <a:r>
                  <a:rPr lang="pt-BR" dirty="0"/>
                  <a:t>Porém, ele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não nos informa a distância até o ponto de máximo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323DEB1-E32D-5111-52A9-A936D5B18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3790" y="1825624"/>
                <a:ext cx="6498210" cy="5032375"/>
              </a:xfrm>
              <a:blipFill>
                <a:blip r:embed="rId2"/>
                <a:stretch>
                  <a:fillRect l="-1689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860F9137-10B0-2765-3CAF-0E8F4196E6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46"/>
          <a:stretch/>
        </p:blipFill>
        <p:spPr>
          <a:xfrm>
            <a:off x="191677" y="2780906"/>
            <a:ext cx="5270984" cy="18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0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549E3-7E5B-04E3-09ED-A7C3171C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da taxa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323DEB1-E32D-5111-52A9-A936D5B18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3534" y="1825624"/>
                <a:ext cx="655162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para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andarmos na direção oposta à apontada pelo vetor gradiente</a:t>
                </a:r>
                <a:r>
                  <a:rPr lang="pt-BR" dirty="0"/>
                  <a:t>, usamos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porcentagem</a:t>
                </a:r>
                <a:r>
                  <a:rPr lang="pt-BR" dirty="0"/>
                  <a:t> do seu valor.</a:t>
                </a:r>
              </a:p>
              <a:p>
                <a:r>
                  <a:rPr lang="pt-BR" dirty="0"/>
                  <a:t>Essa porcentagem é dada pela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taxa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de aprendizagem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, que é sempre um valor maior do que zero.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323DEB1-E32D-5111-52A9-A936D5B18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3534" y="1825624"/>
                <a:ext cx="6551629" cy="5032375"/>
              </a:xfrm>
              <a:blipFill>
                <a:blip r:embed="rId2"/>
                <a:stretch>
                  <a:fillRect l="-1676" t="-1937" r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0979B72-FA06-3341-0C8C-22E5606766C2}"/>
                  </a:ext>
                </a:extLst>
              </p:cNvPr>
              <p:cNvSpPr txBox="1"/>
              <p:nvPr/>
            </p:nvSpPr>
            <p:spPr>
              <a:xfrm>
                <a:off x="1074655" y="3428804"/>
                <a:ext cx="3777792" cy="913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0979B72-FA06-3341-0C8C-22E56067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5" y="3428804"/>
                <a:ext cx="3777792" cy="913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89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549E3-7E5B-04E3-09ED-A7C3171C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da taxa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23DEB1-E32D-5111-52A9-A936D5B18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534" y="1825624"/>
            <a:ext cx="6579909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A taxa de aprendizagem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controla o quão "grande" ou "pequena"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é a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chemeClr val="accent2"/>
                </a:solidFill>
                <a:effectLst/>
              </a:rPr>
              <a:t>atualização</a:t>
            </a:r>
            <a:r>
              <a:rPr lang="pt-BR" b="1" i="1" dirty="0">
                <a:solidFill>
                  <a:srgbClr val="00B050"/>
                </a:solidFill>
                <a:effectLst/>
              </a:rPr>
              <a:t> aplicada aos pesos </a:t>
            </a:r>
            <a:r>
              <a:rPr lang="pt-BR" b="0" i="0" dirty="0">
                <a:effectLst/>
              </a:rPr>
              <a:t>do modelo em cada iteração do processo de treinamento.</a:t>
            </a:r>
          </a:p>
          <a:p>
            <a:r>
              <a:rPr lang="pt-BR" dirty="0"/>
              <a:t>Ou seja, ela determina o </a:t>
            </a:r>
            <a:r>
              <a:rPr lang="pt-BR" b="1" i="1" dirty="0">
                <a:solidFill>
                  <a:schemeClr val="accent2"/>
                </a:solidFill>
              </a:rPr>
              <a:t>tamanho do passo</a:t>
            </a:r>
            <a:r>
              <a:rPr lang="pt-BR" b="1" i="1" dirty="0">
                <a:solidFill>
                  <a:srgbClr val="00B050"/>
                </a:solidFill>
              </a:rPr>
              <a:t> dado na direção oposta à indicada pelo vetor gradiente</a:t>
            </a:r>
            <a:r>
              <a:rPr lang="pt-BR" dirty="0"/>
              <a:t>.</a:t>
            </a:r>
          </a:p>
          <a:p>
            <a:r>
              <a:rPr lang="pt-BR" b="1" i="1" dirty="0">
                <a:solidFill>
                  <a:srgbClr val="FF0000"/>
                </a:solidFill>
                <a:effectLst/>
              </a:rPr>
              <a:t>Porém, qual deve ser </a:t>
            </a:r>
            <a:r>
              <a:rPr lang="pt-BR" b="1" i="1" dirty="0">
                <a:solidFill>
                  <a:srgbClr val="FF0000"/>
                </a:solidFill>
              </a:rPr>
              <a:t>o tamanho desse passo?</a:t>
            </a:r>
            <a:endParaRPr lang="pt-BR" b="1" i="1" dirty="0">
              <a:solidFill>
                <a:srgbClr val="FF0000"/>
              </a:solidFill>
              <a:effectLst/>
            </a:endParaRPr>
          </a:p>
          <a:p>
            <a:endParaRPr lang="pt-BR" dirty="0"/>
          </a:p>
          <a:p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0979B72-FA06-3341-0C8C-22E5606766C2}"/>
                  </a:ext>
                </a:extLst>
              </p:cNvPr>
              <p:cNvSpPr txBox="1"/>
              <p:nvPr/>
            </p:nvSpPr>
            <p:spPr>
              <a:xfrm>
                <a:off x="1074655" y="3428804"/>
                <a:ext cx="3777792" cy="913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0979B72-FA06-3341-0C8C-22E56067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5" y="3428804"/>
                <a:ext cx="3777792" cy="913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66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F82374-172C-DD33-1E6D-772199B0F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61" y="1883388"/>
            <a:ext cx="10935878" cy="30912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b="1" i="1" dirty="0"/>
              <a:t>Portanto, como veremos, a escolha da taxa de aprendizagem é muito importante para o </a:t>
            </a:r>
            <a:r>
              <a:rPr lang="pt-BR" sz="5400" b="1" i="1" dirty="0">
                <a:solidFill>
                  <a:schemeClr val="accent2"/>
                </a:solidFill>
              </a:rPr>
              <a:t>aprendizado</a:t>
            </a:r>
            <a:r>
              <a:rPr lang="pt-BR" sz="5400" b="1" i="1" dirty="0"/>
              <a:t> de um modelo de ML.</a:t>
            </a:r>
          </a:p>
        </p:txBody>
      </p:sp>
    </p:spTree>
    <p:extLst>
      <p:ext uri="{BB962C8B-B14F-4D97-AF65-F5344CB8AC3E}">
        <p14:creationId xmlns:p14="http://schemas.microsoft.com/office/powerpoint/2010/main" val="840985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FB011-1700-FEDE-C81B-65D08163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da taxa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7D7F6-2609-AE39-CC56-50E8812A0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180974" cy="5032375"/>
          </a:xfrm>
        </p:spPr>
        <p:txBody>
          <a:bodyPr>
            <a:normAutofit/>
          </a:bodyPr>
          <a:lstStyle/>
          <a:p>
            <a:r>
              <a:rPr lang="pt-BR" dirty="0"/>
              <a:t>A taxa </a:t>
            </a:r>
            <a:r>
              <a:rPr lang="pt-BR" b="0" i="0" dirty="0">
                <a:effectLst/>
              </a:rPr>
              <a:t>de aprendizagem é um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hiperparâmetro</a:t>
            </a:r>
            <a:r>
              <a:rPr lang="pt-BR" b="0" i="0" dirty="0">
                <a:effectLst/>
              </a:rPr>
              <a:t> que influencia diretamente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desempenho e a convergência </a:t>
            </a:r>
            <a:r>
              <a:rPr lang="pt-BR" b="0" i="0" dirty="0">
                <a:effectLst/>
              </a:rPr>
              <a:t>do algoritmo do gradiente descendente.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b="1" i="0" dirty="0">
                <a:effectLst/>
              </a:rPr>
              <a:t>Hiperparâmetros</a:t>
            </a:r>
            <a:r>
              <a:rPr lang="pt-BR" sz="2400" b="0" i="0" dirty="0">
                <a:effectLst/>
              </a:rPr>
              <a:t>: são </a:t>
            </a:r>
            <a:r>
              <a:rPr lang="pt-BR" sz="2400" b="1" i="1" dirty="0">
                <a:solidFill>
                  <a:srgbClr val="00B050"/>
                </a:solidFill>
                <a:effectLst/>
              </a:rPr>
              <a:t>parâmetros que </a:t>
            </a:r>
            <a:r>
              <a:rPr lang="pt-BR" sz="2400" b="1" i="1" dirty="0">
                <a:solidFill>
                  <a:schemeClr val="accent2"/>
                </a:solidFill>
                <a:effectLst/>
              </a:rPr>
              <a:t>não são aprendidos </a:t>
            </a:r>
            <a:r>
              <a:rPr lang="pt-BR" sz="2400" b="1" i="1" dirty="0">
                <a:solidFill>
                  <a:srgbClr val="00B050"/>
                </a:solidFill>
                <a:effectLst/>
              </a:rPr>
              <a:t>durante o treinamento </a:t>
            </a:r>
            <a:r>
              <a:rPr lang="pt-BR" sz="2400" b="0" i="0" dirty="0">
                <a:effectLst/>
              </a:rPr>
              <a:t>do modelo, mas que </a:t>
            </a:r>
            <a:r>
              <a:rPr lang="pt-BR" sz="2400" b="1" i="1" dirty="0">
                <a:solidFill>
                  <a:schemeClr val="accent2"/>
                </a:solidFill>
                <a:effectLst/>
              </a:rPr>
              <a:t>influenciam</a:t>
            </a:r>
            <a:r>
              <a:rPr lang="pt-BR" sz="2400" b="0" i="0" dirty="0">
                <a:effectLst/>
              </a:rPr>
              <a:t> </a:t>
            </a:r>
            <a:r>
              <a:rPr lang="pt-BR" sz="2400" dirty="0"/>
              <a:t>seu</a:t>
            </a:r>
            <a:r>
              <a:rPr lang="pt-BR" sz="2400" b="0" i="0" dirty="0">
                <a:effectLst/>
              </a:rPr>
              <a:t> aprendizado.</a:t>
            </a:r>
            <a:endParaRPr lang="pt-BR" b="0" i="0" dirty="0">
              <a:effectLst/>
            </a:endParaRPr>
          </a:p>
          <a:p>
            <a:r>
              <a:rPr lang="pt-BR" b="0" i="0" dirty="0">
                <a:effectLst/>
              </a:rPr>
              <a:t>Valores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muito pequenos </a:t>
            </a:r>
            <a:r>
              <a:rPr lang="pt-BR" b="0" i="0" dirty="0">
                <a:effectLst/>
              </a:rPr>
              <a:t>podem resultar 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treinamento lento</a:t>
            </a:r>
            <a:r>
              <a:rPr lang="pt-BR" b="0" i="0" dirty="0">
                <a:effectLst/>
              </a:rPr>
              <a:t>, enquanto valores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muito grandes</a:t>
            </a:r>
            <a:r>
              <a:rPr lang="pt-BR" b="0" i="0" dirty="0">
                <a:effectLst/>
              </a:rPr>
              <a:t> podem causar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divergência</a:t>
            </a:r>
            <a:r>
              <a:rPr lang="pt-BR" b="0" i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3809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269A-BAE6-D3D2-D3D5-D3729950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D89F4-1942-2D2B-889C-C3577D0B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Escolha da taxa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285281D-6D6B-265C-A039-D994EB0BA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80975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0" i="0" dirty="0">
                    <a:effectLst/>
                  </a:rPr>
                  <a:t>Em geral, a escolha da taxa é feita </a:t>
                </a:r>
                <a:r>
                  <a:rPr lang="pt-BR" b="1" i="0" dirty="0">
                    <a:solidFill>
                      <a:schemeClr val="accent2"/>
                    </a:solidFill>
                    <a:effectLst/>
                  </a:rPr>
                  <a:t>empiricamente</a:t>
                </a:r>
                <a:r>
                  <a:rPr lang="pt-BR" b="0" i="0" dirty="0">
                    <a:effectLst/>
                  </a:rPr>
                  <a:t> por meio de experimentação.</a:t>
                </a:r>
              </a:p>
              <a:p>
                <a:r>
                  <a:rPr lang="pt-BR" dirty="0"/>
                  <a:t>Uma regra empírica para a </a:t>
                </a:r>
                <a:r>
                  <a:rPr lang="pt-BR" b="1" i="1" dirty="0"/>
                  <a:t>exploração</a:t>
                </a:r>
                <a:r>
                  <a:rPr lang="pt-BR" dirty="0"/>
                  <a:t> da taxa de aprendizagem é usar a seguinte sequência (</a:t>
                </a:r>
                <a:r>
                  <a:rPr lang="pt-BR" b="1" i="1" dirty="0"/>
                  <a:t>ajuste manual</a:t>
                </a:r>
                <a:r>
                  <a:rPr lang="pt-BR" dirty="0"/>
                  <a:t>):</a:t>
                </a:r>
              </a:p>
              <a:p>
                <a:pPr marL="0" indent="0">
                  <a:buNone/>
                </a:pPr>
                <a:endParaRPr lang="pt-BR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0.001, 0.003, 0.01, 0.03, 0.1, 0.3, 1.0, …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Vejamos um exemplo sobre como a taxa de aprendizagem afeta a convergência de um modelo.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285281D-6D6B-265C-A039-D994EB0BA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80975" cy="5032375"/>
              </a:xfrm>
              <a:blipFill>
                <a:blip r:embed="rId3"/>
                <a:stretch>
                  <a:fillRect l="-981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16">
            <a:extLst>
              <a:ext uri="{FF2B5EF4-FFF2-40B4-BE49-F238E27FC236}">
                <a16:creationId xmlns:a16="http://schemas.microsoft.com/office/drawing/2014/main" id="{1A2AFCEC-F229-2F9D-721F-2B79E5A495C4}"/>
              </a:ext>
            </a:extLst>
          </p:cNvPr>
          <p:cNvSpPr/>
          <p:nvPr/>
        </p:nvSpPr>
        <p:spPr>
          <a:xfrm rot="7589185">
            <a:off x="4144164" y="3082925"/>
            <a:ext cx="1059543" cy="1393371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7">
                <a:extLst>
                  <a:ext uri="{FF2B5EF4-FFF2-40B4-BE49-F238E27FC236}">
                    <a16:creationId xmlns:a16="http://schemas.microsoft.com/office/drawing/2014/main" id="{D62868F5-25A9-0A54-1884-F4E8AEC8A7A8}"/>
                  </a:ext>
                </a:extLst>
              </p:cNvPr>
              <p:cNvSpPr txBox="1"/>
              <p:nvPr/>
            </p:nvSpPr>
            <p:spPr>
              <a:xfrm>
                <a:off x="4240751" y="4368719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TextBox 17">
                <a:extLst>
                  <a:ext uri="{FF2B5EF4-FFF2-40B4-BE49-F238E27FC236}">
                    <a16:creationId xmlns:a16="http://schemas.microsoft.com/office/drawing/2014/main" id="{D62868F5-25A9-0A54-1884-F4E8AEC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751" y="4368719"/>
                <a:ext cx="10595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c 18">
            <a:extLst>
              <a:ext uri="{FF2B5EF4-FFF2-40B4-BE49-F238E27FC236}">
                <a16:creationId xmlns:a16="http://schemas.microsoft.com/office/drawing/2014/main" id="{CFDF7D89-CCC3-6619-B407-4DA4B327E47C}"/>
              </a:ext>
            </a:extLst>
          </p:cNvPr>
          <p:cNvSpPr/>
          <p:nvPr/>
        </p:nvSpPr>
        <p:spPr>
          <a:xfrm rot="7589185">
            <a:off x="5120693" y="3109295"/>
            <a:ext cx="1059543" cy="1393371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9">
                <a:extLst>
                  <a:ext uri="{FF2B5EF4-FFF2-40B4-BE49-F238E27FC236}">
                    <a16:creationId xmlns:a16="http://schemas.microsoft.com/office/drawing/2014/main" id="{2CCDD6AF-0252-9D8D-FDA3-EB0F44912779}"/>
                  </a:ext>
                </a:extLst>
              </p:cNvPr>
              <p:cNvSpPr txBox="1"/>
              <p:nvPr/>
            </p:nvSpPr>
            <p:spPr>
              <a:xfrm>
                <a:off x="5268460" y="4388234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TextBox 19">
                <a:extLst>
                  <a:ext uri="{FF2B5EF4-FFF2-40B4-BE49-F238E27FC236}">
                    <a16:creationId xmlns:a16="http://schemas.microsoft.com/office/drawing/2014/main" id="{2CCDD6AF-0252-9D8D-FDA3-EB0F44912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460" y="4388234"/>
                <a:ext cx="10595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20">
            <a:extLst>
              <a:ext uri="{FF2B5EF4-FFF2-40B4-BE49-F238E27FC236}">
                <a16:creationId xmlns:a16="http://schemas.microsoft.com/office/drawing/2014/main" id="{818E0AB7-C50C-DAE7-2D8D-E8DD94FA3182}"/>
              </a:ext>
            </a:extLst>
          </p:cNvPr>
          <p:cNvSpPr/>
          <p:nvPr/>
        </p:nvSpPr>
        <p:spPr>
          <a:xfrm rot="7381844">
            <a:off x="6086074" y="3318117"/>
            <a:ext cx="821031" cy="1155237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21">
                <a:extLst>
                  <a:ext uri="{FF2B5EF4-FFF2-40B4-BE49-F238E27FC236}">
                    <a16:creationId xmlns:a16="http://schemas.microsoft.com/office/drawing/2014/main" id="{3271C99E-AEF6-8927-7542-49F74407A6BC}"/>
                  </a:ext>
                </a:extLst>
              </p:cNvPr>
              <p:cNvSpPr txBox="1"/>
              <p:nvPr/>
            </p:nvSpPr>
            <p:spPr>
              <a:xfrm>
                <a:off x="6047412" y="4377401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21">
                <a:extLst>
                  <a:ext uri="{FF2B5EF4-FFF2-40B4-BE49-F238E27FC236}">
                    <a16:creationId xmlns:a16="http://schemas.microsoft.com/office/drawing/2014/main" id="{3271C99E-AEF6-8927-7542-49F74407A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412" y="4377401"/>
                <a:ext cx="10595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22">
            <a:extLst>
              <a:ext uri="{FF2B5EF4-FFF2-40B4-BE49-F238E27FC236}">
                <a16:creationId xmlns:a16="http://schemas.microsoft.com/office/drawing/2014/main" id="{AB2099C8-9393-2A15-B4B2-07F28FB94BED}"/>
              </a:ext>
            </a:extLst>
          </p:cNvPr>
          <p:cNvSpPr/>
          <p:nvPr/>
        </p:nvSpPr>
        <p:spPr>
          <a:xfrm rot="7285154">
            <a:off x="6889653" y="3381245"/>
            <a:ext cx="729866" cy="1080087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c 25">
            <a:extLst>
              <a:ext uri="{FF2B5EF4-FFF2-40B4-BE49-F238E27FC236}">
                <a16:creationId xmlns:a16="http://schemas.microsoft.com/office/drawing/2014/main" id="{C78F8B88-FAE6-2A19-6579-85CC3113D217}"/>
              </a:ext>
            </a:extLst>
          </p:cNvPr>
          <p:cNvSpPr/>
          <p:nvPr/>
        </p:nvSpPr>
        <p:spPr>
          <a:xfrm rot="7043539">
            <a:off x="7606310" y="3535049"/>
            <a:ext cx="574483" cy="919370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c 26">
            <a:extLst>
              <a:ext uri="{FF2B5EF4-FFF2-40B4-BE49-F238E27FC236}">
                <a16:creationId xmlns:a16="http://schemas.microsoft.com/office/drawing/2014/main" id="{7B79369F-B410-B830-3CB9-B764FE8A4AAE}"/>
              </a:ext>
            </a:extLst>
          </p:cNvPr>
          <p:cNvSpPr/>
          <p:nvPr/>
        </p:nvSpPr>
        <p:spPr>
          <a:xfrm rot="7439932">
            <a:off x="8202137" y="3614087"/>
            <a:ext cx="492730" cy="824698"/>
          </a:xfrm>
          <a:prstGeom prst="arc">
            <a:avLst>
              <a:gd name="adj1" fmla="val 15558147"/>
              <a:gd name="adj2" fmla="val 20915483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28">
                <a:extLst>
                  <a:ext uri="{FF2B5EF4-FFF2-40B4-BE49-F238E27FC236}">
                    <a16:creationId xmlns:a16="http://schemas.microsoft.com/office/drawing/2014/main" id="{0BFF65D1-3AE6-F606-65CE-8753A55A46A4}"/>
                  </a:ext>
                </a:extLst>
              </p:cNvPr>
              <p:cNvSpPr txBox="1"/>
              <p:nvPr/>
            </p:nvSpPr>
            <p:spPr>
              <a:xfrm>
                <a:off x="7504301" y="4370651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TextBox 28">
                <a:extLst>
                  <a:ext uri="{FF2B5EF4-FFF2-40B4-BE49-F238E27FC236}">
                    <a16:creationId xmlns:a16="http://schemas.microsoft.com/office/drawing/2014/main" id="{0BFF65D1-3AE6-F606-65CE-8753A55A4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01" y="4370651"/>
                <a:ext cx="105954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9">
                <a:extLst>
                  <a:ext uri="{FF2B5EF4-FFF2-40B4-BE49-F238E27FC236}">
                    <a16:creationId xmlns:a16="http://schemas.microsoft.com/office/drawing/2014/main" id="{A8013C86-EDB8-0F4F-5437-D60CCA588A3A}"/>
                  </a:ext>
                </a:extLst>
              </p:cNvPr>
              <p:cNvSpPr txBox="1"/>
              <p:nvPr/>
            </p:nvSpPr>
            <p:spPr>
              <a:xfrm>
                <a:off x="8141180" y="4382183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TextBox 29">
                <a:extLst>
                  <a:ext uri="{FF2B5EF4-FFF2-40B4-BE49-F238E27FC236}">
                    <a16:creationId xmlns:a16="http://schemas.microsoft.com/office/drawing/2014/main" id="{A8013C86-EDB8-0F4F-5437-D60CCA588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180" y="4382183"/>
                <a:ext cx="105954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357BFBCA-02B4-CEB5-7178-D86ABD6A8692}"/>
                  </a:ext>
                </a:extLst>
              </p:cNvPr>
              <p:cNvSpPr txBox="1"/>
              <p:nvPr/>
            </p:nvSpPr>
            <p:spPr>
              <a:xfrm>
                <a:off x="6822682" y="4378807"/>
                <a:ext cx="10595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357BFBCA-02B4-CEB5-7178-D86ABD6A8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682" y="4378807"/>
                <a:ext cx="10595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3">
            <a:extLst>
              <a:ext uri="{FF2B5EF4-FFF2-40B4-BE49-F238E27FC236}">
                <a16:creationId xmlns:a16="http://schemas.microsoft.com/office/drawing/2014/main" id="{ECC1348D-ED69-1853-49EB-C944A25E0844}"/>
              </a:ext>
            </a:extLst>
          </p:cNvPr>
          <p:cNvSpPr/>
          <p:nvPr/>
        </p:nvSpPr>
        <p:spPr>
          <a:xfrm>
            <a:off x="0" y="6572663"/>
            <a:ext cx="38380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200" dirty="0">
                <a:hlinkClick r:id="rId10"/>
              </a:rPr>
              <a:t>Exemplo: </a:t>
            </a:r>
            <a:r>
              <a:rPr lang="pt-BR" sz="1200" dirty="0" err="1">
                <a:hlinkClick r:id="rId10"/>
              </a:rPr>
              <a:t>selecionando_o_passo_de_aprendizagem.ipynb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0947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D4CFC-DDCB-8078-3C54-56133CAA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aprendizado pequeno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EE83549-CA46-62F5-CF24-FC969E4A4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3481" y="1825624"/>
                <a:ext cx="11218682" cy="2703957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Caso a taxa de aprendizagem seja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muito pequeno</a:t>
                </a:r>
                <a:r>
                  <a:rPr lang="pt-BR" dirty="0"/>
                  <a:t>,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convergência do algoritmo será muito lenta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No exemplo abaixo, com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pt-BR" dirty="0"/>
                  <a:t>, o algoritmo atinge o ponto de mínimo, i.e., converge, após mais de 250 épocas.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>
                    <a:solidFill>
                      <a:srgbClr val="7030A0"/>
                    </a:solidFill>
                  </a:rPr>
                  <a:t>Passos muito curtos</a:t>
                </a:r>
                <a:r>
                  <a:rPr lang="pt-BR" dirty="0"/>
                  <a:t>, fazem com que o algoritmo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caminhe vagarosamente em direção ao mínimo global da função de erro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EE83549-CA46-62F5-CF24-FC969E4A4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481" y="1825624"/>
                <a:ext cx="11218682" cy="2703957"/>
              </a:xfrm>
              <a:blipFill>
                <a:blip r:embed="rId3"/>
                <a:stretch>
                  <a:fillRect l="-978" t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404700FD-2AD0-0263-A281-0518044D231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" t="13692" r="22970" b="19399"/>
          <a:stretch/>
        </p:blipFill>
        <p:spPr>
          <a:xfrm>
            <a:off x="838200" y="4529581"/>
            <a:ext cx="2794921" cy="2233394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C026D89-CF0B-9034-ECD6-7E0ECB93400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1" r="9381" b="2090"/>
          <a:stretch/>
        </p:blipFill>
        <p:spPr>
          <a:xfrm>
            <a:off x="5117246" y="4529581"/>
            <a:ext cx="2461767" cy="2230891"/>
          </a:xfrm>
          <a:prstGeom prst="rect">
            <a:avLst/>
          </a:prstGeom>
        </p:spPr>
      </p:pic>
      <p:cxnSp>
        <p:nvCxnSpPr>
          <p:cNvPr id="8" name="Straight Arrow Connector 10">
            <a:extLst>
              <a:ext uri="{FF2B5EF4-FFF2-40B4-BE49-F238E27FC236}">
                <a16:creationId xmlns:a16="http://schemas.microsoft.com/office/drawing/2014/main" id="{00ACB6AA-75DC-2F42-67F7-9B365EB6FD7D}"/>
              </a:ext>
            </a:extLst>
          </p:cNvPr>
          <p:cNvCxnSpPr>
            <a:cxnSpLocks/>
          </p:cNvCxnSpPr>
          <p:nvPr/>
        </p:nvCxnSpPr>
        <p:spPr>
          <a:xfrm flipV="1">
            <a:off x="5119618" y="6502653"/>
            <a:ext cx="303166" cy="2578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1">
                <a:extLst>
                  <a:ext uri="{FF2B5EF4-FFF2-40B4-BE49-F238E27FC236}">
                    <a16:creationId xmlns:a16="http://schemas.microsoft.com/office/drawing/2014/main" id="{8E1AC9A0-8AE3-88D2-924C-3555079253D3}"/>
                  </a:ext>
                </a:extLst>
              </p:cNvPr>
              <p:cNvSpPr txBox="1"/>
              <p:nvPr/>
            </p:nvSpPr>
            <p:spPr>
              <a:xfrm>
                <a:off x="4428429" y="6550223"/>
                <a:ext cx="8127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sz="1400" dirty="0"/>
                  <a:t> inicial</a:t>
                </a:r>
              </a:p>
            </p:txBody>
          </p:sp>
        </mc:Choice>
        <mc:Fallback xmlns="">
          <p:sp>
            <p:nvSpPr>
              <p:cNvPr id="9" name="TextBox 11">
                <a:extLst>
                  <a:ext uri="{FF2B5EF4-FFF2-40B4-BE49-F238E27FC236}">
                    <a16:creationId xmlns:a16="http://schemas.microsoft.com/office/drawing/2014/main" id="{8E1AC9A0-8AE3-88D2-924C-35550792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29" y="6550223"/>
                <a:ext cx="812715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F21DC2AF-EDF3-1582-F5C3-58459BFDB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420224" y="4529582"/>
            <a:ext cx="2010613" cy="223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66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07E1E-02FA-BE90-DF8D-F7CD2EFB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aprendizado grande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69917BF-2F45-6A09-7D88-35A718CBA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53715" cy="488173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Caso a taxa seja grande, o algoritmo pode nunca convergir.</a:t>
                </a:r>
              </a:p>
              <a:p>
                <a:r>
                  <a:rPr lang="pt-BR" dirty="0"/>
                  <a:t>Se a taxa for grande,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mas não tão grande assim</a:t>
                </a:r>
                <a:r>
                  <a:rPr lang="pt-BR" dirty="0"/>
                  <a:t>, o algoritmo pode ficar “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pulando</a:t>
                </a:r>
                <a:r>
                  <a:rPr lang="pt-BR" dirty="0"/>
                  <a:t>” ou “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oscilando</a:t>
                </a:r>
                <a:r>
                  <a:rPr lang="pt-BR" dirty="0"/>
                  <a:t>”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de um lado para o outro da superfície de erro </a:t>
                </a:r>
                <a:r>
                  <a:rPr lang="pt-BR" dirty="0"/>
                  <a:t>até que, por sorte, ele converge.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>
                    <a:ea typeface="Cambria Math" panose="02040503050406030204" pitchFamily="18" charset="0"/>
                  </a:rPr>
                  <a:t>No exemplo abaixo, com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=1.8×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pt-BR" dirty="0"/>
                  <a:t>, o algoritmo oscila inicialmente, mas acaba convergindo após 20 épocas.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69917BF-2F45-6A09-7D88-35A718CBA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53715" cy="4881733"/>
              </a:xfrm>
              <a:blipFill>
                <a:blip r:embed="rId3"/>
                <a:stretch>
                  <a:fillRect l="-975" t="-1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>
            <a:extLst>
              <a:ext uri="{FF2B5EF4-FFF2-40B4-BE49-F238E27FC236}">
                <a16:creationId xmlns:a16="http://schemas.microsoft.com/office/drawing/2014/main" id="{E1C923F9-D8D5-387C-D5B7-782CE5422B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" t="13692" r="22970" b="19399"/>
          <a:stretch/>
        </p:blipFill>
        <p:spPr>
          <a:xfrm>
            <a:off x="1172949" y="4372942"/>
            <a:ext cx="2677839" cy="2368858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F7D6C9C-2DF4-F962-D10F-5412C1DA080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0" r="9378" b="2314"/>
          <a:stretch/>
        </p:blipFill>
        <p:spPr>
          <a:xfrm>
            <a:off x="5413644" y="4373526"/>
            <a:ext cx="2369910" cy="2373159"/>
          </a:xfrm>
          <a:prstGeom prst="rect">
            <a:avLst/>
          </a:prstGeom>
        </p:spPr>
      </p:pic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A69CEB-47F4-A85F-762F-6622419002E6}"/>
              </a:ext>
            </a:extLst>
          </p:cNvPr>
          <p:cNvCxnSpPr>
            <a:cxnSpLocks/>
          </p:cNvCxnSpPr>
          <p:nvPr/>
        </p:nvCxnSpPr>
        <p:spPr>
          <a:xfrm flipV="1">
            <a:off x="5385153" y="6533910"/>
            <a:ext cx="277779" cy="165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54AC2781-3C16-CFC1-9D56-9FC370256E77}"/>
                  </a:ext>
                </a:extLst>
              </p:cNvPr>
              <p:cNvSpPr txBox="1"/>
              <p:nvPr/>
            </p:nvSpPr>
            <p:spPr>
              <a:xfrm>
                <a:off x="4380464" y="6530351"/>
                <a:ext cx="12634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sz="1600" dirty="0"/>
                  <a:t> inicial</a:t>
                </a:r>
              </a:p>
            </p:txBody>
          </p:sp>
        </mc:Choice>
        <mc:Fallback xmlns="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54AC2781-3C16-CFC1-9D56-9FC370256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464" y="6530351"/>
                <a:ext cx="1263477" cy="338554"/>
              </a:xfrm>
              <a:prstGeom prst="rect">
                <a:avLst/>
              </a:prstGeom>
              <a:blipFill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6232E825-A6A5-D6AD-ED62-433ACECDE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9337328" y="4375353"/>
            <a:ext cx="2129926" cy="236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93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6A124-E47D-3417-36BC-8BEE00BC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aprendizado grande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B1EE1-E6EE-4E0B-FB14-A459C708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126" y="1825624"/>
            <a:ext cx="6312610" cy="5032375"/>
          </a:xfrm>
        </p:spPr>
        <p:txBody>
          <a:bodyPr>
            <a:normAutofit/>
          </a:bodyPr>
          <a:lstStyle/>
          <a:p>
            <a:r>
              <a:rPr lang="pt-BR" dirty="0"/>
              <a:t>Em outros casos, quando a taxa é </a:t>
            </a:r>
            <a:r>
              <a:rPr lang="pt-BR" b="1" i="1" dirty="0">
                <a:solidFill>
                  <a:srgbClr val="00B050"/>
                </a:solidFill>
              </a:rPr>
              <a:t>muito grande</a:t>
            </a:r>
            <a:r>
              <a:rPr lang="pt-BR" dirty="0"/>
              <a:t>, a cada época, o algoritmo “pula” para um </a:t>
            </a:r>
            <a:r>
              <a:rPr lang="pt-BR" b="1" i="1" dirty="0">
                <a:solidFill>
                  <a:srgbClr val="7030A0"/>
                </a:solidFill>
              </a:rPr>
              <a:t>valor de erro mais alto do que o anterior </a:t>
            </a:r>
            <a:r>
              <a:rPr lang="pt-BR" dirty="0"/>
              <a:t>e, assim, acaba divergindo.</a:t>
            </a:r>
          </a:p>
          <a:p>
            <a:r>
              <a:rPr lang="pt-BR" dirty="0"/>
              <a:t>Ou seja, ao invés de se aproximar do ponto de mínimo a cada época, ele </a:t>
            </a:r>
            <a:r>
              <a:rPr lang="pt-BR" b="1" i="1" dirty="0">
                <a:solidFill>
                  <a:schemeClr val="accent2"/>
                </a:solidFill>
              </a:rPr>
              <a:t>se distancia dele</a:t>
            </a:r>
            <a:r>
              <a:rPr lang="pt-BR" dirty="0"/>
              <a:t>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0A98745-EC18-6F40-59B4-A8FC12CA3344}"/>
              </a:ext>
            </a:extLst>
          </p:cNvPr>
          <p:cNvGrpSpPr/>
          <p:nvPr/>
        </p:nvGrpSpPr>
        <p:grpSpPr>
          <a:xfrm>
            <a:off x="1042736" y="2371269"/>
            <a:ext cx="4151243" cy="3007892"/>
            <a:chOff x="767703" y="2398995"/>
            <a:chExt cx="3868625" cy="2806985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5A818B0E-3846-85AC-CA3B-8E7732D853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053" r="2828" b="2316"/>
            <a:stretch/>
          </p:blipFill>
          <p:spPr>
            <a:xfrm>
              <a:off x="767703" y="2894295"/>
              <a:ext cx="3548545" cy="23116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5">
                  <a:extLst>
                    <a:ext uri="{FF2B5EF4-FFF2-40B4-BE49-F238E27FC236}">
                      <a16:creationId xmlns:a16="http://schemas.microsoft.com/office/drawing/2014/main" id="{85F634B8-E175-3AAC-9CEE-E3119B65ED10}"/>
                    </a:ext>
                  </a:extLst>
                </p:cNvPr>
                <p:cNvSpPr/>
                <p:nvPr/>
              </p:nvSpPr>
              <p:spPr>
                <a:xfrm>
                  <a:off x="767703" y="2398995"/>
                  <a:ext cx="3868625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pt-BR" sz="1400" dirty="0"/>
                    <a:t>feedback positivo</a:t>
                  </a:r>
                  <a14:m>
                    <m:oMath xmlns:m="http://schemas.openxmlformats.org/officeDocument/2006/math">
                      <m:r>
                        <a:rPr lang="pt-B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pt-BR" sz="1400" dirty="0"/>
                    <a:t> estouro da precisão numérica</a:t>
                  </a:r>
                </a:p>
              </p:txBody>
            </p:sp>
          </mc:Choice>
          <mc:Fallback xmlns="">
            <p:sp>
              <p:nvSpPr>
                <p:cNvPr id="5" name="Rectangle 5">
                  <a:extLst>
                    <a:ext uri="{FF2B5EF4-FFF2-40B4-BE49-F238E27FC236}">
                      <a16:creationId xmlns:a16="http://schemas.microsoft.com/office/drawing/2014/main" id="{85F634B8-E175-3AAC-9CEE-E3119B65ED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703" y="2398995"/>
                  <a:ext cx="3868625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3704" b="-1111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37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6A124-E47D-3417-36BC-8BEE00BC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aprendizado grande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B1EE1-E6EE-4E0B-FB14-A459C708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811" y="1825624"/>
            <a:ext cx="6424863" cy="5032375"/>
          </a:xfrm>
        </p:spPr>
        <p:txBody>
          <a:bodyPr>
            <a:normAutofit/>
          </a:bodyPr>
          <a:lstStyle/>
          <a:p>
            <a:r>
              <a:rPr lang="pt-BR" dirty="0"/>
              <a:t>Nesse caso ocorre um </a:t>
            </a:r>
            <a:r>
              <a:rPr lang="pt-BR" b="1" i="1" dirty="0">
                <a:solidFill>
                  <a:srgbClr val="00B050"/>
                </a:solidFill>
              </a:rPr>
              <a:t>ciclo de feedback positivo </a:t>
            </a:r>
            <a:r>
              <a:rPr lang="pt-BR" dirty="0"/>
              <a:t>onde </a:t>
            </a:r>
            <a:r>
              <a:rPr lang="pt-BR" b="1" i="1" dirty="0">
                <a:solidFill>
                  <a:srgbClr val="00B050"/>
                </a:solidFill>
              </a:rPr>
              <a:t>a cada época </a:t>
            </a:r>
            <a:r>
              <a:rPr lang="pt-BR" dirty="0"/>
              <a:t>os valores dos </a:t>
            </a:r>
            <a:r>
              <a:rPr lang="pt-BR" b="1" i="1" dirty="0">
                <a:solidFill>
                  <a:srgbClr val="00B050"/>
                </a:solidFill>
              </a:rPr>
              <a:t>gradientes</a:t>
            </a:r>
            <a:r>
              <a:rPr lang="pt-BR" dirty="0"/>
              <a:t> e, consequentemente, dos </a:t>
            </a:r>
            <a:r>
              <a:rPr lang="pt-BR" b="1" i="1" dirty="0">
                <a:solidFill>
                  <a:srgbClr val="00B050"/>
                </a:solidFill>
              </a:rPr>
              <a:t>pesos se tornam maiores e maiores </a:t>
            </a:r>
            <a:r>
              <a:rPr lang="pt-BR" dirty="0"/>
              <a:t>até que ocorra o </a:t>
            </a:r>
            <a:r>
              <a:rPr lang="pt-BR" b="1" i="1" dirty="0">
                <a:solidFill>
                  <a:srgbClr val="7030A0"/>
                </a:solidFill>
              </a:rPr>
              <a:t>estouro (overflow) da representação numérica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Overflow</a:t>
            </a:r>
            <a:r>
              <a:rPr lang="pt-BR" dirty="0"/>
              <a:t>: problema que ocorre quando uma variável não pode mais representar um valor, pois ele é maior do que o intervalo que ela pode armazenar.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0A98745-EC18-6F40-59B4-A8FC12CA3344}"/>
              </a:ext>
            </a:extLst>
          </p:cNvPr>
          <p:cNvGrpSpPr/>
          <p:nvPr/>
        </p:nvGrpSpPr>
        <p:grpSpPr>
          <a:xfrm>
            <a:off x="1030705" y="2383300"/>
            <a:ext cx="4151243" cy="3007892"/>
            <a:chOff x="767703" y="2398995"/>
            <a:chExt cx="3868625" cy="2806985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5A818B0E-3846-85AC-CA3B-8E7732D853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053" r="2828" b="2316"/>
            <a:stretch/>
          </p:blipFill>
          <p:spPr>
            <a:xfrm>
              <a:off x="767703" y="2894295"/>
              <a:ext cx="3548545" cy="23116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5">
                  <a:extLst>
                    <a:ext uri="{FF2B5EF4-FFF2-40B4-BE49-F238E27FC236}">
                      <a16:creationId xmlns:a16="http://schemas.microsoft.com/office/drawing/2014/main" id="{85F634B8-E175-3AAC-9CEE-E3119B65ED10}"/>
                    </a:ext>
                  </a:extLst>
                </p:cNvPr>
                <p:cNvSpPr/>
                <p:nvPr/>
              </p:nvSpPr>
              <p:spPr>
                <a:xfrm>
                  <a:off x="767703" y="2398995"/>
                  <a:ext cx="3868625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pt-BR" sz="1400" dirty="0"/>
                    <a:t>feedback positivo</a:t>
                  </a:r>
                  <a14:m>
                    <m:oMath xmlns:m="http://schemas.openxmlformats.org/officeDocument/2006/math">
                      <m:r>
                        <a:rPr lang="pt-BR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pt-BR" sz="1400" dirty="0"/>
                    <a:t> estouro da precisão numérica</a:t>
                  </a:r>
                </a:p>
              </p:txBody>
            </p:sp>
          </mc:Choice>
          <mc:Fallback xmlns="">
            <p:sp>
              <p:nvSpPr>
                <p:cNvPr id="5" name="Rectangle 5">
                  <a:extLst>
                    <a:ext uri="{FF2B5EF4-FFF2-40B4-BE49-F238E27FC236}">
                      <a16:creationId xmlns:a16="http://schemas.microsoft.com/office/drawing/2014/main" id="{85F634B8-E175-3AAC-9CEE-E3119B65ED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703" y="2398995"/>
                  <a:ext cx="3868625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3704" b="-1111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012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6A124-E47D-3417-36BC-8BEE00BC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aprendizado ideal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6B1EE1-E6EE-4E0B-FB14-A459C7084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11179628" cy="5032375"/>
              </a:xfrm>
            </p:spPr>
            <p:txBody>
              <a:bodyPr/>
              <a:lstStyle/>
              <a:p>
                <a:r>
                  <a:rPr lang="pt-BR" dirty="0"/>
                  <a:t>Portanto, o valor da taxa de aprendizagem deve ser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explorado</a:t>
                </a:r>
                <a:r>
                  <a:rPr lang="pt-BR" dirty="0"/>
                  <a:t> para se encontrar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valor ideal </a:t>
                </a:r>
                <a:r>
                  <a:rPr lang="pt-BR" dirty="0"/>
                  <a:t>que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acelere a convergência </a:t>
                </a:r>
                <a:r>
                  <a:rPr lang="pt-BR" dirty="0"/>
                  <a:t>de forma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estável</a:t>
                </a:r>
                <a:r>
                  <a:rPr lang="pt-BR" dirty="0"/>
                  <a:t>, ou seja, sem oscilações.</a:t>
                </a:r>
              </a:p>
              <a:p>
                <a:r>
                  <a:rPr lang="pt-BR" dirty="0"/>
                  <a:t>O exemplo abaixo, com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pt-BR" dirty="0"/>
                  <a:t>, o algoritmo converge de forma estável para o </a:t>
                </a:r>
                <a:r>
                  <a:rPr lang="pt-BR" b="1" i="1" dirty="0"/>
                  <a:t>mínimo global </a:t>
                </a:r>
                <a:r>
                  <a:rPr lang="pt-BR" dirty="0"/>
                  <a:t>em apenas 3 épocas.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6B1EE1-E6EE-4E0B-FB14-A459C7084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11179628" cy="5032375"/>
              </a:xfrm>
              <a:blipFill>
                <a:blip r:embed="rId3"/>
                <a:stretch>
                  <a:fillRect l="-982" t="-1937" r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7">
            <a:extLst>
              <a:ext uri="{FF2B5EF4-FFF2-40B4-BE49-F238E27FC236}">
                <a16:creationId xmlns:a16="http://schemas.microsoft.com/office/drawing/2014/main" id="{29582EC0-E28F-B3E1-4D3A-BFB180B432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" t="13692" r="22970" b="19399"/>
          <a:stretch/>
        </p:blipFill>
        <p:spPr>
          <a:xfrm>
            <a:off x="838200" y="4469481"/>
            <a:ext cx="2874467" cy="2187131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070A2BD3-D0B6-B61F-E496-0B0E7C544D6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" r="9667" b="2678"/>
          <a:stretch/>
        </p:blipFill>
        <p:spPr>
          <a:xfrm>
            <a:off x="5371384" y="4473509"/>
            <a:ext cx="2532017" cy="2183104"/>
          </a:xfrm>
          <a:prstGeom prst="rect">
            <a:avLst/>
          </a:prstGeom>
        </p:spPr>
      </p:pic>
      <p:cxnSp>
        <p:nvCxnSpPr>
          <p:cNvPr id="9" name="Straight Arrow Connector 23">
            <a:extLst>
              <a:ext uri="{FF2B5EF4-FFF2-40B4-BE49-F238E27FC236}">
                <a16:creationId xmlns:a16="http://schemas.microsoft.com/office/drawing/2014/main" id="{FCFA597F-5193-525D-A4F3-5192D411BA64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371383" y="6492876"/>
            <a:ext cx="231207" cy="72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4">
                <a:extLst>
                  <a:ext uri="{FF2B5EF4-FFF2-40B4-BE49-F238E27FC236}">
                    <a16:creationId xmlns:a16="http://schemas.microsoft.com/office/drawing/2014/main" id="{E5B364EB-3E10-6499-FB8E-A0CF2D069362}"/>
                  </a:ext>
                </a:extLst>
              </p:cNvPr>
              <p:cNvSpPr txBox="1"/>
              <p:nvPr/>
            </p:nvSpPr>
            <p:spPr>
              <a:xfrm>
                <a:off x="4701068" y="6273225"/>
                <a:ext cx="6703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sz="1600" dirty="0"/>
                  <a:t> inicial</a:t>
                </a:r>
              </a:p>
            </p:txBody>
          </p:sp>
        </mc:Choice>
        <mc:Fallback xmlns="">
          <p:sp>
            <p:nvSpPr>
              <p:cNvPr id="10" name="TextBox 24">
                <a:extLst>
                  <a:ext uri="{FF2B5EF4-FFF2-40B4-BE49-F238E27FC236}">
                    <a16:creationId xmlns:a16="http://schemas.microsoft.com/office/drawing/2014/main" id="{E5B364EB-3E10-6499-FB8E-A0CF2D069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068" y="6273225"/>
                <a:ext cx="670315" cy="584775"/>
              </a:xfrm>
              <a:prstGeom prst="rect">
                <a:avLst/>
              </a:prstGeom>
              <a:blipFill>
                <a:blip r:embed="rId6"/>
                <a:stretch>
                  <a:fillRect l="-4545" r="-4545" b="-12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D97E89BE-830C-9FF1-89B2-40ABC6CE0F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56"/>
          <a:stretch/>
        </p:blipFill>
        <p:spPr bwMode="auto">
          <a:xfrm>
            <a:off x="9679905" y="4469480"/>
            <a:ext cx="2022177" cy="218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6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5A032-6954-55F0-305E-6B33F6A7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treinamento de um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2B770-C618-DF43-C765-CC948AA9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914" y="1825624"/>
            <a:ext cx="7045792" cy="5032375"/>
          </a:xfrm>
        </p:spPr>
        <p:txBody>
          <a:bodyPr/>
          <a:lstStyle/>
          <a:p>
            <a:r>
              <a:rPr lang="pt-BR" b="1" i="1" dirty="0">
                <a:solidFill>
                  <a:srgbClr val="00B050"/>
                </a:solidFill>
              </a:rPr>
              <a:t>Nem sempre nós iremos conseguir plotar as superfícies de erro e de contorno </a:t>
            </a:r>
            <a:r>
              <a:rPr lang="pt-BR" dirty="0"/>
              <a:t>para analisarmos o treinamento de um modelo.</a:t>
            </a:r>
          </a:p>
          <a:p>
            <a:r>
              <a:rPr lang="pt-BR" dirty="0"/>
              <a:t>Por exemplo, quando tivermos </a:t>
            </a:r>
            <a:r>
              <a:rPr lang="pt-BR" b="1" i="1" dirty="0">
                <a:solidFill>
                  <a:srgbClr val="00B050"/>
                </a:solidFill>
              </a:rPr>
              <a:t>três atributos</a:t>
            </a:r>
            <a:r>
              <a:rPr lang="pt-BR" dirty="0"/>
              <a:t>, a </a:t>
            </a:r>
            <a:r>
              <a:rPr lang="pt-BR" b="1" i="1" dirty="0">
                <a:solidFill>
                  <a:srgbClr val="00B050"/>
                </a:solidFill>
              </a:rPr>
              <a:t>superfície de erro terá quatro dimensões</a:t>
            </a:r>
            <a:r>
              <a:rPr lang="pt-BR" dirty="0"/>
              <a:t>, tornando sua análise mais difícil.</a:t>
            </a:r>
          </a:p>
          <a:p>
            <a:r>
              <a:rPr lang="pt-BR" dirty="0"/>
              <a:t>Assim, em geral, usamos a </a:t>
            </a:r>
            <a:r>
              <a:rPr lang="pt-BR" b="1" i="1" dirty="0">
                <a:solidFill>
                  <a:srgbClr val="00B050"/>
                </a:solidFill>
              </a:rPr>
              <a:t>curva do erro (i.e., EQM) em função das iterações</a:t>
            </a:r>
            <a:r>
              <a:rPr lang="pt-BR" dirty="0"/>
              <a:t> de treinamento para analisar o aprendizado de um modelo.</a:t>
            </a:r>
          </a:p>
          <a:p>
            <a:r>
              <a:rPr lang="pt-BR" dirty="0"/>
              <a:t>Vejamos alguns exemplos.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BA05E0-AD99-1037-FAD5-43DCC4317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7" y="1938959"/>
            <a:ext cx="4332567" cy="437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821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A69E-096D-D007-28F5-1761826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treinamento de um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23D308-AFC7-C3C4-ED4E-8ADAA651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759" y="1825624"/>
            <a:ext cx="7205550" cy="5032375"/>
          </a:xfrm>
        </p:spPr>
        <p:txBody>
          <a:bodyPr>
            <a:normAutofit fontScale="92500"/>
          </a:bodyPr>
          <a:lstStyle/>
          <a:p>
            <a:r>
              <a:rPr lang="pt-BR" dirty="0"/>
              <a:t>A figura ao lado mostra o </a:t>
            </a:r>
            <a:r>
              <a:rPr lang="pt-BR" b="1" i="1" dirty="0">
                <a:solidFill>
                  <a:srgbClr val="00B050"/>
                </a:solidFill>
              </a:rPr>
              <a:t>comportamento esperado</a:t>
            </a:r>
            <a:r>
              <a:rPr lang="pt-BR" dirty="0"/>
              <a:t> quando o </a:t>
            </a:r>
            <a:r>
              <a:rPr lang="pt-BR" b="1" i="1" dirty="0">
                <a:solidFill>
                  <a:srgbClr val="7030A0"/>
                </a:solidFill>
              </a:rPr>
              <a:t>passo</a:t>
            </a:r>
            <a:r>
              <a:rPr lang="pt-BR" dirty="0"/>
              <a:t> </a:t>
            </a:r>
            <a:r>
              <a:rPr lang="pt-BR" b="1" i="1" dirty="0">
                <a:solidFill>
                  <a:srgbClr val="7030A0"/>
                </a:solidFill>
              </a:rPr>
              <a:t>tem o tamanho ideal</a:t>
            </a:r>
            <a:r>
              <a:rPr lang="pt-BR" dirty="0"/>
              <a:t>.</a:t>
            </a:r>
          </a:p>
          <a:p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convergência</a:t>
            </a:r>
            <a:r>
              <a:rPr lang="pt-BR" dirty="0"/>
              <a:t> nesse caso é </a:t>
            </a:r>
            <a:r>
              <a:rPr lang="pt-BR" b="1" i="1" dirty="0">
                <a:solidFill>
                  <a:srgbClr val="00B050"/>
                </a:solidFill>
              </a:rPr>
              <a:t>rápida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</a:t>
            </a:r>
            <a:r>
              <a:rPr lang="pt-BR" b="1" i="1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erro diminui rapidamente nas primeiras iterações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Conforme o treinamento continua,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erro se estabiliza e exibe uma redução suave </a:t>
            </a:r>
            <a:r>
              <a:rPr lang="pt-BR" b="0" i="0" dirty="0">
                <a:effectLst/>
              </a:rPr>
              <a:t>(i.e., mais lenta).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convergência é atingida quando o erro se torna praticamente constante</a:t>
            </a:r>
            <a:r>
              <a:rPr lang="pt-BR" dirty="0"/>
              <a:t> ao longo das iterações, indicando que os </a:t>
            </a:r>
            <a:r>
              <a:rPr lang="pt-BR" b="1" i="1" dirty="0">
                <a:solidFill>
                  <a:srgbClr val="00B050"/>
                </a:solidFill>
              </a:rPr>
              <a:t>pesos não são mais atualizados</a:t>
            </a:r>
            <a:r>
              <a:rPr lang="pt-BR" dirty="0"/>
              <a:t>, pois o mínimo da função foi atingido.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o treinamento pode ser encerrado quando o erro entre duas iterações consecutivas for menor do que um valor pré-definido (e.g., 1e-5).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293314C-8B6C-5D4F-5881-F593688456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9" r="5247" b="4211"/>
          <a:stretch/>
        </p:blipFill>
        <p:spPr>
          <a:xfrm>
            <a:off x="1126965" y="1825624"/>
            <a:ext cx="3016083" cy="2318698"/>
          </a:xfrm>
          <a:prstGeom prst="rect">
            <a:avLst/>
          </a:prstGeom>
        </p:spPr>
      </p:pic>
      <p:pic>
        <p:nvPicPr>
          <p:cNvPr id="10" name="Picture 45">
            <a:extLst>
              <a:ext uri="{FF2B5EF4-FFF2-40B4-BE49-F238E27FC236}">
                <a16:creationId xmlns:a16="http://schemas.microsoft.com/office/drawing/2014/main" id="{66C6627B-DA15-B458-83D7-BE121EE161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76" r="2118" b="6675"/>
          <a:stretch/>
        </p:blipFill>
        <p:spPr>
          <a:xfrm>
            <a:off x="1126964" y="4793527"/>
            <a:ext cx="3016082" cy="1794045"/>
          </a:xfrm>
          <a:prstGeom prst="rect">
            <a:avLst/>
          </a:prstGeom>
        </p:spPr>
      </p:pic>
      <p:sp>
        <p:nvSpPr>
          <p:cNvPr id="11" name="Right Arrow 50">
            <a:extLst>
              <a:ext uri="{FF2B5EF4-FFF2-40B4-BE49-F238E27FC236}">
                <a16:creationId xmlns:a16="http://schemas.microsoft.com/office/drawing/2014/main" id="{4EB6EC90-C16B-1D01-E136-93055342AD29}"/>
              </a:ext>
            </a:extLst>
          </p:cNvPr>
          <p:cNvSpPr/>
          <p:nvPr/>
        </p:nvSpPr>
        <p:spPr>
          <a:xfrm rot="5400000">
            <a:off x="2379334" y="4258372"/>
            <a:ext cx="511340" cy="4211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057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A69E-096D-D007-28F5-1761826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treinamento de um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23D308-AFC7-C3C4-ED4E-8ADAA651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115" y="1825624"/>
            <a:ext cx="6629401" cy="5032375"/>
          </a:xfrm>
        </p:spPr>
        <p:txBody>
          <a:bodyPr>
            <a:normAutofit/>
          </a:bodyPr>
          <a:lstStyle/>
          <a:p>
            <a:r>
              <a:rPr lang="pt-BR" dirty="0"/>
              <a:t>A figura mostra o caso onde a </a:t>
            </a:r>
            <a:r>
              <a:rPr lang="pt-BR" b="1" i="1" dirty="0">
                <a:solidFill>
                  <a:srgbClr val="7030A0"/>
                </a:solidFill>
              </a:rPr>
              <a:t>taxa de aprendizagem é muito pequena</a:t>
            </a:r>
            <a:r>
              <a:rPr lang="pt-BR" dirty="0"/>
              <a:t>.</a:t>
            </a:r>
          </a:p>
          <a:p>
            <a:r>
              <a:rPr lang="pt-BR" dirty="0"/>
              <a:t>Nesse caso, a </a:t>
            </a:r>
            <a:r>
              <a:rPr lang="pt-BR" b="1" i="1" dirty="0">
                <a:solidFill>
                  <a:srgbClr val="00B050"/>
                </a:solidFill>
              </a:rPr>
              <a:t>convergência é muito lenta</a:t>
            </a:r>
            <a:r>
              <a:rPr lang="pt-BR" dirty="0"/>
              <a:t>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Após várias iterações </a:t>
            </a:r>
            <a:r>
              <a:rPr lang="pt-BR" dirty="0"/>
              <a:t>de treinamento, o </a:t>
            </a:r>
            <a:r>
              <a:rPr lang="pt-BR" b="1" i="1" dirty="0">
                <a:solidFill>
                  <a:srgbClr val="00B050"/>
                </a:solidFill>
              </a:rPr>
              <a:t>erro ainda não se estabilizou</a:t>
            </a:r>
            <a:r>
              <a:rPr lang="pt-BR" dirty="0"/>
              <a:t>.</a:t>
            </a:r>
          </a:p>
          <a:p>
            <a:r>
              <a:rPr lang="pt-BR" dirty="0"/>
              <a:t>Levaria </a:t>
            </a:r>
            <a:r>
              <a:rPr lang="pt-BR" b="1" i="1" dirty="0">
                <a:solidFill>
                  <a:srgbClr val="00B050"/>
                </a:solidFill>
              </a:rPr>
              <a:t>muito tempo </a:t>
            </a:r>
            <a:r>
              <a:rPr lang="pt-BR" dirty="0"/>
              <a:t>para que o modelo atingisse o </a:t>
            </a:r>
            <a:r>
              <a:rPr lang="pt-BR" b="1" i="1" dirty="0">
                <a:solidFill>
                  <a:srgbClr val="00B050"/>
                </a:solidFill>
              </a:rPr>
              <a:t>ponto de mínimo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4D98EC-18C1-B474-4AD7-1E84455AA9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95" y="1690688"/>
            <a:ext cx="3313792" cy="2682314"/>
          </a:xfrm>
          <a:prstGeom prst="rect">
            <a:avLst/>
          </a:prstGeom>
        </p:spPr>
      </p:pic>
      <p:pic>
        <p:nvPicPr>
          <p:cNvPr id="9" name="Picture 46">
            <a:extLst>
              <a:ext uri="{FF2B5EF4-FFF2-40B4-BE49-F238E27FC236}">
                <a16:creationId xmlns:a16="http://schemas.microsoft.com/office/drawing/2014/main" id="{C7BFA423-C107-AD7A-127F-D33717E52B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2" r="2447" b="7099"/>
          <a:stretch/>
        </p:blipFill>
        <p:spPr>
          <a:xfrm>
            <a:off x="1331495" y="4788569"/>
            <a:ext cx="3313799" cy="1937087"/>
          </a:xfrm>
          <a:prstGeom prst="rect">
            <a:avLst/>
          </a:prstGeom>
        </p:spPr>
      </p:pic>
      <p:sp>
        <p:nvSpPr>
          <p:cNvPr id="10" name="Right Arrow 50">
            <a:extLst>
              <a:ext uri="{FF2B5EF4-FFF2-40B4-BE49-F238E27FC236}">
                <a16:creationId xmlns:a16="http://schemas.microsoft.com/office/drawing/2014/main" id="{BA2D2D3D-32FC-6420-C5CF-5B8A6005C115}"/>
              </a:ext>
            </a:extLst>
          </p:cNvPr>
          <p:cNvSpPr/>
          <p:nvPr/>
        </p:nvSpPr>
        <p:spPr>
          <a:xfrm rot="5400000">
            <a:off x="2732720" y="4322347"/>
            <a:ext cx="511340" cy="4211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16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A69E-096D-D007-28F5-1761826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treinamento de um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23D308-AFC7-C3C4-ED4E-8ADAA651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115" y="1825624"/>
            <a:ext cx="6629401" cy="5032375"/>
          </a:xfrm>
        </p:spPr>
        <p:txBody>
          <a:bodyPr>
            <a:normAutofit/>
          </a:bodyPr>
          <a:lstStyle/>
          <a:p>
            <a:r>
              <a:rPr lang="pt-BR" dirty="0"/>
              <a:t>A figura mostra o caso onde a </a:t>
            </a:r>
            <a:r>
              <a:rPr lang="pt-BR" b="1" i="1" dirty="0">
                <a:solidFill>
                  <a:srgbClr val="7030A0"/>
                </a:solidFill>
              </a:rPr>
              <a:t>taxa de aprendizagem é muito grande</a:t>
            </a:r>
            <a:r>
              <a:rPr lang="pt-BR" dirty="0"/>
              <a:t>.</a:t>
            </a:r>
          </a:p>
          <a:p>
            <a:r>
              <a:rPr lang="pt-BR" dirty="0"/>
              <a:t>Nesse caso, ocorre </a:t>
            </a:r>
            <a:r>
              <a:rPr lang="pt-BR" b="1" i="1" dirty="0">
                <a:solidFill>
                  <a:srgbClr val="00B050"/>
                </a:solidFill>
              </a:rPr>
              <a:t>divergência</a:t>
            </a:r>
            <a:r>
              <a:rPr lang="pt-BR" dirty="0"/>
              <a:t>.</a:t>
            </a:r>
          </a:p>
          <a:p>
            <a:r>
              <a:rPr lang="pt-BR" dirty="0"/>
              <a:t>Ou seja, o </a:t>
            </a:r>
            <a:r>
              <a:rPr lang="pt-BR" b="1" i="1" dirty="0">
                <a:solidFill>
                  <a:srgbClr val="00B050"/>
                </a:solidFill>
              </a:rPr>
              <a:t>erro aumenta mais e mais ao longo do treinamento</a:t>
            </a:r>
            <a:r>
              <a:rPr lang="pt-BR" dirty="0"/>
              <a:t>, indicando que o algoritmo está se </a:t>
            </a:r>
            <a:r>
              <a:rPr lang="pt-BR" b="1" i="1" dirty="0">
                <a:solidFill>
                  <a:srgbClr val="00B050"/>
                </a:solidFill>
              </a:rPr>
              <a:t>distanciando do ponto de mínimo</a:t>
            </a:r>
            <a:r>
              <a:rPr lang="pt-BR" dirty="0"/>
              <a:t>.</a:t>
            </a:r>
          </a:p>
          <a:p>
            <a:r>
              <a:rPr lang="pt-BR" dirty="0"/>
              <a:t>Se o treinamento continuar, os gradientes e pesos podem se tornar tão grandes que ocorre o </a:t>
            </a:r>
            <a:r>
              <a:rPr lang="pt-BR" b="1" i="1" dirty="0">
                <a:solidFill>
                  <a:srgbClr val="00B050"/>
                </a:solidFill>
              </a:rPr>
              <a:t>estouro da representação numérica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FC005A-1D53-9B54-E0D7-5694609ACA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690688"/>
            <a:ext cx="3269165" cy="2604586"/>
          </a:xfrm>
          <a:prstGeom prst="rect">
            <a:avLst/>
          </a:prstGeom>
        </p:spPr>
      </p:pic>
      <p:pic>
        <p:nvPicPr>
          <p:cNvPr id="6" name="Picture 47">
            <a:extLst>
              <a:ext uri="{FF2B5EF4-FFF2-40B4-BE49-F238E27FC236}">
                <a16:creationId xmlns:a16="http://schemas.microsoft.com/office/drawing/2014/main" id="{1B70BF55-F459-13C2-D9A0-CD0EAFBFA2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2" r="2118" b="2470"/>
          <a:stretch/>
        </p:blipFill>
        <p:spPr>
          <a:xfrm>
            <a:off x="1295399" y="4632159"/>
            <a:ext cx="3267945" cy="2100950"/>
          </a:xfrm>
          <a:prstGeom prst="rect">
            <a:avLst/>
          </a:prstGeom>
        </p:spPr>
      </p:pic>
      <p:sp>
        <p:nvSpPr>
          <p:cNvPr id="8" name="Right Arrow 50">
            <a:extLst>
              <a:ext uri="{FF2B5EF4-FFF2-40B4-BE49-F238E27FC236}">
                <a16:creationId xmlns:a16="http://schemas.microsoft.com/office/drawing/2014/main" id="{4CE3CAAF-5324-581B-5F00-C22061374152}"/>
              </a:ext>
            </a:extLst>
          </p:cNvPr>
          <p:cNvSpPr/>
          <p:nvPr/>
        </p:nvSpPr>
        <p:spPr>
          <a:xfrm rot="5400000">
            <a:off x="2673700" y="4253165"/>
            <a:ext cx="511340" cy="4211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14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A69E-096D-D007-28F5-17618266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 treinamento de um modelo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B9D9473-4E8E-377D-B1BB-4267C247D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316" y="1825624"/>
            <a:ext cx="6196264" cy="5032375"/>
          </a:xfrm>
        </p:spPr>
        <p:txBody>
          <a:bodyPr/>
          <a:lstStyle/>
          <a:p>
            <a:r>
              <a:rPr lang="pt-BR" dirty="0"/>
              <a:t>A figura mostra o caso onde a </a:t>
            </a:r>
            <a:r>
              <a:rPr lang="pt-BR" b="1" i="1" dirty="0">
                <a:solidFill>
                  <a:srgbClr val="7030A0"/>
                </a:solidFill>
              </a:rPr>
              <a:t>taxa</a:t>
            </a:r>
            <a:r>
              <a:rPr lang="pt-BR" dirty="0"/>
              <a:t> </a:t>
            </a:r>
            <a:r>
              <a:rPr lang="pt-BR" b="1" i="1" dirty="0">
                <a:solidFill>
                  <a:srgbClr val="7030A0"/>
                </a:solidFill>
              </a:rPr>
              <a:t>de aprendizagem é grande, mas não tão grande assim</a:t>
            </a:r>
            <a:r>
              <a:rPr lang="pt-BR" dirty="0"/>
              <a:t>.</a:t>
            </a:r>
          </a:p>
          <a:p>
            <a:r>
              <a:rPr lang="pt-BR" dirty="0"/>
              <a:t>Nesse caso, o </a:t>
            </a:r>
            <a:r>
              <a:rPr lang="pt-BR" b="1" i="1" dirty="0">
                <a:solidFill>
                  <a:srgbClr val="00B050"/>
                </a:solidFill>
              </a:rPr>
              <a:t>erro oscila</a:t>
            </a:r>
            <a:r>
              <a:rPr lang="pt-BR" dirty="0"/>
              <a:t>, aumentando e diminuindo.</a:t>
            </a:r>
          </a:p>
          <a:p>
            <a:r>
              <a:rPr lang="pt-BR" dirty="0"/>
              <a:t>Por ventura, a </a:t>
            </a:r>
            <a:r>
              <a:rPr lang="pt-BR" b="1" i="1" dirty="0">
                <a:solidFill>
                  <a:srgbClr val="00B050"/>
                </a:solidFill>
              </a:rPr>
              <a:t>convergência pode ocorrer após algumas iterações</a:t>
            </a:r>
            <a:r>
              <a:rPr lang="pt-BR" dirty="0"/>
              <a:t>.</a:t>
            </a:r>
          </a:p>
        </p:txBody>
      </p:sp>
      <p:pic>
        <p:nvPicPr>
          <p:cNvPr id="10" name="Picture 48">
            <a:extLst>
              <a:ext uri="{FF2B5EF4-FFF2-40B4-BE49-F238E27FC236}">
                <a16:creationId xmlns:a16="http://schemas.microsoft.com/office/drawing/2014/main" id="{D5B8F54A-8717-FA32-510A-0E14A5CF87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t="48707" r="2776" b="2150"/>
          <a:stretch/>
        </p:blipFill>
        <p:spPr>
          <a:xfrm>
            <a:off x="1594185" y="4653334"/>
            <a:ext cx="3281108" cy="2120444"/>
          </a:xfrm>
          <a:prstGeom prst="rect">
            <a:avLst/>
          </a:prstGeom>
        </p:spPr>
      </p:pic>
      <p:sp>
        <p:nvSpPr>
          <p:cNvPr id="11" name="Right Arrow 50">
            <a:extLst>
              <a:ext uri="{FF2B5EF4-FFF2-40B4-BE49-F238E27FC236}">
                <a16:creationId xmlns:a16="http://schemas.microsoft.com/office/drawing/2014/main" id="{05CC92E3-E5FB-1345-F6D4-88C0AEB16050}"/>
              </a:ext>
            </a:extLst>
          </p:cNvPr>
          <p:cNvSpPr/>
          <p:nvPr/>
        </p:nvSpPr>
        <p:spPr>
          <a:xfrm rot="5400000">
            <a:off x="2979068" y="4187112"/>
            <a:ext cx="511340" cy="4211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6A984-4C12-5C6B-CD25-7DEBA9A87D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185" y="1833803"/>
            <a:ext cx="3585591" cy="230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22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1AA5C-2DDF-9C9C-CE89-50D9B6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Melhorando a convergência das versões estocásticas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3A38DD3-AAC8-CEBB-5966-BFE9490F47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7096" y="1825624"/>
                <a:ext cx="7374903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versões estocásticas do GD, i.e., SGD e mini-</a:t>
                </a:r>
                <a:r>
                  <a:rPr lang="pt-BR" i="1" dirty="0"/>
                  <a:t>batch</a:t>
                </a:r>
                <a:r>
                  <a:rPr lang="pt-BR" dirty="0"/>
                  <a:t> (principalmente quando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pt-BR" dirty="0"/>
                  <a:t> é pequeno), são </a:t>
                </a:r>
                <a:r>
                  <a:rPr lang="pt-BR" b="1" dirty="0">
                    <a:solidFill>
                      <a:srgbClr val="7030A0"/>
                    </a:solidFill>
                  </a:rPr>
                  <a:t>mais rápidas e menos complexas</a:t>
                </a:r>
                <a:r>
                  <a:rPr lang="pt-BR" dirty="0"/>
                  <a:t> computacionalmente que o GDB. </a:t>
                </a:r>
              </a:p>
              <a:p>
                <a:r>
                  <a:rPr lang="pt-BR" dirty="0"/>
                  <a:t>Porém, elas têm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caminho irregular para o ponto de mínimo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Devido à </a:t>
                </a:r>
                <a:r>
                  <a:rPr lang="pt-BR" b="1" dirty="0">
                    <a:solidFill>
                      <a:schemeClr val="accent1"/>
                    </a:solidFill>
                  </a:rPr>
                  <a:t>estimativa</a:t>
                </a:r>
                <a:r>
                  <a:rPr lang="pt-BR" dirty="0"/>
                  <a:t> do vetor gradiente.</a:t>
                </a:r>
              </a:p>
              <a:p>
                <a:r>
                  <a:rPr lang="pt-BR" dirty="0"/>
                  <a:t>Além disso, quando as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amostras</a:t>
                </a:r>
                <a:r>
                  <a:rPr lang="pt-BR" dirty="0"/>
                  <a:t> do conjunto de treinamento estão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contaminadas com ruído</a:t>
                </a:r>
                <a:r>
                  <a:rPr lang="pt-BR" dirty="0"/>
                  <a:t>, elas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podem não convergir </a:t>
                </a:r>
                <a:r>
                  <a:rPr lang="pt-BR" dirty="0"/>
                  <a:t>para o mínimo (i.e., ficam oscilando ao redor dele).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3A38DD3-AAC8-CEBB-5966-BFE9490F47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7096" y="1825624"/>
                <a:ext cx="7374903" cy="5032375"/>
              </a:xfrm>
              <a:blipFill>
                <a:blip r:embed="rId2"/>
                <a:stretch>
                  <a:fillRect l="-1488" t="-1937" r="-2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1999DB96-4912-8E62-FC86-88BC7EE4F2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3" r="9292" b="2280"/>
          <a:stretch/>
        </p:blipFill>
        <p:spPr>
          <a:xfrm>
            <a:off x="715651" y="2405668"/>
            <a:ext cx="3296575" cy="311843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0EFF700-9F19-94D4-EF85-7E68B1E612EC}"/>
              </a:ext>
            </a:extLst>
          </p:cNvPr>
          <p:cNvSpPr txBox="1"/>
          <p:nvPr/>
        </p:nvSpPr>
        <p:spPr>
          <a:xfrm>
            <a:off x="1125268" y="5524107"/>
            <a:ext cx="30472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Gradiente descendente estocástico (SGD)</a:t>
            </a:r>
          </a:p>
        </p:txBody>
      </p:sp>
    </p:spTree>
    <p:extLst>
      <p:ext uri="{BB962C8B-B14F-4D97-AF65-F5344CB8AC3E}">
        <p14:creationId xmlns:p14="http://schemas.microsoft.com/office/powerpoint/2010/main" val="384099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CEC42-2ACC-2FC6-E985-3086CBDF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1511E-2ADF-BE92-63B5-8C3324D0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Melhorando a convergência das versões estocásticas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538911-187A-BB31-817A-F09DF8DE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306" y="1825624"/>
            <a:ext cx="7723694" cy="5032375"/>
          </a:xfrm>
        </p:spPr>
        <p:txBody>
          <a:bodyPr>
            <a:normAutofit/>
          </a:bodyPr>
          <a:lstStyle/>
          <a:p>
            <a:r>
              <a:rPr lang="pt-BR" dirty="0"/>
              <a:t>Esses problemas </a:t>
            </a:r>
            <a:r>
              <a:rPr lang="pt-BR" b="1" i="1" dirty="0">
                <a:solidFill>
                  <a:srgbClr val="00B050"/>
                </a:solidFill>
              </a:rPr>
              <a:t>impactam</a:t>
            </a:r>
            <a:r>
              <a:rPr lang="pt-BR" dirty="0"/>
              <a:t> o </a:t>
            </a:r>
            <a:r>
              <a:rPr lang="pt-BR" b="1" i="1" dirty="0">
                <a:solidFill>
                  <a:srgbClr val="00B050"/>
                </a:solidFill>
              </a:rPr>
              <a:t>desempenho do modelo </a:t>
            </a:r>
            <a:r>
              <a:rPr lang="pt-BR" dirty="0"/>
              <a:t>e deixam o </a:t>
            </a:r>
            <a:r>
              <a:rPr lang="pt-BR" b="1" i="1" dirty="0">
                <a:solidFill>
                  <a:srgbClr val="00B050"/>
                </a:solidFill>
              </a:rPr>
              <a:t>treinamento lento </a:t>
            </a:r>
            <a:r>
              <a:rPr lang="pt-BR" dirty="0"/>
              <a:t>e, possivelmente, </a:t>
            </a:r>
            <a:r>
              <a:rPr lang="pt-BR" b="1" i="1" dirty="0">
                <a:solidFill>
                  <a:srgbClr val="00B050"/>
                </a:solidFill>
              </a:rPr>
              <a:t>instável</a:t>
            </a:r>
            <a:r>
              <a:rPr lang="pt-BR" dirty="0"/>
              <a:t>.</a:t>
            </a:r>
          </a:p>
          <a:p>
            <a:r>
              <a:rPr lang="pt-BR" dirty="0"/>
              <a:t>Entretanto, existem </a:t>
            </a:r>
            <a:r>
              <a:rPr lang="pt-BR" b="1" i="1" dirty="0">
                <a:solidFill>
                  <a:srgbClr val="00B050"/>
                </a:solidFill>
              </a:rPr>
              <a:t>técnicas para minimizar </a:t>
            </a:r>
            <a:r>
              <a:rPr lang="pt-BR" dirty="0"/>
              <a:t>esses problemas, deixando essas versões do GD </a:t>
            </a:r>
            <a:r>
              <a:rPr lang="pt-BR" b="1" i="1" dirty="0">
                <a:solidFill>
                  <a:srgbClr val="00B050"/>
                </a:solidFill>
              </a:rPr>
              <a:t>mais comportadas</a:t>
            </a:r>
            <a:r>
              <a:rPr lang="pt-BR" dirty="0"/>
              <a:t>.</a:t>
            </a:r>
          </a:p>
          <a:p>
            <a:r>
              <a:rPr lang="pt-BR" dirty="0"/>
              <a:t>As técnicas mais conhecidas envolvem o </a:t>
            </a:r>
            <a:r>
              <a:rPr lang="pt-BR" b="1" i="1" dirty="0">
                <a:solidFill>
                  <a:srgbClr val="7030A0"/>
                </a:solidFill>
              </a:rPr>
              <a:t>ajuste da taxa de aprendizagem </a:t>
            </a:r>
            <a:r>
              <a:rPr lang="pt-BR" dirty="0"/>
              <a:t>e/ou do </a:t>
            </a:r>
            <a:r>
              <a:rPr lang="pt-BR" b="1" i="1" dirty="0">
                <a:solidFill>
                  <a:srgbClr val="7030A0"/>
                </a:solidFill>
              </a:rPr>
              <a:t>termo de atualização dos pesos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Redução do passo</a:t>
            </a:r>
            <a:r>
              <a:rPr lang="pt-BR" dirty="0"/>
              <a:t>: força a convergência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Termo momentum</a:t>
            </a:r>
            <a:r>
              <a:rPr lang="pt-BR" dirty="0"/>
              <a:t>: redução da variação de direção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Ajuste adaptativo</a:t>
            </a:r>
            <a:r>
              <a:rPr lang="pt-BR" dirty="0"/>
              <a:t>: usa taxas independentes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D64F838-936F-355B-0DA2-B5F57578C5DE}"/>
              </a:ext>
            </a:extLst>
          </p:cNvPr>
          <p:cNvGrpSpPr/>
          <p:nvPr/>
        </p:nvGrpSpPr>
        <p:grpSpPr>
          <a:xfrm>
            <a:off x="649663" y="2443375"/>
            <a:ext cx="3456831" cy="3395438"/>
            <a:chOff x="338579" y="2405668"/>
            <a:chExt cx="3456831" cy="33954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51F0C5-9F3A-DC7B-9FF5-1DD6FD4844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13" r="9292" b="2280"/>
            <a:stretch/>
          </p:blipFill>
          <p:spPr>
            <a:xfrm>
              <a:off x="338579" y="2405668"/>
              <a:ext cx="3296575" cy="3118439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3814E3E-CFEA-A936-CCE6-0F39D8FC7B56}"/>
                </a:ext>
              </a:extLst>
            </p:cNvPr>
            <p:cNvSpPr txBox="1"/>
            <p:nvPr/>
          </p:nvSpPr>
          <p:spPr>
            <a:xfrm>
              <a:off x="748196" y="5524107"/>
              <a:ext cx="30472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Gradiente descendente estocástico (SGD)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1455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2DAD2-5657-42A1-35B9-4BB9FD00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Redução gradual do passo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C1EAA3-4293-62D4-5778-91C90AA88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80975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b="1" i="1" dirty="0">
                    <a:solidFill>
                      <a:srgbClr val="7030A0"/>
                    </a:solidFill>
                  </a:rPr>
                  <a:t>Redução gradual </a:t>
                </a:r>
                <a:r>
                  <a:rPr lang="pt-BR" dirty="0"/>
                  <a:t>(ou decaimento) da taxa de aprendizagem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diminui gradualmente a taxa de aprendizagem</a:t>
                </a:r>
                <a:r>
                  <a:rPr lang="pt-BR" dirty="0"/>
                  <a:t> ao longo do treinamento.</a:t>
                </a:r>
                <a:endParaRPr lang="pt-BR" b="1" dirty="0"/>
              </a:p>
              <a:p>
                <a:r>
                  <a:rPr lang="pt-BR" b="0" i="0" dirty="0">
                    <a:effectLst/>
                  </a:rPr>
                  <a:t>A redução da taxa de aprendizagem faz com que as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atualizações dos pesos se tornem cada vez menores</a:t>
                </a:r>
                <a:r>
                  <a:rPr lang="pt-BR" b="0" i="0" dirty="0">
                    <a:effectLst/>
                  </a:rPr>
                  <a:t> à medida que o treinamento progride, o que pode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melhorar (ou forçar) a convergência</a:t>
                </a:r>
                <a:r>
                  <a:rPr lang="pt-BR" b="0" i="0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endParaRPr lang="pt-BR" sz="800" b="0" i="0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número da iteração de atualização atual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acc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 do vetor gradiente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Essa é 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técnica mais simples</a:t>
                </a:r>
                <a:r>
                  <a:rPr lang="pt-BR" dirty="0"/>
                  <a:t> das que veremos,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mas precisamos encontrar os hiperparâmetros</a:t>
                </a:r>
                <a:r>
                  <a:rPr lang="pt-BR" dirty="0"/>
                  <a:t> que dão a taxa ideal de redução do passo de aprendizagem de forma que que o algoritmo convirja.</a:t>
                </a:r>
              </a:p>
              <a:p>
                <a:r>
                  <a:rPr lang="pt-BR" dirty="0"/>
                  <a:t>Veremos em breve um exemplo de como ela funciona.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C1EAA3-4293-62D4-5778-91C90AA88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80975" cy="5032375"/>
              </a:xfrm>
              <a:blipFill>
                <a:blip r:embed="rId2"/>
                <a:stretch>
                  <a:fillRect l="-1145" t="-2663" r="-1091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F3C49CDB-DEA1-DD50-127B-71A2D929D6C4}"/>
              </a:ext>
            </a:extLst>
          </p:cNvPr>
          <p:cNvSpPr/>
          <p:nvPr/>
        </p:nvSpPr>
        <p:spPr>
          <a:xfrm>
            <a:off x="6689098" y="3894953"/>
            <a:ext cx="642266" cy="442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276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853DE-E713-4707-319D-273A1EFA9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6769" cy="1325563"/>
          </a:xfrm>
        </p:spPr>
        <p:txBody>
          <a:bodyPr/>
          <a:lstStyle/>
          <a:p>
            <a:r>
              <a:rPr lang="pt-BR" dirty="0"/>
              <a:t>Técnicas mais comuns para a redução do passo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3A3F22-CF42-B5C5-F43D-BEC6A4313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46964" cy="5032375"/>
              </a:xfrm>
            </p:spPr>
            <p:txBody>
              <a:bodyPr/>
              <a:lstStyle/>
              <a:p>
                <a:r>
                  <a:rPr lang="pt-BR" dirty="0"/>
                  <a:t>As três técnicas mais comuns para a </a:t>
                </a:r>
                <a:r>
                  <a:rPr lang="pt-BR" b="1" i="1" dirty="0"/>
                  <a:t>redução gradual</a:t>
                </a:r>
                <a:r>
                  <a:rPr lang="pt-BR" dirty="0"/>
                  <a:t> da taxa de aprendizagem são: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Decaimento por etapas ou degraus</a:t>
                </a:r>
                <a:r>
                  <a:rPr lang="pt-BR" dirty="0"/>
                  <a:t>: reduz a taxa de aprendizagem inicial,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de um fator,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, a cada número pré-definido de iterações,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. Um valor típico para reduzir a taxa de aprendizado é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 a cada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 de iterações.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Decaimento exponencial</a:t>
                </a:r>
                <a:r>
                  <a:rPr lang="pt-BR" dirty="0"/>
                  <a:t>: é dado pela equação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p>
                    </m:sSup>
                  </m:oMath>
                </a14:m>
                <a:r>
                  <a:rPr lang="pt-BR" dirty="0"/>
                  <a:t>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são a taxa de aprendizagem inicial, a taxa de decrescimento e o número da iteração de atualização atual, respectivamente.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Decaimento temporal</a:t>
                </a:r>
                <a:r>
                  <a:rPr lang="pt-BR" dirty="0"/>
                  <a:t>: é dado pela equação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type m:val="skw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𝑘𝑖</m:t>
                            </m:r>
                          </m:e>
                        </m:d>
                      </m:den>
                    </m:f>
                  </m:oMath>
                </a14:m>
                <a:r>
                  <a:rPr lang="pt-BR" dirty="0"/>
                  <a:t>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têm o mesmo significado que no decaimento exponencial.</a:t>
                </a:r>
              </a:p>
              <a:p>
                <a:r>
                  <a:rPr lang="pt-BR" dirty="0"/>
                  <a:t>Entretanto, percebam que ainda temos que encontrar os valores ideais para os </a:t>
                </a:r>
                <a:r>
                  <a:rPr lang="pt-BR" b="1" i="1" dirty="0"/>
                  <a:t>hiperparâmetros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3A3F22-CF42-B5C5-F43D-BEC6A4313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46964" cy="5032375"/>
              </a:xfrm>
              <a:blipFill>
                <a:blip r:embed="rId2"/>
                <a:stretch>
                  <a:fillRect l="-921" t="-1937" r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70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2DAD2-5657-42A1-35B9-4BB9FD00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Termo momentum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C1EAA3-4293-62D4-5778-91C90AA88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8467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termo momentum </a:t>
                </a:r>
                <a:r>
                  <a:rPr lang="pt-BR" dirty="0"/>
                  <a:t>adiciona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média do histórico de estimativas do vetor gradientes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à equação de atualização dos pesos,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tornando as atualizações menos ruidosas</a:t>
                </a:r>
                <a:r>
                  <a:rPr lang="pt-BR" dirty="0"/>
                  <a:t>, e, consequentemente,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acelerando a convergência </a:t>
                </a:r>
                <a:r>
                  <a:rPr lang="pt-BR" dirty="0"/>
                  <a:t>do algoritmo.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acc>
                        <m:accPr>
                          <m:chr m:val="̂"/>
                          <m:ctrlP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 do vetor gradiente</a:t>
                </a:r>
                <a:r>
                  <a:rPr lang="pt-BR" dirty="0"/>
                  <a:t> para 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iteração e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, chamado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coeficiente de momentum</a:t>
                </a:r>
                <a:r>
                  <a:rPr lang="pt-BR" dirty="0"/>
                  <a:t>, determina a quantidade de estimativas anteriores que são consideradas no cálculo da média.</a:t>
                </a:r>
              </a:p>
              <a:p>
                <a:r>
                  <a:rPr lang="pt-BR" dirty="0"/>
                  <a:t>Em geral, a taxa de aprendizagem é constante, mas pode decair também.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desvantagem</a:t>
                </a:r>
                <a:r>
                  <a:rPr lang="pt-BR" dirty="0"/>
                  <a:t> é que nós precisamos encontrar os valores ideais dos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hiperparâmetros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C1EAA3-4293-62D4-5778-91C90AA88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84671" cy="5032375"/>
              </a:xfrm>
              <a:blipFill>
                <a:blip r:embed="rId3"/>
                <a:stretch>
                  <a:fillRect l="-1080" t="-2663" r="-432" b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855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DAB7-81B5-3D1B-C4D3-AF73617F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Variação adaptativa dos passos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F5DF8-C455-D55B-1076-4FD7884AA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/>
          </a:bodyPr>
          <a:lstStyle/>
          <a:p>
            <a:r>
              <a:rPr lang="pt-BR" dirty="0"/>
              <a:t>Estas técnicas ajustam </a:t>
            </a:r>
            <a:r>
              <a:rPr lang="pt-BR" b="1" i="1" dirty="0">
                <a:solidFill>
                  <a:schemeClr val="accent2"/>
                </a:solidFill>
              </a:rPr>
              <a:t>automaticamente</a:t>
            </a:r>
            <a:r>
              <a:rPr lang="pt-BR" dirty="0"/>
              <a:t> a </a:t>
            </a:r>
            <a:r>
              <a:rPr lang="pt-BR" b="1" i="1" dirty="0">
                <a:solidFill>
                  <a:srgbClr val="00B050"/>
                </a:solidFill>
              </a:rPr>
              <a:t>taxa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de aprendizado </a:t>
            </a:r>
            <a:r>
              <a:rPr lang="pt-BR" b="1" i="1" dirty="0">
                <a:solidFill>
                  <a:schemeClr val="accent2"/>
                </a:solidFill>
              </a:rPr>
              <a:t>para cada peso</a:t>
            </a:r>
            <a:r>
              <a:rPr lang="pt-BR" dirty="0"/>
              <a:t> ao longo do treinamento, em vez de usar um único valor fixo.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Cada peso do modelo tem sua própria taxa de aprendizagem.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Cada taxa é adaptada com base no histórico dos gradientes.</a:t>
            </a:r>
          </a:p>
          <a:p>
            <a:r>
              <a:rPr lang="pt-BR" dirty="0"/>
              <a:t>As técnicas mais conhecidas são </a:t>
            </a:r>
            <a:r>
              <a:rPr lang="pt-BR" dirty="0" err="1"/>
              <a:t>AdaGrad</a:t>
            </a:r>
            <a:r>
              <a:rPr lang="pt-BR" dirty="0"/>
              <a:t>, </a:t>
            </a:r>
            <a:r>
              <a:rPr lang="pt-BR" dirty="0" err="1"/>
              <a:t>RMSProp</a:t>
            </a:r>
            <a:r>
              <a:rPr lang="pt-BR" dirty="0"/>
              <a:t> e Adam.</a:t>
            </a:r>
            <a:r>
              <a:rPr lang="pt-BR" b="1" dirty="0"/>
              <a:t> </a:t>
            </a:r>
          </a:p>
          <a:p>
            <a:r>
              <a:rPr lang="pt-BR" b="1" dirty="0" err="1"/>
              <a:t>AdaGrad</a:t>
            </a:r>
            <a:r>
              <a:rPr lang="pt-BR" dirty="0"/>
              <a:t> reduz a taxa usando o acúmulo de gradientes anteriores, mas sofre com a redução excessiva do passo ao longo do tempo.</a:t>
            </a:r>
          </a:p>
          <a:p>
            <a:r>
              <a:rPr lang="pt-BR" b="1" dirty="0" err="1"/>
              <a:t>RMSProp</a:t>
            </a:r>
            <a:r>
              <a:rPr lang="pt-BR" dirty="0"/>
              <a:t> usa uma média móvel dos gradientes anteriores para evitar que a passo caia demais.</a:t>
            </a:r>
          </a:p>
          <a:p>
            <a:r>
              <a:rPr lang="pt-BR" b="1" dirty="0"/>
              <a:t>Adam</a:t>
            </a:r>
            <a:r>
              <a:rPr lang="pt-BR" dirty="0"/>
              <a:t> combina </a:t>
            </a:r>
            <a:r>
              <a:rPr lang="pt-BR" dirty="0" err="1"/>
              <a:t>RMSProp</a:t>
            </a:r>
            <a:r>
              <a:rPr lang="pt-BR" dirty="0"/>
              <a:t> com o termo momentum (média dos gradientes).</a:t>
            </a:r>
          </a:p>
          <a:p>
            <a:r>
              <a:rPr lang="pt-BR" dirty="0"/>
              <a:t>Em geral, </a:t>
            </a:r>
            <a:r>
              <a:rPr lang="pt-BR" b="1" i="1" dirty="0">
                <a:solidFill>
                  <a:srgbClr val="00B050"/>
                </a:solidFill>
              </a:rPr>
              <a:t>não precisam de ajuste de nenhum </a:t>
            </a:r>
            <a:r>
              <a:rPr lang="pt-BR" b="1" i="1" dirty="0" err="1">
                <a:solidFill>
                  <a:srgbClr val="00B050"/>
                </a:solidFill>
              </a:rPr>
              <a:t>hiperparâmetro</a:t>
            </a:r>
            <a:r>
              <a:rPr lang="pt-BR" b="1" i="1" dirty="0">
                <a:solidFill>
                  <a:srgbClr val="00B050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030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C6600-DEC0-B4A2-D13C-D4016F1F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redução programada com GDE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9DE8AF1-A842-9D71-1CC8-28F862E81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r="8947" b="2656"/>
          <a:stretch/>
        </p:blipFill>
        <p:spPr>
          <a:xfrm>
            <a:off x="5548638" y="1879026"/>
            <a:ext cx="2426907" cy="2419249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F78E7DEF-7734-D99E-0342-DD800946C1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r="9413" b="4577"/>
          <a:stretch/>
        </p:blipFill>
        <p:spPr>
          <a:xfrm>
            <a:off x="2790490" y="1875812"/>
            <a:ext cx="2501738" cy="241446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E6CD326-3A16-EA54-BA43-F3EECE9E714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2" r="9437" b="2629"/>
          <a:stretch/>
        </p:blipFill>
        <p:spPr>
          <a:xfrm>
            <a:off x="99203" y="1857859"/>
            <a:ext cx="2447809" cy="2440416"/>
          </a:xfrm>
          <a:prstGeom prst="rect">
            <a:avLst/>
          </a:prstGeom>
        </p:spPr>
      </p:pic>
      <p:sp>
        <p:nvSpPr>
          <p:cNvPr id="7" name="Right Arrow 5">
            <a:extLst>
              <a:ext uri="{FF2B5EF4-FFF2-40B4-BE49-F238E27FC236}">
                <a16:creationId xmlns:a16="http://schemas.microsoft.com/office/drawing/2014/main" id="{646C8848-ECB5-43A8-887E-6C6224DA20CE}"/>
              </a:ext>
            </a:extLst>
          </p:cNvPr>
          <p:cNvSpPr/>
          <p:nvPr/>
        </p:nvSpPr>
        <p:spPr>
          <a:xfrm>
            <a:off x="2559944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ight Arrow 9">
            <a:extLst>
              <a:ext uri="{FF2B5EF4-FFF2-40B4-BE49-F238E27FC236}">
                <a16:creationId xmlns:a16="http://schemas.microsoft.com/office/drawing/2014/main" id="{E3175E18-3692-B822-9276-B519FA351945}"/>
              </a:ext>
            </a:extLst>
          </p:cNvPr>
          <p:cNvSpPr/>
          <p:nvPr/>
        </p:nvSpPr>
        <p:spPr>
          <a:xfrm>
            <a:off x="5305160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68310-215C-317B-267D-CA3C444CE0D0}"/>
              </a:ext>
            </a:extLst>
          </p:cNvPr>
          <p:cNvSpPr txBox="1"/>
          <p:nvPr/>
        </p:nvSpPr>
        <p:spPr>
          <a:xfrm>
            <a:off x="227407" y="1509354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Sem redução gradual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450AFFF9-22CC-9859-7E00-7B8E3941F4B9}"/>
              </a:ext>
            </a:extLst>
          </p:cNvPr>
          <p:cNvSpPr txBox="1"/>
          <p:nvPr/>
        </p:nvSpPr>
        <p:spPr>
          <a:xfrm>
            <a:off x="5675635" y="1550063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Com redução gradual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3BFE194A-0346-7D7C-F6E3-8EDC2A897055}"/>
              </a:ext>
            </a:extLst>
          </p:cNvPr>
          <p:cNvSpPr txBox="1"/>
          <p:nvPr/>
        </p:nvSpPr>
        <p:spPr>
          <a:xfrm>
            <a:off x="2972623" y="1511122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Redução gradual por degraus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00D43F0F-39F1-EC1E-61E5-33F4E9C254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" t="7344" r="9385" b="3733"/>
          <a:stretch/>
        </p:blipFill>
        <p:spPr>
          <a:xfrm>
            <a:off x="5538600" y="4382521"/>
            <a:ext cx="2436946" cy="2453928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ADF16116-0DAB-0C62-94B9-3C0073F9E74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9" r="9397" b="3612"/>
          <a:stretch/>
        </p:blipFill>
        <p:spPr>
          <a:xfrm>
            <a:off x="99202" y="4398980"/>
            <a:ext cx="2447810" cy="242101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E57C527A-0756-EBDB-9504-B3DF44D98DF4}"/>
              </a:ext>
            </a:extLst>
          </p:cNvPr>
          <p:cNvSpPr/>
          <p:nvPr/>
        </p:nvSpPr>
        <p:spPr>
          <a:xfrm>
            <a:off x="2632216" y="5171714"/>
            <a:ext cx="31286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#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learning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 schedule: Gradual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.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def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FF00FF"/>
                </a:solidFill>
                <a:highlight>
                  <a:srgbClr val="FFFFFF"/>
                </a:highlight>
              </a:rPr>
              <a:t>stepDecay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b="1" dirty="0">
                <a:solidFill>
                  <a:srgbClr val="FF0000"/>
                </a:solidFill>
                <a:highlight>
                  <a:srgbClr val="FFFFFF"/>
                </a:highlight>
              </a:rPr>
              <a:t>6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.0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):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'''Gradual </a:t>
            </a:r>
            <a:r>
              <a:rPr lang="pt-BR" sz="800" dirty="0" err="1">
                <a:solidFill>
                  <a:srgbClr val="FF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.'''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alpha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b="1" dirty="0" err="1">
                <a:solidFill>
                  <a:srgbClr val="880088"/>
                </a:solidFill>
                <a:highlight>
                  <a:srgbClr val="FFFFFF"/>
                </a:highlight>
              </a:rPr>
              <a:t>pow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floor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)/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alpha</a:t>
            </a:r>
            <a:endParaRPr lang="pt-BR" sz="800" dirty="0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239AA1F2-5E3F-7BEB-1556-BB737E131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477" y="1825624"/>
            <a:ext cx="4104319" cy="503237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800" dirty="0"/>
              <a:t>Mesmo com </a:t>
            </a:r>
            <a:r>
              <a:rPr lang="pt-BR" sz="2800" b="1" i="1" dirty="0"/>
              <a:t>decaimento gradual</a:t>
            </a:r>
            <a:r>
              <a:rPr lang="pt-BR" sz="2800" dirty="0"/>
              <a:t>, o caminho para o ponto de mínimo não é regular.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Ele a</a:t>
            </a:r>
            <a:r>
              <a:rPr lang="pt-BR" sz="2800" dirty="0"/>
              <a:t>presenta </a:t>
            </a:r>
            <a:r>
              <a:rPr lang="pt-BR" sz="2800" b="1" i="1" dirty="0"/>
              <a:t>mudanças de direção</a:t>
            </a:r>
            <a:r>
              <a:rPr lang="pt-BR" sz="2800" dirty="0"/>
              <a:t> ao longo do caminho.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i="1" dirty="0">
                <a:solidFill>
                  <a:schemeClr val="accent2"/>
                </a:solidFill>
              </a:rPr>
              <a:t>A taxa não influencia na direção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apenas no tamanho</a:t>
            </a:r>
            <a:r>
              <a:rPr lang="pt-BR" dirty="0"/>
              <a:t> do deslocamento (i.e., do passo). </a:t>
            </a:r>
            <a:endParaRPr lang="pt-BR" sz="2800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E442B2E9-3D88-DFD3-E99D-F5C7DD986DCA}"/>
              </a:ext>
            </a:extLst>
          </p:cNvPr>
          <p:cNvSpPr txBox="1"/>
          <p:nvPr/>
        </p:nvSpPr>
        <p:spPr>
          <a:xfrm>
            <a:off x="9341636" y="6597096"/>
            <a:ext cx="2899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hlinkClick r:id="rId8"/>
              </a:rPr>
              <a:t>Exemplo: </a:t>
            </a:r>
            <a:r>
              <a:rPr lang="pt-BR" sz="1200" dirty="0" err="1">
                <a:hlinkClick r:id="rId8"/>
              </a:rPr>
              <a:t>gde_com_redução_gradual.ipynb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01087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C6600-DEC0-B4A2-D13C-D4016F1F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redução programada com GDE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9DE8AF1-A842-9D71-1CC8-28F862E81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r="8947" b="2656"/>
          <a:stretch/>
        </p:blipFill>
        <p:spPr>
          <a:xfrm>
            <a:off x="5548638" y="1879026"/>
            <a:ext cx="2426907" cy="2419249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F78E7DEF-7734-D99E-0342-DD800946C1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r="9413" b="4577"/>
          <a:stretch/>
        </p:blipFill>
        <p:spPr>
          <a:xfrm>
            <a:off x="2790490" y="1875812"/>
            <a:ext cx="2501738" cy="241446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E6CD326-3A16-EA54-BA43-F3EECE9E714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2" r="9437" b="2629"/>
          <a:stretch/>
        </p:blipFill>
        <p:spPr>
          <a:xfrm>
            <a:off x="99203" y="1857859"/>
            <a:ext cx="2447809" cy="2440416"/>
          </a:xfrm>
          <a:prstGeom prst="rect">
            <a:avLst/>
          </a:prstGeom>
        </p:spPr>
      </p:pic>
      <p:sp>
        <p:nvSpPr>
          <p:cNvPr id="7" name="Right Arrow 5">
            <a:extLst>
              <a:ext uri="{FF2B5EF4-FFF2-40B4-BE49-F238E27FC236}">
                <a16:creationId xmlns:a16="http://schemas.microsoft.com/office/drawing/2014/main" id="{646C8848-ECB5-43A8-887E-6C6224DA20CE}"/>
              </a:ext>
            </a:extLst>
          </p:cNvPr>
          <p:cNvSpPr/>
          <p:nvPr/>
        </p:nvSpPr>
        <p:spPr>
          <a:xfrm>
            <a:off x="2559944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ight Arrow 9">
            <a:extLst>
              <a:ext uri="{FF2B5EF4-FFF2-40B4-BE49-F238E27FC236}">
                <a16:creationId xmlns:a16="http://schemas.microsoft.com/office/drawing/2014/main" id="{E3175E18-3692-B822-9276-B519FA351945}"/>
              </a:ext>
            </a:extLst>
          </p:cNvPr>
          <p:cNvSpPr/>
          <p:nvPr/>
        </p:nvSpPr>
        <p:spPr>
          <a:xfrm>
            <a:off x="5305160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68310-215C-317B-267D-CA3C444CE0D0}"/>
              </a:ext>
            </a:extLst>
          </p:cNvPr>
          <p:cNvSpPr txBox="1"/>
          <p:nvPr/>
        </p:nvSpPr>
        <p:spPr>
          <a:xfrm>
            <a:off x="227407" y="1509354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Sem redução gradual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450AFFF9-22CC-9859-7E00-7B8E3941F4B9}"/>
              </a:ext>
            </a:extLst>
          </p:cNvPr>
          <p:cNvSpPr txBox="1"/>
          <p:nvPr/>
        </p:nvSpPr>
        <p:spPr>
          <a:xfrm>
            <a:off x="5675635" y="1550063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Com redução gradual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00D43F0F-39F1-EC1E-61E5-33F4E9C254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" t="7344" r="9385" b="3733"/>
          <a:stretch/>
        </p:blipFill>
        <p:spPr>
          <a:xfrm>
            <a:off x="5538600" y="4382521"/>
            <a:ext cx="2436946" cy="2453928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ADF16116-0DAB-0C62-94B9-3C0073F9E74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9" r="9397" b="3612"/>
          <a:stretch/>
        </p:blipFill>
        <p:spPr>
          <a:xfrm>
            <a:off x="99202" y="4398980"/>
            <a:ext cx="2447810" cy="242101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E57C527A-0756-EBDB-9504-B3DF44D98DF4}"/>
              </a:ext>
            </a:extLst>
          </p:cNvPr>
          <p:cNvSpPr/>
          <p:nvPr/>
        </p:nvSpPr>
        <p:spPr>
          <a:xfrm>
            <a:off x="2632216" y="5171714"/>
            <a:ext cx="31286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#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learning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 schedule: Gradual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.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def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FF00FF"/>
                </a:solidFill>
                <a:highlight>
                  <a:srgbClr val="FFFFFF"/>
                </a:highlight>
              </a:rPr>
              <a:t>stepDecay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b="1" dirty="0">
                <a:solidFill>
                  <a:srgbClr val="FF0000"/>
                </a:solidFill>
                <a:highlight>
                  <a:srgbClr val="FFFFFF"/>
                </a:highlight>
              </a:rPr>
              <a:t>6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.0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):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'''Gradual </a:t>
            </a:r>
            <a:r>
              <a:rPr lang="pt-BR" sz="800" dirty="0" err="1">
                <a:solidFill>
                  <a:srgbClr val="FF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.'''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alpha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b="1" dirty="0" err="1">
                <a:solidFill>
                  <a:srgbClr val="880088"/>
                </a:solidFill>
                <a:highlight>
                  <a:srgbClr val="FFFFFF"/>
                </a:highlight>
              </a:rPr>
              <a:t>pow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floor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)/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alpha</a:t>
            </a:r>
            <a:endParaRPr lang="pt-BR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239AA1F2-5E3F-7BEB-1556-BB737E131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8477" y="1825624"/>
                <a:ext cx="4104319" cy="5032375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pt-BR" sz="2800" dirty="0"/>
                  <a:t>Porém, a </a:t>
                </a:r>
                <a:r>
                  <a:rPr lang="pt-BR" sz="2800" b="1" i="1" dirty="0"/>
                  <a:t>oscilação em torno do mínimo é bastante reduzida </a:t>
                </a:r>
                <a:r>
                  <a:rPr lang="pt-BR" sz="2800" dirty="0"/>
                  <a:t>devido à </a:t>
                </a:r>
                <a:r>
                  <a:rPr lang="pt-BR" sz="2800" b="1" i="1" dirty="0"/>
                  <a:t>diminuição gradual </a:t>
                </a:r>
                <a:r>
                  <a:rPr lang="pt-BR" sz="2800" dirty="0"/>
                  <a:t>da taxa de aprendizagem,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pt-BR" sz="2800" dirty="0"/>
                  <a:t>Conseguimos observar o efeito da redução de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/>
                  <a:t> nas figuras que mostram os elementos do vetor gradiente e de atualização.</a:t>
                </a:r>
              </a:p>
            </p:txBody>
          </p:sp>
        </mc:Choice>
        <mc:Fallback xmlns="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239AA1F2-5E3F-7BEB-1556-BB737E131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8477" y="1825624"/>
                <a:ext cx="4104319" cy="5032375"/>
              </a:xfrm>
              <a:blipFill>
                <a:blip r:embed="rId8"/>
                <a:stretch>
                  <a:fillRect l="-2671" t="-1937" r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2">
            <a:extLst>
              <a:ext uri="{FF2B5EF4-FFF2-40B4-BE49-F238E27FC236}">
                <a16:creationId xmlns:a16="http://schemas.microsoft.com/office/drawing/2014/main" id="{3BFE194A-0346-7D7C-F6E3-8EDC2A897055}"/>
              </a:ext>
            </a:extLst>
          </p:cNvPr>
          <p:cNvSpPr txBox="1"/>
          <p:nvPr/>
        </p:nvSpPr>
        <p:spPr>
          <a:xfrm>
            <a:off x="2972623" y="1511122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Redução gradual por degraus</a:t>
            </a:r>
          </a:p>
        </p:txBody>
      </p:sp>
    </p:spTree>
    <p:extLst>
      <p:ext uri="{BB962C8B-B14F-4D97-AF65-F5344CB8AC3E}">
        <p14:creationId xmlns:p14="http://schemas.microsoft.com/office/powerpoint/2010/main" val="1926192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C6600-DEC0-B4A2-D13C-D4016F1F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redução programada com GDE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9DE8AF1-A842-9D71-1CC8-28F862E81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r="8947" b="2656"/>
          <a:stretch/>
        </p:blipFill>
        <p:spPr>
          <a:xfrm>
            <a:off x="5548638" y="1879026"/>
            <a:ext cx="2426907" cy="2419249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F78E7DEF-7734-D99E-0342-DD800946C1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7" r="9413" b="4577"/>
          <a:stretch/>
        </p:blipFill>
        <p:spPr>
          <a:xfrm>
            <a:off x="2790490" y="1875812"/>
            <a:ext cx="2501738" cy="241446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E6CD326-3A16-EA54-BA43-F3EECE9E714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2" r="9437" b="2629"/>
          <a:stretch/>
        </p:blipFill>
        <p:spPr>
          <a:xfrm>
            <a:off x="99203" y="1857859"/>
            <a:ext cx="2447809" cy="2440416"/>
          </a:xfrm>
          <a:prstGeom prst="rect">
            <a:avLst/>
          </a:prstGeom>
        </p:spPr>
      </p:pic>
      <p:sp>
        <p:nvSpPr>
          <p:cNvPr id="7" name="Right Arrow 5">
            <a:extLst>
              <a:ext uri="{FF2B5EF4-FFF2-40B4-BE49-F238E27FC236}">
                <a16:creationId xmlns:a16="http://schemas.microsoft.com/office/drawing/2014/main" id="{646C8848-ECB5-43A8-887E-6C6224DA20CE}"/>
              </a:ext>
            </a:extLst>
          </p:cNvPr>
          <p:cNvSpPr/>
          <p:nvPr/>
        </p:nvSpPr>
        <p:spPr>
          <a:xfrm>
            <a:off x="2559944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ight Arrow 9">
            <a:extLst>
              <a:ext uri="{FF2B5EF4-FFF2-40B4-BE49-F238E27FC236}">
                <a16:creationId xmlns:a16="http://schemas.microsoft.com/office/drawing/2014/main" id="{E3175E18-3692-B822-9276-B519FA351945}"/>
              </a:ext>
            </a:extLst>
          </p:cNvPr>
          <p:cNvSpPr/>
          <p:nvPr/>
        </p:nvSpPr>
        <p:spPr>
          <a:xfrm>
            <a:off x="5305160" y="2953402"/>
            <a:ext cx="230546" cy="2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68310-215C-317B-267D-CA3C444CE0D0}"/>
              </a:ext>
            </a:extLst>
          </p:cNvPr>
          <p:cNvSpPr txBox="1"/>
          <p:nvPr/>
        </p:nvSpPr>
        <p:spPr>
          <a:xfrm>
            <a:off x="227407" y="1509354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Sem redução gradual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450AFFF9-22CC-9859-7E00-7B8E3941F4B9}"/>
              </a:ext>
            </a:extLst>
          </p:cNvPr>
          <p:cNvSpPr txBox="1"/>
          <p:nvPr/>
        </p:nvSpPr>
        <p:spPr>
          <a:xfrm>
            <a:off x="5675635" y="1550063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Com redução gradual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00D43F0F-39F1-EC1E-61E5-33F4E9C254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" t="7344" r="9385" b="3733"/>
          <a:stretch/>
        </p:blipFill>
        <p:spPr>
          <a:xfrm>
            <a:off x="5538600" y="4382521"/>
            <a:ext cx="2436946" cy="2453928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ADF16116-0DAB-0C62-94B9-3C0073F9E74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9" r="9397" b="3612"/>
          <a:stretch/>
        </p:blipFill>
        <p:spPr>
          <a:xfrm>
            <a:off x="99202" y="4398980"/>
            <a:ext cx="2447810" cy="242101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E57C527A-0756-EBDB-9504-B3DF44D98DF4}"/>
              </a:ext>
            </a:extLst>
          </p:cNvPr>
          <p:cNvSpPr/>
          <p:nvPr/>
        </p:nvSpPr>
        <p:spPr>
          <a:xfrm>
            <a:off x="2632216" y="5171714"/>
            <a:ext cx="31286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#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learning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 schedule: Gradual </a:t>
            </a:r>
            <a:r>
              <a:rPr lang="pt-BR" sz="800" dirty="0" err="1">
                <a:solidFill>
                  <a:srgbClr val="00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008000"/>
                </a:solidFill>
                <a:highlight>
                  <a:srgbClr val="FFFFFF"/>
                </a:highlight>
              </a:rPr>
              <a:t>.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def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FF00FF"/>
                </a:solidFill>
                <a:highlight>
                  <a:srgbClr val="FFFFFF"/>
                </a:highlight>
              </a:rPr>
              <a:t>stepDecay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b="1" dirty="0">
                <a:solidFill>
                  <a:srgbClr val="FF0000"/>
                </a:solidFill>
                <a:highlight>
                  <a:srgbClr val="FFFFFF"/>
                </a:highlight>
              </a:rPr>
              <a:t>6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.0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):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'''Gradual </a:t>
            </a:r>
            <a:r>
              <a:rPr lang="pt-BR" sz="800" dirty="0" err="1">
                <a:solidFill>
                  <a:srgbClr val="FF8000"/>
                </a:solidFill>
                <a:highlight>
                  <a:srgbClr val="FFFFFF"/>
                </a:highlight>
              </a:rPr>
              <a:t>decay</a:t>
            </a:r>
            <a:r>
              <a:rPr lang="pt-BR" sz="800" dirty="0">
                <a:solidFill>
                  <a:srgbClr val="FF8000"/>
                </a:solidFill>
                <a:highlight>
                  <a:srgbClr val="FFFFFF"/>
                </a:highlight>
              </a:rPr>
              <a:t>.'''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alpha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alpha_init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b="1" dirty="0" err="1">
                <a:solidFill>
                  <a:srgbClr val="880088"/>
                </a:solidFill>
                <a:highlight>
                  <a:srgbClr val="FFFFFF"/>
                </a:highlight>
              </a:rPr>
              <a:t>pow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drop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math</a:t>
            </a:r>
            <a:r>
              <a:rPr lang="pt-BR" sz="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</a:rPr>
              <a:t>floor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)/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beta</a:t>
            </a:r>
            <a:r>
              <a:rPr lang="pt-BR" sz="8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sz="8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</a:rPr>
              <a:t> alpha</a:t>
            </a:r>
            <a:endParaRPr lang="pt-BR" sz="800" dirty="0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239AA1F2-5E3F-7BEB-1556-BB737E131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3445" y="1825624"/>
            <a:ext cx="3969351" cy="50323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800" b="1" dirty="0"/>
              <a:t>Conclusão</a:t>
            </a:r>
            <a:r>
              <a:rPr lang="pt-BR" sz="2800" dirty="0"/>
              <a:t>: uma taxa de aprendizagem que tem seu valor reduzido ao longo das iterações de treinamento permite que que </a:t>
            </a:r>
            <a:r>
              <a:rPr lang="pt-BR" sz="2800" b="1" i="1" dirty="0">
                <a:solidFill>
                  <a:schemeClr val="accent1"/>
                </a:solidFill>
              </a:rPr>
              <a:t>versões estocásticas do gradiente descendente se estabilizem </a:t>
            </a:r>
            <a:r>
              <a:rPr lang="pt-BR" sz="2800" dirty="0"/>
              <a:t>próximo ao ponto de mínimo global.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BFE194A-0346-7D7C-F6E3-8EDC2A897055}"/>
              </a:ext>
            </a:extLst>
          </p:cNvPr>
          <p:cNvSpPr txBox="1"/>
          <p:nvPr/>
        </p:nvSpPr>
        <p:spPr>
          <a:xfrm>
            <a:off x="2972623" y="1511122"/>
            <a:ext cx="2447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Redução gradual por degraus</a:t>
            </a:r>
          </a:p>
        </p:txBody>
      </p:sp>
    </p:spTree>
    <p:extLst>
      <p:ext uri="{BB962C8B-B14F-4D97-AF65-F5344CB8AC3E}">
        <p14:creationId xmlns:p14="http://schemas.microsoft.com/office/powerpoint/2010/main" val="3629485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45254" cy="5032376"/>
          </a:xfrm>
        </p:spPr>
        <p:txBody>
          <a:bodyPr/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T319 - Quiz - Regressão: Parte III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#4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Vídeo explicando o laboratório: Arquivos -&gt; </a:t>
            </a:r>
            <a:r>
              <a:rPr lang="pt-BR" dirty="0" err="1"/>
              <a:t>Recordings</a:t>
            </a:r>
            <a:r>
              <a:rPr lang="pt-BR" dirty="0"/>
              <a:t> -&gt; Laboratório #4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9093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0987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Nenhuma descrição de foto disponível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86" y="201872"/>
            <a:ext cx="2856519" cy="285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ric Jang: Machine Learning Mem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407" y="100064"/>
            <a:ext cx="3676745" cy="317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chine learning meme | Programmer humor, Silly memes, Original mem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501" y="402472"/>
            <a:ext cx="2780309" cy="313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rom Hello world to directly Machine Learning? : ProgrammerHum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77" y="3274522"/>
            <a:ext cx="2560736" cy="338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25+ Best Machine Learning Memes | Know Memes, Imgur Memes, Artificial  Intelligence Mem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670" y="3792114"/>
            <a:ext cx="3377487" cy="271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e Role of Mathematics in Machine Learning | by Balaka Biswas | Level Up  Codi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152" y="3538660"/>
            <a:ext cx="3329401" cy="3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579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569" y="2494549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1748780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4" name="Group 3"/>
          <p:cNvGrpSpPr/>
          <p:nvPr/>
        </p:nvGrpSpPr>
        <p:grpSpPr>
          <a:xfrm>
            <a:off x="5034465" y="3089448"/>
            <a:ext cx="5180001" cy="3048149"/>
            <a:chOff x="5034465" y="3089448"/>
            <a:chExt cx="5180001" cy="3048149"/>
          </a:xfrm>
        </p:grpSpPr>
        <p:sp>
          <p:nvSpPr>
            <p:cNvPr id="5" name="Freeform 4"/>
            <p:cNvSpPr/>
            <p:nvPr/>
          </p:nvSpPr>
          <p:spPr>
            <a:xfrm>
              <a:off x="5178136" y="3647922"/>
              <a:ext cx="4343400" cy="1972366"/>
            </a:xfrm>
            <a:custGeom>
              <a:avLst/>
              <a:gdLst>
                <a:gd name="connsiteX0" fmla="*/ 0 w 4343400"/>
                <a:gd name="connsiteY0" fmla="*/ 0 h 1972366"/>
                <a:gd name="connsiteX1" fmla="*/ 561109 w 4343400"/>
                <a:gd name="connsiteY1" fmla="*/ 1600200 h 1972366"/>
                <a:gd name="connsiteX2" fmla="*/ 1132609 w 4343400"/>
                <a:gd name="connsiteY2" fmla="*/ 914400 h 1972366"/>
                <a:gd name="connsiteX3" fmla="*/ 1756063 w 4343400"/>
                <a:gd name="connsiteY3" fmla="*/ 1963882 h 1972366"/>
                <a:gd name="connsiteX4" fmla="*/ 2389909 w 4343400"/>
                <a:gd name="connsiteY4" fmla="*/ 1402773 h 1972366"/>
                <a:gd name="connsiteX5" fmla="*/ 3917373 w 4343400"/>
                <a:gd name="connsiteY5" fmla="*/ 1278082 h 1972366"/>
                <a:gd name="connsiteX6" fmla="*/ 4343400 w 4343400"/>
                <a:gd name="connsiteY6" fmla="*/ 955964 h 197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3400" h="1972366">
                  <a:moveTo>
                    <a:pt x="0" y="0"/>
                  </a:moveTo>
                  <a:cubicBezTo>
                    <a:pt x="186170" y="723900"/>
                    <a:pt x="372341" y="1447800"/>
                    <a:pt x="561109" y="1600200"/>
                  </a:cubicBezTo>
                  <a:cubicBezTo>
                    <a:pt x="749877" y="1752600"/>
                    <a:pt x="933450" y="853786"/>
                    <a:pt x="1132609" y="914400"/>
                  </a:cubicBezTo>
                  <a:cubicBezTo>
                    <a:pt x="1331768" y="975014"/>
                    <a:pt x="1546513" y="1882487"/>
                    <a:pt x="1756063" y="1963882"/>
                  </a:cubicBezTo>
                  <a:cubicBezTo>
                    <a:pt x="1965613" y="2045277"/>
                    <a:pt x="2029691" y="1517073"/>
                    <a:pt x="2389909" y="1402773"/>
                  </a:cubicBezTo>
                  <a:cubicBezTo>
                    <a:pt x="2750127" y="1288473"/>
                    <a:pt x="3591791" y="1352550"/>
                    <a:pt x="3917373" y="1278082"/>
                  </a:cubicBezTo>
                  <a:cubicBezTo>
                    <a:pt x="4242955" y="1203614"/>
                    <a:pt x="4158096" y="1046019"/>
                    <a:pt x="4343400" y="9559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5200996" y="382863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5271481" y="411086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361016" y="44153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5452456" y="47125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551516" y="49792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1" name="Curved Connector 10"/>
            <p:cNvCxnSpPr>
              <a:stCxn id="6" idx="6"/>
              <a:endCxn id="7" idx="7"/>
            </p:cNvCxnSpPr>
            <p:nvPr/>
          </p:nvCxnSpPr>
          <p:spPr>
            <a:xfrm>
              <a:off x="5286721" y="3879395"/>
              <a:ext cx="57931" cy="246340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/>
            <p:cNvCxnSpPr>
              <a:stCxn id="7" idx="6"/>
              <a:endCxn id="8" idx="7"/>
            </p:cNvCxnSpPr>
            <p:nvPr/>
          </p:nvCxnSpPr>
          <p:spPr>
            <a:xfrm>
              <a:off x="5357206" y="4161626"/>
              <a:ext cx="76981" cy="26861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>
              <a:stCxn id="8" idx="6"/>
              <a:endCxn id="9" idx="7"/>
            </p:cNvCxnSpPr>
            <p:nvPr/>
          </p:nvCxnSpPr>
          <p:spPr>
            <a:xfrm>
              <a:off x="5446741" y="4466135"/>
              <a:ext cx="78886" cy="26128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stCxn id="9" idx="6"/>
              <a:endCxn id="10" idx="7"/>
            </p:cNvCxnSpPr>
            <p:nvPr/>
          </p:nvCxnSpPr>
          <p:spPr>
            <a:xfrm>
              <a:off x="5538181" y="4763315"/>
              <a:ext cx="86506" cy="23080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10" idx="6"/>
              <a:endCxn id="35" idx="0"/>
            </p:cNvCxnSpPr>
            <p:nvPr/>
          </p:nvCxnSpPr>
          <p:spPr>
            <a:xfrm>
              <a:off x="5637241" y="5030015"/>
              <a:ext cx="147638" cy="185462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/>
            <p:cNvSpPr/>
            <p:nvPr/>
          </p:nvSpPr>
          <p:spPr>
            <a:xfrm>
              <a:off x="9261504" y="4777203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7" name="Flowchart: Connector 16"/>
            <p:cNvSpPr/>
            <p:nvPr/>
          </p:nvSpPr>
          <p:spPr>
            <a:xfrm>
              <a:off x="9118623" y="484225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8" name="Flowchart: Connector 17"/>
            <p:cNvSpPr/>
            <p:nvPr/>
          </p:nvSpPr>
          <p:spPr>
            <a:xfrm>
              <a:off x="9001472" y="4878719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Flowchart: Connector 18"/>
            <p:cNvSpPr/>
            <p:nvPr/>
          </p:nvSpPr>
          <p:spPr>
            <a:xfrm>
              <a:off x="8892889" y="489300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8793832" y="4897771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8693814" y="4910425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2" name="Flowchart: Connector 21"/>
            <p:cNvSpPr/>
            <p:nvPr/>
          </p:nvSpPr>
          <p:spPr>
            <a:xfrm>
              <a:off x="8589990" y="491421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3" name="Curved Connector 22"/>
            <p:cNvCxnSpPr>
              <a:stCxn id="16" idx="0"/>
              <a:endCxn id="17" idx="0"/>
            </p:cNvCxnSpPr>
            <p:nvPr/>
          </p:nvCxnSpPr>
          <p:spPr>
            <a:xfrm rot="16200000" flipH="1" flipV="1">
              <a:off x="9200403" y="4738285"/>
              <a:ext cx="65047" cy="142881"/>
            </a:xfrm>
            <a:prstGeom prst="curvedConnector3">
              <a:avLst>
                <a:gd name="adj1" fmla="val -21964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stCxn id="17" idx="0"/>
              <a:endCxn id="18" idx="0"/>
            </p:cNvCxnSpPr>
            <p:nvPr/>
          </p:nvCxnSpPr>
          <p:spPr>
            <a:xfrm rot="16200000" flipH="1" flipV="1">
              <a:off x="9084676" y="4801908"/>
              <a:ext cx="36469" cy="117151"/>
            </a:xfrm>
            <a:prstGeom prst="curvedConnector3">
              <a:avLst>
                <a:gd name="adj1" fmla="val -40482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18" idx="0"/>
              <a:endCxn id="19" idx="0"/>
            </p:cNvCxnSpPr>
            <p:nvPr/>
          </p:nvCxnSpPr>
          <p:spPr>
            <a:xfrm rot="16200000" flipH="1" flipV="1">
              <a:off x="8982899" y="4831571"/>
              <a:ext cx="14289" cy="108583"/>
            </a:xfrm>
            <a:prstGeom prst="curvedConnector3">
              <a:avLst>
                <a:gd name="adj1" fmla="val -7999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urved Connector 25"/>
            <p:cNvCxnSpPr>
              <a:stCxn id="19" idx="0"/>
              <a:endCxn id="20" idx="0"/>
            </p:cNvCxnSpPr>
            <p:nvPr/>
          </p:nvCxnSpPr>
          <p:spPr>
            <a:xfrm rot="16200000" flipH="1" flipV="1">
              <a:off x="8883842" y="4845860"/>
              <a:ext cx="4763" cy="99057"/>
            </a:xfrm>
            <a:prstGeom prst="curvedConnector3">
              <a:avLst>
                <a:gd name="adj1" fmla="val -2299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stCxn id="20" idx="0"/>
              <a:endCxn id="21" idx="0"/>
            </p:cNvCxnSpPr>
            <p:nvPr/>
          </p:nvCxnSpPr>
          <p:spPr>
            <a:xfrm rot="16200000" flipH="1" flipV="1">
              <a:off x="8780359" y="4854089"/>
              <a:ext cx="12654" cy="100018"/>
            </a:xfrm>
            <a:prstGeom prst="curvedConnector3">
              <a:avLst>
                <a:gd name="adj1" fmla="val -82800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>
              <a:stCxn id="21" idx="0"/>
              <a:endCxn id="22" idx="0"/>
            </p:cNvCxnSpPr>
            <p:nvPr/>
          </p:nvCxnSpPr>
          <p:spPr>
            <a:xfrm rot="16200000" flipH="1" flipV="1">
              <a:off x="8682872" y="4860405"/>
              <a:ext cx="3785" cy="103824"/>
            </a:xfrm>
            <a:prstGeom prst="curvedConnector3">
              <a:avLst>
                <a:gd name="adj1" fmla="val -276819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048250" y="3181615"/>
              <a:ext cx="0" cy="2628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>
              <a:off x="7464465" y="3379430"/>
              <a:ext cx="0" cy="4860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nl-BE" b="1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/>
            <p:nvPr/>
          </p:nvCxnSpPr>
          <p:spPr>
            <a:xfrm>
              <a:off x="5784878" y="5282575"/>
              <a:ext cx="0" cy="54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6985028" y="5620288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Connector 34"/>
            <p:cNvSpPr/>
            <p:nvPr/>
          </p:nvSpPr>
          <p:spPr>
            <a:xfrm>
              <a:off x="5742016" y="52154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67300" y="5829820"/>
              <a:ext cx="14388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  <a:endParaRPr lang="nl-BE" sz="1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31541" y="5812790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  <a:endParaRPr lang="nl-BE" sz="1400" dirty="0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6932641" y="555837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41560" y="4972605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platô</a:t>
              </a:r>
              <a:endParaRPr lang="nl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5923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6426200" y="644806"/>
            <a:ext cx="3578724" cy="4590907"/>
            <a:chOff x="6426200" y="644806"/>
            <a:chExt cx="3578724" cy="4590907"/>
          </a:xfrm>
        </p:grpSpPr>
        <p:grpSp>
          <p:nvGrpSpPr>
            <p:cNvPr id="12" name="Group 11"/>
            <p:cNvGrpSpPr/>
            <p:nvPr/>
          </p:nvGrpSpPr>
          <p:grpSpPr>
            <a:xfrm rot="10800000">
              <a:off x="6769100" y="644806"/>
              <a:ext cx="2806700" cy="4067687"/>
              <a:chOff x="5943600" y="2032000"/>
              <a:chExt cx="2806700" cy="4067687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6012753" y="2032000"/>
                <a:ext cx="2661347" cy="3911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43600" y="3415504"/>
                <a:ext cx="2806700" cy="2684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17" name="Flowchart: Connector 16"/>
            <p:cNvSpPr/>
            <p:nvPr/>
          </p:nvSpPr>
          <p:spPr>
            <a:xfrm>
              <a:off x="8115300" y="466999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432550" y="2924872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6426200" y="4726109"/>
              <a:ext cx="316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9633476" y="4527827"/>
                  <a:ext cx="3714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3476" y="4527827"/>
                  <a:ext cx="371448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/>
            <p:nvPr/>
          </p:nvCxnSpPr>
          <p:spPr>
            <a:xfrm rot="5400000">
              <a:off x="7396226" y="4599671"/>
              <a:ext cx="252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7156540" y="4712493"/>
              <a:ext cx="7313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valor </a:t>
              </a:r>
              <a:r>
                <a:rPr lang="en-US" sz="1400" dirty="0" err="1"/>
                <a:t>inicial</a:t>
              </a:r>
              <a:endParaRPr lang="en-US" sz="1400" dirty="0"/>
            </a:p>
          </p:txBody>
        </p:sp>
        <p:sp>
          <p:nvSpPr>
            <p:cNvPr id="16" name="Flowchart: Connector 15"/>
            <p:cNvSpPr/>
            <p:nvPr/>
          </p:nvSpPr>
          <p:spPr>
            <a:xfrm>
              <a:off x="7479364" y="4422913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8893031" y="4308697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Flowchart: Connector 38"/>
            <p:cNvSpPr/>
            <p:nvPr/>
          </p:nvSpPr>
          <p:spPr>
            <a:xfrm>
              <a:off x="7179327" y="4068106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0" name="Flowchart: Connector 39"/>
            <p:cNvSpPr/>
            <p:nvPr/>
          </p:nvSpPr>
          <p:spPr>
            <a:xfrm>
              <a:off x="9243870" y="3774659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1" name="Flowchart: Connector 40"/>
            <p:cNvSpPr/>
            <p:nvPr/>
          </p:nvSpPr>
          <p:spPr>
            <a:xfrm>
              <a:off x="6936439" y="3535844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2" name="Flowchart: Connector 41"/>
            <p:cNvSpPr/>
            <p:nvPr/>
          </p:nvSpPr>
          <p:spPr>
            <a:xfrm>
              <a:off x="9390551" y="334985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3" name="Straight Arrow Connector 2"/>
            <p:cNvCxnSpPr>
              <a:stCxn id="16" idx="6"/>
              <a:endCxn id="38" idx="2"/>
            </p:cNvCxnSpPr>
            <p:nvPr/>
          </p:nvCxnSpPr>
          <p:spPr>
            <a:xfrm flipV="1">
              <a:off x="7565089" y="4359455"/>
              <a:ext cx="1327942" cy="11421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>
              <a:stCxn id="38" idx="2"/>
              <a:endCxn id="39" idx="6"/>
            </p:cNvCxnSpPr>
            <p:nvPr/>
          </p:nvCxnSpPr>
          <p:spPr>
            <a:xfrm flipH="1" flipV="1">
              <a:off x="7265052" y="4118864"/>
              <a:ext cx="1627979" cy="2405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39" idx="6"/>
              <a:endCxn id="40" idx="2"/>
            </p:cNvCxnSpPr>
            <p:nvPr/>
          </p:nvCxnSpPr>
          <p:spPr>
            <a:xfrm flipV="1">
              <a:off x="7265052" y="3825417"/>
              <a:ext cx="1978818" cy="29344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40" idx="2"/>
              <a:endCxn id="41" idx="6"/>
            </p:cNvCxnSpPr>
            <p:nvPr/>
          </p:nvCxnSpPr>
          <p:spPr>
            <a:xfrm flipH="1" flipV="1">
              <a:off x="7022164" y="3586602"/>
              <a:ext cx="2221706" cy="23881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41" idx="6"/>
              <a:endCxn id="42" idx="2"/>
            </p:cNvCxnSpPr>
            <p:nvPr/>
          </p:nvCxnSpPr>
          <p:spPr>
            <a:xfrm flipV="1">
              <a:off x="7022164" y="3400608"/>
              <a:ext cx="2368387" cy="18599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1226234" y="657185"/>
            <a:ext cx="3578724" cy="4587393"/>
            <a:chOff x="1226234" y="657185"/>
            <a:chExt cx="3578724" cy="4587393"/>
          </a:xfrm>
        </p:grpSpPr>
        <p:grpSp>
          <p:nvGrpSpPr>
            <p:cNvPr id="25" name="Group 24"/>
            <p:cNvGrpSpPr/>
            <p:nvPr/>
          </p:nvGrpSpPr>
          <p:grpSpPr>
            <a:xfrm rot="10800000">
              <a:off x="1569134" y="657185"/>
              <a:ext cx="2806700" cy="4067687"/>
              <a:chOff x="5943600" y="2032000"/>
              <a:chExt cx="2806700" cy="4067687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6012753" y="2032000"/>
                <a:ext cx="2661347" cy="3911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943600" y="3415504"/>
                <a:ext cx="2806700" cy="2684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30" name="Flowchart: Connector 29"/>
            <p:cNvSpPr/>
            <p:nvPr/>
          </p:nvSpPr>
          <p:spPr>
            <a:xfrm>
              <a:off x="2915334" y="4682376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1232584" y="2937251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1226234" y="4738488"/>
              <a:ext cx="316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1298476" y="285199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8476" y="2851998"/>
                  <a:ext cx="75322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4433510" y="4540206"/>
                  <a:ext cx="3714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510" y="4540206"/>
                  <a:ext cx="371448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 rot="5400000">
              <a:off x="1234573" y="4193493"/>
              <a:ext cx="108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1399362" y="4721358"/>
              <a:ext cx="7313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valor </a:t>
              </a:r>
              <a:r>
                <a:rPr lang="en-US" sz="1400" dirty="0" err="1"/>
                <a:t>inicial</a:t>
              </a:r>
              <a:endParaRPr lang="en-US" sz="1400" dirty="0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2279398" y="4435292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Flowchart: Connector 44"/>
            <p:cNvSpPr/>
            <p:nvPr/>
          </p:nvSpPr>
          <p:spPr>
            <a:xfrm>
              <a:off x="4090837" y="3706009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6" name="Flowchart: Connector 45"/>
            <p:cNvSpPr/>
            <p:nvPr/>
          </p:nvSpPr>
          <p:spPr>
            <a:xfrm>
              <a:off x="1736473" y="3548223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53" name="Curved Connector 52"/>
            <p:cNvCxnSpPr>
              <a:stCxn id="46" idx="7"/>
              <a:endCxn id="37" idx="7"/>
            </p:cNvCxnSpPr>
            <p:nvPr/>
          </p:nvCxnSpPr>
          <p:spPr>
            <a:xfrm rot="16200000" flipH="1">
              <a:off x="1637571" y="3735162"/>
              <a:ext cx="887069" cy="542925"/>
            </a:xfrm>
            <a:prstGeom prst="curvedConnector3">
              <a:avLst>
                <a:gd name="adj1" fmla="val -2744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37" idx="0"/>
            </p:cNvCxnSpPr>
            <p:nvPr/>
          </p:nvCxnSpPr>
          <p:spPr>
            <a:xfrm rot="5400000" flipH="1" flipV="1">
              <a:off x="2876235" y="3220688"/>
              <a:ext cx="660631" cy="176857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Connector 54"/>
            <p:cNvSpPr/>
            <p:nvPr/>
          </p:nvSpPr>
          <p:spPr>
            <a:xfrm>
              <a:off x="3498051" y="449719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56" name="Curved Connector 55"/>
            <p:cNvCxnSpPr>
              <a:stCxn id="45" idx="2"/>
            </p:cNvCxnSpPr>
            <p:nvPr/>
          </p:nvCxnSpPr>
          <p:spPr>
            <a:xfrm rot="10800000" flipV="1">
              <a:off x="3540913" y="3756767"/>
              <a:ext cx="549924" cy="72680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Flowchart: Connector 59"/>
            <p:cNvSpPr/>
            <p:nvPr/>
          </p:nvSpPr>
          <p:spPr>
            <a:xfrm>
              <a:off x="1849761" y="382072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61" name="Curved Connector 60"/>
            <p:cNvCxnSpPr>
              <a:stCxn id="55" idx="0"/>
            </p:cNvCxnSpPr>
            <p:nvPr/>
          </p:nvCxnSpPr>
          <p:spPr>
            <a:xfrm rot="16200000" flipV="1">
              <a:off x="2433788" y="3390064"/>
              <a:ext cx="625712" cy="1588540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5372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6426200" y="644806"/>
            <a:ext cx="3578724" cy="4590907"/>
            <a:chOff x="6426200" y="644806"/>
            <a:chExt cx="3578724" cy="4590907"/>
          </a:xfrm>
        </p:grpSpPr>
        <p:grpSp>
          <p:nvGrpSpPr>
            <p:cNvPr id="12" name="Group 11"/>
            <p:cNvGrpSpPr/>
            <p:nvPr/>
          </p:nvGrpSpPr>
          <p:grpSpPr>
            <a:xfrm rot="10800000">
              <a:off x="6769100" y="644806"/>
              <a:ext cx="2806700" cy="4067687"/>
              <a:chOff x="5943600" y="2032000"/>
              <a:chExt cx="2806700" cy="4067687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6012753" y="2032000"/>
                <a:ext cx="2661347" cy="3911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43600" y="3415504"/>
                <a:ext cx="2806700" cy="2684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17" name="Flowchart: Connector 16"/>
            <p:cNvSpPr/>
            <p:nvPr/>
          </p:nvSpPr>
          <p:spPr>
            <a:xfrm>
              <a:off x="8115300" y="466999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432550" y="2924872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6426200" y="4726109"/>
              <a:ext cx="316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9633476" y="4527827"/>
                  <a:ext cx="3714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3476" y="4527827"/>
                  <a:ext cx="3714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/>
            <p:nvPr/>
          </p:nvCxnSpPr>
          <p:spPr>
            <a:xfrm rot="5400000">
              <a:off x="7396226" y="4599671"/>
              <a:ext cx="252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7522227" y="4712493"/>
                  <a:ext cx="1300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nl-BE" sz="14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227" y="4712493"/>
                  <a:ext cx="130044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/>
            <p:cNvSpPr/>
            <p:nvPr/>
          </p:nvSpPr>
          <p:spPr>
            <a:xfrm>
              <a:off x="7156540" y="4712493"/>
              <a:ext cx="7313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valor </a:t>
              </a:r>
              <a:r>
                <a:rPr lang="en-US" sz="1400" dirty="0" err="1"/>
                <a:t>inicial</a:t>
              </a:r>
              <a:endParaRPr lang="en-US" sz="1400" dirty="0"/>
            </a:p>
          </p:txBody>
        </p:sp>
        <p:sp>
          <p:nvSpPr>
            <p:cNvPr id="16" name="Flowchart: Connector 15"/>
            <p:cNvSpPr/>
            <p:nvPr/>
          </p:nvSpPr>
          <p:spPr>
            <a:xfrm>
              <a:off x="7479364" y="4422913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8893031" y="4308697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Flowchart: Connector 38"/>
            <p:cNvSpPr/>
            <p:nvPr/>
          </p:nvSpPr>
          <p:spPr>
            <a:xfrm>
              <a:off x="7179327" y="4068106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0" name="Flowchart: Connector 39"/>
            <p:cNvSpPr/>
            <p:nvPr/>
          </p:nvSpPr>
          <p:spPr>
            <a:xfrm>
              <a:off x="9243870" y="3774659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1" name="Flowchart: Connector 40"/>
            <p:cNvSpPr/>
            <p:nvPr/>
          </p:nvSpPr>
          <p:spPr>
            <a:xfrm>
              <a:off x="6936439" y="3535844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2" name="Flowchart: Connector 41"/>
            <p:cNvSpPr/>
            <p:nvPr/>
          </p:nvSpPr>
          <p:spPr>
            <a:xfrm>
              <a:off x="9390551" y="334985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3" name="Straight Arrow Connector 2"/>
            <p:cNvCxnSpPr>
              <a:stCxn id="16" idx="6"/>
              <a:endCxn id="38" idx="2"/>
            </p:cNvCxnSpPr>
            <p:nvPr/>
          </p:nvCxnSpPr>
          <p:spPr>
            <a:xfrm flipV="1">
              <a:off x="7565089" y="4359455"/>
              <a:ext cx="1327942" cy="11421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>
              <a:stCxn id="38" idx="2"/>
              <a:endCxn id="39" idx="6"/>
            </p:cNvCxnSpPr>
            <p:nvPr/>
          </p:nvCxnSpPr>
          <p:spPr>
            <a:xfrm flipH="1" flipV="1">
              <a:off x="7265052" y="4118864"/>
              <a:ext cx="1627979" cy="2405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39" idx="6"/>
              <a:endCxn id="40" idx="2"/>
            </p:cNvCxnSpPr>
            <p:nvPr/>
          </p:nvCxnSpPr>
          <p:spPr>
            <a:xfrm flipV="1">
              <a:off x="7265052" y="3825417"/>
              <a:ext cx="1978818" cy="29344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40" idx="2"/>
              <a:endCxn id="41" idx="6"/>
            </p:cNvCxnSpPr>
            <p:nvPr/>
          </p:nvCxnSpPr>
          <p:spPr>
            <a:xfrm flipH="1" flipV="1">
              <a:off x="7022164" y="3586602"/>
              <a:ext cx="2221706" cy="23881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41" idx="6"/>
              <a:endCxn id="42" idx="2"/>
            </p:cNvCxnSpPr>
            <p:nvPr/>
          </p:nvCxnSpPr>
          <p:spPr>
            <a:xfrm flipV="1">
              <a:off x="7022164" y="3400608"/>
              <a:ext cx="2368387" cy="18599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1368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498442" y="644806"/>
            <a:ext cx="3571938" cy="5234403"/>
            <a:chOff x="6498442" y="644806"/>
            <a:chExt cx="3571938" cy="5234403"/>
          </a:xfrm>
        </p:grpSpPr>
        <p:grpSp>
          <p:nvGrpSpPr>
            <p:cNvPr id="7" name="Group 6"/>
            <p:cNvGrpSpPr/>
            <p:nvPr/>
          </p:nvGrpSpPr>
          <p:grpSpPr>
            <a:xfrm rot="10800000">
              <a:off x="6769100" y="644806"/>
              <a:ext cx="2806700" cy="4067687"/>
              <a:chOff x="5943600" y="2032000"/>
              <a:chExt cx="2806700" cy="4067687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6012753" y="2032000"/>
                <a:ext cx="2661347" cy="3911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943600" y="3415504"/>
                <a:ext cx="2806700" cy="2684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cxnSp>
          <p:nvCxnSpPr>
            <p:cNvPr id="5" name="Straight Arrow Connector 4"/>
            <p:cNvCxnSpPr/>
            <p:nvPr/>
          </p:nvCxnSpPr>
          <p:spPr>
            <a:xfrm>
              <a:off x="6804722" y="3162300"/>
              <a:ext cx="358078" cy="97155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Connector 7"/>
            <p:cNvSpPr/>
            <p:nvPr/>
          </p:nvSpPr>
          <p:spPr>
            <a:xfrm>
              <a:off x="6938613" y="356188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8115300" y="466999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6508750" y="2705797"/>
              <a:ext cx="0" cy="2016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6502400" y="4726109"/>
              <a:ext cx="320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6498442" y="2534819"/>
                  <a:ext cx="76662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sz="16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534819"/>
                  <a:ext cx="766620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9635069" y="4547158"/>
                  <a:ext cx="43531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nl-BE" sz="16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069" y="4547158"/>
                  <a:ext cx="435311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902450" y="2858827"/>
                  <a:ext cx="24637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1400" b="1" dirty="0"/>
                    <a:t> inicializado </a:t>
                  </a:r>
                  <a:r>
                    <a:rPr lang="en-US" sz="1400" b="1" dirty="0" err="1"/>
                    <a:t>em</a:t>
                  </a:r>
                  <a:r>
                    <a:rPr lang="en-US" sz="1400" b="1" dirty="0"/>
                    <a:t> </a:t>
                  </a:r>
                  <a:r>
                    <a:rPr lang="en-US" sz="1400" b="1" dirty="0" err="1"/>
                    <a:t>uma</a:t>
                  </a:r>
                  <a:r>
                    <a:rPr lang="en-US" sz="1400" b="1" dirty="0"/>
                    <a:t> </a:t>
                  </a:r>
                  <a:r>
                    <a:rPr lang="en-US" sz="1400" b="1" dirty="0" err="1"/>
                    <a:t>posição</a:t>
                  </a:r>
                  <a:r>
                    <a:rPr lang="en-US" sz="1400" b="1" dirty="0"/>
                    <a:t> antes do </a:t>
                  </a:r>
                  <a:r>
                    <a:rPr lang="en-US" sz="1400" b="1" dirty="0" err="1"/>
                    <a:t>mínimo</a:t>
                  </a:r>
                  <a:endParaRPr lang="en-US" sz="1400" b="1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450" y="2858827"/>
                  <a:ext cx="2463799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7522227" y="4807743"/>
                  <a:ext cx="1300446" cy="5361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  <a:p>
                  <a:pPr algn="ctr"/>
                  <a:r>
                    <a:rPr lang="en-US" sz="1400" dirty="0" err="1"/>
                    <a:t>mínimo</a:t>
                  </a:r>
                  <a:r>
                    <a:rPr lang="en-US" sz="1400" dirty="0"/>
                    <a:t> global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227" y="4807743"/>
                  <a:ext cx="1300446" cy="536172"/>
                </a:xfrm>
                <a:prstGeom prst="rect">
                  <a:avLst/>
                </a:prstGeom>
                <a:blipFill>
                  <a:blip r:embed="rId5"/>
                  <a:stretch>
                    <a:fillRect b="-10227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6622708" y="4810334"/>
                  <a:ext cx="727059" cy="3215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p>
                        </m:sSubSup>
                      </m:oMath>
                    </m:oMathPara>
                  </a14:m>
                  <a:endParaRPr lang="nl-BE" sz="1400" dirty="0"/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708" y="4810334"/>
                  <a:ext cx="727059" cy="3215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 rot="5400000">
              <a:off x="6441475" y="4188075"/>
              <a:ext cx="108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2" idx="0"/>
            </p:cNvCxnSpPr>
            <p:nvPr/>
          </p:nvCxnSpPr>
          <p:spPr>
            <a:xfrm flipV="1">
              <a:off x="6986238" y="4807743"/>
              <a:ext cx="1148112" cy="25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498442" y="5342203"/>
                  <a:ext cx="3571938" cy="53700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/>
                    <a:t>gradiente </a:t>
                  </a:r>
                  <a:r>
                    <a:rPr lang="en-US" sz="1400" b="1" dirty="0" err="1"/>
                    <a:t>negativo</a:t>
                  </a:r>
                  <a:r>
                    <a:rPr lang="en-US" sz="1400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inicial</m:t>
                          </m:r>
                        </m:sup>
                      </m:sSubSup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a14:m>
                  <a:endParaRPr lang="nl-BE" sz="1400" dirty="0"/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nl-BE" sz="1400" dirty="0"/>
                    <a:t> </a:t>
                  </a:r>
                  <a:r>
                    <a:rPr lang="nl-BE" sz="1400" dirty="0" err="1"/>
                    <a:t>aumenta</a:t>
                  </a:r>
                  <a:r>
                    <a:rPr lang="nl-BE" sz="1400" dirty="0"/>
                    <a:t> e se </a:t>
                  </a:r>
                  <a:r>
                    <a:rPr lang="nl-BE" sz="1400" dirty="0" err="1"/>
                    <a:t>aproxima</a:t>
                  </a:r>
                  <a:r>
                    <a:rPr lang="nl-BE" sz="1400" dirty="0"/>
                    <a:t> do </a:t>
                  </a:r>
                  <a:r>
                    <a:rPr lang="nl-BE" sz="1400" dirty="0" err="1"/>
                    <a:t>mínimo</a:t>
                  </a:r>
                  <a:endParaRPr lang="nl-BE" sz="14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5342203"/>
                  <a:ext cx="3571938" cy="537006"/>
                </a:xfrm>
                <a:prstGeom prst="rect">
                  <a:avLst/>
                </a:prstGeom>
                <a:blipFill>
                  <a:blip r:embed="rId7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6704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6498442" y="644806"/>
            <a:ext cx="3571938" cy="5234403"/>
            <a:chOff x="6498442" y="644806"/>
            <a:chExt cx="3571938" cy="5234403"/>
          </a:xfrm>
        </p:grpSpPr>
        <p:grpSp>
          <p:nvGrpSpPr>
            <p:cNvPr id="7" name="Group 6"/>
            <p:cNvGrpSpPr/>
            <p:nvPr/>
          </p:nvGrpSpPr>
          <p:grpSpPr>
            <a:xfrm rot="10800000">
              <a:off x="6769100" y="644806"/>
              <a:ext cx="2806700" cy="4067687"/>
              <a:chOff x="5943600" y="2032000"/>
              <a:chExt cx="2806700" cy="4067687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6012753" y="2032000"/>
                <a:ext cx="2661347" cy="3911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943600" y="3415504"/>
                <a:ext cx="2806700" cy="26841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11" name="Flowchart: Connector 10"/>
            <p:cNvSpPr/>
            <p:nvPr/>
          </p:nvSpPr>
          <p:spPr>
            <a:xfrm>
              <a:off x="8115300" y="466999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6508750" y="2705797"/>
              <a:ext cx="0" cy="2016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6502400" y="4726109"/>
              <a:ext cx="320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6498442" y="2534819"/>
                  <a:ext cx="76662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sz="16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534819"/>
                  <a:ext cx="766620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9635069" y="4547158"/>
                  <a:ext cx="43531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nl-BE" sz="16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069" y="4547158"/>
                  <a:ext cx="435311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902450" y="2858827"/>
                  <a:ext cx="24637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1400" b="1" dirty="0"/>
                    <a:t> inicializado </a:t>
                  </a:r>
                  <a:r>
                    <a:rPr lang="en-US" sz="1400" b="1" dirty="0" err="1"/>
                    <a:t>em</a:t>
                  </a:r>
                  <a:r>
                    <a:rPr lang="en-US" sz="1400" b="1" dirty="0"/>
                    <a:t> </a:t>
                  </a:r>
                  <a:r>
                    <a:rPr lang="en-US" sz="1400" b="1" dirty="0" err="1"/>
                    <a:t>uma</a:t>
                  </a:r>
                  <a:r>
                    <a:rPr lang="en-US" sz="1400" b="1" dirty="0"/>
                    <a:t> </a:t>
                  </a:r>
                  <a:r>
                    <a:rPr lang="en-US" sz="1400" b="1" dirty="0" err="1"/>
                    <a:t>posição</a:t>
                  </a:r>
                  <a:r>
                    <a:rPr lang="en-US" sz="1400" b="1" dirty="0"/>
                    <a:t> </a:t>
                  </a:r>
                  <a:r>
                    <a:rPr lang="en-US" sz="1400" b="1" dirty="0" err="1"/>
                    <a:t>após</a:t>
                  </a:r>
                  <a:r>
                    <a:rPr lang="en-US" sz="1400" b="1" dirty="0"/>
                    <a:t> o </a:t>
                  </a:r>
                  <a:r>
                    <a:rPr lang="en-US" sz="1400" b="1" dirty="0" err="1"/>
                    <a:t>mínimo</a:t>
                  </a:r>
                  <a:endParaRPr lang="en-US" sz="1400" b="1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450" y="2858827"/>
                  <a:ext cx="2463799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7522227" y="4807743"/>
                  <a:ext cx="1300446" cy="5361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  <a:p>
                  <a:pPr algn="ctr"/>
                  <a:r>
                    <a:rPr lang="en-US" sz="1400" dirty="0" err="1"/>
                    <a:t>mínimo</a:t>
                  </a:r>
                  <a:r>
                    <a:rPr lang="en-US" sz="1400" dirty="0"/>
                    <a:t> global</a:t>
                  </a: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227" y="4807743"/>
                  <a:ext cx="1300446" cy="536172"/>
                </a:xfrm>
                <a:prstGeom prst="rect">
                  <a:avLst/>
                </a:prstGeom>
                <a:blipFill>
                  <a:blip r:embed="rId5"/>
                  <a:stretch>
                    <a:fillRect b="-10227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9003958" y="4810334"/>
                  <a:ext cx="727059" cy="3215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p>
                        </m:sSubSup>
                      </m:oMath>
                    </m:oMathPara>
                  </a14:m>
                  <a:endParaRPr lang="nl-BE" sz="1400" dirty="0"/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958" y="4810334"/>
                  <a:ext cx="727059" cy="3215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 rot="5400000">
              <a:off x="8822725" y="4188075"/>
              <a:ext cx="108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8205438" y="4807743"/>
              <a:ext cx="1148112" cy="259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498442" y="5342203"/>
                  <a:ext cx="3571938" cy="53700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/>
                    <a:t>gradiente </a:t>
                  </a:r>
                  <a:r>
                    <a:rPr lang="en-US" sz="1400" b="1" dirty="0" err="1"/>
                    <a:t>positivo</a:t>
                  </a:r>
                  <a:r>
                    <a:rPr lang="en-US" sz="1400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inicial</m:t>
                          </m:r>
                        </m:sup>
                      </m:sSubSup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a14:m>
                  <a:endParaRPr lang="nl-BE" sz="1400" dirty="0"/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nl-BE" sz="1400" dirty="0"/>
                    <a:t> diminiu e se </a:t>
                  </a:r>
                  <a:r>
                    <a:rPr lang="nl-BE" sz="1400" dirty="0" err="1"/>
                    <a:t>aproxima</a:t>
                  </a:r>
                  <a:r>
                    <a:rPr lang="nl-BE" sz="1400" dirty="0"/>
                    <a:t> do </a:t>
                  </a:r>
                  <a:r>
                    <a:rPr lang="nl-BE" sz="1400" dirty="0" err="1"/>
                    <a:t>mínimo</a:t>
                  </a:r>
                  <a:endParaRPr lang="nl-BE" sz="14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5342203"/>
                  <a:ext cx="3571938" cy="537006"/>
                </a:xfrm>
                <a:prstGeom prst="rect">
                  <a:avLst/>
                </a:prstGeom>
                <a:blipFill>
                  <a:blip r:embed="rId7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/>
            <p:nvPr/>
          </p:nvCxnSpPr>
          <p:spPr>
            <a:xfrm flipH="1">
              <a:off x="9179906" y="3209455"/>
              <a:ext cx="396591" cy="907881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Connector 7"/>
            <p:cNvSpPr/>
            <p:nvPr/>
          </p:nvSpPr>
          <p:spPr>
            <a:xfrm>
              <a:off x="9319863" y="3561880"/>
              <a:ext cx="85725" cy="10151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1130214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497840" y="1894739"/>
            <a:ext cx="3469041" cy="2223658"/>
            <a:chOff x="6426200" y="2839619"/>
            <a:chExt cx="3469041" cy="2223658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6432550" y="2924872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6426200" y="4726109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/>
            <p:cNvSpPr/>
            <p:nvPr/>
          </p:nvSpPr>
          <p:spPr>
            <a:xfrm>
              <a:off x="8867643" y="4416946"/>
              <a:ext cx="102759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dirty="0"/>
                <a:t># de </a:t>
              </a:r>
              <a:r>
                <a:rPr lang="nl-BE" dirty="0" err="1"/>
                <a:t>iterações</a:t>
              </a:r>
              <a:endParaRPr lang="nl-BE" dirty="0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6575413" y="3276600"/>
              <a:ext cx="2209800" cy="1387355"/>
            </a:xfrm>
            <a:custGeom>
              <a:avLst/>
              <a:gdLst>
                <a:gd name="connsiteX0" fmla="*/ 0 w 1699260"/>
                <a:gd name="connsiteY0" fmla="*/ 0 h 1575619"/>
                <a:gd name="connsiteX1" fmla="*/ 365760 w 1699260"/>
                <a:gd name="connsiteY1" fmla="*/ 1348740 h 1575619"/>
                <a:gd name="connsiteX2" fmla="*/ 1699260 w 1699260"/>
                <a:gd name="connsiteY2" fmla="*/ 1562100 h 157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9260" h="1575619">
                  <a:moveTo>
                    <a:pt x="0" y="0"/>
                  </a:moveTo>
                  <a:cubicBezTo>
                    <a:pt x="41275" y="544195"/>
                    <a:pt x="82550" y="1088390"/>
                    <a:pt x="365760" y="1348740"/>
                  </a:cubicBezTo>
                  <a:cubicBezTo>
                    <a:pt x="648970" y="1609090"/>
                    <a:pt x="1174115" y="1585595"/>
                    <a:pt x="1699260" y="15621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224020" y="1913568"/>
            <a:ext cx="3469041" cy="2223658"/>
            <a:chOff x="4224020" y="1913568"/>
            <a:chExt cx="3469041" cy="2223658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4230370" y="1998821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4224020" y="3800058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4296262" y="191356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262" y="1913568"/>
                  <a:ext cx="75322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6665463" y="3490895"/>
              <a:ext cx="102759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dirty="0"/>
                <a:t># de </a:t>
              </a:r>
              <a:r>
                <a:rPr lang="nl-BE" dirty="0" err="1"/>
                <a:t>iterações</a:t>
              </a:r>
              <a:endParaRPr lang="nl-BE" dirty="0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4419600" y="2415540"/>
              <a:ext cx="2209800" cy="1104900"/>
            </a:xfrm>
            <a:custGeom>
              <a:avLst/>
              <a:gdLst>
                <a:gd name="connsiteX0" fmla="*/ 0 w 2209800"/>
                <a:gd name="connsiteY0" fmla="*/ 0 h 1104900"/>
                <a:gd name="connsiteX1" fmla="*/ 800100 w 2209800"/>
                <a:gd name="connsiteY1" fmla="*/ 838200 h 1104900"/>
                <a:gd name="connsiteX2" fmla="*/ 2209800 w 2209800"/>
                <a:gd name="connsiteY2" fmla="*/ 110490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9800" h="1104900">
                  <a:moveTo>
                    <a:pt x="0" y="0"/>
                  </a:moveTo>
                  <a:cubicBezTo>
                    <a:pt x="215900" y="327025"/>
                    <a:pt x="431800" y="654050"/>
                    <a:pt x="800100" y="838200"/>
                  </a:cubicBezTo>
                  <a:cubicBezTo>
                    <a:pt x="1168400" y="1022350"/>
                    <a:pt x="1902460" y="1054100"/>
                    <a:pt x="2209800" y="11049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393632" y="1979992"/>
            <a:ext cx="3469041" cy="2223658"/>
            <a:chOff x="8393632" y="1979992"/>
            <a:chExt cx="3469041" cy="2223658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8399982" y="2065245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>
              <a:off x="8393632" y="3866482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8465874" y="1979992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5874" y="1979992"/>
                  <a:ext cx="75322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/>
            <p:cNvSpPr/>
            <p:nvPr/>
          </p:nvSpPr>
          <p:spPr>
            <a:xfrm>
              <a:off x="10835075" y="3557319"/>
              <a:ext cx="102759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dirty="0"/>
                <a:t># de </a:t>
              </a:r>
              <a:r>
                <a:rPr lang="nl-BE" dirty="0" err="1"/>
                <a:t>iterações</a:t>
              </a:r>
              <a:endParaRPr lang="nl-BE" dirty="0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8511540" y="2247900"/>
              <a:ext cx="1676400" cy="929640"/>
            </a:xfrm>
            <a:custGeom>
              <a:avLst/>
              <a:gdLst>
                <a:gd name="connsiteX0" fmla="*/ 0 w 1676400"/>
                <a:gd name="connsiteY0" fmla="*/ 929640 h 929640"/>
                <a:gd name="connsiteX1" fmla="*/ 1379220 w 1676400"/>
                <a:gd name="connsiteY1" fmla="*/ 746760 h 929640"/>
                <a:gd name="connsiteX2" fmla="*/ 1676400 w 1676400"/>
                <a:gd name="connsiteY2" fmla="*/ 0 h 929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400" h="929640">
                  <a:moveTo>
                    <a:pt x="0" y="929640"/>
                  </a:moveTo>
                  <a:cubicBezTo>
                    <a:pt x="549910" y="915670"/>
                    <a:pt x="1099820" y="901700"/>
                    <a:pt x="1379220" y="746760"/>
                  </a:cubicBezTo>
                  <a:cubicBezTo>
                    <a:pt x="1658620" y="591820"/>
                    <a:pt x="1667510" y="295910"/>
                    <a:pt x="16764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230370" y="4542555"/>
            <a:ext cx="3469041" cy="2223658"/>
            <a:chOff x="4230370" y="4542555"/>
            <a:chExt cx="3469041" cy="2223658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4236720" y="4627808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4230370" y="6429045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4302612" y="4542555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2612" y="4542555"/>
                  <a:ext cx="75322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/>
            <p:cNvSpPr/>
            <p:nvPr/>
          </p:nvSpPr>
          <p:spPr>
            <a:xfrm>
              <a:off x="6671813" y="6119882"/>
              <a:ext cx="102759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dirty="0"/>
                <a:t># de </a:t>
              </a:r>
              <a:r>
                <a:rPr lang="nl-BE" dirty="0" err="1"/>
                <a:t>iterações</a:t>
              </a:r>
              <a:endParaRPr lang="nl-BE" dirty="0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296262" y="5421973"/>
              <a:ext cx="2422570" cy="464820"/>
              <a:chOff x="4856408" y="5438056"/>
              <a:chExt cx="2422570" cy="464820"/>
            </a:xfrm>
          </p:grpSpPr>
          <p:sp>
            <p:nvSpPr>
              <p:cNvPr id="27" name="Freeform 26"/>
              <p:cNvSpPr/>
              <p:nvPr/>
            </p:nvSpPr>
            <p:spPr>
              <a:xfrm>
                <a:off x="5256786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Freeform 27"/>
              <p:cNvSpPr/>
              <p:nvPr/>
            </p:nvSpPr>
            <p:spPr>
              <a:xfrm flipH="1">
                <a:off x="5658106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059424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Freeform 35"/>
              <p:cNvSpPr/>
              <p:nvPr/>
            </p:nvSpPr>
            <p:spPr>
              <a:xfrm flipH="1">
                <a:off x="6467601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6877660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Freeform 38"/>
              <p:cNvSpPr/>
              <p:nvPr/>
            </p:nvSpPr>
            <p:spPr>
              <a:xfrm flipH="1">
                <a:off x="4856408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620ABF-E321-9ABC-ED6E-FB16A8A29981}"/>
              </a:ext>
            </a:extLst>
          </p:cNvPr>
          <p:cNvGrpSpPr/>
          <p:nvPr/>
        </p:nvGrpSpPr>
        <p:grpSpPr>
          <a:xfrm>
            <a:off x="8335688" y="4554187"/>
            <a:ext cx="3469041" cy="2223658"/>
            <a:chOff x="8335688" y="4554187"/>
            <a:chExt cx="3469041" cy="222365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1F07AD3-C43C-3EF3-C1A6-E7B81D86A383}"/>
                </a:ext>
              </a:extLst>
            </p:cNvPr>
            <p:cNvCxnSpPr/>
            <p:nvPr/>
          </p:nvCxnSpPr>
          <p:spPr>
            <a:xfrm>
              <a:off x="8342038" y="4639440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BC543EE-CF2A-8C15-6C3D-912147234AE0}"/>
                </a:ext>
              </a:extLst>
            </p:cNvPr>
            <p:cNvCxnSpPr/>
            <p:nvPr/>
          </p:nvCxnSpPr>
          <p:spPr>
            <a:xfrm flipH="1">
              <a:off x="8335688" y="6440677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6562775-18B8-2006-043A-F9B18C8C454A}"/>
                    </a:ext>
                  </a:extLst>
                </p:cNvPr>
                <p:cNvSpPr/>
                <p:nvPr/>
              </p:nvSpPr>
              <p:spPr>
                <a:xfrm>
                  <a:off x="8407930" y="4554187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6562775-18B8-2006-043A-F9B18C8C4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7930" y="4554187"/>
                  <a:ext cx="75322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FB7A30-F8C3-1274-E38B-5CA9B319A418}"/>
                </a:ext>
              </a:extLst>
            </p:cNvPr>
            <p:cNvSpPr/>
            <p:nvPr/>
          </p:nvSpPr>
          <p:spPr>
            <a:xfrm>
              <a:off x="10777131" y="6131514"/>
              <a:ext cx="102759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dirty="0"/>
                <a:t># de </a:t>
              </a:r>
              <a:r>
                <a:rPr lang="nl-BE" dirty="0" err="1"/>
                <a:t>iterações</a:t>
              </a:r>
              <a:endParaRPr lang="nl-BE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4FAE4C-636D-E13D-07E0-532FEF9CBD06}"/>
                </a:ext>
              </a:extLst>
            </p:cNvPr>
            <p:cNvGrpSpPr/>
            <p:nvPr/>
          </p:nvGrpSpPr>
          <p:grpSpPr>
            <a:xfrm rot="1423444">
              <a:off x="8401580" y="5433605"/>
              <a:ext cx="2422570" cy="464820"/>
              <a:chOff x="4856408" y="5438056"/>
              <a:chExt cx="2422570" cy="464820"/>
            </a:xfrm>
          </p:grpSpPr>
          <p:sp>
            <p:nvSpPr>
              <p:cNvPr id="10" name="Freeform 26">
                <a:extLst>
                  <a:ext uri="{FF2B5EF4-FFF2-40B4-BE49-F238E27FC236}">
                    <a16:creationId xmlns:a16="http://schemas.microsoft.com/office/drawing/2014/main" id="{AE8EC5AB-93C0-B973-26F3-8DDD17A9B33B}"/>
                  </a:ext>
                </a:extLst>
              </p:cNvPr>
              <p:cNvSpPr/>
              <p:nvPr/>
            </p:nvSpPr>
            <p:spPr>
              <a:xfrm>
                <a:off x="5256786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" name="Freeform 27">
                <a:extLst>
                  <a:ext uri="{FF2B5EF4-FFF2-40B4-BE49-F238E27FC236}">
                    <a16:creationId xmlns:a16="http://schemas.microsoft.com/office/drawing/2014/main" id="{E928966C-A824-A2F4-887E-862DC688257A}"/>
                  </a:ext>
                </a:extLst>
              </p:cNvPr>
              <p:cNvSpPr/>
              <p:nvPr/>
            </p:nvSpPr>
            <p:spPr>
              <a:xfrm flipH="1">
                <a:off x="5658106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Freeform 34">
                <a:extLst>
                  <a:ext uri="{FF2B5EF4-FFF2-40B4-BE49-F238E27FC236}">
                    <a16:creationId xmlns:a16="http://schemas.microsoft.com/office/drawing/2014/main" id="{D08047DA-2B02-297D-3278-FF44AE4F8AE3}"/>
                  </a:ext>
                </a:extLst>
              </p:cNvPr>
              <p:cNvSpPr/>
              <p:nvPr/>
            </p:nvSpPr>
            <p:spPr>
              <a:xfrm>
                <a:off x="6059424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FA856DD1-6465-F1A3-560E-43AFCAAF97A8}"/>
                  </a:ext>
                </a:extLst>
              </p:cNvPr>
              <p:cNvSpPr/>
              <p:nvPr/>
            </p:nvSpPr>
            <p:spPr>
              <a:xfrm flipH="1">
                <a:off x="6467601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Freeform 37">
                <a:extLst>
                  <a:ext uri="{FF2B5EF4-FFF2-40B4-BE49-F238E27FC236}">
                    <a16:creationId xmlns:a16="http://schemas.microsoft.com/office/drawing/2014/main" id="{8998C0C6-0D11-1511-B6BF-56A141C484A7}"/>
                  </a:ext>
                </a:extLst>
              </p:cNvPr>
              <p:cNvSpPr/>
              <p:nvPr/>
            </p:nvSpPr>
            <p:spPr>
              <a:xfrm>
                <a:off x="6877660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Freeform 38">
                <a:extLst>
                  <a:ext uri="{FF2B5EF4-FFF2-40B4-BE49-F238E27FC236}">
                    <a16:creationId xmlns:a16="http://schemas.microsoft.com/office/drawing/2014/main" id="{2D32C797-DDEC-6196-C4B2-48A37B3F489E}"/>
                  </a:ext>
                </a:extLst>
              </p:cNvPr>
              <p:cNvSpPr/>
              <p:nvPr/>
            </p:nvSpPr>
            <p:spPr>
              <a:xfrm flipH="1">
                <a:off x="4856408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6612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510540" y="739715"/>
            <a:ext cx="3197975" cy="2476760"/>
            <a:chOff x="6426200" y="2839619"/>
            <a:chExt cx="3197975" cy="2476760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6432550" y="2924872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6426200" y="4726109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442" y="2839619"/>
                  <a:ext cx="75322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/>
            <p:cNvSpPr/>
            <p:nvPr/>
          </p:nvSpPr>
          <p:spPr>
            <a:xfrm>
              <a:off x="8409450" y="4731604"/>
              <a:ext cx="121472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sz="1600" dirty="0"/>
                <a:t>Épocas ou</a:t>
              </a:r>
            </a:p>
            <a:p>
              <a:pPr algn="ctr"/>
              <a:r>
                <a:rPr lang="nl-BE" sz="1600" dirty="0"/>
                <a:t>iterações</a:t>
              </a:r>
            </a:p>
          </p:txBody>
        </p:sp>
        <p:sp>
          <p:nvSpPr>
            <p:cNvPr id="29" name="Freeform 28"/>
            <p:cNvSpPr/>
            <p:nvPr/>
          </p:nvSpPr>
          <p:spPr>
            <a:xfrm>
              <a:off x="6575413" y="3276600"/>
              <a:ext cx="2209800" cy="1387355"/>
            </a:xfrm>
            <a:custGeom>
              <a:avLst/>
              <a:gdLst>
                <a:gd name="connsiteX0" fmla="*/ 0 w 1699260"/>
                <a:gd name="connsiteY0" fmla="*/ 0 h 1575619"/>
                <a:gd name="connsiteX1" fmla="*/ 365760 w 1699260"/>
                <a:gd name="connsiteY1" fmla="*/ 1348740 h 1575619"/>
                <a:gd name="connsiteX2" fmla="*/ 1699260 w 1699260"/>
                <a:gd name="connsiteY2" fmla="*/ 1562100 h 157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9260" h="1575619">
                  <a:moveTo>
                    <a:pt x="0" y="0"/>
                  </a:moveTo>
                  <a:cubicBezTo>
                    <a:pt x="41275" y="544195"/>
                    <a:pt x="82550" y="1088390"/>
                    <a:pt x="365760" y="1348740"/>
                  </a:cubicBezTo>
                  <a:cubicBezTo>
                    <a:pt x="648970" y="1609090"/>
                    <a:pt x="1174115" y="1585595"/>
                    <a:pt x="1699260" y="15621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236720" y="758544"/>
            <a:ext cx="3069922" cy="2495521"/>
            <a:chOff x="4224020" y="1913568"/>
            <a:chExt cx="3069922" cy="2495521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4230370" y="1998821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4224020" y="3800058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4296262" y="191356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262" y="1913568"/>
                  <a:ext cx="75322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6266344" y="3824314"/>
              <a:ext cx="102759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sz="1600" dirty="0"/>
                <a:t>Épocas ou</a:t>
              </a:r>
            </a:p>
            <a:p>
              <a:pPr algn="ctr"/>
              <a:r>
                <a:rPr lang="nl-BE" sz="1600" dirty="0"/>
                <a:t>iterações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4419600" y="2415540"/>
              <a:ext cx="2209800" cy="1104900"/>
            </a:xfrm>
            <a:custGeom>
              <a:avLst/>
              <a:gdLst>
                <a:gd name="connsiteX0" fmla="*/ 0 w 2209800"/>
                <a:gd name="connsiteY0" fmla="*/ 0 h 1104900"/>
                <a:gd name="connsiteX1" fmla="*/ 800100 w 2209800"/>
                <a:gd name="connsiteY1" fmla="*/ 838200 h 1104900"/>
                <a:gd name="connsiteX2" fmla="*/ 2209800 w 2209800"/>
                <a:gd name="connsiteY2" fmla="*/ 110490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9800" h="1104900">
                  <a:moveTo>
                    <a:pt x="0" y="0"/>
                  </a:moveTo>
                  <a:cubicBezTo>
                    <a:pt x="215900" y="327025"/>
                    <a:pt x="431800" y="654050"/>
                    <a:pt x="800100" y="838200"/>
                  </a:cubicBezTo>
                  <a:cubicBezTo>
                    <a:pt x="1168400" y="1022350"/>
                    <a:pt x="1902460" y="1054100"/>
                    <a:pt x="2209800" y="11049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406332" y="824968"/>
            <a:ext cx="3105799" cy="2479912"/>
            <a:chOff x="8393632" y="1979992"/>
            <a:chExt cx="3105799" cy="2479912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8399982" y="2065245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>
              <a:off x="8393632" y="3866482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8465874" y="1979992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5874" y="1979992"/>
                  <a:ext cx="75322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/>
            <p:cNvSpPr/>
            <p:nvPr/>
          </p:nvSpPr>
          <p:spPr>
            <a:xfrm>
              <a:off x="10471833" y="3875129"/>
              <a:ext cx="102759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sz="1600" dirty="0"/>
                <a:t>Épocas ou</a:t>
              </a:r>
            </a:p>
            <a:p>
              <a:pPr algn="ctr"/>
              <a:r>
                <a:rPr lang="nl-BE" sz="1600" dirty="0"/>
                <a:t>iterações</a:t>
              </a:r>
            </a:p>
          </p:txBody>
        </p:sp>
        <p:sp>
          <p:nvSpPr>
            <p:cNvPr id="33" name="Freeform 32"/>
            <p:cNvSpPr/>
            <p:nvPr/>
          </p:nvSpPr>
          <p:spPr>
            <a:xfrm>
              <a:off x="8511540" y="2247900"/>
              <a:ext cx="1676400" cy="929640"/>
            </a:xfrm>
            <a:custGeom>
              <a:avLst/>
              <a:gdLst>
                <a:gd name="connsiteX0" fmla="*/ 0 w 1676400"/>
                <a:gd name="connsiteY0" fmla="*/ 929640 h 929640"/>
                <a:gd name="connsiteX1" fmla="*/ 1379220 w 1676400"/>
                <a:gd name="connsiteY1" fmla="*/ 746760 h 929640"/>
                <a:gd name="connsiteX2" fmla="*/ 1676400 w 1676400"/>
                <a:gd name="connsiteY2" fmla="*/ 0 h 929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400" h="929640">
                  <a:moveTo>
                    <a:pt x="0" y="929640"/>
                  </a:moveTo>
                  <a:cubicBezTo>
                    <a:pt x="549910" y="915670"/>
                    <a:pt x="1099820" y="901700"/>
                    <a:pt x="1379220" y="746760"/>
                  </a:cubicBezTo>
                  <a:cubicBezTo>
                    <a:pt x="1658620" y="591820"/>
                    <a:pt x="1667510" y="295910"/>
                    <a:pt x="16764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236720" y="3937354"/>
            <a:ext cx="3002261" cy="2470028"/>
            <a:chOff x="4230370" y="4542555"/>
            <a:chExt cx="3002261" cy="2470028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4236720" y="4627808"/>
              <a:ext cx="0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4230370" y="6429045"/>
              <a:ext cx="259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4302612" y="4542555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2612" y="4542555"/>
                  <a:ext cx="75322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/>
            <p:cNvSpPr/>
            <p:nvPr/>
          </p:nvSpPr>
          <p:spPr>
            <a:xfrm>
              <a:off x="6205033" y="6427808"/>
              <a:ext cx="102759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nl-BE" sz="1600" dirty="0"/>
                <a:t>Épocas ou</a:t>
              </a:r>
            </a:p>
            <a:p>
              <a:pPr algn="ctr"/>
              <a:r>
                <a:rPr lang="nl-BE" sz="1600" dirty="0"/>
                <a:t>iterações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296262" y="5421973"/>
              <a:ext cx="2422570" cy="464820"/>
              <a:chOff x="4856408" y="5438056"/>
              <a:chExt cx="2422570" cy="464820"/>
            </a:xfrm>
          </p:grpSpPr>
          <p:sp>
            <p:nvSpPr>
              <p:cNvPr id="27" name="Freeform 26"/>
              <p:cNvSpPr/>
              <p:nvPr/>
            </p:nvSpPr>
            <p:spPr>
              <a:xfrm>
                <a:off x="5256786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Freeform 27"/>
              <p:cNvSpPr/>
              <p:nvPr/>
            </p:nvSpPr>
            <p:spPr>
              <a:xfrm flipH="1">
                <a:off x="5658106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059424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Freeform 35"/>
              <p:cNvSpPr/>
              <p:nvPr/>
            </p:nvSpPr>
            <p:spPr>
              <a:xfrm flipH="1">
                <a:off x="6467601" y="5438056"/>
                <a:ext cx="403200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6877660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Freeform 38"/>
              <p:cNvSpPr/>
              <p:nvPr/>
            </p:nvSpPr>
            <p:spPr>
              <a:xfrm flipH="1">
                <a:off x="4856408" y="5438056"/>
                <a:ext cx="401318" cy="464820"/>
              </a:xfrm>
              <a:custGeom>
                <a:avLst/>
                <a:gdLst>
                  <a:gd name="connsiteX0" fmla="*/ 0 w 1676400"/>
                  <a:gd name="connsiteY0" fmla="*/ 929640 h 929640"/>
                  <a:gd name="connsiteX1" fmla="*/ 1379220 w 1676400"/>
                  <a:gd name="connsiteY1" fmla="*/ 746760 h 929640"/>
                  <a:gd name="connsiteX2" fmla="*/ 1676400 w 1676400"/>
                  <a:gd name="connsiteY2" fmla="*/ 0 h 929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6400" h="929640">
                    <a:moveTo>
                      <a:pt x="0" y="929640"/>
                    </a:moveTo>
                    <a:cubicBezTo>
                      <a:pt x="549910" y="915670"/>
                      <a:pt x="1099820" y="901700"/>
                      <a:pt x="1379220" y="746760"/>
                    </a:cubicBezTo>
                    <a:cubicBezTo>
                      <a:pt x="1658620" y="591820"/>
                      <a:pt x="1667510" y="295910"/>
                      <a:pt x="16764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7213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166"/>
          <p:cNvGrpSpPr/>
          <p:nvPr/>
        </p:nvGrpSpPr>
        <p:grpSpPr>
          <a:xfrm>
            <a:off x="6818898" y="2134388"/>
            <a:ext cx="3549478" cy="3157828"/>
            <a:chOff x="6818898" y="2134388"/>
            <a:chExt cx="3549478" cy="3157828"/>
          </a:xfrm>
        </p:grpSpPr>
        <p:sp>
          <p:nvSpPr>
            <p:cNvPr id="108" name="Oval 107"/>
            <p:cNvSpPr/>
            <p:nvPr/>
          </p:nvSpPr>
          <p:spPr>
            <a:xfrm>
              <a:off x="7353299" y="2749031"/>
              <a:ext cx="21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9" name="Oval 108"/>
            <p:cNvSpPr/>
            <p:nvPr/>
          </p:nvSpPr>
          <p:spPr>
            <a:xfrm>
              <a:off x="7533299" y="2929031"/>
              <a:ext cx="1800000" cy="18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0" name="Oval 109"/>
            <p:cNvSpPr/>
            <p:nvPr/>
          </p:nvSpPr>
          <p:spPr>
            <a:xfrm>
              <a:off x="7713299" y="3109031"/>
              <a:ext cx="144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1" name="Oval 110"/>
            <p:cNvSpPr/>
            <p:nvPr/>
          </p:nvSpPr>
          <p:spPr>
            <a:xfrm>
              <a:off x="7893299" y="3289031"/>
              <a:ext cx="1080000" cy="10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2" name="Oval 111"/>
            <p:cNvSpPr/>
            <p:nvPr/>
          </p:nvSpPr>
          <p:spPr>
            <a:xfrm>
              <a:off x="8073299" y="3469031"/>
              <a:ext cx="72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3" name="Oval 112"/>
            <p:cNvSpPr/>
            <p:nvPr/>
          </p:nvSpPr>
          <p:spPr>
            <a:xfrm>
              <a:off x="8253299" y="3649031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4" name="Multiply 113"/>
            <p:cNvSpPr>
              <a:spLocks noChangeAspect="1"/>
            </p:cNvSpPr>
            <p:nvPr/>
          </p:nvSpPr>
          <p:spPr>
            <a:xfrm>
              <a:off x="8349614" y="3734666"/>
              <a:ext cx="158298" cy="180000"/>
            </a:xfrm>
            <a:prstGeom prst="mathMultiply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9" name="Straight Connector 118"/>
            <p:cNvCxnSpPr/>
            <p:nvPr/>
          </p:nvCxnSpPr>
          <p:spPr>
            <a:xfrm flipH="1">
              <a:off x="7936368" y="4340403"/>
              <a:ext cx="136931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H="1">
              <a:off x="8074119" y="4165165"/>
              <a:ext cx="153100" cy="17526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>
              <a:off x="8216880" y="4030041"/>
              <a:ext cx="86539" cy="15067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flipH="1">
              <a:off x="8304826" y="3915692"/>
              <a:ext cx="65154" cy="11250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H="1">
              <a:off x="8368145" y="3829031"/>
              <a:ext cx="65154" cy="9217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Multiply 130"/>
            <p:cNvSpPr>
              <a:spLocks noChangeAspect="1"/>
            </p:cNvSpPr>
            <p:nvPr/>
          </p:nvSpPr>
          <p:spPr>
            <a:xfrm>
              <a:off x="7733351" y="4634932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5" name="Straight Connector 114"/>
            <p:cNvCxnSpPr/>
            <p:nvPr/>
          </p:nvCxnSpPr>
          <p:spPr>
            <a:xfrm flipH="1">
              <a:off x="7750018" y="4513680"/>
              <a:ext cx="193832" cy="18285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Multiply 131"/>
            <p:cNvSpPr>
              <a:spLocks noChangeAspect="1"/>
            </p:cNvSpPr>
            <p:nvPr/>
          </p:nvSpPr>
          <p:spPr>
            <a:xfrm>
              <a:off x="7907441" y="446995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3" name="Multiply 132"/>
            <p:cNvSpPr>
              <a:spLocks noChangeAspect="1"/>
            </p:cNvSpPr>
            <p:nvPr/>
          </p:nvSpPr>
          <p:spPr>
            <a:xfrm>
              <a:off x="7991128" y="4358555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4" name="Multiply 133"/>
            <p:cNvSpPr>
              <a:spLocks noChangeAspect="1"/>
            </p:cNvSpPr>
            <p:nvPr/>
          </p:nvSpPr>
          <p:spPr>
            <a:xfrm>
              <a:off x="8073299" y="4257603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5" name="Multiply 134"/>
            <p:cNvSpPr>
              <a:spLocks noChangeAspect="1"/>
            </p:cNvSpPr>
            <p:nvPr/>
          </p:nvSpPr>
          <p:spPr>
            <a:xfrm>
              <a:off x="8300077" y="3920332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4" name="Multiply 153"/>
            <p:cNvSpPr>
              <a:spLocks noChangeAspect="1"/>
            </p:cNvSpPr>
            <p:nvPr/>
          </p:nvSpPr>
          <p:spPr>
            <a:xfrm>
              <a:off x="8175312" y="4136565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5" name="Multiply 154"/>
            <p:cNvSpPr>
              <a:spLocks noChangeAspect="1"/>
            </p:cNvSpPr>
            <p:nvPr/>
          </p:nvSpPr>
          <p:spPr>
            <a:xfrm>
              <a:off x="8241507" y="401144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Straight Arrow Connector 159"/>
            <p:cNvCxnSpPr/>
            <p:nvPr/>
          </p:nvCxnSpPr>
          <p:spPr>
            <a:xfrm>
              <a:off x="7038874" y="2534498"/>
              <a:ext cx="0" cy="255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/>
            <p:cNvCxnSpPr/>
            <p:nvPr/>
          </p:nvCxnSpPr>
          <p:spPr>
            <a:xfrm rot="5400000">
              <a:off x="8507912" y="3626810"/>
              <a:ext cx="0" cy="295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9942348" y="4892106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2348" y="4892106"/>
                  <a:ext cx="426028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6818898" y="2134388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3" name="TextBox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8898" y="2134388"/>
                  <a:ext cx="42602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/>
          <p:cNvGrpSpPr/>
          <p:nvPr/>
        </p:nvGrpSpPr>
        <p:grpSpPr>
          <a:xfrm>
            <a:off x="2817120" y="895312"/>
            <a:ext cx="3539783" cy="4892060"/>
            <a:chOff x="2817120" y="895312"/>
            <a:chExt cx="3539783" cy="4892060"/>
          </a:xfrm>
        </p:grpSpPr>
        <p:sp>
          <p:nvSpPr>
            <p:cNvPr id="4" name="Oval 3"/>
            <p:cNvSpPr>
              <a:spLocks/>
            </p:cNvSpPr>
            <p:nvPr/>
          </p:nvSpPr>
          <p:spPr>
            <a:xfrm>
              <a:off x="3657598" y="1683325"/>
              <a:ext cx="18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Oval 4"/>
            <p:cNvSpPr/>
            <p:nvPr/>
          </p:nvSpPr>
          <p:spPr>
            <a:xfrm>
              <a:off x="4017598" y="2042031"/>
              <a:ext cx="1080000" cy="28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/>
            <p:cNvSpPr/>
            <p:nvPr/>
          </p:nvSpPr>
          <p:spPr>
            <a:xfrm>
              <a:off x="4377598" y="2402031"/>
              <a:ext cx="3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8"/>
            <p:cNvSpPr/>
            <p:nvPr/>
          </p:nvSpPr>
          <p:spPr>
            <a:xfrm>
              <a:off x="4197598" y="2222031"/>
              <a:ext cx="720000" cy="25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3837598" y="1862031"/>
              <a:ext cx="1440000" cy="32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>
              <a:spLocks/>
            </p:cNvSpPr>
            <p:nvPr/>
          </p:nvSpPr>
          <p:spPr>
            <a:xfrm>
              <a:off x="3477598" y="1502031"/>
              <a:ext cx="2160000" cy="39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3" name="Straight Connector 102"/>
            <p:cNvCxnSpPr/>
            <p:nvPr/>
          </p:nvCxnSpPr>
          <p:spPr>
            <a:xfrm flipH="1">
              <a:off x="4253250" y="5216278"/>
              <a:ext cx="386493" cy="15378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Multiply 135"/>
            <p:cNvSpPr>
              <a:spLocks/>
            </p:cNvSpPr>
            <p:nvPr/>
          </p:nvSpPr>
          <p:spPr>
            <a:xfrm>
              <a:off x="4216841" y="5338443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7" name="Multiply 136"/>
            <p:cNvSpPr>
              <a:spLocks/>
            </p:cNvSpPr>
            <p:nvPr/>
          </p:nvSpPr>
          <p:spPr>
            <a:xfrm>
              <a:off x="4598658" y="517060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Multiply 68"/>
            <p:cNvSpPr>
              <a:spLocks noChangeAspect="1"/>
            </p:cNvSpPr>
            <p:nvPr/>
          </p:nvSpPr>
          <p:spPr>
            <a:xfrm>
              <a:off x="4468132" y="3344554"/>
              <a:ext cx="158298" cy="180000"/>
            </a:xfrm>
            <a:prstGeom prst="mathMultiply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 flipV="1">
              <a:off x="4516368" y="3611183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5400000" flipH="1" flipV="1">
              <a:off x="4522774" y="3661302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 flipH="1" flipV="1">
              <a:off x="4540454" y="3778347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10800000" flipH="1" flipV="1">
              <a:off x="4551995" y="3841032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5400000" flipH="1" flipV="1">
              <a:off x="4557568" y="3898479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Multiply 137"/>
            <p:cNvSpPr>
              <a:spLocks noChangeAspect="1"/>
            </p:cNvSpPr>
            <p:nvPr/>
          </p:nvSpPr>
          <p:spPr>
            <a:xfrm>
              <a:off x="4396841" y="499403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8" name="Straight Connector 97"/>
            <p:cNvCxnSpPr/>
            <p:nvPr/>
          </p:nvCxnSpPr>
          <p:spPr>
            <a:xfrm flipV="1">
              <a:off x="4433250" y="4936612"/>
              <a:ext cx="145222" cy="10177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4433250" y="5036924"/>
              <a:ext cx="206493" cy="18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Multiply 138"/>
            <p:cNvSpPr>
              <a:spLocks noChangeAspect="1"/>
            </p:cNvSpPr>
            <p:nvPr/>
          </p:nvSpPr>
          <p:spPr>
            <a:xfrm>
              <a:off x="4541256" y="489210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0" name="Multiply 139"/>
            <p:cNvSpPr>
              <a:spLocks noChangeAspect="1"/>
            </p:cNvSpPr>
            <p:nvPr/>
          </p:nvSpPr>
          <p:spPr>
            <a:xfrm>
              <a:off x="4416484" y="478241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1" name="Multiply 140"/>
            <p:cNvSpPr>
              <a:spLocks noChangeAspect="1"/>
            </p:cNvSpPr>
            <p:nvPr/>
          </p:nvSpPr>
          <p:spPr>
            <a:xfrm>
              <a:off x="4527814" y="466584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2" name="Multiply 141"/>
            <p:cNvSpPr>
              <a:spLocks/>
            </p:cNvSpPr>
            <p:nvPr/>
          </p:nvSpPr>
          <p:spPr>
            <a:xfrm>
              <a:off x="4432482" y="4497324"/>
              <a:ext cx="72000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3" name="Multiply 142"/>
            <p:cNvSpPr>
              <a:spLocks/>
            </p:cNvSpPr>
            <p:nvPr/>
          </p:nvSpPr>
          <p:spPr>
            <a:xfrm>
              <a:off x="4586752" y="4430025"/>
              <a:ext cx="72000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4" name="Multiply 143"/>
            <p:cNvSpPr>
              <a:spLocks/>
            </p:cNvSpPr>
            <p:nvPr/>
          </p:nvSpPr>
          <p:spPr>
            <a:xfrm>
              <a:off x="4489301" y="4254654"/>
              <a:ext cx="72000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5" name="Multiply 144"/>
            <p:cNvSpPr>
              <a:spLocks/>
            </p:cNvSpPr>
            <p:nvPr/>
          </p:nvSpPr>
          <p:spPr>
            <a:xfrm>
              <a:off x="4647454" y="4169248"/>
              <a:ext cx="72000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6" name="Multiply 145"/>
            <p:cNvSpPr>
              <a:spLocks/>
            </p:cNvSpPr>
            <p:nvPr/>
          </p:nvSpPr>
          <p:spPr>
            <a:xfrm>
              <a:off x="4515354" y="4085156"/>
              <a:ext cx="72000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7" name="Multiply 146"/>
            <p:cNvSpPr>
              <a:spLocks noChangeAspect="1"/>
            </p:cNvSpPr>
            <p:nvPr/>
          </p:nvSpPr>
          <p:spPr>
            <a:xfrm>
              <a:off x="4601229" y="3950902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Multiply 147"/>
            <p:cNvSpPr>
              <a:spLocks noChangeAspect="1"/>
            </p:cNvSpPr>
            <p:nvPr/>
          </p:nvSpPr>
          <p:spPr>
            <a:xfrm>
              <a:off x="4598029" y="3846380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9" name="Multiply 148"/>
            <p:cNvSpPr>
              <a:spLocks noChangeAspect="1"/>
            </p:cNvSpPr>
            <p:nvPr/>
          </p:nvSpPr>
          <p:spPr>
            <a:xfrm>
              <a:off x="4517694" y="3803997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0" name="Multiply 149"/>
            <p:cNvSpPr>
              <a:spLocks noChangeAspect="1"/>
            </p:cNvSpPr>
            <p:nvPr/>
          </p:nvSpPr>
          <p:spPr>
            <a:xfrm>
              <a:off x="4496498" y="3683246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1" name="Multiply 150"/>
            <p:cNvSpPr>
              <a:spLocks noChangeAspect="1"/>
            </p:cNvSpPr>
            <p:nvPr/>
          </p:nvSpPr>
          <p:spPr>
            <a:xfrm>
              <a:off x="4486717" y="3557718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0" name="Straight Connector 79"/>
            <p:cNvCxnSpPr/>
            <p:nvPr/>
          </p:nvCxnSpPr>
          <p:spPr>
            <a:xfrm rot="10800000" flipH="1" flipV="1">
              <a:off x="4569109" y="3960140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4551996" y="4006045"/>
              <a:ext cx="87747" cy="1243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 flipV="1">
              <a:off x="4570316" y="4113719"/>
              <a:ext cx="87747" cy="1243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4522717" y="4217178"/>
              <a:ext cx="158615" cy="919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rot="5400000" flipH="1">
              <a:off x="4490591" y="4331172"/>
              <a:ext cx="158615" cy="919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0800000" flipH="1">
              <a:off x="4466582" y="4460600"/>
              <a:ext cx="158615" cy="919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16200000" flipH="1">
              <a:off x="4438387" y="4578734"/>
              <a:ext cx="158615" cy="919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V="1">
              <a:off x="4460231" y="4699147"/>
              <a:ext cx="105160" cy="1267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V="1">
              <a:off x="4470137" y="4820883"/>
              <a:ext cx="105160" cy="1267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4513192" y="3490807"/>
              <a:ext cx="42247" cy="12037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0800000" flipH="1" flipV="1">
              <a:off x="4527096" y="3725595"/>
              <a:ext cx="73202" cy="501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Multiply 151"/>
            <p:cNvSpPr>
              <a:spLocks noChangeAspect="1"/>
            </p:cNvSpPr>
            <p:nvPr/>
          </p:nvSpPr>
          <p:spPr>
            <a:xfrm>
              <a:off x="4568482" y="3722621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Multiply 152"/>
            <p:cNvSpPr>
              <a:spLocks noChangeAspect="1"/>
            </p:cNvSpPr>
            <p:nvPr/>
          </p:nvSpPr>
          <p:spPr>
            <a:xfrm>
              <a:off x="4553694" y="3612134"/>
              <a:ext cx="72000" cy="81871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8" name="Straight Arrow Connector 157"/>
            <p:cNvCxnSpPr/>
            <p:nvPr/>
          </p:nvCxnSpPr>
          <p:spPr>
            <a:xfrm>
              <a:off x="3030134" y="1302987"/>
              <a:ext cx="0" cy="4284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/>
            <p:nvPr/>
          </p:nvCxnSpPr>
          <p:spPr>
            <a:xfrm rot="5400000">
              <a:off x="4496439" y="4118552"/>
              <a:ext cx="0" cy="295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/>
                <p:cNvSpPr txBox="1"/>
                <p:nvPr/>
              </p:nvSpPr>
              <p:spPr>
                <a:xfrm>
                  <a:off x="5930875" y="5387262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4" name="TextBox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0875" y="5387262"/>
                  <a:ext cx="42602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/>
                <p:cNvSpPr txBox="1"/>
                <p:nvPr/>
              </p:nvSpPr>
              <p:spPr>
                <a:xfrm>
                  <a:off x="2817120" y="895312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5" name="TextBox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7120" y="895312"/>
                  <a:ext cx="42602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08471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936633" y="2134388"/>
            <a:ext cx="3836177" cy="3649708"/>
            <a:chOff x="936633" y="2134388"/>
            <a:chExt cx="3836177" cy="3649708"/>
          </a:xfrm>
        </p:grpSpPr>
        <p:grpSp>
          <p:nvGrpSpPr>
            <p:cNvPr id="56" name="Group 55"/>
            <p:cNvGrpSpPr/>
            <p:nvPr/>
          </p:nvGrpSpPr>
          <p:grpSpPr>
            <a:xfrm>
              <a:off x="1705732" y="2134388"/>
              <a:ext cx="3067078" cy="3649708"/>
              <a:chOff x="1705732" y="2134388"/>
              <a:chExt cx="3067078" cy="3649708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1800709" y="2558531"/>
                <a:ext cx="2160000" cy="21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980709" y="2738531"/>
                <a:ext cx="1800000" cy="180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160709" y="2918531"/>
                <a:ext cx="1440000" cy="14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340709" y="3098531"/>
                <a:ext cx="1080000" cy="10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520709" y="3278531"/>
                <a:ext cx="720000" cy="72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700709" y="3458531"/>
                <a:ext cx="360000" cy="3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Multiply 34"/>
              <p:cNvSpPr>
                <a:spLocks noChangeAspect="1"/>
              </p:cNvSpPr>
              <p:nvPr/>
            </p:nvSpPr>
            <p:spPr>
              <a:xfrm>
                <a:off x="2797024" y="3544166"/>
                <a:ext cx="158298" cy="180000"/>
              </a:xfrm>
              <a:prstGeom prst="mathMultiply">
                <a:avLst/>
              </a:prstGeom>
              <a:solidFill>
                <a:schemeClr val="accent6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4346782" y="4890443"/>
                    <a:ext cx="42602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6782" y="4890443"/>
                    <a:ext cx="426028" cy="400110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1990208" y="2134388"/>
                    <a:ext cx="42602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0208" y="2134388"/>
                    <a:ext cx="426028" cy="400110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Rectangle 39"/>
              <p:cNvSpPr/>
              <p:nvPr/>
            </p:nvSpPr>
            <p:spPr>
              <a:xfrm rot="2700000">
                <a:off x="1772158" y="4675745"/>
                <a:ext cx="864000" cy="864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1705732" y="4463431"/>
                    <a:ext cx="3397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pt-BR" b="1" i="0" dirty="0"/>
                                <m:t> </m:t>
                              </m:r>
                            </m:e>
                            <m:sup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pt-BR" b="1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5732" y="4463431"/>
                    <a:ext cx="339772" cy="276999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8929" r="-3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Straight Arrow Connector 36"/>
              <p:cNvCxnSpPr/>
              <p:nvPr/>
            </p:nvCxnSpPr>
            <p:spPr>
              <a:xfrm rot="5400000">
                <a:off x="3287827" y="4016460"/>
                <a:ext cx="0" cy="21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>
                <a:off x="2210184" y="2534498"/>
                <a:ext cx="0" cy="255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2158585" y="4458583"/>
                <a:ext cx="98797" cy="101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/>
                  <p:cNvSpPr/>
                  <p:nvPr/>
                </p:nvSpPr>
                <p:spPr>
                  <a:xfrm>
                    <a:off x="2661486" y="5414764"/>
                    <a:ext cx="72641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53" name="Rectangle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1486" y="5414764"/>
                    <a:ext cx="726417" cy="36933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7" name="TextBox 56"/>
            <p:cNvSpPr txBox="1"/>
            <p:nvPr/>
          </p:nvSpPr>
          <p:spPr>
            <a:xfrm>
              <a:off x="936633" y="4158937"/>
              <a:ext cx="9650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solução</a:t>
              </a:r>
            </a:p>
          </p:txBody>
        </p:sp>
        <p:cxnSp>
          <p:nvCxnSpPr>
            <p:cNvPr id="59" name="Straight Arrow Connector 58"/>
            <p:cNvCxnSpPr>
              <a:endCxn id="50" idx="2"/>
            </p:cNvCxnSpPr>
            <p:nvPr/>
          </p:nvCxnSpPr>
          <p:spPr>
            <a:xfrm>
              <a:off x="1784106" y="4369151"/>
              <a:ext cx="374479" cy="1402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5921535" y="2134388"/>
            <a:ext cx="3675609" cy="3546185"/>
            <a:chOff x="5921535" y="2134388"/>
            <a:chExt cx="3675609" cy="3546185"/>
          </a:xfrm>
        </p:grpSpPr>
        <p:grpSp>
          <p:nvGrpSpPr>
            <p:cNvPr id="55" name="Group 54"/>
            <p:cNvGrpSpPr/>
            <p:nvPr/>
          </p:nvGrpSpPr>
          <p:grpSpPr>
            <a:xfrm>
              <a:off x="6542714" y="2134388"/>
              <a:ext cx="3054430" cy="3546185"/>
              <a:chOff x="6542714" y="2134388"/>
              <a:chExt cx="3054430" cy="35461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9171116" y="4907412"/>
                    <a:ext cx="42602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1116" y="4907412"/>
                    <a:ext cx="426028" cy="400110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6818898" y="2134388"/>
                    <a:ext cx="42602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8898" y="2134388"/>
                    <a:ext cx="426028" cy="400110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Oval 40"/>
              <p:cNvSpPr/>
              <p:nvPr/>
            </p:nvSpPr>
            <p:spPr>
              <a:xfrm>
                <a:off x="6542714" y="4601785"/>
                <a:ext cx="1008000" cy="10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6626709" y="2571231"/>
                <a:ext cx="2160000" cy="21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6806709" y="2751231"/>
                <a:ext cx="1800000" cy="180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6986709" y="2931231"/>
                <a:ext cx="1440000" cy="14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7166709" y="3111231"/>
                <a:ext cx="1080000" cy="10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7346709" y="3291231"/>
                <a:ext cx="720000" cy="72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7526709" y="3471231"/>
                <a:ext cx="360000" cy="3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8" name="Multiply 47"/>
              <p:cNvSpPr>
                <a:spLocks noChangeAspect="1"/>
              </p:cNvSpPr>
              <p:nvPr/>
            </p:nvSpPr>
            <p:spPr>
              <a:xfrm>
                <a:off x="7623024" y="3556866"/>
                <a:ext cx="158298" cy="180000"/>
              </a:xfrm>
              <a:prstGeom prst="mathMultiply">
                <a:avLst/>
              </a:prstGeom>
              <a:solidFill>
                <a:srgbClr val="00B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7209452" y="4588707"/>
                <a:ext cx="98797" cy="1016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7075040" y="4694711"/>
                    <a:ext cx="3397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pt-BR" b="1" i="0" dirty="0"/>
                                <m:t> </m:t>
                              </m:r>
                            </m:e>
                            <m:sup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pt-BR" b="1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5040" y="4694711"/>
                    <a:ext cx="339772" cy="276999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l="-9091" r="-545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/>
              <p:cNvCxnSpPr/>
              <p:nvPr/>
            </p:nvCxnSpPr>
            <p:spPr>
              <a:xfrm rot="5400000">
                <a:off x="8121956" y="4016460"/>
                <a:ext cx="0" cy="21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7038874" y="2534498"/>
                <a:ext cx="0" cy="255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/>
                  <p:cNvSpPr/>
                  <p:nvPr/>
                </p:nvSpPr>
                <p:spPr>
                  <a:xfrm>
                    <a:off x="7616638" y="5307522"/>
                    <a:ext cx="731739" cy="37305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54" name="Rectangle 5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6638" y="5307522"/>
                    <a:ext cx="731739" cy="373051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7" name="TextBox 66"/>
            <p:cNvSpPr txBox="1"/>
            <p:nvPr/>
          </p:nvSpPr>
          <p:spPr>
            <a:xfrm>
              <a:off x="5921535" y="4379643"/>
              <a:ext cx="9650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solução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6763186" y="4583136"/>
              <a:ext cx="446266" cy="453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9773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825535" y="2360642"/>
            <a:ext cx="3217781" cy="2544915"/>
            <a:chOff x="8677971" y="3786094"/>
            <a:chExt cx="3514029" cy="273046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7971" y="4063458"/>
              <a:ext cx="3514029" cy="245309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9107097" y="3786094"/>
              <a:ext cx="260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Gradiente Descendente Estocástico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685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/>
          <p:cNvGrpSpPr/>
          <p:nvPr/>
        </p:nvGrpSpPr>
        <p:grpSpPr>
          <a:xfrm>
            <a:off x="703328" y="1720211"/>
            <a:ext cx="4337255" cy="3027979"/>
            <a:chOff x="703328" y="1720211"/>
            <a:chExt cx="4337255" cy="3027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703329" y="1720211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329" y="1720211"/>
                  <a:ext cx="426028" cy="40011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8" name="Group 147"/>
            <p:cNvGrpSpPr/>
            <p:nvPr/>
          </p:nvGrpSpPr>
          <p:grpSpPr>
            <a:xfrm>
              <a:off x="703328" y="1796190"/>
              <a:ext cx="4337255" cy="2952000"/>
              <a:chOff x="703328" y="1796190"/>
              <a:chExt cx="4337255" cy="2952000"/>
            </a:xfrm>
          </p:grpSpPr>
          <p:sp>
            <p:nvSpPr>
              <p:cNvPr id="5" name="Oval 4"/>
              <p:cNvSpPr>
                <a:spLocks/>
              </p:cNvSpPr>
              <p:nvPr/>
            </p:nvSpPr>
            <p:spPr>
              <a:xfrm rot="5400000">
                <a:off x="1914555" y="1533349"/>
                <a:ext cx="1800000" cy="360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" name="Oval 5"/>
              <p:cNvSpPr/>
              <p:nvPr/>
            </p:nvSpPr>
            <p:spPr>
              <a:xfrm rot="5400000">
                <a:off x="2275849" y="1893349"/>
                <a:ext cx="1080000" cy="28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" name="Oval 6"/>
              <p:cNvSpPr/>
              <p:nvPr/>
            </p:nvSpPr>
            <p:spPr>
              <a:xfrm rot="5400000">
                <a:off x="2635849" y="2253349"/>
                <a:ext cx="360000" cy="21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8" name="Oval 7"/>
              <p:cNvSpPr/>
              <p:nvPr/>
            </p:nvSpPr>
            <p:spPr>
              <a:xfrm rot="5400000">
                <a:off x="2455849" y="2073349"/>
                <a:ext cx="720000" cy="252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Oval 8"/>
              <p:cNvSpPr/>
              <p:nvPr/>
            </p:nvSpPr>
            <p:spPr>
              <a:xfrm rot="5400000">
                <a:off x="2095849" y="1713349"/>
                <a:ext cx="1440000" cy="32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Oval 9"/>
              <p:cNvSpPr>
                <a:spLocks/>
              </p:cNvSpPr>
              <p:nvPr/>
            </p:nvSpPr>
            <p:spPr>
              <a:xfrm rot="5400000">
                <a:off x="1735849" y="1353349"/>
                <a:ext cx="2160000" cy="396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 flipH="1" flipV="1">
                <a:off x="882035" y="2613351"/>
                <a:ext cx="126728" cy="107999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Multiply 13"/>
              <p:cNvSpPr>
                <a:spLocks noChangeAspect="1"/>
              </p:cNvSpPr>
              <p:nvPr/>
            </p:nvSpPr>
            <p:spPr>
              <a:xfrm rot="5400000">
                <a:off x="2765706" y="3264787"/>
                <a:ext cx="108000" cy="122807"/>
              </a:xfrm>
              <a:prstGeom prst="mathMultiply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 rot="5400000">
                <a:off x="2864103" y="2606190"/>
                <a:ext cx="0" cy="4284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 rot="10800000">
                <a:off x="703328" y="1796190"/>
                <a:ext cx="0" cy="2952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4614555" y="4322889"/>
                    <a:ext cx="42602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4555" y="4322889"/>
                    <a:ext cx="426028" cy="400110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Connector 57"/>
              <p:cNvCxnSpPr/>
              <p:nvPr/>
            </p:nvCxnSpPr>
            <p:spPr>
              <a:xfrm flipH="1">
                <a:off x="1008763" y="2894795"/>
                <a:ext cx="246068" cy="79855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1252243" y="2894796"/>
                <a:ext cx="119416" cy="70025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1371659" y="3094820"/>
                <a:ext cx="223667" cy="50023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 flipV="1">
                <a:off x="1595327" y="3094820"/>
                <a:ext cx="116827" cy="39147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1712155" y="3199595"/>
                <a:ext cx="178705" cy="28670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stCxn id="7" idx="5"/>
              </p:cNvCxnSpPr>
              <p:nvPr/>
            </p:nvCxnSpPr>
            <p:spPr>
              <a:xfrm flipH="1" flipV="1">
                <a:off x="1890860" y="3199596"/>
                <a:ext cx="161314" cy="26103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 rot="5400000">
                <a:off x="2733403" y="2491912"/>
                <a:ext cx="194229" cy="167639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78" name="Straight Connector 77"/>
              <p:cNvCxnSpPr>
                <a:endCxn id="7" idx="5"/>
              </p:cNvCxnSpPr>
              <p:nvPr/>
            </p:nvCxnSpPr>
            <p:spPr>
              <a:xfrm flipH="1">
                <a:off x="2052174" y="3294072"/>
                <a:ext cx="178706" cy="16655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/>
              <p:cNvSpPr>
                <a:spLocks noChangeAspect="1"/>
              </p:cNvSpPr>
              <p:nvPr/>
            </p:nvSpPr>
            <p:spPr>
              <a:xfrm rot="5400000">
                <a:off x="2811989" y="2702869"/>
                <a:ext cx="104228" cy="12428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82" name="Straight Connector 81"/>
              <p:cNvCxnSpPr/>
              <p:nvPr/>
            </p:nvCxnSpPr>
            <p:spPr>
              <a:xfrm flipH="1" flipV="1">
                <a:off x="2226329" y="3290561"/>
                <a:ext cx="325194" cy="10050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H="1">
                <a:off x="2551523" y="3322418"/>
                <a:ext cx="251184" cy="7509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9" name="Group 148"/>
          <p:cNvGrpSpPr/>
          <p:nvPr/>
        </p:nvGrpSpPr>
        <p:grpSpPr>
          <a:xfrm>
            <a:off x="6546300" y="1715075"/>
            <a:ext cx="4305533" cy="3007924"/>
            <a:chOff x="6546300" y="1715075"/>
            <a:chExt cx="4305533" cy="3007924"/>
          </a:xfrm>
        </p:grpSpPr>
        <p:sp>
          <p:nvSpPr>
            <p:cNvPr id="99" name="Oval 98"/>
            <p:cNvSpPr>
              <a:spLocks/>
            </p:cNvSpPr>
            <p:nvPr/>
          </p:nvSpPr>
          <p:spPr>
            <a:xfrm rot="5400000">
              <a:off x="7757527" y="1508158"/>
              <a:ext cx="18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0" name="Oval 99"/>
            <p:cNvSpPr/>
            <p:nvPr/>
          </p:nvSpPr>
          <p:spPr>
            <a:xfrm rot="5400000">
              <a:off x="8118821" y="1868158"/>
              <a:ext cx="1080000" cy="28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Oval 100"/>
            <p:cNvSpPr/>
            <p:nvPr/>
          </p:nvSpPr>
          <p:spPr>
            <a:xfrm rot="5400000">
              <a:off x="8478821" y="2228158"/>
              <a:ext cx="3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2" name="Oval 101"/>
            <p:cNvSpPr/>
            <p:nvPr/>
          </p:nvSpPr>
          <p:spPr>
            <a:xfrm rot="5400000">
              <a:off x="8298821" y="2048158"/>
              <a:ext cx="720000" cy="25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" name="Oval 102"/>
            <p:cNvSpPr/>
            <p:nvPr/>
          </p:nvSpPr>
          <p:spPr>
            <a:xfrm rot="5400000">
              <a:off x="7938821" y="1688158"/>
              <a:ext cx="1440000" cy="32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" name="Oval 103"/>
            <p:cNvSpPr>
              <a:spLocks/>
            </p:cNvSpPr>
            <p:nvPr/>
          </p:nvSpPr>
          <p:spPr>
            <a:xfrm rot="5400000">
              <a:off x="7578821" y="1328158"/>
              <a:ext cx="2160000" cy="39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5" name="Straight Connector 104"/>
            <p:cNvCxnSpPr/>
            <p:nvPr/>
          </p:nvCxnSpPr>
          <p:spPr>
            <a:xfrm flipH="1" flipV="1">
              <a:off x="6725007" y="2588160"/>
              <a:ext cx="126728" cy="1079998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Multiply 105"/>
            <p:cNvSpPr>
              <a:spLocks noChangeAspect="1"/>
            </p:cNvSpPr>
            <p:nvPr/>
          </p:nvSpPr>
          <p:spPr>
            <a:xfrm rot="5400000">
              <a:off x="8610393" y="3244561"/>
              <a:ext cx="108000" cy="122807"/>
            </a:xfrm>
            <a:prstGeom prst="mathMultiply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 rot="5400000">
              <a:off x="8707075" y="2580999"/>
              <a:ext cx="0" cy="4284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/>
            <p:nvPr/>
          </p:nvCxnSpPr>
          <p:spPr>
            <a:xfrm rot="10800000">
              <a:off x="6546300" y="1770999"/>
              <a:ext cx="0" cy="295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6575357" y="1715075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5357" y="1715075"/>
                  <a:ext cx="426028" cy="40011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10425805" y="4322889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5805" y="4322889"/>
                  <a:ext cx="426028" cy="4001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Oval 116"/>
            <p:cNvSpPr>
              <a:spLocks noChangeAspect="1"/>
            </p:cNvSpPr>
            <p:nvPr/>
          </p:nvSpPr>
          <p:spPr>
            <a:xfrm rot="5400000">
              <a:off x="8576375" y="2466721"/>
              <a:ext cx="194229" cy="167639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9" name="Oval 118"/>
            <p:cNvSpPr>
              <a:spLocks noChangeAspect="1"/>
            </p:cNvSpPr>
            <p:nvPr/>
          </p:nvSpPr>
          <p:spPr>
            <a:xfrm rot="5400000">
              <a:off x="8654961" y="2677678"/>
              <a:ext cx="104228" cy="12428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4" name="Straight Connector 123"/>
            <p:cNvCxnSpPr/>
            <p:nvPr/>
          </p:nvCxnSpPr>
          <p:spPr>
            <a:xfrm flipH="1">
              <a:off x="6858633" y="3322418"/>
              <a:ext cx="262864" cy="345740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H="1" flipV="1">
              <a:off x="7121498" y="3322418"/>
              <a:ext cx="401988" cy="138210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17" idx="4"/>
            </p:cNvCxnSpPr>
            <p:nvPr/>
          </p:nvCxnSpPr>
          <p:spPr>
            <a:xfrm flipH="1">
              <a:off x="7525721" y="3304921"/>
              <a:ext cx="309569" cy="152442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17" idx="5"/>
              <a:endCxn id="117" idx="4"/>
            </p:cNvCxnSpPr>
            <p:nvPr/>
          </p:nvCxnSpPr>
          <p:spPr>
            <a:xfrm flipH="1" flipV="1">
              <a:off x="7835290" y="3304921"/>
              <a:ext cx="245503" cy="68670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endCxn id="117" idx="5"/>
            </p:cNvCxnSpPr>
            <p:nvPr/>
          </p:nvCxnSpPr>
          <p:spPr>
            <a:xfrm flipH="1">
              <a:off x="8080793" y="3300431"/>
              <a:ext cx="308855" cy="73160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flipH="1" flipV="1">
              <a:off x="8387173" y="3301525"/>
              <a:ext cx="247978" cy="6633"/>
            </a:xfrm>
            <a:prstGeom prst="line">
              <a:avLst/>
            </a:prstGeom>
            <a:ln w="12700">
              <a:solidFill>
                <a:schemeClr val="accent5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2729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/>
          <p:nvPr/>
        </p:nvCxnSpPr>
        <p:spPr>
          <a:xfrm>
            <a:off x="4688114" y="4847771"/>
            <a:ext cx="1368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688114" y="3586843"/>
            <a:ext cx="1514993" cy="126093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688114" y="3568700"/>
            <a:ext cx="722993" cy="127907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5411107" y="3577771"/>
            <a:ext cx="792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634114" y="4793773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TextBox 30"/>
          <p:cNvSpPr txBox="1"/>
          <p:nvPr/>
        </p:nvSpPr>
        <p:spPr>
          <a:xfrm>
            <a:off x="4111398" y="3824968"/>
            <a:ext cx="938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Passo</a:t>
            </a:r>
          </a:p>
          <a:p>
            <a:pPr algn="ctr"/>
            <a:r>
              <a:rPr lang="pt-BR" sz="1200" dirty="0"/>
              <a:t>momentum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8895" y="4847770"/>
            <a:ext cx="938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Passo</a:t>
            </a:r>
          </a:p>
          <a:p>
            <a:pPr algn="ctr"/>
            <a:r>
              <a:rPr lang="pt-BR" sz="1200" dirty="0"/>
              <a:t>gradiente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2895" y="3974680"/>
            <a:ext cx="938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Passo corrente</a:t>
            </a:r>
          </a:p>
        </p:txBody>
      </p:sp>
      <p:pic>
        <p:nvPicPr>
          <p:cNvPr id="34" name="Picture 2" descr="The Ravine - Jam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9147" y="1029161"/>
            <a:ext cx="4280274" cy="428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22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322600-47b9-44f6-86ef-c87c87ba6e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3FE09A98904B92A9D00A38127206" ma:contentTypeVersion="18" ma:contentTypeDescription="Create a new document." ma:contentTypeScope="" ma:versionID="92863cfdd2d5fd2ee9b6f30d8c51b1f5">
  <xsd:schema xmlns:xsd="http://www.w3.org/2001/XMLSchema" xmlns:xs="http://www.w3.org/2001/XMLSchema" xmlns:p="http://schemas.microsoft.com/office/2006/metadata/properties" xmlns:ns3="10322600-47b9-44f6-86ef-c87c87ba6e82" xmlns:ns4="026c264a-64f6-48aa-bde0-8bf9e5064f89" targetNamespace="http://schemas.microsoft.com/office/2006/metadata/properties" ma:root="true" ma:fieldsID="86148dd4b4cd32a5258cd233a95bdcf5" ns3:_="" ns4:_="">
    <xsd:import namespace="10322600-47b9-44f6-86ef-c87c87ba6e82"/>
    <xsd:import namespace="026c264a-64f6-48aa-bde0-8bf9e5064f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22600-47b9-44f6-86ef-c87c87ba6e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6c264a-64f6-48aa-bde0-8bf9e5064f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4A17E5-ECCE-48A8-A291-06961455A1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21A6D-F900-459F-9179-A64A47727DAC}">
  <ds:schemaRefs>
    <ds:schemaRef ds:uri="http://schemas.microsoft.com/office/2006/documentManagement/types"/>
    <ds:schemaRef ds:uri="026c264a-64f6-48aa-bde0-8bf9e5064f89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0322600-47b9-44f6-86ef-c87c87ba6e8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765951F-25BB-44C2-B87A-A88FE1B68A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322600-47b9-44f6-86ef-c87c87ba6e82"/>
    <ds:schemaRef ds:uri="026c264a-64f6-48aa-bde0-8bf9e5064f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20335</TotalTime>
  <Words>5410</Words>
  <Application>Microsoft Office PowerPoint</Application>
  <PresentationFormat>Widescreen</PresentationFormat>
  <Paragraphs>397</Paragraphs>
  <Slides>43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Wingdings</vt:lpstr>
      <vt:lpstr>Office Theme</vt:lpstr>
      <vt:lpstr>T319 - Introdução ao Aprendizado de Máquina: Regressão Linear (Parte III)</vt:lpstr>
      <vt:lpstr>Recapitulando</vt:lpstr>
      <vt:lpstr>Escolha da taxa de aprendizagem</vt:lpstr>
      <vt:lpstr>Escolha da taxa de aprendizagem</vt:lpstr>
      <vt:lpstr>Escolha da taxa de aprendizagem</vt:lpstr>
      <vt:lpstr>Apresentação do PowerPoint</vt:lpstr>
      <vt:lpstr>Escolha da taxa de aprendizagem</vt:lpstr>
      <vt:lpstr>Escolha da taxa de aprendizagem</vt:lpstr>
      <vt:lpstr>Passo de aprendizado pequeno</vt:lpstr>
      <vt:lpstr>Passo de aprendizado grande</vt:lpstr>
      <vt:lpstr>Passo de aprendizado grande</vt:lpstr>
      <vt:lpstr>Passo de aprendizado grande</vt:lpstr>
      <vt:lpstr>Passo de aprendizado ideal</vt:lpstr>
      <vt:lpstr>Analisando o treinamento de um modelo</vt:lpstr>
      <vt:lpstr>Analisando o treinamento de um modelo</vt:lpstr>
      <vt:lpstr>Analisando o treinamento de um modelo</vt:lpstr>
      <vt:lpstr>Analisando o treinamento de um modelo</vt:lpstr>
      <vt:lpstr>Analisando o treinamento de um modelo</vt:lpstr>
      <vt:lpstr>Melhorando a convergência das versões estocásticas</vt:lpstr>
      <vt:lpstr>Melhorando a convergência das versões estocásticas</vt:lpstr>
      <vt:lpstr>Redução gradual do passo de aprendizagem</vt:lpstr>
      <vt:lpstr>Técnicas mais comuns para a redução do passo</vt:lpstr>
      <vt:lpstr>Termo momentum</vt:lpstr>
      <vt:lpstr>Variação adaptativa dos passos</vt:lpstr>
      <vt:lpstr>Exemplo de redução programada com GDE</vt:lpstr>
      <vt:lpstr>Exemplo de redução programada com GDE</vt:lpstr>
      <vt:lpstr>Exemplo de redução programada com GDE</vt:lpstr>
      <vt:lpstr>Tarefas</vt:lpstr>
      <vt:lpstr>Apresentação do PowerPoint</vt:lpstr>
      <vt:lpstr>Apresentação do PowerPoint</vt:lpstr>
      <vt:lpstr>FIGURAS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Augusto Pereira de Figueiredo (UGent-imec)</dc:creator>
  <cp:lastModifiedBy>Felipe Augusto Pereira de Figueiredo</cp:lastModifiedBy>
  <cp:revision>2450</cp:revision>
  <dcterms:created xsi:type="dcterms:W3CDTF">2020-02-17T11:18:32Z</dcterms:created>
  <dcterms:modified xsi:type="dcterms:W3CDTF">2026-10-09T21:48:10Z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0x010100A6553FE09A98904B92A9D00A38127206</vt:lpwstr>
  </property>
</Properties>
</file>