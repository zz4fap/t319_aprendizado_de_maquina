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9" r:id="rId2"/>
    <p:sldId id="296" r:id="rId3"/>
    <p:sldId id="463" r:id="rId4"/>
    <p:sldId id="517" r:id="rId5"/>
    <p:sldId id="464" r:id="rId6"/>
    <p:sldId id="470" r:id="rId7"/>
    <p:sldId id="466" r:id="rId8"/>
    <p:sldId id="467" r:id="rId9"/>
    <p:sldId id="469" r:id="rId10"/>
    <p:sldId id="471" r:id="rId11"/>
    <p:sldId id="472" r:id="rId12"/>
    <p:sldId id="465" r:id="rId13"/>
    <p:sldId id="475" r:id="rId14"/>
    <p:sldId id="473" r:id="rId15"/>
    <p:sldId id="522" r:id="rId16"/>
    <p:sldId id="565" r:id="rId17"/>
    <p:sldId id="474" r:id="rId18"/>
    <p:sldId id="477" r:id="rId19"/>
    <p:sldId id="480" r:id="rId20"/>
    <p:sldId id="479" r:id="rId21"/>
    <p:sldId id="481" r:id="rId22"/>
    <p:sldId id="570" r:id="rId23"/>
    <p:sldId id="482" r:id="rId24"/>
    <p:sldId id="320" r:id="rId25"/>
    <p:sldId id="484" r:id="rId26"/>
    <p:sldId id="483" r:id="rId27"/>
    <p:sldId id="566" r:id="rId28"/>
    <p:sldId id="487" r:id="rId29"/>
    <p:sldId id="486" r:id="rId30"/>
    <p:sldId id="485" r:id="rId31"/>
    <p:sldId id="478" r:id="rId32"/>
    <p:sldId id="571" r:id="rId33"/>
    <p:sldId id="491" r:id="rId34"/>
    <p:sldId id="492" r:id="rId35"/>
    <p:sldId id="568" r:id="rId36"/>
    <p:sldId id="494" r:id="rId37"/>
    <p:sldId id="493" r:id="rId38"/>
    <p:sldId id="495" r:id="rId39"/>
    <p:sldId id="497" r:id="rId40"/>
    <p:sldId id="569" r:id="rId41"/>
    <p:sldId id="500" r:id="rId42"/>
    <p:sldId id="499" r:id="rId43"/>
    <p:sldId id="501" r:id="rId44"/>
    <p:sldId id="504" r:id="rId45"/>
    <p:sldId id="518" r:id="rId46"/>
    <p:sldId id="457" r:id="rId47"/>
    <p:sldId id="515" r:id="rId48"/>
    <p:sldId id="512" r:id="rId49"/>
    <p:sldId id="513" r:id="rId50"/>
    <p:sldId id="516" r:id="rId51"/>
    <p:sldId id="509" r:id="rId52"/>
    <p:sldId id="519" r:id="rId53"/>
    <p:sldId id="440" r:id="rId54"/>
    <p:sldId id="317" r:id="rId55"/>
    <p:sldId id="332" r:id="rId56"/>
    <p:sldId id="488" r:id="rId57"/>
    <p:sldId id="496" r:id="rId58"/>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09" autoAdjust="0"/>
    <p:restoredTop sz="90557" autoAdjust="0"/>
  </p:normalViewPr>
  <p:slideViewPr>
    <p:cSldViewPr snapToGrid="0">
      <p:cViewPr varScale="1">
        <p:scale>
          <a:sx n="100" d="100"/>
          <a:sy n="100" d="100"/>
        </p:scale>
        <p:origin x="1308" y="72"/>
      </p:cViewPr>
      <p:guideLst/>
    </p:cSldViewPr>
  </p:slideViewPr>
  <p:outlineViewPr>
    <p:cViewPr>
      <p:scale>
        <a:sx n="33" d="100"/>
        <a:sy n="33" d="100"/>
      </p:scale>
      <p:origin x="0" y="-790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14/08/2026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da perda por caminho.</a:t>
            </a:r>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da perda por caminho.</a:t>
            </a:r>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13</a:t>
            </a:fld>
            <a:endParaRPr lang="nl-BE"/>
          </a:p>
        </p:txBody>
      </p:sp>
    </p:spTree>
    <p:extLst>
      <p:ext uri="{BB962C8B-B14F-4D97-AF65-F5344CB8AC3E}">
        <p14:creationId xmlns:p14="http://schemas.microsoft.com/office/powerpoint/2010/main" val="34196055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um peso </a:t>
            </a:r>
            <a:r>
              <a:rPr lang="en-US" dirty="0" err="1"/>
              <a:t>aparece</a:t>
            </a:r>
            <a:r>
              <a:rPr lang="en-US" dirty="0"/>
              <a:t> </a:t>
            </a:r>
            <a:r>
              <a:rPr lang="en-US" dirty="0" err="1"/>
              <a:t>dentro</a:t>
            </a:r>
            <a:r>
              <a:rPr lang="en-US" dirty="0"/>
              <a:t> de </a:t>
            </a:r>
            <a:r>
              <a:rPr lang="en-US" dirty="0" err="1"/>
              <a:t>uma</a:t>
            </a:r>
            <a:r>
              <a:rPr lang="en-US" dirty="0"/>
              <a:t> </a:t>
            </a:r>
            <a:r>
              <a:rPr lang="en-US" dirty="0" err="1"/>
              <a:t>função</a:t>
            </a:r>
            <a:r>
              <a:rPr lang="en-US" dirty="0"/>
              <a:t> </a:t>
            </a:r>
            <a:r>
              <a:rPr lang="en-US" dirty="0" err="1"/>
              <a:t>não</a:t>
            </a:r>
            <a:r>
              <a:rPr lang="en-US" dirty="0"/>
              <a:t> linear, o </a:t>
            </a:r>
            <a:r>
              <a:rPr lang="en-US" dirty="0" err="1"/>
              <a:t>modelo</a:t>
            </a:r>
            <a:r>
              <a:rPr lang="en-US" dirty="0"/>
              <a:t> é </a:t>
            </a:r>
            <a:r>
              <a:rPr lang="en-US" dirty="0" err="1"/>
              <a:t>não</a:t>
            </a:r>
            <a:r>
              <a:rPr lang="en-US" dirty="0"/>
              <a:t> linear </a:t>
            </a:r>
            <a:r>
              <a:rPr lang="en-US" dirty="0" err="1"/>
              <a:t>nos</a:t>
            </a:r>
            <a:r>
              <a:rPr lang="en-US" dirty="0"/>
              <a:t> pesos.</a:t>
            </a:r>
            <a:endParaRPr lang="pt-BR" sz="1200" kern="1200" dirty="0">
              <a:solidFill>
                <a:schemeClr val="tx1"/>
              </a:solidFill>
              <a:effectLst/>
              <a:latin typeface="+mn-lt"/>
              <a:ea typeface="+mn-ea"/>
              <a:cs typeface="+mn-cs"/>
            </a:endParaRPr>
          </a:p>
          <a:p>
            <a:endParaRPr lang="pt-BR" sz="1200" kern="1200" dirty="0">
              <a:solidFill>
                <a:schemeClr val="tx1"/>
              </a:solidFill>
              <a:effectLst/>
              <a:latin typeface="+mn-lt"/>
              <a:ea typeface="+mn-ea"/>
              <a:cs typeface="+mn-cs"/>
            </a:endParaRPr>
          </a:p>
          <a:p>
            <a:r>
              <a:rPr lang="pt-BR" sz="1200" kern="1200" dirty="0">
                <a:solidFill>
                  <a:schemeClr val="tx1"/>
                </a:solidFill>
                <a:effectLst/>
                <a:latin typeface="+mn-lt"/>
                <a:ea typeface="+mn-ea"/>
                <a:cs typeface="+mn-cs"/>
              </a:rPr>
              <a:t>No entanto, em estatística e aprendizado de máquina, quando dizemos que um modelo é </a:t>
            </a:r>
            <a:r>
              <a:rPr lang="pt-BR" sz="1200" b="1" kern="1200" dirty="0">
                <a:solidFill>
                  <a:schemeClr val="tx1"/>
                </a:solidFill>
                <a:effectLst/>
                <a:latin typeface="+mn-lt"/>
                <a:ea typeface="+mn-ea"/>
                <a:cs typeface="+mn-cs"/>
              </a:rPr>
              <a:t>linear</a:t>
            </a:r>
            <a:r>
              <a:rPr lang="pt-BR" sz="1200" kern="1200" dirty="0">
                <a:solidFill>
                  <a:schemeClr val="tx1"/>
                </a:solidFill>
                <a:effectLst/>
                <a:latin typeface="+mn-lt"/>
                <a:ea typeface="+mn-ea"/>
                <a:cs typeface="+mn-cs"/>
              </a:rPr>
              <a:t>, não estamos nos referindo à relação entre as variáveis de entrada ($x$) e a saída ($y$), mas sim à </a:t>
            </a:r>
            <a:r>
              <a:rPr lang="pt-BR" sz="1200" b="1" kern="1200" dirty="0">
                <a:solidFill>
                  <a:schemeClr val="tx1"/>
                </a:solidFill>
                <a:effectLst/>
                <a:latin typeface="+mn-lt"/>
                <a:ea typeface="+mn-ea"/>
                <a:cs typeface="+mn-cs"/>
              </a:rPr>
              <a:t>relação entre os parâmetros (os coeficientes $</a:t>
            </a:r>
            <a:r>
              <a:rPr lang="pt-BR" sz="1200" b="1" kern="1200" dirty="0" err="1">
                <a:solidFill>
                  <a:schemeClr val="tx1"/>
                </a:solidFill>
                <a:effectLst/>
                <a:latin typeface="+mn-lt"/>
                <a:ea typeface="+mn-ea"/>
                <a:cs typeface="+mn-cs"/>
              </a:rPr>
              <a:t>a_n</a:t>
            </a:r>
            <a:r>
              <a:rPr lang="pt-BR" sz="1200" b="1" kern="1200" dirty="0">
                <a:solidFill>
                  <a:schemeClr val="tx1"/>
                </a:solidFill>
                <a:effectLst/>
                <a:latin typeface="+mn-lt"/>
                <a:ea typeface="+mn-ea"/>
                <a:cs typeface="+mn-cs"/>
              </a:rPr>
              <a:t>$) e a saída</a:t>
            </a:r>
            <a:r>
              <a:rPr lang="pt-BR" sz="1200" kern="1200" dirty="0">
                <a:solidFill>
                  <a:schemeClr val="tx1"/>
                </a:solidFill>
                <a:effectLst/>
                <a:latin typeface="+mn-lt"/>
                <a:ea typeface="+mn-ea"/>
                <a:cs typeface="+mn-cs"/>
              </a:rPr>
              <a:t>.</a:t>
            </a:r>
          </a:p>
          <a:p>
            <a:r>
              <a:rPr lang="pt-BR" sz="1200" kern="1200" dirty="0">
                <a:solidFill>
                  <a:schemeClr val="tx1"/>
                </a:solidFill>
                <a:effectLst/>
                <a:latin typeface="+mn-lt"/>
                <a:ea typeface="+mn-ea"/>
                <a:cs typeface="+mn-cs"/>
              </a:rPr>
              <a:t>Aqui está o porquê de serem consideradas lineares:</a:t>
            </a:r>
          </a:p>
          <a:p>
            <a:br>
              <a:rPr lang="pt-BR" dirty="0"/>
            </a:br>
            <a:endParaRPr lang="pt-BR" dirty="0"/>
          </a:p>
          <a:p>
            <a:r>
              <a:rPr lang="pt-BR" sz="1200" b="1" kern="1200" dirty="0">
                <a:solidFill>
                  <a:schemeClr val="tx1"/>
                </a:solidFill>
                <a:effectLst/>
                <a:latin typeface="+mn-lt"/>
                <a:ea typeface="+mn-ea"/>
                <a:cs typeface="+mn-cs"/>
              </a:rPr>
              <a:t>1. Linearidade nos Parâmetros</a:t>
            </a:r>
          </a:p>
          <a:p>
            <a:r>
              <a:rPr lang="pt-BR" sz="1200" kern="1200" dirty="0">
                <a:solidFill>
                  <a:schemeClr val="tx1"/>
                </a:solidFill>
                <a:effectLst/>
                <a:latin typeface="+mn-lt"/>
                <a:ea typeface="+mn-ea"/>
                <a:cs typeface="+mn-cs"/>
              </a:rPr>
              <a:t>Para um modelo ser considerado linear, a equação deve ser uma </a:t>
            </a:r>
            <a:r>
              <a:rPr lang="pt-BR" sz="1200" b="1" kern="1200" dirty="0">
                <a:solidFill>
                  <a:schemeClr val="tx1"/>
                </a:solidFill>
                <a:effectLst/>
                <a:latin typeface="+mn-lt"/>
                <a:ea typeface="+mn-ea"/>
                <a:cs typeface="+mn-cs"/>
              </a:rPr>
              <a:t>combinação linear dos parâmetros</a:t>
            </a:r>
            <a:r>
              <a:rPr lang="pt-BR" sz="1200" kern="1200" dirty="0">
                <a:solidFill>
                  <a:schemeClr val="tx1"/>
                </a:solidFill>
                <a:effectLst/>
                <a:latin typeface="+mn-lt"/>
                <a:ea typeface="+mn-ea"/>
                <a:cs typeface="+mn-cs"/>
              </a:rPr>
              <a:t> ($a_0, a_1, a_2, \</a:t>
            </a:r>
            <a:r>
              <a:rPr lang="pt-BR" sz="1200" kern="1200" dirty="0" err="1">
                <a:solidFill>
                  <a:schemeClr val="tx1"/>
                </a:solidFill>
                <a:effectLst/>
                <a:latin typeface="+mn-lt"/>
                <a:ea typeface="+mn-ea"/>
                <a:cs typeface="+mn-cs"/>
              </a:rPr>
              <a:t>dots</a:t>
            </a:r>
            <a:r>
              <a:rPr lang="pt-BR" sz="1200" kern="1200" dirty="0">
                <a:solidFill>
                  <a:schemeClr val="tx1"/>
                </a:solidFill>
                <a:effectLst/>
                <a:latin typeface="+mn-lt"/>
                <a:ea typeface="+mn-ea"/>
                <a:cs typeface="+mn-cs"/>
              </a:rPr>
              <a:t>$). Isso significa que:</a:t>
            </a:r>
          </a:p>
          <a:p>
            <a:r>
              <a:rPr lang="pt-BR" sz="1200" kern="1200" dirty="0">
                <a:solidFill>
                  <a:schemeClr val="tx1"/>
                </a:solidFill>
                <a:effectLst/>
                <a:latin typeface="+mn-lt"/>
                <a:ea typeface="+mn-ea"/>
                <a:cs typeface="+mn-cs"/>
              </a:rPr>
              <a:t>Cada parâmetro aparece apenas multiplicado por uma função de $x$.</a:t>
            </a:r>
          </a:p>
          <a:p>
            <a:r>
              <a:rPr lang="pt-BR" sz="1200" kern="1200" dirty="0">
                <a:solidFill>
                  <a:schemeClr val="tx1"/>
                </a:solidFill>
                <a:effectLst/>
                <a:latin typeface="+mn-lt"/>
                <a:ea typeface="+mn-ea"/>
                <a:cs typeface="+mn-cs"/>
              </a:rPr>
              <a:t>Nenhum parâmetro está elevado ao quadrado, dentro de uma raiz, ou servindo de expoente.</a:t>
            </a:r>
          </a:p>
          <a:p>
            <a:r>
              <a:rPr lang="pt-BR" sz="1200" kern="1200" dirty="0">
                <a:solidFill>
                  <a:schemeClr val="tx1"/>
                </a:solidFill>
                <a:effectLst/>
                <a:latin typeface="+mn-lt"/>
                <a:ea typeface="+mn-ea"/>
                <a:cs typeface="+mn-cs"/>
              </a:rPr>
              <a:t>Os parâmetros estão apenas somados ou subtraídos entre si.</a:t>
            </a:r>
          </a:p>
          <a:p>
            <a:r>
              <a:rPr lang="pt-BR" sz="1200" kern="1200" dirty="0">
                <a:solidFill>
                  <a:schemeClr val="tx1"/>
                </a:solidFill>
                <a:effectLst/>
                <a:latin typeface="+mn-lt"/>
                <a:ea typeface="+mn-ea"/>
                <a:cs typeface="+mn-cs"/>
              </a:rPr>
              <a:t>Observe as equações da imagem:</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a_1(\log x_1) + a_2(\cos x_2)$</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a_1(e^{x_1})$</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a_1(x_1) + a_2(x_1^2) + a_3(x_1^3)$</a:t>
            </a:r>
          </a:p>
          <a:p>
            <a:r>
              <a:rPr lang="pt-BR" sz="1200" kern="1200" dirty="0">
                <a:solidFill>
                  <a:schemeClr val="tx1"/>
                </a:solidFill>
                <a:effectLst/>
                <a:latin typeface="+mn-lt"/>
                <a:ea typeface="+mn-ea"/>
                <a:cs typeface="+mn-cs"/>
              </a:rPr>
              <a:t>Em todos esses casos, se tratarmos os termos complexos (como $\cos x_2$ ou $e^{x_1}$) como meras "características" ou variáveis transformadas ($z_1, z_2$), a estrutura é idêntica à de uma reta:</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 z_1 + a_2 z_2$$</a:t>
            </a:r>
          </a:p>
          <a:p>
            <a:r>
              <a:rPr lang="pt-BR" sz="1200" b="1" kern="1200" dirty="0">
                <a:solidFill>
                  <a:schemeClr val="tx1"/>
                </a:solidFill>
                <a:effectLst/>
                <a:latin typeface="+mn-lt"/>
                <a:ea typeface="+mn-ea"/>
                <a:cs typeface="+mn-cs"/>
              </a:rPr>
              <a:t>2. O truque da Transformação de Variáveis</a:t>
            </a:r>
          </a:p>
          <a:p>
            <a:r>
              <a:rPr lang="pt-BR" sz="1200" kern="1200" dirty="0">
                <a:solidFill>
                  <a:schemeClr val="tx1"/>
                </a:solidFill>
                <a:effectLst/>
                <a:latin typeface="+mn-lt"/>
                <a:ea typeface="+mn-ea"/>
                <a:cs typeface="+mn-cs"/>
              </a:rPr>
              <a:t>Imagine que você define que $z_1 = \log x_1$ e $z_2 = \cos x_2$. A primeira equação se torna:</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 z_1 + a_2 z_2$$</a:t>
            </a:r>
          </a:p>
          <a:p>
            <a:r>
              <a:rPr lang="pt-BR" sz="1200" kern="1200" dirty="0">
                <a:solidFill>
                  <a:schemeClr val="tx1"/>
                </a:solidFill>
                <a:effectLst/>
                <a:latin typeface="+mn-lt"/>
                <a:ea typeface="+mn-ea"/>
                <a:cs typeface="+mn-cs"/>
              </a:rPr>
              <a:t>Matematicamente, para o algoritmo que resolve a regressão, não importa se o valor numérico de $z_1$ veio de um logaritmo ou de uma leitura direta; o que importa é que </a:t>
            </a:r>
            <a:r>
              <a:rPr lang="pt-BR" sz="1200" b="1" kern="1200" dirty="0">
                <a:solidFill>
                  <a:schemeClr val="tx1"/>
                </a:solidFill>
                <a:effectLst/>
                <a:latin typeface="+mn-lt"/>
                <a:ea typeface="+mn-ea"/>
                <a:cs typeface="+mn-cs"/>
              </a:rPr>
              <a:t>o erro do modelo varia linearmente em relação aos coeficientes $</a:t>
            </a:r>
            <a:r>
              <a:rPr lang="pt-BR" sz="1200" b="1" kern="1200" dirty="0" err="1">
                <a:solidFill>
                  <a:schemeClr val="tx1"/>
                </a:solidFill>
                <a:effectLst/>
                <a:latin typeface="+mn-lt"/>
                <a:ea typeface="+mn-ea"/>
                <a:cs typeface="+mn-cs"/>
              </a:rPr>
              <a:t>a_n</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a:t>
            </a:r>
          </a:p>
          <a:p>
            <a:br>
              <a:rPr lang="pt-BR" dirty="0"/>
            </a:br>
            <a:endParaRPr lang="pt-BR" dirty="0"/>
          </a:p>
          <a:p>
            <a:r>
              <a:rPr lang="pt-BR" sz="1200" b="1" kern="1200" dirty="0">
                <a:solidFill>
                  <a:schemeClr val="tx1"/>
                </a:solidFill>
                <a:effectLst/>
                <a:latin typeface="+mn-lt"/>
                <a:ea typeface="+mn-ea"/>
                <a:cs typeface="+mn-cs"/>
              </a:rPr>
              <a:t>Exemplo do que NÃO seria linear:</a:t>
            </a:r>
          </a:p>
          <a:p>
            <a:r>
              <a:rPr lang="pt-BR" sz="1200" kern="1200" dirty="0">
                <a:solidFill>
                  <a:schemeClr val="tx1"/>
                </a:solidFill>
                <a:effectLst/>
                <a:latin typeface="+mn-lt"/>
                <a:ea typeface="+mn-ea"/>
                <a:cs typeface="+mn-cs"/>
              </a:rPr>
              <a:t>Se o parâmetro estivesse "preso" dentro de uma função não-linear, o modelo seria </a:t>
            </a:r>
            <a:r>
              <a:rPr lang="pt-BR" sz="1200" b="1" kern="1200" dirty="0">
                <a:solidFill>
                  <a:schemeClr val="tx1"/>
                </a:solidFill>
                <a:effectLst/>
                <a:latin typeface="+mn-lt"/>
                <a:ea typeface="+mn-ea"/>
                <a:cs typeface="+mn-cs"/>
              </a:rPr>
              <a:t>não-linear</a:t>
            </a:r>
            <a:r>
              <a:rPr lang="pt-BR" sz="1200" kern="1200" dirty="0">
                <a:solidFill>
                  <a:schemeClr val="tx1"/>
                </a:solidFill>
                <a:effectLst/>
                <a:latin typeface="+mn-lt"/>
                <a:ea typeface="+mn-ea"/>
                <a:cs typeface="+mn-cs"/>
              </a:rPr>
              <a:t>. Por exemplo:</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\cos(a_1 \</a:t>
            </a:r>
            <a:r>
              <a:rPr lang="pt-BR" sz="1200" kern="1200" dirty="0" err="1">
                <a:solidFill>
                  <a:schemeClr val="tx1"/>
                </a:solidFill>
                <a:effectLst/>
                <a:latin typeface="+mn-lt"/>
                <a:ea typeface="+mn-ea"/>
                <a:cs typeface="+mn-cs"/>
              </a:rPr>
              <a:t>cdot</a:t>
            </a:r>
            <a:r>
              <a:rPr lang="pt-BR" sz="1200" kern="1200" dirty="0">
                <a:solidFill>
                  <a:schemeClr val="tx1"/>
                </a:solidFill>
                <a:effectLst/>
                <a:latin typeface="+mn-lt"/>
                <a:ea typeface="+mn-ea"/>
                <a:cs typeface="+mn-cs"/>
              </a:rPr>
              <a:t> x_1)$ </a:t>
            </a:r>
            <a:r>
              <a:rPr lang="pt-BR" sz="1200" i="1" kern="1200" dirty="0">
                <a:solidFill>
                  <a:schemeClr val="tx1"/>
                </a:solidFill>
                <a:effectLst/>
                <a:latin typeface="+mn-lt"/>
                <a:ea typeface="+mn-ea"/>
                <a:cs typeface="+mn-cs"/>
              </a:rPr>
              <a:t>(Não linear, pois $a_1$ está dentro do cosseno)</a:t>
            </a:r>
            <a:endParaRPr lang="pt-BR" sz="1200" kern="1200" dirty="0">
              <a:solidFill>
                <a:schemeClr val="tx1"/>
              </a:solidFill>
              <a:effectLst/>
              <a:latin typeface="+mn-lt"/>
              <a:ea typeface="+mn-ea"/>
              <a:cs typeface="+mn-cs"/>
            </a:endParaRP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{a_0}{1 + e^{-a_1 x_1}}$ </a:t>
            </a:r>
            <a:r>
              <a:rPr lang="pt-BR" sz="1200" i="1" kern="1200" dirty="0">
                <a:solidFill>
                  <a:schemeClr val="tx1"/>
                </a:solidFill>
                <a:effectLst/>
                <a:latin typeface="+mn-lt"/>
                <a:ea typeface="+mn-ea"/>
                <a:cs typeface="+mn-cs"/>
              </a:rPr>
              <a:t>(Não linear, os parâmetros estão no denominador e expoente)</a:t>
            </a:r>
            <a:endParaRPr lang="pt-BR" sz="1200" kern="1200" dirty="0">
              <a:solidFill>
                <a:schemeClr val="tx1"/>
              </a:solidFill>
              <a:effectLst/>
              <a:latin typeface="+mn-lt"/>
              <a:ea typeface="+mn-ea"/>
              <a:cs typeface="+mn-cs"/>
            </a:endParaRPr>
          </a:p>
          <a:p>
            <a:r>
              <a:rPr lang="pt-BR" sz="1200" b="1" kern="1200" dirty="0">
                <a:solidFill>
                  <a:schemeClr val="tx1"/>
                </a:solidFill>
                <a:effectLst/>
                <a:latin typeface="+mn-lt"/>
                <a:ea typeface="+mn-ea"/>
                <a:cs typeface="+mn-cs"/>
              </a:rPr>
              <a:t>Resumindo:</a:t>
            </a:r>
            <a:r>
              <a:rPr lang="pt-BR" sz="1200" kern="1200" dirty="0">
                <a:solidFill>
                  <a:schemeClr val="tx1"/>
                </a:solidFill>
                <a:effectLst/>
                <a:latin typeface="+mn-lt"/>
                <a:ea typeface="+mn-ea"/>
                <a:cs typeface="+mn-cs"/>
              </a:rPr>
              <a:t> As equações da imagem são "Lineares nos Parâmetros", o que permite que sejam resolvidas usando as mesmas técnicas simples de uma regressão linear comum (como o Método dos Mínimos Quadrados).</a:t>
            </a:r>
          </a:p>
        </p:txBody>
      </p:sp>
      <p:sp>
        <p:nvSpPr>
          <p:cNvPr id="4" name="Slide Number Placeholder 3"/>
          <p:cNvSpPr>
            <a:spLocks noGrp="1"/>
          </p:cNvSpPr>
          <p:nvPr>
            <p:ph type="sldNum" sz="quarter" idx="5"/>
          </p:nvPr>
        </p:nvSpPr>
        <p:spPr/>
        <p:txBody>
          <a:bodyPr/>
          <a:lstStyle/>
          <a:p>
            <a:fld id="{DA8B99DF-01BC-492A-8CEF-4FD88D18DD9D}" type="slidenum">
              <a:rPr lang="nl-BE" smtClean="0"/>
              <a:t>14</a:t>
            </a:fld>
            <a:endParaRPr lang="nl-BE"/>
          </a:p>
        </p:txBody>
      </p:sp>
    </p:spTree>
    <p:extLst>
      <p:ext uri="{BB962C8B-B14F-4D97-AF65-F5344CB8AC3E}">
        <p14:creationId xmlns:p14="http://schemas.microsoft.com/office/powerpoint/2010/main" val="20727432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À primeira vista, funções que envolvem </a:t>
            </a:r>
            <a:r>
              <a:rPr lang="pt-BR" sz="1200" kern="1200" dirty="0">
                <a:solidFill>
                  <a:schemeClr val="tx1"/>
                </a:solidFill>
                <a:effectLst/>
                <a:latin typeface="+mn-lt"/>
                <a:ea typeface="+mn-ea"/>
                <a:cs typeface="+mn-cs"/>
              </a:rPr>
              <a:t>$log$</a:t>
            </a:r>
            <a:r>
              <a:rPr lang="pt-BR" dirty="0"/>
              <a:t>, </a:t>
            </a:r>
            <a:r>
              <a:rPr lang="pt-BR" sz="1200" kern="1200" dirty="0">
                <a:solidFill>
                  <a:schemeClr val="tx1"/>
                </a:solidFill>
                <a:effectLst/>
                <a:latin typeface="+mn-lt"/>
                <a:ea typeface="+mn-ea"/>
                <a:cs typeface="+mn-cs"/>
              </a:rPr>
              <a:t>$cos$</a:t>
            </a:r>
            <a:r>
              <a:rPr lang="pt-BR" dirty="0"/>
              <a:t> ou </a:t>
            </a:r>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e^x</a:t>
            </a:r>
            <a:r>
              <a:rPr lang="pt-BR" sz="1200" kern="1200" dirty="0">
                <a:solidFill>
                  <a:schemeClr val="tx1"/>
                </a:solidFill>
                <a:effectLst/>
                <a:latin typeface="+mn-lt"/>
                <a:ea typeface="+mn-ea"/>
                <a:cs typeface="+mn-cs"/>
              </a:rPr>
              <a:t>$</a:t>
            </a:r>
            <a:r>
              <a:rPr lang="pt-BR" dirty="0"/>
              <a:t> parecem tudo, menos "lineares", certo?</a:t>
            </a:r>
            <a:endParaRPr lang="pt-BR" sz="1200" kern="1200" dirty="0">
              <a:solidFill>
                <a:schemeClr val="tx1"/>
              </a:solidFill>
              <a:effectLst/>
              <a:latin typeface="+mn-lt"/>
              <a:ea typeface="+mn-ea"/>
              <a:cs typeface="+mn-cs"/>
            </a:endParaRPr>
          </a:p>
          <a:p>
            <a:endParaRPr lang="pt-BR" sz="1200" kern="1200" dirty="0">
              <a:solidFill>
                <a:schemeClr val="tx1"/>
              </a:solidFill>
              <a:effectLst/>
              <a:latin typeface="+mn-lt"/>
              <a:ea typeface="+mn-ea"/>
              <a:cs typeface="+mn-cs"/>
            </a:endParaRPr>
          </a:p>
          <a:p>
            <a:r>
              <a:rPr lang="pt-BR" sz="1200" kern="1200" dirty="0">
                <a:solidFill>
                  <a:schemeClr val="tx1"/>
                </a:solidFill>
                <a:effectLst/>
                <a:latin typeface="+mn-lt"/>
                <a:ea typeface="+mn-ea"/>
                <a:cs typeface="+mn-cs"/>
              </a:rPr>
              <a:t>No entanto, em estatística e aprendizado de máquina, quando dizemos que um modelo é </a:t>
            </a:r>
            <a:r>
              <a:rPr lang="pt-BR" sz="1200" b="1" kern="1200" dirty="0">
                <a:solidFill>
                  <a:schemeClr val="tx1"/>
                </a:solidFill>
                <a:effectLst/>
                <a:latin typeface="+mn-lt"/>
                <a:ea typeface="+mn-ea"/>
                <a:cs typeface="+mn-cs"/>
              </a:rPr>
              <a:t>linear</a:t>
            </a:r>
            <a:r>
              <a:rPr lang="pt-BR" sz="1200" kern="1200" dirty="0">
                <a:solidFill>
                  <a:schemeClr val="tx1"/>
                </a:solidFill>
                <a:effectLst/>
                <a:latin typeface="+mn-lt"/>
                <a:ea typeface="+mn-ea"/>
                <a:cs typeface="+mn-cs"/>
              </a:rPr>
              <a:t>, não estamos nos referindo à relação entre as variáveis de entrada ($x$) e a saída ($y$), mas sim à </a:t>
            </a:r>
            <a:r>
              <a:rPr lang="pt-BR" sz="1200" b="1" kern="1200" dirty="0">
                <a:solidFill>
                  <a:schemeClr val="tx1"/>
                </a:solidFill>
                <a:effectLst/>
                <a:latin typeface="+mn-lt"/>
                <a:ea typeface="+mn-ea"/>
                <a:cs typeface="+mn-cs"/>
              </a:rPr>
              <a:t>relação entre os parâmetros (os coeficientes $</a:t>
            </a:r>
            <a:r>
              <a:rPr lang="pt-BR" sz="1200" b="1" kern="1200" dirty="0" err="1">
                <a:solidFill>
                  <a:schemeClr val="tx1"/>
                </a:solidFill>
                <a:effectLst/>
                <a:latin typeface="+mn-lt"/>
                <a:ea typeface="+mn-ea"/>
                <a:cs typeface="+mn-cs"/>
              </a:rPr>
              <a:t>a_n</a:t>
            </a:r>
            <a:r>
              <a:rPr lang="pt-BR" sz="1200" b="1" kern="1200" dirty="0">
                <a:solidFill>
                  <a:schemeClr val="tx1"/>
                </a:solidFill>
                <a:effectLst/>
                <a:latin typeface="+mn-lt"/>
                <a:ea typeface="+mn-ea"/>
                <a:cs typeface="+mn-cs"/>
              </a:rPr>
              <a:t>$) e a saída</a:t>
            </a:r>
            <a:r>
              <a:rPr lang="pt-BR" sz="1200" kern="1200" dirty="0">
                <a:solidFill>
                  <a:schemeClr val="tx1"/>
                </a:solidFill>
                <a:effectLst/>
                <a:latin typeface="+mn-lt"/>
                <a:ea typeface="+mn-ea"/>
                <a:cs typeface="+mn-cs"/>
              </a:rPr>
              <a:t>.</a:t>
            </a:r>
          </a:p>
          <a:p>
            <a:r>
              <a:rPr lang="pt-BR" sz="1200" kern="1200" dirty="0">
                <a:solidFill>
                  <a:schemeClr val="tx1"/>
                </a:solidFill>
                <a:effectLst/>
                <a:latin typeface="+mn-lt"/>
                <a:ea typeface="+mn-ea"/>
                <a:cs typeface="+mn-cs"/>
              </a:rPr>
              <a:t>Aqui está o porquê de serem consideradas lineares:</a:t>
            </a:r>
          </a:p>
          <a:p>
            <a:br>
              <a:rPr lang="pt-BR" dirty="0"/>
            </a:br>
            <a:endParaRPr lang="pt-BR" dirty="0"/>
          </a:p>
          <a:p>
            <a:r>
              <a:rPr lang="pt-BR" sz="1200" b="1" kern="1200" dirty="0">
                <a:solidFill>
                  <a:schemeClr val="tx1"/>
                </a:solidFill>
                <a:effectLst/>
                <a:latin typeface="+mn-lt"/>
                <a:ea typeface="+mn-ea"/>
                <a:cs typeface="+mn-cs"/>
              </a:rPr>
              <a:t>1. Linearidade nos Parâmetros</a:t>
            </a:r>
          </a:p>
          <a:p>
            <a:r>
              <a:rPr lang="pt-BR" sz="1200" kern="1200" dirty="0">
                <a:solidFill>
                  <a:schemeClr val="tx1"/>
                </a:solidFill>
                <a:effectLst/>
                <a:latin typeface="+mn-lt"/>
                <a:ea typeface="+mn-ea"/>
                <a:cs typeface="+mn-cs"/>
              </a:rPr>
              <a:t>Para um modelo ser considerado linear, a equação deve ser uma </a:t>
            </a:r>
            <a:r>
              <a:rPr lang="pt-BR" sz="1200" b="1" kern="1200" dirty="0">
                <a:solidFill>
                  <a:schemeClr val="tx1"/>
                </a:solidFill>
                <a:effectLst/>
                <a:latin typeface="+mn-lt"/>
                <a:ea typeface="+mn-ea"/>
                <a:cs typeface="+mn-cs"/>
              </a:rPr>
              <a:t>combinação linear dos parâmetros</a:t>
            </a:r>
            <a:r>
              <a:rPr lang="pt-BR" sz="1200" kern="1200" dirty="0">
                <a:solidFill>
                  <a:schemeClr val="tx1"/>
                </a:solidFill>
                <a:effectLst/>
                <a:latin typeface="+mn-lt"/>
                <a:ea typeface="+mn-ea"/>
                <a:cs typeface="+mn-cs"/>
              </a:rPr>
              <a:t> ($a_0, a_1, a_2, \</a:t>
            </a:r>
            <a:r>
              <a:rPr lang="pt-BR" sz="1200" kern="1200" dirty="0" err="1">
                <a:solidFill>
                  <a:schemeClr val="tx1"/>
                </a:solidFill>
                <a:effectLst/>
                <a:latin typeface="+mn-lt"/>
                <a:ea typeface="+mn-ea"/>
                <a:cs typeface="+mn-cs"/>
              </a:rPr>
              <a:t>dots</a:t>
            </a:r>
            <a:r>
              <a:rPr lang="pt-BR" sz="1200" kern="1200" dirty="0">
                <a:solidFill>
                  <a:schemeClr val="tx1"/>
                </a:solidFill>
                <a:effectLst/>
                <a:latin typeface="+mn-lt"/>
                <a:ea typeface="+mn-ea"/>
                <a:cs typeface="+mn-cs"/>
              </a:rPr>
              <a:t>$). Isso significa que:</a:t>
            </a:r>
          </a:p>
          <a:p>
            <a:r>
              <a:rPr lang="pt-BR" sz="1200" kern="1200" dirty="0">
                <a:solidFill>
                  <a:schemeClr val="tx1"/>
                </a:solidFill>
                <a:effectLst/>
                <a:latin typeface="+mn-lt"/>
                <a:ea typeface="+mn-ea"/>
                <a:cs typeface="+mn-cs"/>
              </a:rPr>
              <a:t>Cada parâmetro aparece apenas multiplicado por uma função de $x$.</a:t>
            </a:r>
          </a:p>
          <a:p>
            <a:r>
              <a:rPr lang="pt-BR" sz="1200" kern="1200" dirty="0">
                <a:solidFill>
                  <a:schemeClr val="tx1"/>
                </a:solidFill>
                <a:effectLst/>
                <a:latin typeface="+mn-lt"/>
                <a:ea typeface="+mn-ea"/>
                <a:cs typeface="+mn-cs"/>
              </a:rPr>
              <a:t>Nenhum parâmetro está elevado ao quadrado, dentro de uma raiz, ou servindo de expoente.</a:t>
            </a:r>
          </a:p>
          <a:p>
            <a:r>
              <a:rPr lang="pt-BR" sz="1200" kern="1200" dirty="0">
                <a:solidFill>
                  <a:schemeClr val="tx1"/>
                </a:solidFill>
                <a:effectLst/>
                <a:latin typeface="+mn-lt"/>
                <a:ea typeface="+mn-ea"/>
                <a:cs typeface="+mn-cs"/>
              </a:rPr>
              <a:t>Os parâmetros estão apenas somados ou subtraídos entre si.</a:t>
            </a:r>
          </a:p>
          <a:p>
            <a:r>
              <a:rPr lang="pt-BR" sz="1200" kern="1200" dirty="0">
                <a:solidFill>
                  <a:schemeClr val="tx1"/>
                </a:solidFill>
                <a:effectLst/>
                <a:latin typeface="+mn-lt"/>
                <a:ea typeface="+mn-ea"/>
                <a:cs typeface="+mn-cs"/>
              </a:rPr>
              <a:t>Observe as equações da imagem:</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a_1(\log x_1) + a_2(\cos x_2)$</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a_1(e^{x_1})$</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a_1(x_1) + a_2(x_1^2) + a_3(x_1^3)$</a:t>
            </a:r>
          </a:p>
          <a:p>
            <a:r>
              <a:rPr lang="pt-BR" sz="1200" kern="1200" dirty="0">
                <a:solidFill>
                  <a:schemeClr val="tx1"/>
                </a:solidFill>
                <a:effectLst/>
                <a:latin typeface="+mn-lt"/>
                <a:ea typeface="+mn-ea"/>
                <a:cs typeface="+mn-cs"/>
              </a:rPr>
              <a:t>Em todos esses casos, se tratarmos os termos complexos (como $\cos x_2$ ou $e^{x_1}$) como meras "características" ou variáveis transformadas ($z_1, z_2$), a estrutura é idêntica à de uma reta:</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 z_1 + a_2 z_2$$</a:t>
            </a:r>
          </a:p>
          <a:p>
            <a:r>
              <a:rPr lang="pt-BR" sz="1200" b="1" kern="1200" dirty="0">
                <a:solidFill>
                  <a:schemeClr val="tx1"/>
                </a:solidFill>
                <a:effectLst/>
                <a:latin typeface="+mn-lt"/>
                <a:ea typeface="+mn-ea"/>
                <a:cs typeface="+mn-cs"/>
              </a:rPr>
              <a:t>2. O truque da Transformação de Variáveis</a:t>
            </a:r>
          </a:p>
          <a:p>
            <a:r>
              <a:rPr lang="pt-BR" sz="1200" kern="1200" dirty="0">
                <a:solidFill>
                  <a:schemeClr val="tx1"/>
                </a:solidFill>
                <a:effectLst/>
                <a:latin typeface="+mn-lt"/>
                <a:ea typeface="+mn-ea"/>
                <a:cs typeface="+mn-cs"/>
              </a:rPr>
              <a:t>Imagine que você define que $z_1 = \log x_1$ e $z_2 = \cos x_2$. A primeira equação se torna:</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 z_1 + a_2 z_2$$</a:t>
            </a:r>
          </a:p>
          <a:p>
            <a:r>
              <a:rPr lang="pt-BR" sz="1200" kern="1200" dirty="0">
                <a:solidFill>
                  <a:schemeClr val="tx1"/>
                </a:solidFill>
                <a:effectLst/>
                <a:latin typeface="+mn-lt"/>
                <a:ea typeface="+mn-ea"/>
                <a:cs typeface="+mn-cs"/>
              </a:rPr>
              <a:t>Matematicamente, para o algoritmo que resolve a regressão, não importa se o valor numérico de $z_1$ veio de um logaritmo ou de uma leitura direta; o que importa é que </a:t>
            </a:r>
            <a:r>
              <a:rPr lang="pt-BR" sz="1200" b="1" kern="1200" dirty="0">
                <a:solidFill>
                  <a:schemeClr val="tx1"/>
                </a:solidFill>
                <a:effectLst/>
                <a:latin typeface="+mn-lt"/>
                <a:ea typeface="+mn-ea"/>
                <a:cs typeface="+mn-cs"/>
              </a:rPr>
              <a:t>o erro do modelo varia linearmente em relação aos coeficientes $</a:t>
            </a:r>
            <a:r>
              <a:rPr lang="pt-BR" sz="1200" b="1" kern="1200" dirty="0" err="1">
                <a:solidFill>
                  <a:schemeClr val="tx1"/>
                </a:solidFill>
                <a:effectLst/>
                <a:latin typeface="+mn-lt"/>
                <a:ea typeface="+mn-ea"/>
                <a:cs typeface="+mn-cs"/>
              </a:rPr>
              <a:t>a_n</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a:t>
            </a:r>
          </a:p>
          <a:p>
            <a:br>
              <a:rPr lang="pt-BR" dirty="0"/>
            </a:br>
            <a:endParaRPr lang="pt-BR" dirty="0"/>
          </a:p>
          <a:p>
            <a:r>
              <a:rPr lang="pt-BR" sz="1200" b="1" kern="1200" dirty="0">
                <a:solidFill>
                  <a:schemeClr val="tx1"/>
                </a:solidFill>
                <a:effectLst/>
                <a:latin typeface="+mn-lt"/>
                <a:ea typeface="+mn-ea"/>
                <a:cs typeface="+mn-cs"/>
              </a:rPr>
              <a:t>Exemplo do que NÃO seria linear:</a:t>
            </a:r>
          </a:p>
          <a:p>
            <a:r>
              <a:rPr lang="pt-BR" sz="1200" kern="1200" dirty="0">
                <a:solidFill>
                  <a:schemeClr val="tx1"/>
                </a:solidFill>
                <a:effectLst/>
                <a:latin typeface="+mn-lt"/>
                <a:ea typeface="+mn-ea"/>
                <a:cs typeface="+mn-cs"/>
              </a:rPr>
              <a:t>Se o parâmetro estivesse "preso" dentro de uma função não-linear, o modelo seria </a:t>
            </a:r>
            <a:r>
              <a:rPr lang="pt-BR" sz="1200" b="1" kern="1200" dirty="0">
                <a:solidFill>
                  <a:schemeClr val="tx1"/>
                </a:solidFill>
                <a:effectLst/>
                <a:latin typeface="+mn-lt"/>
                <a:ea typeface="+mn-ea"/>
                <a:cs typeface="+mn-cs"/>
              </a:rPr>
              <a:t>não-linear</a:t>
            </a:r>
            <a:r>
              <a:rPr lang="pt-BR" sz="1200" kern="1200" dirty="0">
                <a:solidFill>
                  <a:schemeClr val="tx1"/>
                </a:solidFill>
                <a:effectLst/>
                <a:latin typeface="+mn-lt"/>
                <a:ea typeface="+mn-ea"/>
                <a:cs typeface="+mn-cs"/>
              </a:rPr>
              <a:t>. Por exemplo:</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\cos(a_1 \</a:t>
            </a:r>
            <a:r>
              <a:rPr lang="pt-BR" sz="1200" kern="1200" dirty="0" err="1">
                <a:solidFill>
                  <a:schemeClr val="tx1"/>
                </a:solidFill>
                <a:effectLst/>
                <a:latin typeface="+mn-lt"/>
                <a:ea typeface="+mn-ea"/>
                <a:cs typeface="+mn-cs"/>
              </a:rPr>
              <a:t>cdot</a:t>
            </a:r>
            <a:r>
              <a:rPr lang="pt-BR" sz="1200" kern="1200" dirty="0">
                <a:solidFill>
                  <a:schemeClr val="tx1"/>
                </a:solidFill>
                <a:effectLst/>
                <a:latin typeface="+mn-lt"/>
                <a:ea typeface="+mn-ea"/>
                <a:cs typeface="+mn-cs"/>
              </a:rPr>
              <a:t> x_1)$ </a:t>
            </a:r>
            <a:r>
              <a:rPr lang="pt-BR" sz="1200" i="1" kern="1200" dirty="0">
                <a:solidFill>
                  <a:schemeClr val="tx1"/>
                </a:solidFill>
                <a:effectLst/>
                <a:latin typeface="+mn-lt"/>
                <a:ea typeface="+mn-ea"/>
                <a:cs typeface="+mn-cs"/>
              </a:rPr>
              <a:t>(Não linear, pois $a_1$ está dentro do cosseno)</a:t>
            </a:r>
            <a:endParaRPr lang="pt-BR" sz="1200" kern="1200" dirty="0">
              <a:solidFill>
                <a:schemeClr val="tx1"/>
              </a:solidFill>
              <a:effectLst/>
              <a:latin typeface="+mn-lt"/>
              <a:ea typeface="+mn-ea"/>
              <a:cs typeface="+mn-cs"/>
            </a:endParaRP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{a_0}{1 + e^{-a_1 x_1}}$ </a:t>
            </a:r>
            <a:r>
              <a:rPr lang="pt-BR" sz="1200" i="1" kern="1200" dirty="0">
                <a:solidFill>
                  <a:schemeClr val="tx1"/>
                </a:solidFill>
                <a:effectLst/>
                <a:latin typeface="+mn-lt"/>
                <a:ea typeface="+mn-ea"/>
                <a:cs typeface="+mn-cs"/>
              </a:rPr>
              <a:t>(Não linear, os parâmetros estão no denominador e expoente)</a:t>
            </a:r>
            <a:endParaRPr lang="pt-BR" sz="1200" kern="1200" dirty="0">
              <a:solidFill>
                <a:schemeClr val="tx1"/>
              </a:solidFill>
              <a:effectLst/>
              <a:latin typeface="+mn-lt"/>
              <a:ea typeface="+mn-ea"/>
              <a:cs typeface="+mn-cs"/>
            </a:endParaRPr>
          </a:p>
          <a:p>
            <a:r>
              <a:rPr lang="pt-BR" sz="1200" b="1" kern="1200" dirty="0">
                <a:solidFill>
                  <a:schemeClr val="tx1"/>
                </a:solidFill>
                <a:effectLst/>
                <a:latin typeface="+mn-lt"/>
                <a:ea typeface="+mn-ea"/>
                <a:cs typeface="+mn-cs"/>
              </a:rPr>
              <a:t>Resumindo:</a:t>
            </a:r>
            <a:r>
              <a:rPr lang="pt-BR" sz="1200" kern="1200" dirty="0">
                <a:solidFill>
                  <a:schemeClr val="tx1"/>
                </a:solidFill>
                <a:effectLst/>
                <a:latin typeface="+mn-lt"/>
                <a:ea typeface="+mn-ea"/>
                <a:cs typeface="+mn-cs"/>
              </a:rPr>
              <a:t> As equações da imagem são "Lineares nos Parâmetros", o que permite que sejam resolvidas usando as mesmas técnicas simples de uma regressão linear comum (como o Método dos Mínimos Quadrados).</a:t>
            </a:r>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978203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The hypothesis function is the proposed explanation of the relationship between the input variables (also called independent variables or features) and the output variable (also called the dependent variable or target variable).</a:t>
            </a:r>
            <a:endParaRPr lang="pt-BR" dirty="0"/>
          </a:p>
          <a:p>
            <a:endParaRPr lang="pt-BR" dirty="0"/>
          </a:p>
          <a:p>
            <a:endParaRPr lang="pt-BR" dirty="0"/>
          </a:p>
          <a:p>
            <a:r>
              <a:rPr lang="pt-BR" dirty="0"/>
              <a:t>Por que Regressão LINEAR?</a:t>
            </a:r>
          </a:p>
          <a:p>
            <a:r>
              <a:rPr lang="pt-BR" dirty="0"/>
              <a:t>A regressão linear é chamada linear porque você modela sua variável de saída (y) como uma </a:t>
            </a:r>
            <a:r>
              <a:rPr lang="pt-BR" b="1" dirty="0"/>
              <a:t>combinação linear </a:t>
            </a:r>
            <a:r>
              <a:rPr lang="pt-BR" dirty="0"/>
              <a:t>de entradas e pesos (vamos chamá-las de x e a, respectivamente).</a:t>
            </a:r>
          </a:p>
          <a:p>
            <a:r>
              <a:rPr lang="pt-BR" dirty="0"/>
              <a:t>Linear significa "linear com relação aos pesos“ e não aos atributos,</a:t>
            </a:r>
            <a:r>
              <a:rPr lang="pt-BR" baseline="0" dirty="0"/>
              <a:t> i.e., x. Portanto os seguintes modelos também são lineares com relação aos parâmetros.</a:t>
            </a:r>
          </a:p>
          <a:p>
            <a:pPr marL="228600" indent="-228600">
              <a:buAutoNum type="arabicParenR"/>
            </a:pPr>
            <a:r>
              <a:rPr lang="pt-BR" baseline="0" dirty="0"/>
              <a:t>y = a0 + a1*log(x1) + a2*cos(x2)</a:t>
            </a:r>
          </a:p>
          <a:p>
            <a:pPr marL="228600" indent="-228600">
              <a:buAutoNum type="arabicParenR"/>
            </a:pPr>
            <a:r>
              <a:rPr lang="pt-BR" baseline="0" dirty="0"/>
              <a:t>y = a0 + a1*e^x1</a:t>
            </a:r>
          </a:p>
          <a:p>
            <a:pPr marL="228600" indent="-228600">
              <a:buAutoNum type="arabicParenR"/>
            </a:pPr>
            <a:r>
              <a:rPr lang="pt-BR" baseline="0" dirty="0"/>
              <a:t>y = a0 + a1*x1^2</a:t>
            </a:r>
            <a:endParaRPr lang="pt-BR" dirty="0"/>
          </a:p>
          <a:p>
            <a:endParaRPr lang="pt-BR" dirty="0"/>
          </a:p>
          <a:p>
            <a:r>
              <a:rPr lang="pt-BR" dirty="0"/>
              <a:t>Regressão</a:t>
            </a:r>
            <a:r>
              <a:rPr lang="pt-BR" baseline="0" dirty="0"/>
              <a:t> também é conhecida como </a:t>
            </a:r>
            <a:r>
              <a:rPr lang="pt-BR" b="1" baseline="0" dirty="0"/>
              <a:t>aproximação de funções</a:t>
            </a:r>
            <a:r>
              <a:rPr lang="pt-BR" baseline="0" dirty="0"/>
              <a:t>.</a:t>
            </a:r>
          </a:p>
          <a:p>
            <a:endParaRPr lang="pt-BR" baseline="0" dirty="0"/>
          </a:p>
          <a:p>
            <a:r>
              <a:rPr lang="pt-BR" dirty="0"/>
              <a:t>Basicamente, regressão significa encontrar a melhor curva para seus dados numéricos,</a:t>
            </a:r>
            <a:r>
              <a:rPr lang="pt-BR" baseline="0" dirty="0"/>
              <a:t> ou seja, </a:t>
            </a:r>
            <a:r>
              <a:rPr lang="pt-BR" dirty="0"/>
              <a:t>uma aproximação funcional dos dados.</a:t>
            </a:r>
          </a:p>
          <a:p>
            <a:endParaRPr lang="pt-BR" dirty="0"/>
          </a:p>
          <a:p>
            <a:r>
              <a:rPr lang="pt-BR" dirty="0"/>
              <a:t>O </a:t>
            </a:r>
            <a:r>
              <a:rPr lang="pt-BR" b="1" i="1" dirty="0"/>
              <a:t>espaço de hipóteses</a:t>
            </a:r>
            <a:r>
              <a:rPr lang="pt-BR" dirty="0"/>
              <a:t> é o conjunto de todas a possíveis</a:t>
            </a:r>
            <a:r>
              <a:rPr lang="pt-BR" baseline="0" dirty="0"/>
              <a:t> </a:t>
            </a:r>
            <a:r>
              <a:rPr lang="pt-BR" b="1" i="1" baseline="0" dirty="0"/>
              <a:t>funções hipótese</a:t>
            </a:r>
            <a:r>
              <a:rPr lang="pt-BR" baseline="0" dirty="0"/>
              <a:t>: h(x) a_0 + a_1 x_1 + a_2 x_2 + ... + </a:t>
            </a:r>
            <a:r>
              <a:rPr lang="pt-BR" baseline="0" dirty="0" err="1"/>
              <a:t>a_k</a:t>
            </a:r>
            <a:r>
              <a:rPr lang="pt-BR" baseline="0" dirty="0"/>
              <a:t> </a:t>
            </a:r>
            <a:r>
              <a:rPr lang="pt-BR" baseline="0" dirty="0" err="1"/>
              <a:t>x_k</a:t>
            </a:r>
            <a:r>
              <a:rPr lang="pt-BR" baseline="0" dirty="0"/>
              <a:t>. Esse conjunto de todas possíveis funções forma um hiperplano.</a:t>
            </a:r>
            <a:endParaRPr lang="pt-BR" dirty="0"/>
          </a:p>
          <a:p>
            <a:r>
              <a:rPr lang="pt-BR" dirty="0"/>
              <a:t>A escolha do espaço de hipóteses é</a:t>
            </a:r>
            <a:r>
              <a:rPr lang="pt-BR" baseline="0" dirty="0"/>
              <a:t> importantíssima para a complexidade da tarefa de encontrar uma boa hipótese para a função desconhecida, </a:t>
            </a:r>
            <a:r>
              <a:rPr lang="pt-BR" b="1" i="1" baseline="0" dirty="0"/>
              <a:t>f</a:t>
            </a:r>
            <a:r>
              <a:rPr lang="pt-BR" baseline="0" dirty="0"/>
              <a:t>. </a:t>
            </a:r>
            <a:r>
              <a:rPr lang="nl-BE" baseline="0" dirty="0"/>
              <a:t>Um espaço de hipóteses muito grande faz com que se leve muito tempo para se encontrar </a:t>
            </a:r>
            <a:r>
              <a:rPr lang="nl-BE" b="1" i="1" baseline="0" dirty="0"/>
              <a:t>h</a:t>
            </a:r>
            <a:r>
              <a:rPr lang="nl-BE" baseline="0" dirty="0"/>
              <a:t>.</a:t>
            </a:r>
          </a:p>
          <a:p>
            <a:endParaRPr lang="nl-BE" baseline="0" dirty="0"/>
          </a:p>
          <a:p>
            <a:r>
              <a:rPr lang="pt-BR" dirty="0"/>
              <a:t>Em geometria, um hiperplano é um subespaço cuja dimensão é um a menos que a de seu espaço ambiente. Se um espaço é tridimensional, então seus hiperplanos são os planos bidimensionais, enquanto se o espaço é bidimensional, seus hiperplanos são as linhas unidimensionais.</a:t>
            </a:r>
            <a:endParaRPr lang="pt-BR" baseline="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6355507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155985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é o </a:t>
                </a:r>
                <a:r>
                  <a:rPr lang="pt-BR" b="1" dirty="0"/>
                  <a:t>coeficiente linear</a:t>
                </a:r>
                <a:r>
                  <a:rPr lang="pt-BR" dirty="0"/>
                  <a:t>, ou seja, </a:t>
                </a:r>
                <a:r>
                  <a:rPr lang="pt-BR" sz="1200" b="0" i="0" kern="1200" dirty="0">
                    <a:solidFill>
                      <a:schemeClr val="tx1"/>
                    </a:solidFill>
                    <a:effectLst/>
                    <a:latin typeface="+mn-lt"/>
                    <a:ea typeface="+mn-ea"/>
                    <a:cs typeface="+mn-cs"/>
                  </a:rPr>
                  <a:t>é o valor de </a:t>
                </a:r>
                <a14:m>
                  <m:oMath xmlns:m="http://schemas.openxmlformats.org/officeDocument/2006/math">
                    <m:r>
                      <a:rPr lang="pt-BR" i="1" smtClean="0">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sz="1200" b="0" i="0" kern="1200" dirty="0">
                    <a:solidFill>
                      <a:schemeClr val="tx1"/>
                    </a:solidFill>
                    <a:effectLst/>
                    <a:latin typeface="+mn-lt"/>
                    <a:ea typeface="+mn-ea"/>
                    <a:cs typeface="+mn-cs"/>
                  </a:rPr>
                  <a:t> para o ponto em que a reta intercepta o eixo y.</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r>
                  <a:rPr lang="pt-BR" dirty="0"/>
                  <a:t>Notem que o </a:t>
                </a:r>
                <a:r>
                  <a:rPr lang="pt-BR" b="1" i="1" dirty="0"/>
                  <a:t>vetor de atributos</a:t>
                </a:r>
                <a:r>
                  <a:rPr lang="pt-BR" dirty="0"/>
                  <a:t> tem sempre um elemento a mais do que o número real de atributos, </a:t>
                </a:r>
                <a14:m>
                  <m:oMath xmlns:m="http://schemas.openxmlformats.org/officeDocument/2006/math">
                    <m:r>
                      <a:rPr lang="pt-BR" i="1" smtClean="0">
                        <a:latin typeface="Cambria Math" panose="02040503050406030204" pitchFamily="18" charset="0"/>
                        <a:ea typeface="Cambria Math" panose="02040503050406030204" pitchFamily="18" charset="0"/>
                      </a:rPr>
                      <m:t>𝐾</m:t>
                    </m:r>
                  </m:oMath>
                </a14:m>
                <a:r>
                  <a:rPr lang="pt-BR" dirty="0"/>
                  <a:t>.</a:t>
                </a:r>
              </a:p>
              <a:p>
                <a:r>
                  <a:rPr lang="pt-BR" dirty="0"/>
                  <a:t>Esse elemento, o primeiro do vetor, tem valor constante igual a 1 para que possamos representar o </a:t>
                </a:r>
                <a:r>
                  <a:rPr lang="pt-BR" b="1" i="1" dirty="0"/>
                  <a:t>modelo</a:t>
                </a:r>
                <a:r>
                  <a:rPr lang="pt-BR" dirty="0"/>
                  <a:t> em </a:t>
                </a:r>
                <a:r>
                  <a:rPr lang="pt-BR" b="1" i="1" dirty="0">
                    <a:solidFill>
                      <a:srgbClr val="00B050"/>
                    </a:solidFill>
                  </a:rPr>
                  <a:t>formato vetorial</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mc:Choice>
        <mc:Fallback>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i="0">
                    <a:latin typeface="Cambria Math" panose="02040503050406030204" pitchFamily="18" charset="0"/>
                    <a:ea typeface="Cambria Math" panose="02040503050406030204" pitchFamily="18" charset="0"/>
                  </a:rPr>
                  <a:t>𝑎_0</a:t>
                </a:r>
                <a:r>
                  <a:rPr lang="pt-BR" dirty="0"/>
                  <a:t> é o </a:t>
                </a:r>
                <a:r>
                  <a:rPr lang="pt-BR" b="1" dirty="0"/>
                  <a:t>coeficiente linear</a:t>
                </a:r>
                <a:r>
                  <a:rPr lang="pt-BR" dirty="0"/>
                  <a:t>, ou seja, </a:t>
                </a:r>
                <a:r>
                  <a:rPr lang="pt-BR" sz="1200" b="0" i="0" kern="1200" dirty="0">
                    <a:solidFill>
                      <a:schemeClr val="tx1"/>
                    </a:solidFill>
                    <a:effectLst/>
                    <a:latin typeface="+mn-lt"/>
                    <a:ea typeface="+mn-ea"/>
                    <a:cs typeface="+mn-cs"/>
                  </a:rPr>
                  <a:t>é o valor de </a:t>
                </a:r>
                <a:r>
                  <a:rPr lang="pt-BR" i="0">
                    <a:latin typeface="Cambria Math" panose="02040503050406030204" pitchFamily="18" charset="0"/>
                    <a:ea typeface="Cambria Math" panose="02040503050406030204" pitchFamily="18" charset="0"/>
                  </a:rPr>
                  <a:t>ℎ</a:t>
                </a:r>
                <a:r>
                  <a:rPr lang="pt-BR" b="1" i="0">
                    <a:latin typeface="Cambria Math" panose="02040503050406030204" pitchFamily="18" charset="0"/>
                    <a:ea typeface="Cambria Math" panose="02040503050406030204" pitchFamily="18" charset="0"/>
                  </a:rPr>
                  <a:t>(𝒙)</a:t>
                </a:r>
                <a:r>
                  <a:rPr lang="pt-BR" sz="1200" b="0" i="0" kern="1200" dirty="0">
                    <a:solidFill>
                      <a:schemeClr val="tx1"/>
                    </a:solidFill>
                    <a:effectLst/>
                    <a:latin typeface="+mn-lt"/>
                    <a:ea typeface="+mn-ea"/>
                    <a:cs typeface="+mn-cs"/>
                  </a:rPr>
                  <a:t> para o ponto em que a reta intercepta o eixo y.</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r>
                  <a:rPr lang="pt-BR" dirty="0"/>
                  <a:t>Notem que o </a:t>
                </a:r>
                <a:r>
                  <a:rPr lang="pt-BR" b="1" i="1" dirty="0"/>
                  <a:t>vetor de atributos</a:t>
                </a:r>
                <a:r>
                  <a:rPr lang="pt-BR" dirty="0"/>
                  <a:t> tem sempre um elemento a mais do que o número real de atributos, </a:t>
                </a:r>
                <a:r>
                  <a:rPr lang="pt-BR" i="0">
                    <a:latin typeface="Cambria Math" panose="02040503050406030204" pitchFamily="18" charset="0"/>
                    <a:ea typeface="Cambria Math" panose="02040503050406030204" pitchFamily="18" charset="0"/>
                  </a:rPr>
                  <a:t>𝐾</a:t>
                </a:r>
                <a:r>
                  <a:rPr lang="pt-BR" dirty="0"/>
                  <a:t>.</a:t>
                </a:r>
              </a:p>
              <a:p>
                <a:r>
                  <a:rPr lang="pt-BR" dirty="0"/>
                  <a:t>Esse elemento, o primeiro do vetor, tem valor constante igual a 1 para que possamos representar o </a:t>
                </a:r>
                <a:r>
                  <a:rPr lang="pt-BR" b="1" i="1" dirty="0"/>
                  <a:t>modelo</a:t>
                </a:r>
                <a:r>
                  <a:rPr lang="pt-BR" dirty="0"/>
                  <a:t> em </a:t>
                </a:r>
                <a:r>
                  <a:rPr lang="pt-BR" b="1" i="1" dirty="0">
                    <a:solidFill>
                      <a:srgbClr val="00B050"/>
                    </a:solidFill>
                  </a:rPr>
                  <a:t>formato vetorial</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33521658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20</a:t>
            </a:fld>
            <a:endParaRPr lang="nl-BE"/>
          </a:p>
        </p:txBody>
      </p:sp>
    </p:spTree>
    <p:extLst>
      <p:ext uri="{BB962C8B-B14F-4D97-AF65-F5344CB8AC3E}">
        <p14:creationId xmlns:p14="http://schemas.microsoft.com/office/powerpoint/2010/main" val="25724845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268E1-4418-8636-BA2D-AD079E32B1F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37368A0-F735-E375-D0F2-CB349FA58DF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a:extLst>
                  <a:ext uri="{FF2B5EF4-FFF2-40B4-BE49-F238E27FC236}">
                    <a16:creationId xmlns:a16="http://schemas.microsoft.com/office/drawing/2014/main" id="{FA766AD1-FEE9-134B-DF2E-66D9BA0D6C64}"/>
                  </a:ext>
                </a:extLst>
              </p:cNvPr>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a:extLst>
              <a:ext uri="{FF2B5EF4-FFF2-40B4-BE49-F238E27FC236}">
                <a16:creationId xmlns:a16="http://schemas.microsoft.com/office/drawing/2014/main" id="{6B6DCA29-2902-6DEC-D433-63C4D6975F7B}"/>
              </a:ext>
            </a:extLst>
          </p:cNvPr>
          <p:cNvSpPr>
            <a:spLocks noGrp="1"/>
          </p:cNvSpPr>
          <p:nvPr>
            <p:ph type="sldNum" sz="quarter" idx="5"/>
          </p:nvPr>
        </p:nvSpPr>
        <p:spPr/>
        <p:txBody>
          <a:bodyPr/>
          <a:lstStyle/>
          <a:p>
            <a:fld id="{DA8B99DF-01BC-492A-8CEF-4FD88D18DD9D}" type="slidenum">
              <a:rPr lang="nl-BE" smtClean="0"/>
              <a:t>22</a:t>
            </a:fld>
            <a:endParaRPr lang="nl-BE"/>
          </a:p>
        </p:txBody>
      </p:sp>
    </p:spTree>
    <p:extLst>
      <p:ext uri="{BB962C8B-B14F-4D97-AF65-F5344CB8AC3E}">
        <p14:creationId xmlns:p14="http://schemas.microsoft.com/office/powerpoint/2010/main" val="1650639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22824863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24</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a:t>
            </a:r>
          </a:p>
          <a:p>
            <a:r>
              <a:rPr lang="pt-BR" dirty="0"/>
              <a:t>[1] https://math.mit.edu/~djk/18_022/chapter03/section03.html</a:t>
            </a:r>
          </a:p>
          <a:p>
            <a:r>
              <a:rPr lang="pt-BR" dirty="0"/>
              <a:t>[2] https://math.libretexts.org/Bookshelves/Calculus/Vector_Calculus_(Corral)/02%3A_Functions_of_Several_Variables/2.03%3A_Tangent_Plane_to_a_Surface</a:t>
            </a:r>
          </a:p>
          <a:p>
            <a:endParaRPr lang="pt-BR" dirty="0"/>
          </a:p>
          <a:p>
            <a:r>
              <a:rPr lang="pt-BR" dirty="0"/>
              <a:t>O mínimo é encontrado através do método</a:t>
            </a:r>
            <a:r>
              <a:rPr lang="pt-BR" baseline="0" dirty="0"/>
              <a:t> </a:t>
            </a:r>
            <a:r>
              <a:rPr lang="pt-BR" dirty="0"/>
              <a:t>dos </a:t>
            </a:r>
            <a:r>
              <a:rPr lang="pt-BR" b="1" dirty="0"/>
              <a:t>mínimos quadrados</a:t>
            </a:r>
            <a:r>
              <a:rPr lang="pt-BR" dirty="0"/>
              <a:t>.</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b="1" baseline="0" dirty="0"/>
              <a:t>Posto de uma matriz</a:t>
            </a:r>
            <a:r>
              <a:rPr lang="pt-BR" baseline="0" dirty="0"/>
              <a:t>: corresponde ao número de linhas ou colunas linearmente independentes da matriz.</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err="1"/>
              <a:t>sobredeterminados</a:t>
            </a:r>
            <a:r>
              <a:rPr lang="pt-BR" dirty="0"/>
              <a:t>,</a:t>
            </a:r>
            <a:r>
              <a:rPr lang="pt-BR" baseline="0" dirty="0"/>
              <a:t> ou seja, </a:t>
            </a:r>
            <a:r>
              <a:rPr lang="pt-BR" dirty="0"/>
              <a:t>conjuntos de equações nas quais há mais equações (pares x e y) que incógnitas (valores do</a:t>
            </a:r>
            <a:r>
              <a:rPr lang="pt-BR" baseline="0" dirty="0"/>
              <a:t> vetor 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26</a:t>
            </a:fld>
            <a:endParaRPr lang="nl-BE"/>
          </a:p>
        </p:txBody>
      </p:sp>
    </p:spTree>
    <p:extLst>
      <p:ext uri="{BB962C8B-B14F-4D97-AF65-F5344CB8AC3E}">
        <p14:creationId xmlns:p14="http://schemas.microsoft.com/office/powerpoint/2010/main" val="36864614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a:t>
            </a:r>
          </a:p>
          <a:p>
            <a:r>
              <a:rPr lang="pt-BR" dirty="0"/>
              <a:t>[1] https://math.mit.edu/~djk/18_022/chapter03/section03.html</a:t>
            </a:r>
          </a:p>
          <a:p>
            <a:r>
              <a:rPr lang="pt-BR" dirty="0"/>
              <a:t>[2] https://math.libretexts.org/Bookshelves/Calculus/Vector_Calculus_(Corral)/02%3A_Functions_of_Several_Variables/2.03%3A_Tangent_Plane_to_a_Surface</a:t>
            </a:r>
          </a:p>
          <a:p>
            <a:endParaRPr lang="pt-BR" dirty="0"/>
          </a:p>
          <a:p>
            <a:r>
              <a:rPr lang="pt-BR" dirty="0"/>
              <a:t>O mínimo é encontrado através do método</a:t>
            </a:r>
            <a:r>
              <a:rPr lang="pt-BR" baseline="0" dirty="0"/>
              <a:t> </a:t>
            </a:r>
            <a:r>
              <a:rPr lang="pt-BR" dirty="0"/>
              <a:t>dos </a:t>
            </a:r>
            <a:r>
              <a:rPr lang="pt-BR" b="1" dirty="0"/>
              <a:t>mínimos quadrados</a:t>
            </a:r>
            <a:r>
              <a:rPr lang="pt-BR" dirty="0"/>
              <a:t>.</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b="1" baseline="0" dirty="0"/>
              <a:t>Posto de uma matriz</a:t>
            </a:r>
            <a:r>
              <a:rPr lang="pt-BR" baseline="0" dirty="0"/>
              <a:t>: corresponde ao número de linhas ou colunas linearmente independentes da matriz.</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err="1"/>
              <a:t>sobredeterminados</a:t>
            </a:r>
            <a:r>
              <a:rPr lang="pt-BR" dirty="0"/>
              <a:t>,</a:t>
            </a:r>
            <a:r>
              <a:rPr lang="pt-BR" baseline="0" dirty="0"/>
              <a:t> ou seja, </a:t>
            </a:r>
            <a:r>
              <a:rPr lang="pt-BR" dirty="0"/>
              <a:t>conjuntos de equações nas quais há mais equações (pares x e y) que incógnitas (valores do</a:t>
            </a:r>
            <a:r>
              <a:rPr lang="pt-BR" baseline="0" dirty="0"/>
              <a:t> vetor 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27</a:t>
            </a:fld>
            <a:endParaRPr lang="nl-BE"/>
          </a:p>
        </p:txBody>
      </p:sp>
    </p:spTree>
    <p:extLst>
      <p:ext uri="{BB962C8B-B14F-4D97-AF65-F5344CB8AC3E}">
        <p14:creationId xmlns:p14="http://schemas.microsoft.com/office/powerpoint/2010/main" val="14977472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mínimo é encontrado através do método</a:t>
            </a:r>
            <a:r>
              <a:rPr lang="pt-BR" baseline="0" dirty="0"/>
              <a:t> </a:t>
            </a:r>
            <a:r>
              <a:rPr lang="pt-BR" dirty="0"/>
              <a:t>dos </a:t>
            </a:r>
            <a:r>
              <a:rPr lang="pt-BR" b="1" dirty="0"/>
              <a:t>mínimos quadrados</a:t>
            </a:r>
            <a:r>
              <a:rPr lang="pt-BR" dirty="0"/>
              <a:t>.</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b="1" baseline="0" dirty="0"/>
              <a:t>Posto de uma matriz</a:t>
            </a:r>
            <a:r>
              <a:rPr lang="pt-BR" baseline="0" dirty="0"/>
              <a:t>: corresponde ao número de linhas ou colunas linearmente independentes da matriz.</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err="1"/>
              <a:t>sobredeterminados</a:t>
            </a:r>
            <a:r>
              <a:rPr lang="pt-BR" dirty="0"/>
              <a:t>,</a:t>
            </a:r>
            <a:r>
              <a:rPr lang="pt-BR" baseline="0" dirty="0"/>
              <a:t> ou seja, </a:t>
            </a:r>
            <a:r>
              <a:rPr lang="pt-BR" dirty="0"/>
              <a:t>conjuntos de equações nas quais há mais equações (pares x e y) que incógnitas (valores do</a:t>
            </a:r>
            <a:r>
              <a:rPr lang="pt-BR" baseline="0" dirty="0"/>
              <a:t> vetor 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28</a:t>
            </a:fld>
            <a:endParaRPr lang="nl-BE"/>
          </a:p>
        </p:txBody>
      </p:sp>
    </p:spTree>
    <p:extLst>
      <p:ext uri="{BB962C8B-B14F-4D97-AF65-F5344CB8AC3E}">
        <p14:creationId xmlns:p14="http://schemas.microsoft.com/office/powerpoint/2010/main" val="9840059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mínimo é encontrado através do método</a:t>
            </a:r>
            <a:r>
              <a:rPr lang="pt-BR" baseline="0" dirty="0"/>
              <a:t> </a:t>
            </a:r>
            <a:r>
              <a:rPr lang="pt-BR" dirty="0"/>
              <a:t>dos </a:t>
            </a:r>
            <a:r>
              <a:rPr lang="pt-BR" b="1" dirty="0"/>
              <a:t>mínimos quadrados</a:t>
            </a:r>
            <a:r>
              <a:rPr lang="pt-BR" dirty="0"/>
              <a:t>.</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b="1" baseline="0" dirty="0"/>
              <a:t>Posto de uma matriz</a:t>
            </a:r>
            <a:r>
              <a:rPr lang="pt-BR" baseline="0" dirty="0"/>
              <a:t>: corresponde ao número de linhas ou colunas linearmente independentes da matriz.</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err="1"/>
              <a:t>sobredeterminados</a:t>
            </a:r>
            <a:r>
              <a:rPr lang="pt-BR" dirty="0"/>
              <a:t>,</a:t>
            </a:r>
            <a:r>
              <a:rPr lang="pt-BR" baseline="0" dirty="0"/>
              <a:t> ou seja, </a:t>
            </a:r>
            <a:r>
              <a:rPr lang="pt-BR" dirty="0"/>
              <a:t>conjuntos de equações nas quais há mais equações (pares x e y) que incógnitas (valores do</a:t>
            </a:r>
            <a:r>
              <a:rPr lang="pt-BR" baseline="0" dirty="0"/>
              <a:t> vetor 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30</a:t>
            </a:fld>
            <a:endParaRPr lang="nl-BE"/>
          </a:p>
        </p:txBody>
      </p:sp>
    </p:spTree>
    <p:extLst>
      <p:ext uri="{BB962C8B-B14F-4D97-AF65-F5344CB8AC3E}">
        <p14:creationId xmlns:p14="http://schemas.microsoft.com/office/powerpoint/2010/main" val="35039956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 https://colab.research.google.com/github/zz4fap/t319_aprendizado_de_maquina/blob/master/notebooks/regression/normal_equation_example1.ipynb</a:t>
            </a:r>
          </a:p>
          <a:p>
            <a:endParaRPr lang="pt-BR" dirty="0"/>
          </a:p>
          <a:p>
            <a:r>
              <a:rPr lang="pt-BR" dirty="0"/>
              <a:t>O mínimo é encontrado através do método</a:t>
            </a:r>
            <a:r>
              <a:rPr lang="pt-BR" baseline="0" dirty="0"/>
              <a:t> </a:t>
            </a:r>
            <a:r>
              <a:rPr lang="pt-BR" dirty="0"/>
              <a:t>dos mínimos quadrados.</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a:t>sobre)determinados,</a:t>
            </a:r>
            <a:r>
              <a:rPr lang="pt-BR" baseline="0" dirty="0"/>
              <a:t> ou seja, </a:t>
            </a:r>
            <a:r>
              <a:rPr lang="pt-BR" dirty="0"/>
              <a:t>conjuntos de equações nas quais existe</a:t>
            </a:r>
            <a:r>
              <a:rPr lang="pt-BR" baseline="0" dirty="0"/>
              <a:t> um número igual ou maior de </a:t>
            </a:r>
            <a:r>
              <a:rPr lang="pt-BR" dirty="0"/>
              <a:t>equações (pares x e y) que incógnitas (valores do</a:t>
            </a:r>
            <a:r>
              <a:rPr lang="pt-BR" baseline="0" dirty="0"/>
              <a:t> vetor a).</a:t>
            </a:r>
          </a:p>
          <a:p>
            <a:endParaRPr lang="pt-BR" baseline="0" dirty="0"/>
          </a:p>
          <a:p>
            <a:r>
              <a:rPr lang="pt-BR" baseline="0" dirty="0"/>
              <a:t>Sistemas subdeterminados (número de exemplos menor do que o número de parâmetros) não tem solução ou não tem solução única.  </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1916506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429F-485D-DFD1-4920-4A816D15747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8A88A8C-56E3-291A-9183-588516E277E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BCE0F28-0A85-97D9-1122-7B3D5DB94FE6}"/>
              </a:ext>
            </a:extLst>
          </p:cNvPr>
          <p:cNvSpPr>
            <a:spLocks noGrp="1"/>
          </p:cNvSpPr>
          <p:nvPr>
            <p:ph type="body" idx="1"/>
          </p:nvPr>
        </p:nvSpPr>
        <p:spPr/>
        <p:txBody>
          <a:bodyPr/>
          <a:lstStyle/>
          <a:p>
            <a:r>
              <a:rPr lang="pt-BR" b="1" dirty="0"/>
              <a:t>Exemplo</a:t>
            </a:r>
            <a:r>
              <a:rPr lang="pt-BR" dirty="0"/>
              <a:t>: https://colab.research.google.com/github/zz4fap/t319_aprendizado_de_maquina/blob/master/notebooks/regression/normal_equation_example1.ipynb</a:t>
            </a:r>
          </a:p>
          <a:p>
            <a:endParaRPr lang="pt-BR" dirty="0"/>
          </a:p>
          <a:p>
            <a:r>
              <a:rPr lang="pt-BR" dirty="0"/>
              <a:t>O mínimo é encontrado através do método</a:t>
            </a:r>
            <a:r>
              <a:rPr lang="pt-BR" baseline="0" dirty="0"/>
              <a:t> </a:t>
            </a:r>
            <a:r>
              <a:rPr lang="pt-BR" dirty="0"/>
              <a:t>dos mínimos quadrados.</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a:t>sobre)determinados,</a:t>
            </a:r>
            <a:r>
              <a:rPr lang="pt-BR" baseline="0" dirty="0"/>
              <a:t> ou seja, </a:t>
            </a:r>
            <a:r>
              <a:rPr lang="pt-BR" dirty="0"/>
              <a:t>conjuntos de equações nas quais existe</a:t>
            </a:r>
            <a:r>
              <a:rPr lang="pt-BR" baseline="0" dirty="0"/>
              <a:t> um número igual ou maior de </a:t>
            </a:r>
            <a:r>
              <a:rPr lang="pt-BR" dirty="0"/>
              <a:t>equações (pares x e y) que incógnitas (valores do</a:t>
            </a:r>
            <a:r>
              <a:rPr lang="pt-BR" baseline="0" dirty="0"/>
              <a:t> vetor a).</a:t>
            </a:r>
          </a:p>
          <a:p>
            <a:endParaRPr lang="pt-BR" baseline="0" dirty="0"/>
          </a:p>
          <a:p>
            <a:r>
              <a:rPr lang="pt-BR" baseline="0" dirty="0"/>
              <a:t>Sistemas subdeterminados (número de exemplos menor do que o número de parâmetros) não tem solução ou não tem solução única.  </a:t>
            </a:r>
          </a:p>
          <a:p>
            <a:endParaRPr lang="nl-BE" dirty="0"/>
          </a:p>
          <a:p>
            <a:endParaRPr lang="pt-BR" dirty="0"/>
          </a:p>
        </p:txBody>
      </p:sp>
      <p:sp>
        <p:nvSpPr>
          <p:cNvPr id="4" name="Espaço Reservado para Número de Slide 3">
            <a:extLst>
              <a:ext uri="{FF2B5EF4-FFF2-40B4-BE49-F238E27FC236}">
                <a16:creationId xmlns:a16="http://schemas.microsoft.com/office/drawing/2014/main" id="{EED22CA6-E36C-F4E3-954B-9AA1BAC8F79A}"/>
              </a:ext>
            </a:extLst>
          </p:cNvPr>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7350985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Cálculo do Determinante (para matrizes quadradas)</a:t>
            </a:r>
          </a:p>
          <a:p>
            <a:r>
              <a:rPr lang="pt-BR" dirty="0"/>
              <a:t>Se a matriz A for </a:t>
            </a:r>
            <a:r>
              <a:rPr lang="pt-BR" b="1" dirty="0"/>
              <a:t>quadrada</a:t>
            </a:r>
            <a:r>
              <a:rPr lang="pt-BR" dirty="0"/>
              <a:t> (</a:t>
            </a:r>
            <a:r>
              <a:rPr lang="pt-BR" dirty="0" err="1"/>
              <a:t>n×n</a:t>
            </a:r>
            <a:r>
              <a:rPr lang="pt-BR" dirty="0"/>
              <a:t>):</a:t>
            </a:r>
          </a:p>
          <a:p>
            <a:pPr>
              <a:buFont typeface="Arial" panose="020B0604020202020204" pitchFamily="34" charset="0"/>
              <a:buChar char="•"/>
            </a:pPr>
            <a:r>
              <a:rPr lang="pt-BR" b="1" dirty="0"/>
              <a:t>Se</a:t>
            </a:r>
            <a:r>
              <a:rPr lang="pt-BR" dirty="0"/>
              <a:t> </a:t>
            </a:r>
            <a:r>
              <a:rPr lang="pt-BR" dirty="0" err="1"/>
              <a:t>det</a:t>
            </a:r>
            <a:r>
              <a:rPr lang="pt-BR" dirty="0"/>
              <a:t>⁡(A) ≠ 0 ⟶ As colunas são </a:t>
            </a:r>
            <a:r>
              <a:rPr lang="pt-BR" b="1" dirty="0"/>
              <a:t>linearmente independentes</a:t>
            </a:r>
            <a:r>
              <a:rPr lang="pt-BR" dirty="0"/>
              <a:t>.</a:t>
            </a:r>
          </a:p>
          <a:p>
            <a:pPr>
              <a:buFont typeface="Arial" panose="020B0604020202020204" pitchFamily="34" charset="0"/>
              <a:buChar char="•"/>
            </a:pPr>
            <a:r>
              <a:rPr lang="pt-BR" b="1" dirty="0"/>
              <a:t>Se</a:t>
            </a:r>
            <a:r>
              <a:rPr lang="pt-BR" dirty="0"/>
              <a:t> </a:t>
            </a:r>
            <a:r>
              <a:rPr lang="pt-BR" dirty="0" err="1"/>
              <a:t>det</a:t>
            </a:r>
            <a:r>
              <a:rPr lang="pt-BR" dirty="0"/>
              <a:t>⁡(A) = 0 ⟶ As colunas são </a:t>
            </a:r>
            <a:r>
              <a:rPr lang="pt-BR" b="1" dirty="0"/>
              <a:t>linearmente dependentes</a:t>
            </a:r>
            <a:endParaRPr lang="pt-BR" dirty="0"/>
          </a:p>
          <a:p>
            <a:endParaRPr lang="en-US" dirty="0"/>
          </a:p>
        </p:txBody>
      </p:sp>
      <p:sp>
        <p:nvSpPr>
          <p:cNvPr id="4" name="Slide Number Placeholder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4963548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25698954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41825430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39557581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38</a:t>
            </a:fld>
            <a:endParaRPr lang="nl-BE"/>
          </a:p>
        </p:txBody>
      </p:sp>
    </p:spTree>
    <p:extLst>
      <p:ext uri="{BB962C8B-B14F-4D97-AF65-F5344CB8AC3E}">
        <p14:creationId xmlns:p14="http://schemas.microsoft.com/office/powerpoint/2010/main" val="39956671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39</a:t>
            </a:fld>
            <a:endParaRPr lang="nl-BE"/>
          </a:p>
        </p:txBody>
      </p:sp>
    </p:spTree>
    <p:extLst>
      <p:ext uri="{BB962C8B-B14F-4D97-AF65-F5344CB8AC3E}">
        <p14:creationId xmlns:p14="http://schemas.microsoft.com/office/powerpoint/2010/main" val="2794232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1B300-CAC7-8FB6-C725-26F91D166BF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1AD1A2B-2BB4-9C17-2DFD-F8C6E1230A8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a:extLst>
                  <a:ext uri="{FF2B5EF4-FFF2-40B4-BE49-F238E27FC236}">
                    <a16:creationId xmlns:a16="http://schemas.microsoft.com/office/drawing/2014/main" id="{E4ADAC1E-21FE-2445-C2B4-CE15BAF48DB9}"/>
                  </a:ext>
                </a:extLst>
              </p:cNvPr>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Fallback>
      </mc:AlternateContent>
      <p:sp>
        <p:nvSpPr>
          <p:cNvPr id="4" name="Espaço Reservado para Número de Slide 3">
            <a:extLst>
              <a:ext uri="{FF2B5EF4-FFF2-40B4-BE49-F238E27FC236}">
                <a16:creationId xmlns:a16="http://schemas.microsoft.com/office/drawing/2014/main" id="{6D7DA257-62F6-6074-B415-54469DF2D670}"/>
              </a:ext>
            </a:extLst>
          </p:cNvPr>
          <p:cNvSpPr>
            <a:spLocks noGrp="1"/>
          </p:cNvSpPr>
          <p:nvPr>
            <p:ph type="sldNum" sz="quarter" idx="5"/>
          </p:nvPr>
        </p:nvSpPr>
        <p:spPr/>
        <p:txBody>
          <a:bodyPr/>
          <a:lstStyle/>
          <a:p>
            <a:fld id="{DA8B99DF-01BC-492A-8CEF-4FD88D18DD9D}" type="slidenum">
              <a:rPr lang="nl-BE" smtClean="0"/>
              <a:t>40</a:t>
            </a:fld>
            <a:endParaRPr lang="nl-BE"/>
          </a:p>
        </p:txBody>
      </p:sp>
    </p:spTree>
    <p:extLst>
      <p:ext uri="{BB962C8B-B14F-4D97-AF65-F5344CB8AC3E}">
        <p14:creationId xmlns:p14="http://schemas.microsoft.com/office/powerpoint/2010/main" val="25318607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42</a:t>
            </a:fld>
            <a:endParaRPr lang="nl-BE"/>
          </a:p>
        </p:txBody>
      </p:sp>
    </p:spTree>
    <p:extLst>
      <p:ext uri="{BB962C8B-B14F-4D97-AF65-F5344CB8AC3E}">
        <p14:creationId xmlns:p14="http://schemas.microsoft.com/office/powerpoint/2010/main" val="38317634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43</a:t>
            </a:fld>
            <a:endParaRPr lang="nl-BE"/>
          </a:p>
        </p:txBody>
      </p:sp>
    </p:spTree>
    <p:extLst>
      <p:ext uri="{BB962C8B-B14F-4D97-AF65-F5344CB8AC3E}">
        <p14:creationId xmlns:p14="http://schemas.microsoft.com/office/powerpoint/2010/main" val="28184689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44</a:t>
            </a:fld>
            <a:endParaRPr lang="nl-BE"/>
          </a:p>
        </p:txBody>
      </p:sp>
    </p:spTree>
    <p:extLst>
      <p:ext uri="{BB962C8B-B14F-4D97-AF65-F5344CB8AC3E}">
        <p14:creationId xmlns:p14="http://schemas.microsoft.com/office/powerpoint/2010/main" val="18372971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45</a:t>
            </a:fld>
            <a:endParaRPr lang="nl-BE"/>
          </a:p>
        </p:txBody>
      </p:sp>
    </p:spTree>
    <p:extLst>
      <p:ext uri="{BB962C8B-B14F-4D97-AF65-F5344CB8AC3E}">
        <p14:creationId xmlns:p14="http://schemas.microsoft.com/office/powerpoint/2010/main" val="10863008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46</a:t>
            </a:fld>
            <a:endParaRPr lang="nl-BE"/>
          </a:p>
        </p:txBody>
      </p:sp>
    </p:spTree>
    <p:extLst>
      <p:ext uri="{BB962C8B-B14F-4D97-AF65-F5344CB8AC3E}">
        <p14:creationId xmlns:p14="http://schemas.microsoft.com/office/powerpoint/2010/main" val="12150308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A equação normal é uma abordagem para encontrar os parâmetros ótimos em modelos de regressão linear. No entanto, ela apresenta algumas desvantagens:</a:t>
                </a:r>
              </a:p>
              <a:p>
                <a:endParaRPr lang="pt-BR" dirty="0"/>
              </a:p>
              <a:p>
                <a:r>
                  <a:rPr lang="pt-BR" dirty="0"/>
                  <a:t>1. **Custo Computacional Elevado:** A equação normal envolve o cálculo da matriz inversa, o que pode ser computacionalmente intensivo e demorado, especialmente para conjuntos de dados grandes. O custo computacional aumenta de forma significativa à medida que o número de características (atributos) aumenta.</a:t>
                </a:r>
              </a:p>
              <a:p>
                <a:endParaRPr lang="pt-BR" dirty="0"/>
              </a:p>
              <a:p>
                <a:r>
                  <a:rPr lang="pt-BR" dirty="0"/>
                  <a:t>2. **Sensibilidade à Singularidade e </a:t>
                </a:r>
                <a:r>
                  <a:rPr lang="pt-BR" dirty="0" err="1"/>
                  <a:t>Multicolinearidade</a:t>
                </a:r>
                <a:r>
                  <a:rPr lang="pt-BR" dirty="0"/>
                  <a:t>:** Se a matriz de características não for de plena classificação (sua determinante é próxima de zero) ou se houver </a:t>
                </a:r>
                <a:r>
                  <a:rPr lang="pt-BR" dirty="0" err="1"/>
                  <a:t>multicolinearidade</a:t>
                </a:r>
                <a:r>
                  <a:rPr lang="pt-BR" dirty="0"/>
                  <a:t> entre as variáveis, a inversão da matriz se torna mais difícil, resultando em instabilidade numérica e soluções imprecisas.</a:t>
                </a:r>
              </a:p>
              <a:p>
                <a:endParaRPr lang="pt-BR" dirty="0"/>
              </a:p>
              <a:p>
                <a:r>
                  <a:rPr lang="pt-BR" dirty="0"/>
                  <a:t>3. **Inadequado para Dados em Fluxo Contínuo:** A equação normal requer todos os dados de treinamento para calcular os parâmetros do modelo de uma vez. Isso torna a abordagem inadequada para casos em que os dados chegam em fluxo contínuo, como em aprendizado online.</a:t>
                </a:r>
              </a:p>
              <a:p>
                <a:endParaRPr lang="pt-BR" dirty="0"/>
              </a:p>
              <a:p>
                <a:r>
                  <a:rPr lang="pt-BR" dirty="0"/>
                  <a:t>4. **Sem Regulação Direta:** A equação normal não inclui diretamente mecanismos de regularização para evitar </a:t>
                </a:r>
                <a:r>
                  <a:rPr lang="pt-BR" dirty="0" err="1"/>
                  <a:t>overfitting</a:t>
                </a:r>
                <a:r>
                  <a:rPr lang="pt-BR" dirty="0"/>
                  <a:t>. Isso pode levar a problemas de generalização se o modelo se ajustar demasiadamente aos dados de treinamento.</a:t>
                </a:r>
              </a:p>
              <a:p>
                <a:endParaRPr lang="pt-BR" dirty="0"/>
              </a:p>
              <a:p>
                <a:r>
                  <a:rPr lang="pt-BR" dirty="0"/>
                  <a:t>5. **Custo para Atualizações Incrementais:** Se novos dados forem adicionados ao conjunto de treinamento ou se houver a necessidade de atualizar os parâmetros do modelo, a equação normal precisará ser recalculada desde o início, o que pode ser ineficiente.</a:t>
                </a:r>
              </a:p>
              <a:p>
                <a:endParaRPr lang="pt-BR" dirty="0"/>
              </a:p>
              <a:p>
                <a:r>
                  <a:rPr lang="pt-BR" dirty="0"/>
                  <a:t>6. **Memória e Espaço:** A inversão de matrizes e os cálculos associados podem exigir uma quantidade significativa de memória e espaço, o que pode ser limitante em ambientes com recursos restritos.</a:t>
                </a:r>
              </a:p>
              <a:p>
                <a:endParaRPr lang="pt-BR" dirty="0"/>
              </a:p>
              <a:p>
                <a:r>
                  <a:rPr lang="pt-BR" dirty="0"/>
                  <a:t>Devido a essas desvantagens, especialmente quando lidando com grandes conjuntos de dados ou problemas de </a:t>
                </a:r>
                <a:r>
                  <a:rPr lang="pt-BR" dirty="0" err="1"/>
                  <a:t>multicolinearidade</a:t>
                </a:r>
                <a:r>
                  <a:rPr lang="pt-BR" dirty="0"/>
                  <a:t>, muitas vezes outras abordagens de otimização, como o método do gradiente descendente, são preferidas para encontrar os parâmetros ótimos em modelos de regressão linear.</a:t>
                </a:r>
              </a:p>
              <a:p>
                <a:endParaRPr lang="pt-BR"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A solução da </a:t>
                </a:r>
                <a:r>
                  <a:rPr lang="pt-BR" sz="1200" b="1" i="1" dirty="0"/>
                  <a:t>equação normal </a:t>
                </a:r>
                <a:r>
                  <a:rPr lang="pt-BR" sz="1200" dirty="0"/>
                  <a:t>envolve o calculo</a:t>
                </a:r>
                <a:r>
                  <a:rPr lang="pt-BR" sz="1200" baseline="0" dirty="0"/>
                  <a:t> da</a:t>
                </a:r>
                <a:r>
                  <a:rPr lang="pt-BR" sz="1200" dirty="0"/>
                  <a:t> inversa de </a:t>
                </a:r>
                <a14:m>
                  <m:oMath xmlns:m="http://schemas.openxmlformats.org/officeDocument/2006/math">
                    <m:sSup>
                      <m:sSupPr>
                        <m:ctrlPr>
                          <a:rPr lang="el-GR" sz="1200" b="1" i="1">
                            <a:latin typeface="Cambria Math" panose="02040503050406030204" pitchFamily="18" charset="0"/>
                          </a:rPr>
                        </m:ctrlPr>
                      </m:sSupPr>
                      <m:e>
                        <m:r>
                          <a:rPr lang="el-GR" sz="1200" b="1" i="1">
                            <a:latin typeface="Cambria Math" panose="02040503050406030204" pitchFamily="18" charset="0"/>
                          </a:rPr>
                          <m:t>𝜱</m:t>
                        </m:r>
                      </m:e>
                      <m:sup>
                        <m:r>
                          <a:rPr lang="pt-BR" sz="1200" i="1">
                            <a:latin typeface="Cambria Math" panose="02040503050406030204" pitchFamily="18" charset="0"/>
                          </a:rPr>
                          <m:t>𝑇</m:t>
                        </m:r>
                      </m:sup>
                    </m:sSup>
                    <m:r>
                      <a:rPr lang="el-GR" sz="1200" b="1" i="1">
                        <a:latin typeface="Cambria Math" panose="02040503050406030204" pitchFamily="18" charset="0"/>
                      </a:rPr>
                      <m:t>𝜱</m:t>
                    </m:r>
                  </m:oMath>
                </a14:m>
                <a:r>
                  <a:rPr lang="nl-BE" sz="1200" i="0" dirty="0">
                    <a:latin typeface="Cambria Math" panose="02040503050406030204" pitchFamily="18" charset="0"/>
                  </a:rPr>
                  <a:t>, o </a:t>
                </a:r>
                <a:r>
                  <a:rPr lang="nl-BE" sz="1200" i="0" dirty="0" err="1">
                    <a:latin typeface="Cambria Math" panose="02040503050406030204" pitchFamily="18" charset="0"/>
                  </a:rPr>
                  <a:t>qual</a:t>
                </a:r>
                <a:r>
                  <a:rPr lang="nl-BE" sz="1200" i="0" baseline="0" dirty="0">
                    <a:latin typeface="Cambria Math" panose="02040503050406030204" pitchFamily="18" charset="0"/>
                  </a:rPr>
                  <a:t> tem </a:t>
                </a:r>
                <a:r>
                  <a:rPr lang="nl-BE" sz="1200" i="0" baseline="0" dirty="0" err="1">
                    <a:latin typeface="Cambria Math" panose="02040503050406030204" pitchFamily="18" charset="0"/>
                  </a:rPr>
                  <a:t>complexidade</a:t>
                </a:r>
                <a:r>
                  <a:rPr lang="nl-BE" sz="1200" i="0" baseline="0" dirty="0">
                    <a:latin typeface="Cambria Math" panose="02040503050406030204" pitchFamily="18" charset="0"/>
                  </a:rPr>
                  <a:t> </a:t>
                </a:r>
                <a:r>
                  <a:rPr lang="nl-BE" sz="1200" i="0" baseline="0" dirty="0" err="1">
                    <a:latin typeface="Cambria Math" panose="02040503050406030204" pitchFamily="18" charset="0"/>
                  </a:rPr>
                  <a:t>computacional</a:t>
                </a:r>
                <a:r>
                  <a:rPr lang="nl-BE" sz="1200" i="0" baseline="0" dirty="0">
                    <a:latin typeface="Cambria Math" panose="02040503050406030204" pitchFamily="18" charset="0"/>
                  </a:rPr>
                  <a:t> </a:t>
                </a:r>
                <a:r>
                  <a:rPr lang="nl-BE" sz="1200" i="0" baseline="0" dirty="0" err="1">
                    <a:latin typeface="Cambria Math" panose="02040503050406030204" pitchFamily="18" charset="0"/>
                  </a:rPr>
                  <a:t>variando</a:t>
                </a:r>
                <a:r>
                  <a:rPr lang="nl-BE" sz="1200" i="0" baseline="0" dirty="0">
                    <a:latin typeface="Cambria Math" panose="02040503050406030204" pitchFamily="18" charset="0"/>
                  </a:rPr>
                  <a:t> </a:t>
                </a:r>
                <a:r>
                  <a:rPr lang="nl-BE" sz="1200" i="0" baseline="0" dirty="0" err="1">
                    <a:latin typeface="Cambria Math" panose="02040503050406030204" pitchFamily="18" charset="0"/>
                  </a:rPr>
                  <a:t>entre</a:t>
                </a:r>
                <a:r>
                  <a:rPr lang="nl-BE" sz="1200" i="0" baseline="0" dirty="0">
                    <a:latin typeface="Cambria Math" panose="02040503050406030204" pitchFamily="18" charset="0"/>
                  </a:rPr>
                  <a:t> </a:t>
                </a:r>
                <a14:m>
                  <m:oMath xmlns:m="http://schemas.openxmlformats.org/officeDocument/2006/math">
                    <m:r>
                      <a:rPr lang="pt-BR" sz="1200" b="0" i="1" smtClean="0">
                        <a:latin typeface="Cambria Math" panose="02040503050406030204" pitchFamily="18" charset="0"/>
                      </a:rPr>
                      <m:t>𝑂</m:t>
                    </m:r>
                    <m:r>
                      <a:rPr lang="pt-BR" sz="1200" b="0" i="1" smtClean="0">
                        <a:latin typeface="Cambria Math" panose="02040503050406030204" pitchFamily="18" charset="0"/>
                      </a:rPr>
                      <m:t>(</m:t>
                    </m:r>
                    <m:sSup>
                      <m:sSupPr>
                        <m:ctrlPr>
                          <a:rPr lang="pt-BR" sz="1200" b="0" i="1" smtClean="0">
                            <a:latin typeface="Cambria Math" panose="02040503050406030204" pitchFamily="18" charset="0"/>
                          </a:rPr>
                        </m:ctrlPr>
                      </m:sSupPr>
                      <m:e>
                        <m:r>
                          <a:rPr lang="pt-BR" sz="1200" b="0" i="1" smtClean="0">
                            <a:latin typeface="Cambria Math" panose="02040503050406030204" pitchFamily="18" charset="0"/>
                          </a:rPr>
                          <m:t>𝑛</m:t>
                        </m:r>
                      </m:e>
                      <m:sup>
                        <m:r>
                          <a:rPr lang="pt-BR" sz="1200" b="0" i="1" smtClean="0">
                            <a:latin typeface="Cambria Math" panose="02040503050406030204" pitchFamily="18" charset="0"/>
                          </a:rPr>
                          <m:t>2.4</m:t>
                        </m:r>
                      </m:sup>
                    </m:sSup>
                    <m:r>
                      <a:rPr lang="pt-BR" sz="1200" b="0" i="1" smtClean="0">
                        <a:latin typeface="Cambria Math" panose="02040503050406030204" pitchFamily="18" charset="0"/>
                      </a:rPr>
                      <m:t>)</m:t>
                    </m:r>
                  </m:oMath>
                </a14:m>
                <a:r>
                  <a:rPr lang="pt-BR" sz="1200" dirty="0"/>
                  <a:t> e </a:t>
                </a:r>
                <a14:m>
                  <m:oMath xmlns:m="http://schemas.openxmlformats.org/officeDocument/2006/math">
                    <m:r>
                      <a:rPr lang="pt-BR" sz="1200" i="1">
                        <a:latin typeface="Cambria Math" panose="02040503050406030204" pitchFamily="18" charset="0"/>
                      </a:rPr>
                      <m:t>𝑂</m:t>
                    </m:r>
                    <m:d>
                      <m:dPr>
                        <m:ctrlPr>
                          <a:rPr lang="pt-BR" sz="1200" i="1">
                            <a:latin typeface="Cambria Math" panose="02040503050406030204" pitchFamily="18" charset="0"/>
                          </a:rPr>
                        </m:ctrlPr>
                      </m:dPr>
                      <m:e>
                        <m:sSup>
                          <m:sSupPr>
                            <m:ctrlPr>
                              <a:rPr lang="pt-BR" sz="1200" i="1">
                                <a:latin typeface="Cambria Math" panose="02040503050406030204" pitchFamily="18" charset="0"/>
                              </a:rPr>
                            </m:ctrlPr>
                          </m:sSupPr>
                          <m:e>
                            <m:r>
                              <a:rPr lang="pt-BR" sz="1200" i="1">
                                <a:latin typeface="Cambria Math" panose="02040503050406030204" pitchFamily="18" charset="0"/>
                              </a:rPr>
                              <m:t>𝑛</m:t>
                            </m:r>
                          </m:e>
                          <m:sup>
                            <m:r>
                              <a:rPr lang="pt-BR" sz="1200" b="0" i="1" smtClean="0">
                                <a:latin typeface="Cambria Math" panose="02040503050406030204" pitchFamily="18" charset="0"/>
                              </a:rPr>
                              <m:t>3</m:t>
                            </m:r>
                          </m:sup>
                        </m:sSup>
                      </m:e>
                    </m:d>
                  </m:oMath>
                </a14:m>
                <a:r>
                  <a:rPr lang="pt-BR" sz="1200" dirty="0"/>
                  <a:t>, dependendo da implementação</a:t>
                </a:r>
                <a:r>
                  <a:rPr lang="pt-BR" sz="1200" baseline="0" dirty="0"/>
                  <a:t> utilizada</a:t>
                </a:r>
                <a:r>
                  <a:rPr lang="pt-BR" sz="1200" dirty="0"/>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Um algoritmo de complexidade O(n^2) te</a:t>
                </a:r>
                <a:r>
                  <a:rPr lang="pt-BR" sz="1200" baseline="0" dirty="0"/>
                  <a:t>m crescimento </a:t>
                </a:r>
                <a:r>
                  <a:rPr lang="pt-BR" sz="1200" dirty="0"/>
                  <a:t>quadrático</a:t>
                </a:r>
                <a:r>
                  <a:rPr lang="pt-BR" sz="1200" baseline="0" dirty="0"/>
                  <a:t> e O(n^3) cúbico.</a:t>
                </a:r>
                <a:endParaRPr lang="pt-BR" sz="1200" dirty="0"/>
              </a:p>
              <a:p>
                <a:pPr marL="171450" indent="-171450">
                  <a:buFont typeface="Arial" panose="020B0604020202020204" pitchFamily="34" charset="0"/>
                  <a:buChar char="•"/>
                </a:pPr>
                <a14:m>
                  <m:oMath xmlns:m="http://schemas.openxmlformats.org/officeDocument/2006/math">
                    <m:sSup>
                      <m:sSupPr>
                        <m:ctrlPr>
                          <a:rPr lang="el-GR" sz="1200" b="1" i="1">
                            <a:latin typeface="Cambria Math" panose="02040503050406030204" pitchFamily="18" charset="0"/>
                          </a:rPr>
                        </m:ctrlPr>
                      </m:sSupPr>
                      <m:e>
                        <m:r>
                          <a:rPr lang="el-GR" sz="1200" b="1" i="1">
                            <a:latin typeface="Cambria Math" panose="02040503050406030204" pitchFamily="18" charset="0"/>
                          </a:rPr>
                          <m:t>𝜱</m:t>
                        </m:r>
                      </m:e>
                      <m:sup>
                        <m:r>
                          <a:rPr lang="pt-BR" sz="1200" i="1">
                            <a:latin typeface="Cambria Math" panose="02040503050406030204" pitchFamily="18" charset="0"/>
                          </a:rPr>
                          <m:t>𝑇</m:t>
                        </m:r>
                      </m:sup>
                    </m:sSup>
                    <m:r>
                      <a:rPr lang="el-GR" sz="1200" b="1" i="1">
                        <a:latin typeface="Cambria Math" panose="02040503050406030204" pitchFamily="18" charset="0"/>
                      </a:rPr>
                      <m:t>𝜱</m:t>
                    </m:r>
                    <m:r>
                      <a:rPr lang="pt-BR" sz="1200" b="0" i="0" smtClean="0">
                        <a:latin typeface="Cambria Math" panose="02040503050406030204" pitchFamily="18" charset="0"/>
                      </a:rPr>
                      <m:t> </m:t>
                    </m:r>
                  </m:oMath>
                </a14:m>
                <a:r>
                  <a:rPr lang="pt-BR" sz="1200" dirty="0"/>
                  <a:t>é uma matriz (</a:t>
                </a:r>
                <a14:m>
                  <m:oMath xmlns:m="http://schemas.openxmlformats.org/officeDocument/2006/math">
                    <m:r>
                      <a:rPr lang="pt-BR" sz="1200" b="0" i="1" smtClean="0">
                        <a:latin typeface="Cambria Math" panose="02040503050406030204" pitchFamily="18" charset="0"/>
                      </a:rPr>
                      <m:t>𝐾</m:t>
                    </m:r>
                    <m:r>
                      <a:rPr lang="pt-BR" sz="1200" b="0" i="1" smtClean="0">
                        <a:latin typeface="Cambria Math" panose="02040503050406030204" pitchFamily="18" charset="0"/>
                      </a:rPr>
                      <m:t>+1 ×</m:t>
                    </m:r>
                    <m:r>
                      <a:rPr lang="pt-BR" sz="1200" b="0" i="1" smtClean="0">
                        <a:latin typeface="Cambria Math" panose="02040503050406030204" pitchFamily="18" charset="0"/>
                        <a:ea typeface="Cambria Math" panose="02040503050406030204" pitchFamily="18" charset="0"/>
                      </a:rPr>
                      <m:t>𝐾</m:t>
                    </m:r>
                    <m:r>
                      <a:rPr lang="pt-BR" sz="1200" b="0" i="1" smtClean="0">
                        <a:latin typeface="Cambria Math" panose="02040503050406030204" pitchFamily="18" charset="0"/>
                        <a:ea typeface="Cambria Math" panose="02040503050406030204" pitchFamily="18" charset="0"/>
                      </a:rPr>
                      <m:t>+1</m:t>
                    </m:r>
                  </m:oMath>
                </a14:m>
                <a:r>
                  <a:rPr lang="pt-BR" sz="1200" dirty="0"/>
                  <a:t>)</a:t>
                </a:r>
              </a:p>
              <a:p>
                <a:pPr marL="171450" indent="-171450">
                  <a:buFont typeface="Arial" panose="020B0604020202020204" pitchFamily="34" charset="0"/>
                  <a:buChar char="•"/>
                </a:pPr>
                <a:r>
                  <a:rPr lang="nl-BE" sz="1200" dirty="0" err="1"/>
                  <a:t>Pesquisa</a:t>
                </a:r>
                <a:r>
                  <a:rPr lang="nl-BE" sz="1200" dirty="0"/>
                  <a:t> </a:t>
                </a:r>
                <a:r>
                  <a:rPr lang="nl-BE" sz="1200" dirty="0" err="1"/>
                  <a:t>em</a:t>
                </a:r>
                <a:r>
                  <a:rPr lang="nl-BE" sz="1200" dirty="0"/>
                  <a:t> </a:t>
                </a:r>
                <a:r>
                  <a:rPr lang="nl-BE" sz="1200" dirty="0" err="1"/>
                  <a:t>tomografia</a:t>
                </a:r>
                <a:r>
                  <a:rPr lang="nl-BE" sz="1200" dirty="0"/>
                  <a:t> </a:t>
                </a:r>
                <a:r>
                  <a:rPr lang="nl-BE" sz="1200" dirty="0" err="1"/>
                  <a:t>sísmica</a:t>
                </a:r>
                <a:r>
                  <a:rPr lang="nl-BE" sz="1200" dirty="0"/>
                  <a:t> </a:t>
                </a:r>
                <a:r>
                  <a:rPr lang="nl-BE" sz="1200" dirty="0" err="1"/>
                  <a:t>envolve</a:t>
                </a:r>
                <a:r>
                  <a:rPr lang="nl-BE" sz="1200" dirty="0"/>
                  <a:t> </a:t>
                </a:r>
                <a:r>
                  <a:rPr lang="nl-BE" sz="1200" dirty="0" err="1"/>
                  <a:t>um</a:t>
                </a:r>
                <a:r>
                  <a:rPr lang="nl-BE" sz="1200" dirty="0"/>
                  <a:t> número </a:t>
                </a:r>
                <a:r>
                  <a:rPr lang="nl-BE" sz="1200" dirty="0" err="1"/>
                  <a:t>muito</a:t>
                </a:r>
                <a:r>
                  <a:rPr lang="nl-BE" sz="1200" dirty="0"/>
                  <a:t> grande de features, da </a:t>
                </a:r>
                <a:r>
                  <a:rPr lang="nl-BE" sz="1200" dirty="0" err="1"/>
                  <a:t>ordem</a:t>
                </a:r>
                <a:r>
                  <a:rPr lang="nl-BE" sz="1200" dirty="0"/>
                  <a:t> de 10000 features.</a:t>
                </a:r>
              </a:p>
              <a:p>
                <a:endParaRPr lang="pt-BR" dirty="0"/>
              </a:p>
            </p:txBody>
          </p:sp>
        </mc:Choice>
        <mc:Fallback xmlns="">
          <p:sp>
            <p:nvSpPr>
              <p:cNvPr id="3" name="Espaço Reservado para Anotações 2"/>
              <p:cNvSpPr>
                <a:spLocks noGrp="1"/>
              </p:cNvSpPr>
              <p:nvPr>
                <p:ph type="body" idx="1"/>
              </p:nvPr>
            </p:nvSpPr>
            <p:spPr/>
            <p:txBody>
              <a:bodyPr/>
              <a:lstStyle/>
              <a:p>
                <a:r>
                  <a:rPr lang="pt-BR" dirty="0"/>
                  <a:t>A equação normal é uma abordagem para encontrar os parâmetros ótimos em modelos de regressão linear. No entanto, ela apresenta algumas desvantagens:</a:t>
                </a:r>
              </a:p>
              <a:p>
                <a:endParaRPr lang="pt-BR" dirty="0"/>
              </a:p>
              <a:p>
                <a:r>
                  <a:rPr lang="pt-BR" dirty="0"/>
                  <a:t>1. **Custo Computacional Elevado:** A equação normal envolve o cálculo da matriz inversa, o que pode ser computacionalmente intensivo e demorado, especialmente para conjuntos de dados grandes. O custo computacional aumenta de forma significativa à medida que o número de características (atributos) aumenta.</a:t>
                </a:r>
              </a:p>
              <a:p>
                <a:endParaRPr lang="pt-BR" dirty="0"/>
              </a:p>
              <a:p>
                <a:r>
                  <a:rPr lang="pt-BR" dirty="0"/>
                  <a:t>2. **Sensibilidade à Singularidade e </a:t>
                </a:r>
                <a:r>
                  <a:rPr lang="pt-BR" dirty="0" err="1"/>
                  <a:t>Multicolinearidade</a:t>
                </a:r>
                <a:r>
                  <a:rPr lang="pt-BR" dirty="0"/>
                  <a:t>:** Se a matriz de características não for de plena classificação (sua determinante é próxima de zero) ou se houver </a:t>
                </a:r>
                <a:r>
                  <a:rPr lang="pt-BR" dirty="0" err="1"/>
                  <a:t>multicolinearidade</a:t>
                </a:r>
                <a:r>
                  <a:rPr lang="pt-BR" dirty="0"/>
                  <a:t> entre as variáveis, a inversão da matriz se torna mais difícil, resultando em instabilidade numérica e soluções imprecisas.</a:t>
                </a:r>
              </a:p>
              <a:p>
                <a:endParaRPr lang="pt-BR" dirty="0"/>
              </a:p>
              <a:p>
                <a:r>
                  <a:rPr lang="pt-BR" dirty="0"/>
                  <a:t>3. **Inadequado para Dados em Fluxo Contínuo:** A equação normal requer todos os dados de treinamento para calcular os parâmetros do modelo de uma vez. Isso torna a abordagem inadequada para casos em que os dados chegam em fluxo contínuo, como em aprendizado online.</a:t>
                </a:r>
              </a:p>
              <a:p>
                <a:endParaRPr lang="pt-BR" dirty="0"/>
              </a:p>
              <a:p>
                <a:r>
                  <a:rPr lang="pt-BR" dirty="0"/>
                  <a:t>4. **Sem Regulação Direta:** A equação normal não inclui diretamente mecanismos de regularização para evitar </a:t>
                </a:r>
                <a:r>
                  <a:rPr lang="pt-BR" dirty="0" err="1"/>
                  <a:t>overfitting</a:t>
                </a:r>
                <a:r>
                  <a:rPr lang="pt-BR" dirty="0"/>
                  <a:t>. Isso pode levar a problemas de generalização se o modelo se ajustar demasiadamente aos dados de treinamento.</a:t>
                </a:r>
              </a:p>
              <a:p>
                <a:endParaRPr lang="pt-BR" dirty="0"/>
              </a:p>
              <a:p>
                <a:r>
                  <a:rPr lang="pt-BR" dirty="0"/>
                  <a:t>5. **Custo para Atualizações Incrementais:** Se novos dados forem adicionados ao conjunto de treinamento ou se houver a necessidade de atualizar os parâmetros do modelo, a equação normal precisará ser recalculada desde o início, o que pode ser ineficiente.</a:t>
                </a:r>
              </a:p>
              <a:p>
                <a:endParaRPr lang="pt-BR" dirty="0"/>
              </a:p>
              <a:p>
                <a:r>
                  <a:rPr lang="pt-BR" dirty="0"/>
                  <a:t>6. **Memória e Espaço:** A inversão de matrizes e os cálculos associados podem exigir uma quantidade significativa de memória e espaço, o que pode ser limitante em ambientes com recursos restritos.</a:t>
                </a:r>
              </a:p>
              <a:p>
                <a:endParaRPr lang="pt-BR" dirty="0"/>
              </a:p>
              <a:p>
                <a:r>
                  <a:rPr lang="pt-BR" dirty="0"/>
                  <a:t>Devido a essas desvantagens, especialmente quando lidando com grandes conjuntos de dados ou problemas de </a:t>
                </a:r>
                <a:r>
                  <a:rPr lang="pt-BR" dirty="0" err="1"/>
                  <a:t>multicolinearidade</a:t>
                </a:r>
                <a:r>
                  <a:rPr lang="pt-BR" dirty="0"/>
                  <a:t>, muitas vezes outras abordagens de otimização, como o método do gradiente descendente, são preferidas para encontrar os parâmetros ótimos em modelos de regressão linear.</a:t>
                </a:r>
              </a:p>
              <a:p>
                <a:endParaRPr lang="pt-BR"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A solução da </a:t>
                </a:r>
                <a:r>
                  <a:rPr lang="pt-BR" sz="1200" b="1" i="1" dirty="0"/>
                  <a:t>equação normal </a:t>
                </a:r>
                <a:r>
                  <a:rPr lang="pt-BR" sz="1200" dirty="0"/>
                  <a:t>envolve o calculo</a:t>
                </a:r>
                <a:r>
                  <a:rPr lang="pt-BR" sz="1200" baseline="0" dirty="0"/>
                  <a:t> da</a:t>
                </a:r>
                <a:r>
                  <a:rPr lang="pt-BR" sz="1200" dirty="0"/>
                  <a:t> inversa de </a:t>
                </a:r>
                <a:r>
                  <a:rPr lang="el-GR" sz="1200" b="1" i="0">
                    <a:latin typeface="Cambria Math" panose="02040503050406030204" pitchFamily="18" charset="0"/>
                  </a:rPr>
                  <a:t>𝜱</a:t>
                </a:r>
                <a:r>
                  <a:rPr lang="nl-BE" sz="1200" b="1" i="0">
                    <a:latin typeface="Cambria Math" panose="02040503050406030204" pitchFamily="18" charset="0"/>
                  </a:rPr>
                  <a:t>^</a:t>
                </a:r>
                <a:r>
                  <a:rPr lang="pt-BR" sz="1200" i="0">
                    <a:latin typeface="Cambria Math" panose="02040503050406030204" pitchFamily="18" charset="0"/>
                  </a:rPr>
                  <a:t>𝑇</a:t>
                </a:r>
                <a:r>
                  <a:rPr lang="el-GR" sz="1200" b="1" i="0">
                    <a:latin typeface="Cambria Math" panose="02040503050406030204" pitchFamily="18" charset="0"/>
                  </a:rPr>
                  <a:t> 𝜱</a:t>
                </a:r>
                <a:r>
                  <a:rPr lang="nl-BE" sz="1200" i="0" dirty="0">
                    <a:latin typeface="Cambria Math" panose="02040503050406030204" pitchFamily="18" charset="0"/>
                  </a:rPr>
                  <a:t>, o </a:t>
                </a:r>
                <a:r>
                  <a:rPr lang="nl-BE" sz="1200" i="0" dirty="0" err="1">
                    <a:latin typeface="Cambria Math" panose="02040503050406030204" pitchFamily="18" charset="0"/>
                  </a:rPr>
                  <a:t>qual</a:t>
                </a:r>
                <a:r>
                  <a:rPr lang="nl-BE" sz="1200" i="0" baseline="0" dirty="0">
                    <a:latin typeface="Cambria Math" panose="02040503050406030204" pitchFamily="18" charset="0"/>
                  </a:rPr>
                  <a:t> tem </a:t>
                </a:r>
                <a:r>
                  <a:rPr lang="nl-BE" sz="1200" i="0" baseline="0" dirty="0" err="1">
                    <a:latin typeface="Cambria Math" panose="02040503050406030204" pitchFamily="18" charset="0"/>
                  </a:rPr>
                  <a:t>complexidade</a:t>
                </a:r>
                <a:r>
                  <a:rPr lang="nl-BE" sz="1200" i="0" baseline="0" dirty="0">
                    <a:latin typeface="Cambria Math" panose="02040503050406030204" pitchFamily="18" charset="0"/>
                  </a:rPr>
                  <a:t> </a:t>
                </a:r>
                <a:r>
                  <a:rPr lang="nl-BE" sz="1200" i="0" baseline="0" dirty="0" err="1">
                    <a:latin typeface="Cambria Math" panose="02040503050406030204" pitchFamily="18" charset="0"/>
                  </a:rPr>
                  <a:t>computacional</a:t>
                </a:r>
                <a:r>
                  <a:rPr lang="nl-BE" sz="1200" i="0" baseline="0" dirty="0">
                    <a:latin typeface="Cambria Math" panose="02040503050406030204" pitchFamily="18" charset="0"/>
                  </a:rPr>
                  <a:t> </a:t>
                </a:r>
                <a:r>
                  <a:rPr lang="nl-BE" sz="1200" i="0" baseline="0" dirty="0" err="1">
                    <a:latin typeface="Cambria Math" panose="02040503050406030204" pitchFamily="18" charset="0"/>
                  </a:rPr>
                  <a:t>variando</a:t>
                </a:r>
                <a:r>
                  <a:rPr lang="nl-BE" sz="1200" i="0" baseline="0" dirty="0">
                    <a:latin typeface="Cambria Math" panose="02040503050406030204" pitchFamily="18" charset="0"/>
                  </a:rPr>
                  <a:t> </a:t>
                </a:r>
                <a:r>
                  <a:rPr lang="nl-BE" sz="1200" i="0" baseline="0" dirty="0" err="1">
                    <a:latin typeface="Cambria Math" panose="02040503050406030204" pitchFamily="18" charset="0"/>
                  </a:rPr>
                  <a:t>entre</a:t>
                </a:r>
                <a:r>
                  <a:rPr lang="nl-BE" sz="1200" i="0" baseline="0" dirty="0">
                    <a:latin typeface="Cambria Math" panose="02040503050406030204" pitchFamily="18" charset="0"/>
                  </a:rPr>
                  <a:t> </a:t>
                </a:r>
                <a:r>
                  <a:rPr lang="pt-BR" sz="1200" b="0" i="0">
                    <a:latin typeface="Cambria Math" panose="02040503050406030204" pitchFamily="18" charset="0"/>
                  </a:rPr>
                  <a:t>𝑂(𝑛^2.4)</a:t>
                </a:r>
                <a:r>
                  <a:rPr lang="pt-BR" sz="1200" dirty="0"/>
                  <a:t> e </a:t>
                </a:r>
                <a:r>
                  <a:rPr lang="pt-BR" sz="1200" i="0">
                    <a:latin typeface="Cambria Math" panose="02040503050406030204" pitchFamily="18" charset="0"/>
                  </a:rPr>
                  <a:t>𝑂(𝑛^</a:t>
                </a:r>
                <a:r>
                  <a:rPr lang="pt-BR" sz="1200" b="0" i="0">
                    <a:latin typeface="Cambria Math" panose="02040503050406030204" pitchFamily="18" charset="0"/>
                  </a:rPr>
                  <a:t>3 )</a:t>
                </a:r>
                <a:r>
                  <a:rPr lang="pt-BR" sz="1200" dirty="0"/>
                  <a:t>, dependendo da implementação</a:t>
                </a:r>
                <a:r>
                  <a:rPr lang="pt-BR" sz="1200" baseline="0" dirty="0"/>
                  <a:t> utilizada</a:t>
                </a:r>
                <a:r>
                  <a:rPr lang="pt-BR" sz="1200" dirty="0"/>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Um algoritmo de complexidade O(n^2) te</a:t>
                </a:r>
                <a:r>
                  <a:rPr lang="pt-BR" sz="1200" baseline="0" dirty="0"/>
                  <a:t>m crescimento </a:t>
                </a:r>
                <a:r>
                  <a:rPr lang="pt-BR" sz="1200" dirty="0"/>
                  <a:t>quadrático</a:t>
                </a:r>
                <a:r>
                  <a:rPr lang="pt-BR" sz="1200" baseline="0" dirty="0"/>
                  <a:t> e O(n^3) cúbico.</a:t>
                </a:r>
                <a:endParaRPr lang="pt-BR" sz="1200" dirty="0"/>
              </a:p>
              <a:p>
                <a:pPr marL="171450" indent="-171450">
                  <a:buFont typeface="Arial" panose="020B0604020202020204" pitchFamily="34" charset="0"/>
                  <a:buChar char="•"/>
                </a:pPr>
                <a:r>
                  <a:rPr lang="el-GR" sz="1200" b="1" i="0">
                    <a:latin typeface="Cambria Math" panose="02040503050406030204" pitchFamily="18" charset="0"/>
                  </a:rPr>
                  <a:t>𝜱</a:t>
                </a:r>
                <a:r>
                  <a:rPr lang="nl-BE" sz="1200" b="1" i="0">
                    <a:latin typeface="Cambria Math" panose="02040503050406030204" pitchFamily="18" charset="0"/>
                  </a:rPr>
                  <a:t>^</a:t>
                </a:r>
                <a:r>
                  <a:rPr lang="pt-BR" sz="1200" i="0">
                    <a:latin typeface="Cambria Math" panose="02040503050406030204" pitchFamily="18" charset="0"/>
                  </a:rPr>
                  <a:t>𝑇</a:t>
                </a:r>
                <a:r>
                  <a:rPr lang="el-GR" sz="1200" b="1" i="0">
                    <a:latin typeface="Cambria Math" panose="02040503050406030204" pitchFamily="18" charset="0"/>
                  </a:rPr>
                  <a:t> 𝜱</a:t>
                </a:r>
                <a:r>
                  <a:rPr lang="pt-BR" sz="1200" b="0" i="0">
                    <a:latin typeface="Cambria Math" panose="02040503050406030204" pitchFamily="18" charset="0"/>
                  </a:rPr>
                  <a:t> </a:t>
                </a:r>
                <a:r>
                  <a:rPr lang="pt-BR" sz="1200" dirty="0"/>
                  <a:t>é uma matriz (</a:t>
                </a:r>
                <a:r>
                  <a:rPr lang="pt-BR" sz="1200" b="0" i="0">
                    <a:latin typeface="Cambria Math" panose="02040503050406030204" pitchFamily="18" charset="0"/>
                  </a:rPr>
                  <a:t>𝐾+1 ×</a:t>
                </a:r>
                <a:r>
                  <a:rPr lang="pt-BR" sz="1200" b="0" i="0">
                    <a:latin typeface="Cambria Math" panose="02040503050406030204" pitchFamily="18" charset="0"/>
                    <a:ea typeface="Cambria Math" panose="02040503050406030204" pitchFamily="18" charset="0"/>
                  </a:rPr>
                  <a:t>𝐾+1</a:t>
                </a:r>
                <a:r>
                  <a:rPr lang="pt-BR" sz="1200" dirty="0"/>
                  <a:t>)</a:t>
                </a:r>
              </a:p>
              <a:p>
                <a:pPr marL="171450" indent="-171450">
                  <a:buFont typeface="Arial" panose="020B0604020202020204" pitchFamily="34" charset="0"/>
                  <a:buChar char="•"/>
                </a:pPr>
                <a:r>
                  <a:rPr lang="nl-BE" sz="1200" dirty="0" err="1"/>
                  <a:t>Pesquisa</a:t>
                </a:r>
                <a:r>
                  <a:rPr lang="nl-BE" sz="1200" dirty="0"/>
                  <a:t> </a:t>
                </a:r>
                <a:r>
                  <a:rPr lang="nl-BE" sz="1200" dirty="0" err="1"/>
                  <a:t>em</a:t>
                </a:r>
                <a:r>
                  <a:rPr lang="nl-BE" sz="1200" dirty="0"/>
                  <a:t> </a:t>
                </a:r>
                <a:r>
                  <a:rPr lang="nl-BE" sz="1200" dirty="0" err="1"/>
                  <a:t>tomografia</a:t>
                </a:r>
                <a:r>
                  <a:rPr lang="nl-BE" sz="1200" dirty="0"/>
                  <a:t> </a:t>
                </a:r>
                <a:r>
                  <a:rPr lang="nl-BE" sz="1200" dirty="0" err="1"/>
                  <a:t>sísmica</a:t>
                </a:r>
                <a:r>
                  <a:rPr lang="nl-BE" sz="1200" dirty="0"/>
                  <a:t> </a:t>
                </a:r>
                <a:r>
                  <a:rPr lang="nl-BE" sz="1200" dirty="0" err="1"/>
                  <a:t>envolve</a:t>
                </a:r>
                <a:r>
                  <a:rPr lang="nl-BE" sz="1200" dirty="0"/>
                  <a:t> </a:t>
                </a:r>
                <a:r>
                  <a:rPr lang="nl-BE" sz="1200" dirty="0" err="1"/>
                  <a:t>um</a:t>
                </a:r>
                <a:r>
                  <a:rPr lang="nl-BE" sz="1200" dirty="0"/>
                  <a:t> número </a:t>
                </a:r>
                <a:r>
                  <a:rPr lang="nl-BE" sz="1200" dirty="0" err="1"/>
                  <a:t>muito</a:t>
                </a:r>
                <a:r>
                  <a:rPr lang="nl-BE" sz="1200" dirty="0"/>
                  <a:t> grande de features, da </a:t>
                </a:r>
                <a:r>
                  <a:rPr lang="nl-BE" sz="1200" dirty="0" err="1"/>
                  <a:t>ordem</a:t>
                </a:r>
                <a:r>
                  <a:rPr lang="nl-BE" sz="1200" dirty="0"/>
                  <a:t> de 10000 features.</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48</a:t>
            </a:fld>
            <a:endParaRPr lang="nl-BE"/>
          </a:p>
        </p:txBody>
      </p:sp>
    </p:spTree>
    <p:extLst>
      <p:ext uri="{BB962C8B-B14F-4D97-AF65-F5344CB8AC3E}">
        <p14:creationId xmlns:p14="http://schemas.microsoft.com/office/powerpoint/2010/main" val="333894401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A equação normal é uma abordagem para encontrar os parâmetros ótimos em modelos de regressão linear. No entanto, ela apresenta algumas desvantagens:</a:t>
                </a:r>
              </a:p>
              <a:p>
                <a:endParaRPr lang="pt-BR" dirty="0"/>
              </a:p>
              <a:p>
                <a:r>
                  <a:rPr lang="pt-BR" dirty="0"/>
                  <a:t>1. **Custo Computacional Elevado:** A equação normal envolve o cálculo da matriz inversa, o que pode ser computacionalmente intensivo e demorado, especialmente para conjuntos de dados grandes. O custo computacional aumenta de forma significativa à medida que o número de características (atributos) aumenta.</a:t>
                </a:r>
              </a:p>
              <a:p>
                <a:endParaRPr lang="pt-BR" dirty="0"/>
              </a:p>
              <a:p>
                <a:r>
                  <a:rPr lang="pt-BR" dirty="0"/>
                  <a:t>2. **Sensibilidade à Singularidade e </a:t>
                </a:r>
                <a:r>
                  <a:rPr lang="pt-BR" dirty="0" err="1"/>
                  <a:t>Multicolinearidade</a:t>
                </a:r>
                <a:r>
                  <a:rPr lang="pt-BR" dirty="0"/>
                  <a:t>:** Se a matriz de características não for de plena classificação (sua determinante é próxima de zero) ou se houver </a:t>
                </a:r>
                <a:r>
                  <a:rPr lang="pt-BR" dirty="0" err="1"/>
                  <a:t>multicolinearidade</a:t>
                </a:r>
                <a:r>
                  <a:rPr lang="pt-BR" dirty="0"/>
                  <a:t> entre as variáveis, a inversão da matriz se torna mais difícil, resultando em instabilidade numérica e soluções imprecisas.</a:t>
                </a:r>
              </a:p>
              <a:p>
                <a:endParaRPr lang="pt-BR" dirty="0"/>
              </a:p>
              <a:p>
                <a:pPr algn="l"/>
                <a:r>
                  <a:rPr lang="pt-BR" dirty="0"/>
                  <a:t>3. **Inadequado para Dados em Fluxo Contínuo:** A equação normal requer todos os dados de treinamento para calcular os parâmetros do modelo de uma vez. Isso torna a abordagem inadequada para casos em que os dados chegam em fluxo contínuo, como em aprendizado online.</a:t>
                </a:r>
              </a:p>
              <a:p>
                <a:endParaRPr lang="pt-BR" dirty="0"/>
              </a:p>
              <a:p>
                <a:r>
                  <a:rPr lang="pt-BR" dirty="0"/>
                  <a:t>4. **Sem Regulação Direta:** A equação normal não inclui diretamente mecanismos de regularização para evitar </a:t>
                </a:r>
                <a:r>
                  <a:rPr lang="pt-BR" dirty="0" err="1"/>
                  <a:t>overfitting</a:t>
                </a:r>
                <a:r>
                  <a:rPr lang="pt-BR" dirty="0"/>
                  <a:t>. Isso pode levar a problemas de generalização se o modelo se ajustar demasiadamente aos dados de treinamento.</a:t>
                </a:r>
              </a:p>
              <a:p>
                <a:pPr algn="l"/>
                <a:endParaRPr lang="pt-BR" dirty="0"/>
              </a:p>
              <a:p>
                <a:r>
                  <a:rPr lang="pt-BR" dirty="0"/>
                  <a:t>5. **Custo para Atualizações Incrementais:** Se novos dados forem adicionados ao conjunto de treinamento ou se houver a necessidade de atualizar os parâmetros do modelo, a equação normal precisará ser recalculada desde o início, o que pode ser ineficiente.</a:t>
                </a:r>
              </a:p>
              <a:p>
                <a:endParaRPr lang="pt-BR" dirty="0"/>
              </a:p>
              <a:p>
                <a:r>
                  <a:rPr lang="pt-BR" dirty="0"/>
                  <a:t>6. **Memória e Espaço:** A inversão de matrizes e os cálculos associados podem exigir uma quantidade significativa de memória e espaço, o que pode ser limitante em ambientes com recursos restritos.</a:t>
                </a:r>
              </a:p>
              <a:p>
                <a:endParaRPr lang="pt-BR" dirty="0"/>
              </a:p>
              <a:p>
                <a:r>
                  <a:rPr lang="pt-BR" dirty="0"/>
                  <a:t>Devido a essas desvantagens, especialmente quando lidando com grandes conjuntos de dados ou problemas de </a:t>
                </a:r>
                <a:r>
                  <a:rPr lang="pt-BR" dirty="0" err="1"/>
                  <a:t>multicolinearidade</a:t>
                </a:r>
                <a:r>
                  <a:rPr lang="pt-BR" dirty="0"/>
                  <a:t>, muitas vezes outras abordagens de otimização, como o método do gradiente descendente, são preferidas para encontrar os parâmetros ótimos em modelos de regressão linear.</a:t>
                </a:r>
              </a:p>
              <a:p>
                <a:endParaRPr lang="pt-BR"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A solução da </a:t>
                </a:r>
                <a:r>
                  <a:rPr lang="pt-BR" sz="1200" b="1" i="1" dirty="0"/>
                  <a:t>equação normal </a:t>
                </a:r>
                <a:r>
                  <a:rPr lang="pt-BR" sz="1200" dirty="0"/>
                  <a:t>envolve o calculo</a:t>
                </a:r>
                <a:r>
                  <a:rPr lang="pt-BR" sz="1200" baseline="0" dirty="0"/>
                  <a:t> da</a:t>
                </a:r>
                <a:r>
                  <a:rPr lang="pt-BR" sz="1200" dirty="0"/>
                  <a:t> inversa de </a:t>
                </a:r>
                <a14:m>
                  <m:oMath xmlns:m="http://schemas.openxmlformats.org/officeDocument/2006/math">
                    <m:sSup>
                      <m:sSupPr>
                        <m:ctrlPr>
                          <a:rPr lang="el-GR" sz="1200" b="1" i="1">
                            <a:latin typeface="Cambria Math" panose="02040503050406030204" pitchFamily="18" charset="0"/>
                          </a:rPr>
                        </m:ctrlPr>
                      </m:sSupPr>
                      <m:e>
                        <m:r>
                          <a:rPr lang="el-GR" sz="1200" b="1" i="1">
                            <a:latin typeface="Cambria Math" panose="02040503050406030204" pitchFamily="18" charset="0"/>
                          </a:rPr>
                          <m:t>𝜱</m:t>
                        </m:r>
                      </m:e>
                      <m:sup>
                        <m:r>
                          <a:rPr lang="pt-BR" sz="1200" i="1">
                            <a:latin typeface="Cambria Math" panose="02040503050406030204" pitchFamily="18" charset="0"/>
                          </a:rPr>
                          <m:t>𝑇</m:t>
                        </m:r>
                      </m:sup>
                    </m:sSup>
                    <m:r>
                      <a:rPr lang="el-GR" sz="1200" b="1" i="1">
                        <a:latin typeface="Cambria Math" panose="02040503050406030204" pitchFamily="18" charset="0"/>
                      </a:rPr>
                      <m:t>𝜱</m:t>
                    </m:r>
                  </m:oMath>
                </a14:m>
                <a:r>
                  <a:rPr lang="nl-BE" sz="1200" i="0" dirty="0">
                    <a:latin typeface="Cambria Math" panose="02040503050406030204" pitchFamily="18" charset="0"/>
                  </a:rPr>
                  <a:t>, o </a:t>
                </a:r>
                <a:r>
                  <a:rPr lang="nl-BE" sz="1200" i="0" dirty="0" err="1">
                    <a:latin typeface="Cambria Math" panose="02040503050406030204" pitchFamily="18" charset="0"/>
                  </a:rPr>
                  <a:t>qual</a:t>
                </a:r>
                <a:r>
                  <a:rPr lang="nl-BE" sz="1200" i="0" baseline="0" dirty="0">
                    <a:latin typeface="Cambria Math" panose="02040503050406030204" pitchFamily="18" charset="0"/>
                  </a:rPr>
                  <a:t> tem </a:t>
                </a:r>
                <a:r>
                  <a:rPr lang="nl-BE" sz="1200" i="0" baseline="0" dirty="0" err="1">
                    <a:latin typeface="Cambria Math" panose="02040503050406030204" pitchFamily="18" charset="0"/>
                  </a:rPr>
                  <a:t>complexidade</a:t>
                </a:r>
                <a:r>
                  <a:rPr lang="nl-BE" sz="1200" i="0" baseline="0" dirty="0">
                    <a:latin typeface="Cambria Math" panose="02040503050406030204" pitchFamily="18" charset="0"/>
                  </a:rPr>
                  <a:t> </a:t>
                </a:r>
                <a:r>
                  <a:rPr lang="nl-BE" sz="1200" i="0" baseline="0" dirty="0" err="1">
                    <a:latin typeface="Cambria Math" panose="02040503050406030204" pitchFamily="18" charset="0"/>
                  </a:rPr>
                  <a:t>computacional</a:t>
                </a:r>
                <a:r>
                  <a:rPr lang="nl-BE" sz="1200" i="0" baseline="0" dirty="0">
                    <a:latin typeface="Cambria Math" panose="02040503050406030204" pitchFamily="18" charset="0"/>
                  </a:rPr>
                  <a:t> </a:t>
                </a:r>
                <a:r>
                  <a:rPr lang="nl-BE" sz="1200" i="0" baseline="0" dirty="0" err="1">
                    <a:latin typeface="Cambria Math" panose="02040503050406030204" pitchFamily="18" charset="0"/>
                  </a:rPr>
                  <a:t>variando</a:t>
                </a:r>
                <a:r>
                  <a:rPr lang="nl-BE" sz="1200" i="0" baseline="0" dirty="0">
                    <a:latin typeface="Cambria Math" panose="02040503050406030204" pitchFamily="18" charset="0"/>
                  </a:rPr>
                  <a:t> </a:t>
                </a:r>
                <a:r>
                  <a:rPr lang="nl-BE" sz="1200" i="0" baseline="0" dirty="0" err="1">
                    <a:latin typeface="Cambria Math" panose="02040503050406030204" pitchFamily="18" charset="0"/>
                  </a:rPr>
                  <a:t>entre</a:t>
                </a:r>
                <a:r>
                  <a:rPr lang="nl-BE" sz="1200" i="0" baseline="0" dirty="0">
                    <a:latin typeface="Cambria Math" panose="02040503050406030204" pitchFamily="18" charset="0"/>
                  </a:rPr>
                  <a:t> </a:t>
                </a:r>
                <a14:m>
                  <m:oMath xmlns:m="http://schemas.openxmlformats.org/officeDocument/2006/math">
                    <m:r>
                      <a:rPr lang="pt-BR" sz="1200" b="0" i="1" smtClean="0">
                        <a:latin typeface="Cambria Math" panose="02040503050406030204" pitchFamily="18" charset="0"/>
                      </a:rPr>
                      <m:t>𝑂</m:t>
                    </m:r>
                    <m:r>
                      <a:rPr lang="pt-BR" sz="1200" b="0" i="1" smtClean="0">
                        <a:latin typeface="Cambria Math" panose="02040503050406030204" pitchFamily="18" charset="0"/>
                      </a:rPr>
                      <m:t>(</m:t>
                    </m:r>
                    <m:sSup>
                      <m:sSupPr>
                        <m:ctrlPr>
                          <a:rPr lang="pt-BR" sz="1200" b="0" i="1" smtClean="0">
                            <a:latin typeface="Cambria Math" panose="02040503050406030204" pitchFamily="18" charset="0"/>
                          </a:rPr>
                        </m:ctrlPr>
                      </m:sSupPr>
                      <m:e>
                        <m:r>
                          <a:rPr lang="pt-BR" sz="1200" b="0" i="1" smtClean="0">
                            <a:latin typeface="Cambria Math" panose="02040503050406030204" pitchFamily="18" charset="0"/>
                          </a:rPr>
                          <m:t>𝑛</m:t>
                        </m:r>
                      </m:e>
                      <m:sup>
                        <m:r>
                          <a:rPr lang="pt-BR" sz="1200" b="0" i="1" smtClean="0">
                            <a:latin typeface="Cambria Math" panose="02040503050406030204" pitchFamily="18" charset="0"/>
                          </a:rPr>
                          <m:t>2.4</m:t>
                        </m:r>
                      </m:sup>
                    </m:sSup>
                    <m:r>
                      <a:rPr lang="pt-BR" sz="1200" b="0" i="1" smtClean="0">
                        <a:latin typeface="Cambria Math" panose="02040503050406030204" pitchFamily="18" charset="0"/>
                      </a:rPr>
                      <m:t>)</m:t>
                    </m:r>
                  </m:oMath>
                </a14:m>
                <a:r>
                  <a:rPr lang="pt-BR" sz="1200" dirty="0"/>
                  <a:t> e </a:t>
                </a:r>
                <a14:m>
                  <m:oMath xmlns:m="http://schemas.openxmlformats.org/officeDocument/2006/math">
                    <m:r>
                      <a:rPr lang="pt-BR" sz="1200" i="1">
                        <a:latin typeface="Cambria Math" panose="02040503050406030204" pitchFamily="18" charset="0"/>
                      </a:rPr>
                      <m:t>𝑂</m:t>
                    </m:r>
                    <m:d>
                      <m:dPr>
                        <m:ctrlPr>
                          <a:rPr lang="pt-BR" sz="1200" i="1">
                            <a:latin typeface="Cambria Math" panose="02040503050406030204" pitchFamily="18" charset="0"/>
                          </a:rPr>
                        </m:ctrlPr>
                      </m:dPr>
                      <m:e>
                        <m:sSup>
                          <m:sSupPr>
                            <m:ctrlPr>
                              <a:rPr lang="pt-BR" sz="1200" i="1">
                                <a:latin typeface="Cambria Math" panose="02040503050406030204" pitchFamily="18" charset="0"/>
                              </a:rPr>
                            </m:ctrlPr>
                          </m:sSupPr>
                          <m:e>
                            <m:r>
                              <a:rPr lang="pt-BR" sz="1200" i="1">
                                <a:latin typeface="Cambria Math" panose="02040503050406030204" pitchFamily="18" charset="0"/>
                              </a:rPr>
                              <m:t>𝑛</m:t>
                            </m:r>
                          </m:e>
                          <m:sup>
                            <m:r>
                              <a:rPr lang="pt-BR" sz="1200" b="0" i="1" smtClean="0">
                                <a:latin typeface="Cambria Math" panose="02040503050406030204" pitchFamily="18" charset="0"/>
                              </a:rPr>
                              <m:t>3</m:t>
                            </m:r>
                          </m:sup>
                        </m:sSup>
                      </m:e>
                    </m:d>
                  </m:oMath>
                </a14:m>
                <a:r>
                  <a:rPr lang="pt-BR" sz="1200" dirty="0"/>
                  <a:t>, dependendo da implementação</a:t>
                </a:r>
                <a:r>
                  <a:rPr lang="pt-BR" sz="1200" baseline="0" dirty="0"/>
                  <a:t> utilizada</a:t>
                </a:r>
                <a:r>
                  <a:rPr lang="pt-BR" sz="1200" dirty="0"/>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Um algoritmo de complexidade O(n^2) te</a:t>
                </a:r>
                <a:r>
                  <a:rPr lang="pt-BR" sz="1200" baseline="0" dirty="0"/>
                  <a:t>m crescimento </a:t>
                </a:r>
                <a:r>
                  <a:rPr lang="pt-BR" sz="1200" dirty="0"/>
                  <a:t>quadrático</a:t>
                </a:r>
                <a:r>
                  <a:rPr lang="pt-BR" sz="1200" baseline="0" dirty="0"/>
                  <a:t> e O(n^3) cúbico.</a:t>
                </a:r>
                <a:endParaRPr lang="pt-BR" sz="1200" dirty="0"/>
              </a:p>
              <a:p>
                <a:pPr marL="171450" indent="-171450">
                  <a:buFont typeface="Arial" panose="020B0604020202020204" pitchFamily="34" charset="0"/>
                  <a:buChar char="•"/>
                </a:pPr>
                <a14:m>
                  <m:oMath xmlns:m="http://schemas.openxmlformats.org/officeDocument/2006/math">
                    <m:sSup>
                      <m:sSupPr>
                        <m:ctrlPr>
                          <a:rPr lang="el-GR" sz="1200" b="1" i="1">
                            <a:latin typeface="Cambria Math" panose="02040503050406030204" pitchFamily="18" charset="0"/>
                          </a:rPr>
                        </m:ctrlPr>
                      </m:sSupPr>
                      <m:e>
                        <m:r>
                          <a:rPr lang="el-GR" sz="1200" b="1" i="1">
                            <a:latin typeface="Cambria Math" panose="02040503050406030204" pitchFamily="18" charset="0"/>
                          </a:rPr>
                          <m:t>𝜱</m:t>
                        </m:r>
                      </m:e>
                      <m:sup>
                        <m:r>
                          <a:rPr lang="pt-BR" sz="1200" i="1">
                            <a:latin typeface="Cambria Math" panose="02040503050406030204" pitchFamily="18" charset="0"/>
                          </a:rPr>
                          <m:t>𝑇</m:t>
                        </m:r>
                      </m:sup>
                    </m:sSup>
                    <m:r>
                      <a:rPr lang="el-GR" sz="1200" b="1" i="1">
                        <a:latin typeface="Cambria Math" panose="02040503050406030204" pitchFamily="18" charset="0"/>
                      </a:rPr>
                      <m:t>𝜱</m:t>
                    </m:r>
                    <m:r>
                      <a:rPr lang="pt-BR" sz="1200" b="0" i="0" smtClean="0">
                        <a:latin typeface="Cambria Math" panose="02040503050406030204" pitchFamily="18" charset="0"/>
                      </a:rPr>
                      <m:t> </m:t>
                    </m:r>
                  </m:oMath>
                </a14:m>
                <a:r>
                  <a:rPr lang="pt-BR" sz="1200" dirty="0"/>
                  <a:t>é uma matriz (</a:t>
                </a:r>
                <a14:m>
                  <m:oMath xmlns:m="http://schemas.openxmlformats.org/officeDocument/2006/math">
                    <m:r>
                      <a:rPr lang="pt-BR" sz="1200" b="0" i="1" smtClean="0">
                        <a:latin typeface="Cambria Math" panose="02040503050406030204" pitchFamily="18" charset="0"/>
                      </a:rPr>
                      <m:t>𝐾</m:t>
                    </m:r>
                    <m:r>
                      <a:rPr lang="pt-BR" sz="1200" b="0" i="1" smtClean="0">
                        <a:latin typeface="Cambria Math" panose="02040503050406030204" pitchFamily="18" charset="0"/>
                      </a:rPr>
                      <m:t>+1 ×</m:t>
                    </m:r>
                    <m:r>
                      <a:rPr lang="pt-BR" sz="1200" b="0" i="1" smtClean="0">
                        <a:latin typeface="Cambria Math" panose="02040503050406030204" pitchFamily="18" charset="0"/>
                        <a:ea typeface="Cambria Math" panose="02040503050406030204" pitchFamily="18" charset="0"/>
                      </a:rPr>
                      <m:t>𝐾</m:t>
                    </m:r>
                    <m:r>
                      <a:rPr lang="pt-BR" sz="1200" b="0" i="1" smtClean="0">
                        <a:latin typeface="Cambria Math" panose="02040503050406030204" pitchFamily="18" charset="0"/>
                        <a:ea typeface="Cambria Math" panose="02040503050406030204" pitchFamily="18" charset="0"/>
                      </a:rPr>
                      <m:t>+1</m:t>
                    </m:r>
                  </m:oMath>
                </a14:m>
                <a:r>
                  <a:rPr lang="pt-BR" sz="1200" dirty="0"/>
                  <a:t>)</a:t>
                </a:r>
              </a:p>
              <a:p>
                <a:pPr marL="171450" indent="-171450">
                  <a:buFont typeface="Arial" panose="020B0604020202020204" pitchFamily="34" charset="0"/>
                  <a:buChar char="•"/>
                </a:pPr>
                <a:r>
                  <a:rPr lang="nl-BE" sz="1200" dirty="0" err="1"/>
                  <a:t>Pesquisa</a:t>
                </a:r>
                <a:r>
                  <a:rPr lang="nl-BE" sz="1200" dirty="0"/>
                  <a:t> </a:t>
                </a:r>
                <a:r>
                  <a:rPr lang="nl-BE" sz="1200" dirty="0" err="1"/>
                  <a:t>em</a:t>
                </a:r>
                <a:r>
                  <a:rPr lang="nl-BE" sz="1200" dirty="0"/>
                  <a:t> </a:t>
                </a:r>
                <a:r>
                  <a:rPr lang="nl-BE" sz="1200" dirty="0" err="1"/>
                  <a:t>tomografia</a:t>
                </a:r>
                <a:r>
                  <a:rPr lang="nl-BE" sz="1200" dirty="0"/>
                  <a:t> </a:t>
                </a:r>
                <a:r>
                  <a:rPr lang="nl-BE" sz="1200" dirty="0" err="1"/>
                  <a:t>sísmica</a:t>
                </a:r>
                <a:r>
                  <a:rPr lang="nl-BE" sz="1200" dirty="0"/>
                  <a:t> </a:t>
                </a:r>
                <a:r>
                  <a:rPr lang="nl-BE" sz="1200" dirty="0" err="1"/>
                  <a:t>envolve</a:t>
                </a:r>
                <a:r>
                  <a:rPr lang="nl-BE" sz="1200" dirty="0"/>
                  <a:t> </a:t>
                </a:r>
                <a:r>
                  <a:rPr lang="nl-BE" sz="1200" dirty="0" err="1"/>
                  <a:t>um</a:t>
                </a:r>
                <a:r>
                  <a:rPr lang="nl-BE" sz="1200" dirty="0"/>
                  <a:t> número </a:t>
                </a:r>
                <a:r>
                  <a:rPr lang="nl-BE" sz="1200" dirty="0" err="1"/>
                  <a:t>muito</a:t>
                </a:r>
                <a:r>
                  <a:rPr lang="nl-BE" sz="1200" dirty="0"/>
                  <a:t> grande de features, da </a:t>
                </a:r>
                <a:r>
                  <a:rPr lang="nl-BE" sz="1200" dirty="0" err="1"/>
                  <a:t>ordem</a:t>
                </a:r>
                <a:r>
                  <a:rPr lang="nl-BE" sz="1200" dirty="0"/>
                  <a:t> de 10000 features.</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A equação normal é uma abordagem para encontrar os parâmetros ótimos em modelos de regressão linear. No entanto, ela apresenta algumas desvantagens:</a:t>
                </a:r>
              </a:p>
              <a:p>
                <a:endParaRPr lang="pt-BR" dirty="0"/>
              </a:p>
              <a:p>
                <a:r>
                  <a:rPr lang="pt-BR" dirty="0"/>
                  <a:t>1. **Custo Computacional Elevado:** A equação normal envolve o cálculo da matriz inversa, o que pode ser computacionalmente intensivo e demorado, especialmente para conjuntos de dados grandes. O custo computacional aumenta de forma significativa à medida que o número de características (atributos) aumenta.</a:t>
                </a:r>
              </a:p>
              <a:p>
                <a:endParaRPr lang="pt-BR" dirty="0"/>
              </a:p>
              <a:p>
                <a:r>
                  <a:rPr lang="pt-BR" dirty="0"/>
                  <a:t>2. **Sensibilidade à Singularidade e </a:t>
                </a:r>
                <a:r>
                  <a:rPr lang="pt-BR" dirty="0" err="1"/>
                  <a:t>Multicolinearidade</a:t>
                </a:r>
                <a:r>
                  <a:rPr lang="pt-BR" dirty="0"/>
                  <a:t>:** Se a matriz de características não for de plena classificação (sua determinante é próxima de zero) ou se houver </a:t>
                </a:r>
                <a:r>
                  <a:rPr lang="pt-BR" dirty="0" err="1"/>
                  <a:t>multicolinearidade</a:t>
                </a:r>
                <a:r>
                  <a:rPr lang="pt-BR" dirty="0"/>
                  <a:t> entre as variáveis, a inversão da matriz se torna mais difícil, resultando em instabilidade numérica e soluções imprecisas.</a:t>
                </a:r>
              </a:p>
              <a:p>
                <a:endParaRPr lang="pt-BR" dirty="0"/>
              </a:p>
              <a:p>
                <a:r>
                  <a:rPr lang="pt-BR" dirty="0"/>
                  <a:t>3. **Inadequado para Dados em Fluxo Contínuo:** A equação normal requer todos os dados de treinamento para calcular os parâmetros do modelo de uma vez. Isso torna a abordagem inadequada para casos em que os dados chegam em fluxo contínuo, como em aprendizado online.</a:t>
                </a:r>
              </a:p>
              <a:p>
                <a:endParaRPr lang="pt-BR" dirty="0"/>
              </a:p>
              <a:p>
                <a:r>
                  <a:rPr lang="pt-BR" dirty="0"/>
                  <a:t>4. **Sem Regulação Direta:** A equação normal não inclui diretamente mecanismos de regularização para evitar </a:t>
                </a:r>
                <a:r>
                  <a:rPr lang="pt-BR" dirty="0" err="1"/>
                  <a:t>overfitting</a:t>
                </a:r>
                <a:r>
                  <a:rPr lang="pt-BR" dirty="0"/>
                  <a:t>. Isso pode levar a problemas de generalização se o modelo se ajustar demasiadamente aos dados de treinamento.</a:t>
                </a:r>
              </a:p>
              <a:p>
                <a:endParaRPr lang="pt-BR" dirty="0"/>
              </a:p>
              <a:p>
                <a:r>
                  <a:rPr lang="pt-BR" dirty="0"/>
                  <a:t>5. **Custo para Atualizações Incrementais:** Se novos dados forem adicionados ao conjunto de treinamento ou se houver a necessidade de atualizar os parâmetros do modelo, a equação normal precisará ser recalculada desde o início, o que pode ser ineficiente.</a:t>
                </a:r>
              </a:p>
              <a:p>
                <a:endParaRPr lang="pt-BR" dirty="0"/>
              </a:p>
              <a:p>
                <a:r>
                  <a:rPr lang="pt-BR" dirty="0"/>
                  <a:t>6. **Memória e Espaço:** A inversão de matrizes e os cálculos associados podem exigir uma quantidade significativa de memória e espaço, o que pode ser limitante em ambientes com recursos restritos.</a:t>
                </a:r>
              </a:p>
              <a:p>
                <a:endParaRPr lang="pt-BR" dirty="0"/>
              </a:p>
              <a:p>
                <a:r>
                  <a:rPr lang="pt-BR" dirty="0"/>
                  <a:t>Devido a essas desvantagens, especialmente quando lidando com grandes conjuntos de dados ou problemas de </a:t>
                </a:r>
                <a:r>
                  <a:rPr lang="pt-BR" dirty="0" err="1"/>
                  <a:t>multicolinearidade</a:t>
                </a:r>
                <a:r>
                  <a:rPr lang="pt-BR" dirty="0"/>
                  <a:t>, muitas vezes outras abordagens de otimização, como o método do gradiente descendente, são preferidas para encontrar os parâmetros ótimos em modelos de regressão linear.</a:t>
                </a:r>
              </a:p>
              <a:p>
                <a:endParaRPr lang="pt-BR"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A solução da </a:t>
                </a:r>
                <a:r>
                  <a:rPr lang="pt-BR" sz="1200" b="1" i="1" dirty="0"/>
                  <a:t>equação normal </a:t>
                </a:r>
                <a:r>
                  <a:rPr lang="pt-BR" sz="1200" dirty="0"/>
                  <a:t>envolve o calculo</a:t>
                </a:r>
                <a:r>
                  <a:rPr lang="pt-BR" sz="1200" baseline="0" dirty="0"/>
                  <a:t> da</a:t>
                </a:r>
                <a:r>
                  <a:rPr lang="pt-BR" sz="1200" dirty="0"/>
                  <a:t> inversa de </a:t>
                </a:r>
                <a:r>
                  <a:rPr lang="el-GR" sz="1200" b="1" i="0">
                    <a:latin typeface="Cambria Math" panose="02040503050406030204" pitchFamily="18" charset="0"/>
                  </a:rPr>
                  <a:t>𝜱</a:t>
                </a:r>
                <a:r>
                  <a:rPr lang="nl-BE" sz="1200" b="1" i="0">
                    <a:latin typeface="Cambria Math" panose="02040503050406030204" pitchFamily="18" charset="0"/>
                  </a:rPr>
                  <a:t>^</a:t>
                </a:r>
                <a:r>
                  <a:rPr lang="pt-BR" sz="1200" i="0">
                    <a:latin typeface="Cambria Math" panose="02040503050406030204" pitchFamily="18" charset="0"/>
                  </a:rPr>
                  <a:t>𝑇</a:t>
                </a:r>
                <a:r>
                  <a:rPr lang="el-GR" sz="1200" b="1" i="0">
                    <a:latin typeface="Cambria Math" panose="02040503050406030204" pitchFamily="18" charset="0"/>
                  </a:rPr>
                  <a:t> 𝜱</a:t>
                </a:r>
                <a:r>
                  <a:rPr lang="nl-BE" sz="1200" i="0" dirty="0">
                    <a:latin typeface="Cambria Math" panose="02040503050406030204" pitchFamily="18" charset="0"/>
                  </a:rPr>
                  <a:t>, o </a:t>
                </a:r>
                <a:r>
                  <a:rPr lang="nl-BE" sz="1200" i="0" dirty="0" err="1">
                    <a:latin typeface="Cambria Math" panose="02040503050406030204" pitchFamily="18" charset="0"/>
                  </a:rPr>
                  <a:t>qual</a:t>
                </a:r>
                <a:r>
                  <a:rPr lang="nl-BE" sz="1200" i="0" baseline="0" dirty="0">
                    <a:latin typeface="Cambria Math" panose="02040503050406030204" pitchFamily="18" charset="0"/>
                  </a:rPr>
                  <a:t> tem </a:t>
                </a:r>
                <a:r>
                  <a:rPr lang="nl-BE" sz="1200" i="0" baseline="0" dirty="0" err="1">
                    <a:latin typeface="Cambria Math" panose="02040503050406030204" pitchFamily="18" charset="0"/>
                  </a:rPr>
                  <a:t>complexidade</a:t>
                </a:r>
                <a:r>
                  <a:rPr lang="nl-BE" sz="1200" i="0" baseline="0" dirty="0">
                    <a:latin typeface="Cambria Math" panose="02040503050406030204" pitchFamily="18" charset="0"/>
                  </a:rPr>
                  <a:t> </a:t>
                </a:r>
                <a:r>
                  <a:rPr lang="nl-BE" sz="1200" i="0" baseline="0" dirty="0" err="1">
                    <a:latin typeface="Cambria Math" panose="02040503050406030204" pitchFamily="18" charset="0"/>
                  </a:rPr>
                  <a:t>computacional</a:t>
                </a:r>
                <a:r>
                  <a:rPr lang="nl-BE" sz="1200" i="0" baseline="0" dirty="0">
                    <a:latin typeface="Cambria Math" panose="02040503050406030204" pitchFamily="18" charset="0"/>
                  </a:rPr>
                  <a:t> </a:t>
                </a:r>
                <a:r>
                  <a:rPr lang="nl-BE" sz="1200" i="0" baseline="0" dirty="0" err="1">
                    <a:latin typeface="Cambria Math" panose="02040503050406030204" pitchFamily="18" charset="0"/>
                  </a:rPr>
                  <a:t>variando</a:t>
                </a:r>
                <a:r>
                  <a:rPr lang="nl-BE" sz="1200" i="0" baseline="0" dirty="0">
                    <a:latin typeface="Cambria Math" panose="02040503050406030204" pitchFamily="18" charset="0"/>
                  </a:rPr>
                  <a:t> </a:t>
                </a:r>
                <a:r>
                  <a:rPr lang="nl-BE" sz="1200" i="0" baseline="0" dirty="0" err="1">
                    <a:latin typeface="Cambria Math" panose="02040503050406030204" pitchFamily="18" charset="0"/>
                  </a:rPr>
                  <a:t>entre</a:t>
                </a:r>
                <a:r>
                  <a:rPr lang="nl-BE" sz="1200" i="0" baseline="0" dirty="0">
                    <a:latin typeface="Cambria Math" panose="02040503050406030204" pitchFamily="18" charset="0"/>
                  </a:rPr>
                  <a:t> </a:t>
                </a:r>
                <a:r>
                  <a:rPr lang="pt-BR" sz="1200" b="0" i="0">
                    <a:latin typeface="Cambria Math" panose="02040503050406030204" pitchFamily="18" charset="0"/>
                  </a:rPr>
                  <a:t>𝑂(𝑛^2.4)</a:t>
                </a:r>
                <a:r>
                  <a:rPr lang="pt-BR" sz="1200" dirty="0"/>
                  <a:t> e </a:t>
                </a:r>
                <a:r>
                  <a:rPr lang="pt-BR" sz="1200" i="0">
                    <a:latin typeface="Cambria Math" panose="02040503050406030204" pitchFamily="18" charset="0"/>
                  </a:rPr>
                  <a:t>𝑂(𝑛^</a:t>
                </a:r>
                <a:r>
                  <a:rPr lang="pt-BR" sz="1200" b="0" i="0">
                    <a:latin typeface="Cambria Math" panose="02040503050406030204" pitchFamily="18" charset="0"/>
                  </a:rPr>
                  <a:t>3 )</a:t>
                </a:r>
                <a:r>
                  <a:rPr lang="pt-BR" sz="1200" dirty="0"/>
                  <a:t>, dependendo da implementação</a:t>
                </a:r>
                <a:r>
                  <a:rPr lang="pt-BR" sz="1200" baseline="0" dirty="0"/>
                  <a:t> utilizada</a:t>
                </a:r>
                <a:r>
                  <a:rPr lang="pt-BR" sz="1200" dirty="0"/>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Um algoritmo de complexidade O(n^2) te</a:t>
                </a:r>
                <a:r>
                  <a:rPr lang="pt-BR" sz="1200" baseline="0" dirty="0"/>
                  <a:t>m crescimento </a:t>
                </a:r>
                <a:r>
                  <a:rPr lang="pt-BR" sz="1200" dirty="0"/>
                  <a:t>quadrático</a:t>
                </a:r>
                <a:r>
                  <a:rPr lang="pt-BR" sz="1200" baseline="0" dirty="0"/>
                  <a:t> e O(n^3) cúbico.</a:t>
                </a:r>
                <a:endParaRPr lang="pt-BR" sz="1200" dirty="0"/>
              </a:p>
              <a:p>
                <a:pPr marL="171450" indent="-171450">
                  <a:buFont typeface="Arial" panose="020B0604020202020204" pitchFamily="34" charset="0"/>
                  <a:buChar char="•"/>
                </a:pPr>
                <a:r>
                  <a:rPr lang="el-GR" sz="1200" b="1" i="0">
                    <a:latin typeface="Cambria Math" panose="02040503050406030204" pitchFamily="18" charset="0"/>
                  </a:rPr>
                  <a:t>𝜱</a:t>
                </a:r>
                <a:r>
                  <a:rPr lang="nl-BE" sz="1200" b="1" i="0">
                    <a:latin typeface="Cambria Math" panose="02040503050406030204" pitchFamily="18" charset="0"/>
                  </a:rPr>
                  <a:t>^</a:t>
                </a:r>
                <a:r>
                  <a:rPr lang="pt-BR" sz="1200" i="0">
                    <a:latin typeface="Cambria Math" panose="02040503050406030204" pitchFamily="18" charset="0"/>
                  </a:rPr>
                  <a:t>𝑇</a:t>
                </a:r>
                <a:r>
                  <a:rPr lang="el-GR" sz="1200" b="1" i="0">
                    <a:latin typeface="Cambria Math" panose="02040503050406030204" pitchFamily="18" charset="0"/>
                  </a:rPr>
                  <a:t> 𝜱</a:t>
                </a:r>
                <a:r>
                  <a:rPr lang="pt-BR" sz="1200" b="0" i="0">
                    <a:latin typeface="Cambria Math" panose="02040503050406030204" pitchFamily="18" charset="0"/>
                  </a:rPr>
                  <a:t> </a:t>
                </a:r>
                <a:r>
                  <a:rPr lang="pt-BR" sz="1200" dirty="0"/>
                  <a:t>é uma matriz (</a:t>
                </a:r>
                <a:r>
                  <a:rPr lang="pt-BR" sz="1200" b="0" i="0">
                    <a:latin typeface="Cambria Math" panose="02040503050406030204" pitchFamily="18" charset="0"/>
                  </a:rPr>
                  <a:t>𝐾+1 ×</a:t>
                </a:r>
                <a:r>
                  <a:rPr lang="pt-BR" sz="1200" b="0" i="0">
                    <a:latin typeface="Cambria Math" panose="02040503050406030204" pitchFamily="18" charset="0"/>
                    <a:ea typeface="Cambria Math" panose="02040503050406030204" pitchFamily="18" charset="0"/>
                  </a:rPr>
                  <a:t>𝐾+1</a:t>
                </a:r>
                <a:r>
                  <a:rPr lang="pt-BR" sz="1200" dirty="0"/>
                  <a:t>)</a:t>
                </a:r>
              </a:p>
              <a:p>
                <a:pPr marL="171450" indent="-171450">
                  <a:buFont typeface="Arial" panose="020B0604020202020204" pitchFamily="34" charset="0"/>
                  <a:buChar char="•"/>
                </a:pPr>
                <a:r>
                  <a:rPr lang="nl-BE" sz="1200" dirty="0" err="1"/>
                  <a:t>Pesquisa</a:t>
                </a:r>
                <a:r>
                  <a:rPr lang="nl-BE" sz="1200" dirty="0"/>
                  <a:t> </a:t>
                </a:r>
                <a:r>
                  <a:rPr lang="nl-BE" sz="1200" dirty="0" err="1"/>
                  <a:t>em</a:t>
                </a:r>
                <a:r>
                  <a:rPr lang="nl-BE" sz="1200" dirty="0"/>
                  <a:t> </a:t>
                </a:r>
                <a:r>
                  <a:rPr lang="nl-BE" sz="1200" dirty="0" err="1"/>
                  <a:t>tomografia</a:t>
                </a:r>
                <a:r>
                  <a:rPr lang="nl-BE" sz="1200" dirty="0"/>
                  <a:t> </a:t>
                </a:r>
                <a:r>
                  <a:rPr lang="nl-BE" sz="1200" dirty="0" err="1"/>
                  <a:t>sísmica</a:t>
                </a:r>
                <a:r>
                  <a:rPr lang="nl-BE" sz="1200" dirty="0"/>
                  <a:t> </a:t>
                </a:r>
                <a:r>
                  <a:rPr lang="nl-BE" sz="1200" dirty="0" err="1"/>
                  <a:t>envolve</a:t>
                </a:r>
                <a:r>
                  <a:rPr lang="nl-BE" sz="1200" dirty="0"/>
                  <a:t> </a:t>
                </a:r>
                <a:r>
                  <a:rPr lang="nl-BE" sz="1200" dirty="0" err="1"/>
                  <a:t>um</a:t>
                </a:r>
                <a:r>
                  <a:rPr lang="nl-BE" sz="1200" dirty="0"/>
                  <a:t> número </a:t>
                </a:r>
                <a:r>
                  <a:rPr lang="nl-BE" sz="1200" dirty="0" err="1"/>
                  <a:t>muito</a:t>
                </a:r>
                <a:r>
                  <a:rPr lang="nl-BE" sz="1200" dirty="0"/>
                  <a:t> grande de features, da </a:t>
                </a:r>
                <a:r>
                  <a:rPr lang="nl-BE" sz="1200" dirty="0" err="1"/>
                  <a:t>ordem</a:t>
                </a:r>
                <a:r>
                  <a:rPr lang="nl-BE" sz="1200" dirty="0"/>
                  <a:t> de 10000 features.</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49</a:t>
            </a:fld>
            <a:endParaRPr lang="nl-BE"/>
          </a:p>
        </p:txBody>
      </p:sp>
    </p:spTree>
    <p:extLst>
      <p:ext uri="{BB962C8B-B14F-4D97-AF65-F5344CB8AC3E}">
        <p14:creationId xmlns:p14="http://schemas.microsoft.com/office/powerpoint/2010/main" val="150852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Laboratório #2</a:t>
            </a:r>
            <a:r>
              <a:rPr lang="pt-BR" dirty="0"/>
              <a:t>: https://mybinder.org/v2/gh/zz4fap/t319_aprendizado_de_maquina/main?filepath=labs%2FLaboratorio2.ipynb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Laboratório #2</a:t>
            </a:r>
            <a:r>
              <a:rPr lang="pt-BR" dirty="0"/>
              <a:t>: https://colab.research.google.com/github/zz4fap/t319_aprendizado_de_maquina/blob/main/labs/Laboratorio2.ipynb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29588005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14/08/2026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14/08/2026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14/08/2026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14/08/2026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14/08/2026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14/08/2026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14/08/2026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14/08/2026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14/08/2026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14/08/2026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14/08/2026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14/08/2026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ster/notebooks/regression/normal_equation_example1.ipynb"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8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51.png"/></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4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hyperlink" Target="https://colab.research.google.com/github/zz4fap/t319_aprendizado_de_maquina/blob/main/notebooks/regression/error_surface_example2.ipynb"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63.png"/><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5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2.ipynb"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8.jpeg"/><Relationship Id="rId7" Type="http://schemas.openxmlformats.org/officeDocument/2006/relationships/image" Target="../media/image72.png"/><Relationship Id="rId2" Type="http://schemas.openxmlformats.org/officeDocument/2006/relationships/image" Target="../media/image67.jpe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jpeg"/></Relationships>
</file>

<file path=ppt/slides/_rels/slide56.xml.rels><?xml version="1.0" encoding="UTF-8" standalone="yes"?>
<Relationships xmlns="http://schemas.openxmlformats.org/package/2006/relationships"><Relationship Id="rId3" Type="http://schemas.openxmlformats.org/officeDocument/2006/relationships/image" Target="../media/image68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690.png"/></Relationships>
</file>

<file path=ppt/slides/_rels/slide57.xml.rels><?xml version="1.0" encoding="UTF-8" standalone="yes"?>
<Relationships xmlns="http://schemas.openxmlformats.org/package/2006/relationships"><Relationship Id="rId8" Type="http://schemas.openxmlformats.org/officeDocument/2006/relationships/image" Target="../media/image300.png"/><Relationship Id="rId7" Type="http://schemas.openxmlformats.org/officeDocument/2006/relationships/image" Target="../media/image290.png"/><Relationship Id="rId1" Type="http://schemas.openxmlformats.org/officeDocument/2006/relationships/slideLayout" Target="../slideLayouts/slideLayout2.xml"/><Relationship Id="rId6" Type="http://schemas.openxmlformats.org/officeDocument/2006/relationships/image" Target="../media/image281.png"/><Relationship Id="rId5" Type="http://schemas.openxmlformats.org/officeDocument/2006/relationships/image" Target="../media/image27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mc:Choice xmlns:a14="http://schemas.microsoft.com/office/drawing/2010/main"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há piscina, localização, área, etc. de uma casa e seu valor.</a:t>
                </a:r>
              </a:p>
              <a:p>
                <a:r>
                  <a:rPr lang="pt-BR" b="1" dirty="0">
                    <a:solidFill>
                      <a:srgbClr val="00B050"/>
                    </a:solidFill>
                  </a:rPr>
                  <a:t>Objetivo</a:t>
                </a:r>
                <a:r>
                  <a:rPr lang="pt-BR" dirty="0"/>
                  <a:t>: agilizar o processo de avaliação de propriedades.</a:t>
                </a:r>
              </a:p>
            </p:txBody>
          </p:sp>
        </mc:Choice>
        <mc:Fallback>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mais simples, antigos e usados algoritmos de aprendizado de máquina.</a:t>
            </a:r>
          </a:p>
          <a:p>
            <a:r>
              <a:rPr lang="pt-BR" dirty="0"/>
              <a:t>Ela também é conhecida como </a:t>
            </a:r>
            <a:r>
              <a:rPr lang="pt-BR" b="1" i="1" dirty="0"/>
              <a:t>aproximação de funções</a:t>
            </a:r>
            <a:r>
              <a:rPr lang="pt-BR" dirty="0"/>
              <a:t> ou </a:t>
            </a:r>
            <a:r>
              <a:rPr lang="pt-BR" b="1" i="1" dirty="0"/>
              <a:t>ajuste de curvas</a:t>
            </a:r>
            <a:r>
              <a:rPr lang="pt-BR" dirty="0"/>
              <a:t>.</a:t>
            </a:r>
          </a:p>
          <a:p>
            <a:pPr lvl="1">
              <a:buFont typeface="Wingdings" panose="05000000000000000000" pitchFamily="2" charset="2"/>
              <a:buChar char="§"/>
            </a:pPr>
            <a:r>
              <a:rPr lang="pt-BR" dirty="0"/>
              <a:t>Por exemplo, ajustar uma função aos dados de vendas de picolés.</a:t>
            </a:r>
          </a:p>
          <a:p>
            <a:r>
              <a:rPr lang="pt-BR" dirty="0"/>
              <a:t>Vai nos dar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12" name="Group 11">
            <a:extLst>
              <a:ext uri="{FF2B5EF4-FFF2-40B4-BE49-F238E27FC236}">
                <a16:creationId xmlns:a16="http://schemas.microsoft.com/office/drawing/2014/main" id="{3AF05E5A-932D-6589-9054-30A049F68E61}"/>
              </a:ext>
            </a:extLst>
          </p:cNvPr>
          <p:cNvGrpSpPr/>
          <p:nvPr/>
        </p:nvGrpSpPr>
        <p:grpSpPr>
          <a:xfrm>
            <a:off x="313057" y="2511846"/>
            <a:ext cx="4622500" cy="3152391"/>
            <a:chOff x="313057" y="2511846"/>
            <a:chExt cx="4622500" cy="3152391"/>
          </a:xfrm>
        </p:grpSpPr>
        <p:grpSp>
          <p:nvGrpSpPr>
            <p:cNvPr id="13" name="Agrupar 8">
              <a:extLst>
                <a:ext uri="{FF2B5EF4-FFF2-40B4-BE49-F238E27FC236}">
                  <a16:creationId xmlns:a16="http://schemas.microsoft.com/office/drawing/2014/main" id="{3526829B-342A-3192-1F17-04A9EC259A13}"/>
                </a:ext>
              </a:extLst>
            </p:cNvPr>
            <p:cNvGrpSpPr/>
            <p:nvPr/>
          </p:nvGrpSpPr>
          <p:grpSpPr>
            <a:xfrm>
              <a:off x="313057" y="2511846"/>
              <a:ext cx="4622500" cy="3152391"/>
              <a:chOff x="379861" y="2379643"/>
              <a:chExt cx="4622500" cy="3152391"/>
            </a:xfrm>
          </p:grpSpPr>
          <p:pic>
            <p:nvPicPr>
              <p:cNvPr id="15" name="Imagem 4">
                <a:extLst>
                  <a:ext uri="{FF2B5EF4-FFF2-40B4-BE49-F238E27FC236}">
                    <a16:creationId xmlns:a16="http://schemas.microsoft.com/office/drawing/2014/main" id="{B99C76AA-CE06-7057-B023-D3FB4D39776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6" name="CaixaDeTexto 5">
                    <a:extLst>
                      <a:ext uri="{FF2B5EF4-FFF2-40B4-BE49-F238E27FC236}">
                        <a16:creationId xmlns:a16="http://schemas.microsoft.com/office/drawing/2014/main" id="{4BCB087D-6BE9-413C-9356-8E72418F7FB8}"/>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7" name="Conector de Seta Reta 7">
                <a:extLst>
                  <a:ext uri="{FF2B5EF4-FFF2-40B4-BE49-F238E27FC236}">
                    <a16:creationId xmlns:a16="http://schemas.microsoft.com/office/drawing/2014/main" id="{FA04B7F8-8CB5-C9FC-E3E8-7C9CD373B6C1}"/>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4" name="CaixaDeTexto 3">
                  <a:extLst>
                    <a:ext uri="{FF2B5EF4-FFF2-40B4-BE49-F238E27FC236}">
                      <a16:creationId xmlns:a16="http://schemas.microsoft.com/office/drawing/2014/main" id="{6CE772DD-5FFC-2155-4FE7-195A7EEB391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14" name="CaixaDeTexto 3">
                  <a:extLst>
                    <a:ext uri="{FF2B5EF4-FFF2-40B4-BE49-F238E27FC236}">
                      <a16:creationId xmlns:a16="http://schemas.microsoft.com/office/drawing/2014/main" id="{6CE772DD-5FFC-2155-4FE7-195A7EEB391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194805" y="1825624"/>
                <a:ext cx="6890699"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i="1" dirty="0">
                    <a:solidFill>
                      <a:srgbClr val="00B050"/>
                    </a:solidFill>
                  </a:rPr>
                  <a:t>mapeie</a:t>
                </a:r>
                <a:r>
                  <a:rPr lang="pt-BR" dirty="0"/>
                  <a:t> as entradas,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i="1" dirty="0">
                    <a:solidFill>
                      <a:srgbClr val="00B050"/>
                    </a:solidFill>
                  </a:rPr>
                  <a:t>forma ótima</a:t>
                </a:r>
                <a:r>
                  <a:rPr lang="pt-BR" dirty="0"/>
                  <a:t>.</a:t>
                </a:r>
              </a:p>
              <a:p>
                <a:pPr lvl="1">
                  <a:buFont typeface="Wingdings" panose="05000000000000000000" pitchFamily="2" charset="2"/>
                  <a:buChar char="§"/>
                </a:pPr>
                <a:r>
                  <a:rPr lang="pt-BR" b="0" i="0" dirty="0">
                    <a:solidFill>
                      <a:schemeClr val="tx1"/>
                    </a:solidFill>
                    <a:effectLst/>
                  </a:rPr>
                  <a:t>Ótimo no sentido da </a:t>
                </a:r>
                <a:r>
                  <a:rPr lang="pt-BR" b="1" i="1" dirty="0">
                    <a:solidFill>
                      <a:srgbClr val="00B050"/>
                    </a:solidFill>
                    <a:effectLst/>
                  </a:rPr>
                  <a:t>minimização da diferença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ℎ</m:t>
                    </m:r>
                    <m:d>
                      <m:dPr>
                        <m:ctrlPr>
                          <a:rPr lang="pt-BR" b="1" i="1" smtClean="0">
                            <a:solidFill>
                              <a:schemeClr val="tx1"/>
                            </a:solidFill>
                            <a:latin typeface="Cambria Math" panose="02040503050406030204" pitchFamily="18" charset="0"/>
                          </a:rPr>
                        </m:ctrlPr>
                      </m:dPr>
                      <m:e>
                        <m:r>
                          <a:rPr lang="pt-BR" b="1" i="1" smtClean="0">
                            <a:solidFill>
                              <a:schemeClr val="tx1"/>
                            </a:solidFill>
                            <a:latin typeface="Cambria Math" panose="02040503050406030204" pitchFamily="18" charset="0"/>
                          </a:rPr>
                          <m:t>𝒙</m:t>
                        </m:r>
                      </m:e>
                    </m:d>
                  </m:oMath>
                </a14:m>
                <a:r>
                  <a:rPr lang="pt-BR" b="0" i="0" dirty="0">
                    <a:solidFill>
                      <a:schemeClr val="tx1"/>
                    </a:solidFill>
                    <a:effectLst/>
                  </a:rPr>
                  <a:t> e os </a:t>
                </a:r>
                <a:r>
                  <a:rPr lang="pt-BR" dirty="0"/>
                  <a:t>valores de saída esperados,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a:p>
                <a:r>
                  <a:rPr lang="pt-BR" dirty="0"/>
                  <a:t>No contexto da regressão linear, nós chamamos as entradas, </a:t>
                </a:r>
                <a14:m>
                  <m:oMath xmlns:m="http://schemas.openxmlformats.org/officeDocument/2006/math">
                    <m:r>
                      <a:rPr lang="pt-BR" b="1" i="1" smtClean="0">
                        <a:latin typeface="Cambria Math" panose="02040503050406030204" pitchFamily="18" charset="0"/>
                      </a:rPr>
                      <m:t>𝒙</m:t>
                    </m:r>
                  </m:oMath>
                </a14:m>
                <a:r>
                  <a:rPr lang="pt-BR" dirty="0"/>
                  <a:t>, de </a:t>
                </a:r>
                <a:r>
                  <a:rPr lang="pt-BR" b="1" i="1" dirty="0">
                    <a:solidFill>
                      <a:srgbClr val="00B0F0"/>
                    </a:solidFill>
                  </a:rPr>
                  <a:t>atributos</a:t>
                </a:r>
                <a:r>
                  <a:rPr lang="pt-BR" dirty="0"/>
                  <a:t> e os valores de saída esperados, </a:t>
                </a:r>
                <a14:m>
                  <m:oMath xmlns:m="http://schemas.openxmlformats.org/officeDocument/2006/math">
                    <m:r>
                      <a:rPr lang="pt-BR" b="0" i="1" smtClean="0">
                        <a:latin typeface="Cambria Math" panose="02040503050406030204" pitchFamily="18" charset="0"/>
                      </a:rPr>
                      <m:t>𝑦</m:t>
                    </m:r>
                  </m:oMath>
                </a14:m>
                <a:r>
                  <a:rPr lang="pt-BR" dirty="0"/>
                  <a:t>, de </a:t>
                </a:r>
                <a:r>
                  <a:rPr lang="pt-BR" b="1" i="1" dirty="0">
                    <a:solidFill>
                      <a:srgbClr val="00B0F0"/>
                    </a:solidFill>
                  </a:rPr>
                  <a:t>rótulos</a:t>
                </a:r>
                <a:r>
                  <a:rPr lang="pt-BR" dirty="0"/>
                  <a:t>.</a:t>
                </a:r>
              </a:p>
              <a:p>
                <a:pPr lvl="1">
                  <a:buFont typeface="Wingdings" panose="05000000000000000000" pitchFamily="2" charset="2"/>
                  <a:buChar char="§"/>
                </a:pPr>
                <a:r>
                  <a:rPr lang="pt-BR" dirty="0"/>
                  <a:t>Vários pares de </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i="1">
                        <a:latin typeface="Cambria Math" panose="02040503050406030204" pitchFamily="18" charset="0"/>
                      </a:rPr>
                      <m:t>𝑦</m:t>
                    </m:r>
                  </m:oMath>
                </a14:m>
                <a:r>
                  <a:rPr lang="pt-BR" dirty="0"/>
                  <a:t> formam o </a:t>
                </a:r>
                <a:r>
                  <a:rPr lang="pt-BR" b="1" i="1" dirty="0">
                    <a:solidFill>
                      <a:srgbClr val="00B0F0"/>
                    </a:solidFill>
                  </a:rPr>
                  <a:t>conjunto de dados</a:t>
                </a:r>
                <a:r>
                  <a:rPr lang="pt-BR" dirty="0"/>
                  <a:t>, onde parte é usada para </a:t>
                </a:r>
                <a:r>
                  <a:rPr lang="pt-BR" b="1" i="1" dirty="0">
                    <a:solidFill>
                      <a:srgbClr val="00B0F0"/>
                    </a:solidFill>
                  </a:rPr>
                  <a:t>treinamento</a:t>
                </a:r>
                <a:r>
                  <a:rPr lang="pt-BR" dirty="0"/>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194805" y="1825624"/>
                <a:ext cx="6890699" cy="5032375"/>
              </a:xfrm>
              <a:blipFill>
                <a:blip r:embed="rId3"/>
                <a:stretch>
                  <a:fillRect l="-1592" t="-1937" r="-531"/>
                </a:stretch>
              </a:blipFill>
            </p:spPr>
            <p:txBody>
              <a:bodyPr/>
              <a:lstStyle/>
              <a:p>
                <a:r>
                  <a:rPr lang="pt-BR">
                    <a:noFill/>
                  </a:rPr>
                  <a:t> </a:t>
                </a:r>
              </a:p>
            </p:txBody>
          </p:sp>
        </mc:Fallback>
      </mc:AlternateContent>
      <p:grpSp>
        <p:nvGrpSpPr>
          <p:cNvPr id="7" name="Group 6">
            <a:extLst>
              <a:ext uri="{FF2B5EF4-FFF2-40B4-BE49-F238E27FC236}">
                <a16:creationId xmlns:a16="http://schemas.microsoft.com/office/drawing/2014/main" id="{22C102DF-6D83-721F-DDAE-DED5CCC92B45}"/>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4CBF6DF1-1297-CD1E-CD15-EC7A75E322E9}"/>
                  </a:ext>
                </a:extLst>
              </p:cNvPr>
              <p:cNvSpPr>
                <a:spLocks noGrp="1"/>
              </p:cNvSpPr>
              <p:nvPr>
                <p:ph type="title"/>
              </p:nvPr>
            </p:nvSpPr>
            <p:spPr/>
            <p:txBody>
              <a:bodyPr/>
              <a:lstStyle/>
              <a:p>
                <a:r>
                  <a:rPr lang="pt-BR" dirty="0"/>
                  <a:t>Relação matemática real entre </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b="0" i="1" smtClean="0">
                        <a:latin typeface="Cambria Math" panose="02040503050406030204" pitchFamily="18" charset="0"/>
                      </a:rPr>
                      <m:t>𝑦</m:t>
                    </m:r>
                  </m:oMath>
                </a14:m>
                <a:endParaRPr lang="pt-BR" dirty="0"/>
              </a:p>
            </p:txBody>
          </p:sp>
        </mc:Choice>
        <mc:Fallback xmlns="">
          <p:sp>
            <p:nvSpPr>
              <p:cNvPr id="2" name="Título 1">
                <a:extLst>
                  <a:ext uri="{FF2B5EF4-FFF2-40B4-BE49-F238E27FC236}">
                    <a16:creationId xmlns:a16="http://schemas.microsoft.com/office/drawing/2014/main" id="{4CBF6DF1-1297-CD1E-CD15-EC7A75E322E9}"/>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A367B54-D91F-AB10-524B-BD59524CBF8F}"/>
                  </a:ext>
                </a:extLst>
              </p:cNvPr>
              <p:cNvSpPr>
                <a:spLocks noGrp="1"/>
              </p:cNvSpPr>
              <p:nvPr>
                <p:ph idx="1"/>
              </p:nvPr>
            </p:nvSpPr>
            <p:spPr>
              <a:xfrm>
                <a:off x="5310131" y="1825624"/>
                <a:ext cx="6720290" cy="5032375"/>
              </a:xfrm>
            </p:spPr>
            <p:txBody>
              <a:bodyPr>
                <a:normAutofit/>
              </a:bodyPr>
              <a:lstStyle/>
              <a:p>
                <a:r>
                  <a:rPr lang="pt-BR" dirty="0"/>
                  <a:t>Na grande maioria dos casos, </a:t>
                </a:r>
                <a:r>
                  <a:rPr lang="pt-BR" b="1" i="1" dirty="0">
                    <a:solidFill>
                      <a:srgbClr val="7030A0"/>
                    </a:solidFill>
                  </a:rPr>
                  <a:t>não existe uma função por trás da relação </a:t>
                </a:r>
                <a:r>
                  <a:rPr lang="pt-BR" dirty="0"/>
                  <a:t>entre os </a:t>
                </a:r>
                <a:r>
                  <a:rPr lang="pt-BR" b="1" i="1" dirty="0"/>
                  <a:t>atributos</a:t>
                </a:r>
                <a:r>
                  <a:rPr lang="pt-BR" b="0" i="0" dirty="0">
                    <a:effectLst/>
                  </a:rPr>
                  <a:t>, </a:t>
                </a:r>
                <a14:m>
                  <m:oMath xmlns:m="http://schemas.openxmlformats.org/officeDocument/2006/math">
                    <m:r>
                      <a:rPr lang="pt-BR" b="1" i="1" smtClean="0">
                        <a:effectLst/>
                        <a:latin typeface="Cambria Math" panose="02040503050406030204" pitchFamily="18" charset="0"/>
                      </a:rPr>
                      <m:t>𝒙</m:t>
                    </m:r>
                  </m:oMath>
                </a14:m>
                <a:r>
                  <a:rPr lang="pt-BR" b="0" i="0" dirty="0">
                    <a:effectLst/>
                  </a:rPr>
                  <a:t>, e os </a:t>
                </a:r>
                <a:r>
                  <a:rPr lang="pt-BR" b="1" i="1" dirty="0">
                    <a:effectLst/>
                  </a:rPr>
                  <a:t>rótulos</a:t>
                </a:r>
                <a:r>
                  <a:rPr lang="pt-BR" dirty="0">
                    <a:effectLst/>
                  </a:rPr>
                  <a:t>,</a:t>
                </a:r>
                <a:r>
                  <a:rPr lang="pt-BR" b="0" i="0" dirty="0">
                    <a:effectLst/>
                  </a:rPr>
                  <a:t> </a:t>
                </a:r>
                <a14:m>
                  <m:oMath xmlns:m="http://schemas.openxmlformats.org/officeDocument/2006/math">
                    <m:r>
                      <a:rPr lang="pt-BR" b="0" i="1" smtClean="0">
                        <a:effectLst/>
                        <a:latin typeface="Cambria Math" panose="02040503050406030204" pitchFamily="18" charset="0"/>
                      </a:rPr>
                      <m:t>𝑦</m:t>
                    </m:r>
                  </m:oMath>
                </a14:m>
                <a:r>
                  <a:rPr lang="pt-BR" b="0" i="0" dirty="0">
                    <a:effectLst/>
                  </a:rPr>
                  <a:t>, de um conjunto de dados.</a:t>
                </a:r>
              </a:p>
              <a:p>
                <a:r>
                  <a:rPr lang="pt-BR" dirty="0"/>
                  <a:t>Porém, mesmo nestes casos, podemos </a:t>
                </a:r>
                <a:r>
                  <a:rPr lang="pt-BR" b="1" i="1" dirty="0">
                    <a:solidFill>
                      <a:srgbClr val="00B0F0"/>
                    </a:solidFill>
                  </a:rPr>
                  <a:t>modelar</a:t>
                </a:r>
                <a:r>
                  <a:rPr lang="pt-BR" dirty="0"/>
                  <a:t> a relação entre eles da </a:t>
                </a:r>
                <a:r>
                  <a:rPr lang="pt-BR" b="1" i="1" dirty="0">
                    <a:solidFill>
                      <a:schemeClr val="accent1"/>
                    </a:solidFill>
                  </a:rPr>
                  <a:t>melhor forma possível </a:t>
                </a:r>
                <a:r>
                  <a:rPr lang="pt-BR" dirty="0"/>
                  <a:t>usando regressão.</a:t>
                </a:r>
              </a:p>
              <a:p>
                <a:r>
                  <a:rPr lang="pt-BR" dirty="0"/>
                  <a:t>Nos casos onde essa função existe, a chamamos de </a:t>
                </a:r>
                <a:r>
                  <a:rPr lang="pt-BR" b="1" i="1" dirty="0">
                    <a:solidFill>
                      <a:srgbClr val="00B050"/>
                    </a:solidFill>
                  </a:rPr>
                  <a:t>função verdadeira </a:t>
                </a:r>
                <a:r>
                  <a:rPr lang="pt-BR" dirty="0"/>
                  <a:t>ou </a:t>
                </a:r>
                <a:r>
                  <a:rPr lang="pt-BR" b="1" i="1" dirty="0">
                    <a:solidFill>
                      <a:srgbClr val="00B050"/>
                    </a:solidFill>
                  </a:rPr>
                  <a:t>objetivo</a:t>
                </a:r>
                <a:r>
                  <a:rPr lang="pt-BR" dirty="0"/>
                  <a:t>, a qual é, normalmente, denotada por </a:t>
                </a:r>
                <a14:m>
                  <m:oMath xmlns:m="http://schemas.openxmlformats.org/officeDocument/2006/math">
                    <m:r>
                      <a:rPr lang="pt-BR" i="1" smtClean="0">
                        <a:latin typeface="Cambria Math" panose="02040503050406030204" pitchFamily="18" charset="0"/>
                        <a:ea typeface="Cambria Math" panose="02040503050406030204" pitchFamily="18" charset="0"/>
                      </a:rPr>
                      <m:t>𝑓</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r>
                      <a:rPr lang="pt-BR" b="0" i="0" smtClean="0">
                        <a:latin typeface="Cambria Math" panose="02040503050406030204" pitchFamily="18" charset="0"/>
                        <a:ea typeface="Cambria Math" panose="02040503050406030204" pitchFamily="18" charset="0"/>
                      </a:rPr>
                      <m:t>.</m:t>
                    </m:r>
                  </m:oMath>
                </a14:m>
                <a:endParaRPr lang="pt-BR" dirty="0"/>
              </a:p>
            </p:txBody>
          </p:sp>
        </mc:Choice>
        <mc:Fallback xmlns="">
          <p:sp>
            <p:nvSpPr>
              <p:cNvPr id="3" name="Espaço Reservado para Conteúdo 2">
                <a:extLst>
                  <a:ext uri="{FF2B5EF4-FFF2-40B4-BE49-F238E27FC236}">
                    <a16:creationId xmlns:a16="http://schemas.microsoft.com/office/drawing/2014/main" id="{EA367B54-D91F-AB10-524B-BD59524CBF8F}"/>
                  </a:ext>
                </a:extLst>
              </p:cNvPr>
              <p:cNvSpPr>
                <a:spLocks noGrp="1" noRot="1" noChangeAspect="1" noMove="1" noResize="1" noEditPoints="1" noAdjustHandles="1" noChangeArrowheads="1" noChangeShapeType="1" noTextEdit="1"/>
              </p:cNvSpPr>
              <p:nvPr>
                <p:ph idx="1"/>
              </p:nvPr>
            </p:nvSpPr>
            <p:spPr>
              <a:xfrm>
                <a:off x="5310131" y="1825624"/>
                <a:ext cx="6720290" cy="5032375"/>
              </a:xfrm>
              <a:blipFill>
                <a:blip r:embed="rId3"/>
                <a:stretch>
                  <a:fillRect l="-1633" t="-1937" r="-1452"/>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2532540-8B0D-7066-5B75-754F9F774E51}"/>
              </a:ext>
            </a:extLst>
          </p:cNvPr>
          <p:cNvPicPr>
            <a:picLocks noChangeAspect="1"/>
          </p:cNvPicPr>
          <p:nvPr/>
        </p:nvPicPr>
        <p:blipFill rotWithShape="1">
          <a:blip r:embed="rId4"/>
          <a:srcRect l="3762" t="9838" r="8646"/>
          <a:stretch/>
        </p:blipFill>
        <p:spPr>
          <a:xfrm>
            <a:off x="838200" y="2265406"/>
            <a:ext cx="3800818" cy="2934238"/>
          </a:xfrm>
          <a:prstGeom prst="rect">
            <a:avLst/>
          </a:prstGeom>
        </p:spPr>
      </p:pic>
      <p:sp>
        <p:nvSpPr>
          <p:cNvPr id="5" name="CaixaDeTexto 4">
            <a:extLst>
              <a:ext uri="{FF2B5EF4-FFF2-40B4-BE49-F238E27FC236}">
                <a16:creationId xmlns:a16="http://schemas.microsoft.com/office/drawing/2014/main" id="{C323D9E5-18CD-7814-E5C5-BDC1A63D0632}"/>
              </a:ext>
            </a:extLst>
          </p:cNvPr>
          <p:cNvSpPr txBox="1"/>
          <p:nvPr/>
        </p:nvSpPr>
        <p:spPr>
          <a:xfrm>
            <a:off x="980501" y="5278070"/>
            <a:ext cx="3658517" cy="954107"/>
          </a:xfrm>
          <a:prstGeom prst="rect">
            <a:avLst/>
          </a:prstGeom>
          <a:noFill/>
        </p:spPr>
        <p:txBody>
          <a:bodyPr wrap="square" rtlCol="0">
            <a:spAutoFit/>
          </a:bodyPr>
          <a:lstStyle/>
          <a:p>
            <a:pPr algn="ctr"/>
            <a:r>
              <a:rPr lang="pt-BR" sz="1400" dirty="0"/>
              <a:t>Não existe realmente uma função por trás do comportamento de venda de picolés e a temperatura, mas podemos encontrar uma função que o aproxime usando regressão linear.</a:t>
            </a:r>
          </a:p>
        </p:txBody>
      </p:sp>
    </p:spTree>
    <p:extLst>
      <p:ext uri="{BB962C8B-B14F-4D97-AF65-F5344CB8AC3E}">
        <p14:creationId xmlns:p14="http://schemas.microsoft.com/office/powerpoint/2010/main" val="217023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081991-D510-04CB-7978-CA702814A993}"/>
              </a:ext>
            </a:extLst>
          </p:cNvPr>
          <p:cNvSpPr>
            <a:spLocks noGrp="1"/>
          </p:cNvSpPr>
          <p:nvPr>
            <p:ph type="title"/>
          </p:nvPr>
        </p:nvSpPr>
        <p:spPr/>
        <p:txBody>
          <a:bodyPr/>
          <a:lstStyle/>
          <a:p>
            <a:r>
              <a:rPr lang="pt-BR" dirty="0"/>
              <a:t>Dados ruidosos</a:t>
            </a:r>
          </a:p>
        </p:txBody>
      </p:sp>
      <p:sp>
        <p:nvSpPr>
          <p:cNvPr id="3" name="Espaço Reservado para Conteúdo 2">
            <a:extLst>
              <a:ext uri="{FF2B5EF4-FFF2-40B4-BE49-F238E27FC236}">
                <a16:creationId xmlns:a16="http://schemas.microsoft.com/office/drawing/2014/main" id="{5A3F4B73-B00F-2BA0-9FDC-DA79A3BE9A64}"/>
              </a:ext>
            </a:extLst>
          </p:cNvPr>
          <p:cNvSpPr>
            <a:spLocks noGrp="1"/>
          </p:cNvSpPr>
          <p:nvPr>
            <p:ph idx="1"/>
          </p:nvPr>
        </p:nvSpPr>
        <p:spPr>
          <a:xfrm>
            <a:off x="4847530" y="1825624"/>
            <a:ext cx="7268269" cy="5032375"/>
          </a:xfrm>
        </p:spPr>
        <p:txBody>
          <a:bodyPr>
            <a:normAutofit lnSpcReduction="10000"/>
          </a:bodyPr>
          <a:lstStyle/>
          <a:p>
            <a:r>
              <a:rPr lang="pt-BR" dirty="0">
                <a:solidFill>
                  <a:schemeClr val="tx1"/>
                </a:solidFill>
              </a:rPr>
              <a:t>Em geral, em problemas de regressão, lidamos com </a:t>
            </a:r>
            <a:r>
              <a:rPr lang="pt-BR" b="1" i="1" dirty="0">
                <a:solidFill>
                  <a:srgbClr val="00B050"/>
                </a:solidFill>
              </a:rPr>
              <a:t>dados que estão sujeitos a ruído</a:t>
            </a:r>
            <a:r>
              <a:rPr lang="pt-BR" dirty="0">
                <a:solidFill>
                  <a:schemeClr val="tx1"/>
                </a:solidFill>
              </a:rPr>
              <a:t>.</a:t>
            </a:r>
          </a:p>
          <a:p>
            <a:r>
              <a:rPr lang="pt-BR" dirty="0">
                <a:solidFill>
                  <a:schemeClr val="tx1"/>
                </a:solidFill>
              </a:rPr>
              <a:t>Exemplos de introdução de ruído aos dados: </a:t>
            </a:r>
          </a:p>
          <a:p>
            <a:pPr lvl="1">
              <a:buFont typeface="Wingdings" panose="05000000000000000000" pitchFamily="2" charset="2"/>
              <a:buChar char="§"/>
            </a:pPr>
            <a:r>
              <a:rPr lang="pt-BR" b="1" i="0" dirty="0">
                <a:solidFill>
                  <a:schemeClr val="tx1"/>
                </a:solidFill>
                <a:effectLst/>
              </a:rPr>
              <a:t>Previsão de preços de imóveis: </a:t>
            </a:r>
            <a:r>
              <a:rPr lang="pt-BR" dirty="0">
                <a:solidFill>
                  <a:schemeClr val="tx1"/>
                </a:solidFill>
              </a:rPr>
              <a:t>o</a:t>
            </a:r>
            <a:r>
              <a:rPr lang="pt-BR" b="0" i="0" dirty="0">
                <a:solidFill>
                  <a:schemeClr val="tx1"/>
                </a:solidFill>
                <a:effectLst/>
              </a:rPr>
              <a:t>s preços de imóveis podem ser influenciados por mudanças na taxa de juros, inflação, preferências do comprador, valor sentimental, etc.</a:t>
            </a:r>
            <a:endParaRPr lang="pt-BR" dirty="0">
              <a:solidFill>
                <a:schemeClr val="tx1"/>
              </a:solidFill>
            </a:endParaRPr>
          </a:p>
          <a:p>
            <a:pPr lvl="1">
              <a:buFont typeface="Wingdings" panose="05000000000000000000" pitchFamily="2" charset="2"/>
              <a:buChar char="§"/>
            </a:pPr>
            <a:r>
              <a:rPr lang="pt-BR" b="1" i="0" dirty="0">
                <a:solidFill>
                  <a:schemeClr val="tx1"/>
                </a:solidFill>
                <a:effectLst/>
              </a:rPr>
              <a:t>Previsão de preços de ações:</a:t>
            </a:r>
            <a:r>
              <a:rPr lang="pt-BR" b="0" i="0" dirty="0">
                <a:solidFill>
                  <a:schemeClr val="tx1"/>
                </a:solidFill>
                <a:effectLst/>
              </a:rPr>
              <a:t> os preços de ações podem ser influenciados por notícias</a:t>
            </a:r>
            <a:r>
              <a:rPr lang="pt-BR" dirty="0"/>
              <a:t>, mudanças econômicas, eventos globais, etc.</a:t>
            </a:r>
          </a:p>
          <a:p>
            <a:pPr lvl="1">
              <a:buFont typeface="Wingdings" panose="05000000000000000000" pitchFamily="2" charset="2"/>
              <a:buChar char="§"/>
            </a:pPr>
            <a:r>
              <a:rPr lang="pt-BR" b="1" dirty="0"/>
              <a:t>Detecção de símbolos</a:t>
            </a:r>
            <a:r>
              <a:rPr lang="pt-BR" dirty="0"/>
              <a:t>: os símbolos transmitidos passam através de um canal ruidoso. </a:t>
            </a:r>
          </a:p>
          <a:p>
            <a:r>
              <a:rPr lang="pt-BR" dirty="0"/>
              <a:t>Nos nossos exemplos, modelaremos o ruído como uma variável aleatória Gaussiana.</a:t>
            </a:r>
          </a:p>
        </p:txBody>
      </p:sp>
      <p:pic>
        <p:nvPicPr>
          <p:cNvPr id="8" name="Imagem 7">
            <a:extLst>
              <a:ext uri="{FF2B5EF4-FFF2-40B4-BE49-F238E27FC236}">
                <a16:creationId xmlns:a16="http://schemas.microsoft.com/office/drawing/2014/main" id="{1464792E-8908-ABDB-B37C-6AA37299DC3D}"/>
              </a:ext>
            </a:extLst>
          </p:cNvPr>
          <p:cNvPicPr>
            <a:picLocks noChangeAspect="1"/>
          </p:cNvPicPr>
          <p:nvPr/>
        </p:nvPicPr>
        <p:blipFill rotWithShape="1">
          <a:blip r:embed="rId2"/>
          <a:srcRect l="4036" t="11130" r="9398"/>
          <a:stretch/>
        </p:blipFill>
        <p:spPr>
          <a:xfrm>
            <a:off x="179118" y="2175280"/>
            <a:ext cx="4411238" cy="3396499"/>
          </a:xfrm>
          <a:prstGeom prst="rect">
            <a:avLst/>
          </a:prstGeom>
        </p:spPr>
      </p:pic>
      <p:sp>
        <p:nvSpPr>
          <p:cNvPr id="9" name="CaixaDeTexto 8">
            <a:extLst>
              <a:ext uri="{FF2B5EF4-FFF2-40B4-BE49-F238E27FC236}">
                <a16:creationId xmlns:a16="http://schemas.microsoft.com/office/drawing/2014/main" id="{1E9E8FCC-A491-5B3B-2ADF-295BFEA7DA04}"/>
              </a:ext>
            </a:extLst>
          </p:cNvPr>
          <p:cNvSpPr txBox="1"/>
          <p:nvPr/>
        </p:nvSpPr>
        <p:spPr>
          <a:xfrm>
            <a:off x="526050" y="5571779"/>
            <a:ext cx="3988106" cy="307777"/>
          </a:xfrm>
          <a:prstGeom prst="rect">
            <a:avLst/>
          </a:prstGeom>
          <a:noFill/>
        </p:spPr>
        <p:txBody>
          <a:bodyPr wrap="square" rtlCol="0">
            <a:spAutoFit/>
          </a:bodyPr>
          <a:lstStyle/>
          <a:p>
            <a:pPr algn="ctr"/>
            <a:r>
              <a:rPr lang="pt-BR" sz="1400" b="1" dirty="0"/>
              <a:t>OBS</a:t>
            </a:r>
            <a:r>
              <a:rPr lang="pt-BR" sz="1400" dirty="0"/>
              <a:t>.: w representa o ruído contaminando os dados.</a:t>
            </a:r>
          </a:p>
        </p:txBody>
      </p:sp>
    </p:spTree>
    <p:extLst>
      <p:ext uri="{BB962C8B-B14F-4D97-AF65-F5344CB8AC3E}">
        <p14:creationId xmlns:p14="http://schemas.microsoft.com/office/powerpoint/2010/main" val="7412038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081991-D510-04CB-7978-CA702814A993}"/>
              </a:ext>
            </a:extLst>
          </p:cNvPr>
          <p:cNvSpPr>
            <a:spLocks noGrp="1"/>
          </p:cNvSpPr>
          <p:nvPr>
            <p:ph type="title"/>
          </p:nvPr>
        </p:nvSpPr>
        <p:spPr/>
        <p:txBody>
          <a:bodyPr/>
          <a:lstStyle/>
          <a:p>
            <a:r>
              <a:rPr lang="pt-BR" dirty="0"/>
              <a:t>O objetivo geral da regressão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A3F4B73-B00F-2BA0-9FDC-DA79A3BE9A64}"/>
                  </a:ext>
                </a:extLst>
              </p:cNvPr>
              <p:cNvSpPr>
                <a:spLocks noGrp="1"/>
              </p:cNvSpPr>
              <p:nvPr>
                <p:ph idx="1"/>
              </p:nvPr>
            </p:nvSpPr>
            <p:spPr>
              <a:xfrm>
                <a:off x="5411755" y="1825624"/>
                <a:ext cx="6629449" cy="5032375"/>
              </a:xfrm>
            </p:spPr>
            <p:txBody>
              <a:bodyPr>
                <a:normAutofit/>
              </a:bodyPr>
              <a:lstStyle/>
              <a:p>
                <a:r>
                  <a:rPr lang="pt-BR" b="0" i="0" dirty="0">
                    <a:solidFill>
                      <a:schemeClr val="tx1"/>
                    </a:solidFill>
                    <a:effectLst/>
                  </a:rPr>
                  <a:t>Assim, o </a:t>
                </a:r>
                <a:r>
                  <a:rPr lang="pt-BR" b="1" i="1" dirty="0">
                    <a:solidFill>
                      <a:srgbClr val="7030A0"/>
                    </a:solidFill>
                    <a:effectLst/>
                  </a:rPr>
                  <a:t>objetivo geral</a:t>
                </a:r>
                <a:r>
                  <a:rPr lang="pt-BR" b="0" i="0" dirty="0">
                    <a:solidFill>
                      <a:srgbClr val="7030A0"/>
                    </a:solidFill>
                    <a:effectLst/>
                  </a:rPr>
                  <a:t> </a:t>
                </a:r>
                <a:r>
                  <a:rPr lang="pt-BR" b="0" i="0" dirty="0">
                    <a:solidFill>
                      <a:schemeClr val="tx1"/>
                    </a:solidFill>
                    <a:effectLst/>
                  </a:rPr>
                  <a:t>da regressão linear é encontrar uma função, </a:t>
                </a:r>
                <a14:m>
                  <m:oMath xmlns:m="http://schemas.openxmlformats.org/officeDocument/2006/math">
                    <m:r>
                      <a:rPr lang="pt-BR" b="0" i="1" smtClean="0">
                        <a:solidFill>
                          <a:schemeClr val="tx1"/>
                        </a:solidFill>
                        <a:latin typeface="Cambria Math" panose="02040503050406030204" pitchFamily="18" charset="0"/>
                      </a:rPr>
                      <m:t>ℎ</m:t>
                    </m:r>
                    <m:d>
                      <m:dPr>
                        <m:ctrlPr>
                          <a:rPr lang="pt-BR" b="1" i="1" smtClean="0">
                            <a:solidFill>
                              <a:schemeClr val="tx1"/>
                            </a:solidFill>
                            <a:latin typeface="Cambria Math" panose="02040503050406030204" pitchFamily="18" charset="0"/>
                          </a:rPr>
                        </m:ctrlPr>
                      </m:dPr>
                      <m:e>
                        <m:r>
                          <a:rPr lang="pt-BR" b="1" i="1" smtClean="0">
                            <a:solidFill>
                              <a:schemeClr val="tx1"/>
                            </a:solidFill>
                            <a:latin typeface="Cambria Math" panose="02040503050406030204" pitchFamily="18" charset="0"/>
                          </a:rPr>
                          <m:t>𝒙</m:t>
                        </m:r>
                      </m:e>
                    </m:d>
                  </m:oMath>
                </a14:m>
                <a:r>
                  <a:rPr lang="pt-BR" b="0" i="0" dirty="0">
                    <a:solidFill>
                      <a:schemeClr val="tx1"/>
                    </a:solidFill>
                    <a:effectLst/>
                  </a:rPr>
                  <a:t> que descreva a relação entre </a:t>
                </a:r>
                <a14:m>
                  <m:oMath xmlns:m="http://schemas.openxmlformats.org/officeDocument/2006/math">
                    <m:r>
                      <a:rPr lang="pt-BR" b="1" i="1">
                        <a:solidFill>
                          <a:schemeClr val="tx1"/>
                        </a:solidFill>
                        <a:latin typeface="Cambria Math" panose="02040503050406030204" pitchFamily="18" charset="0"/>
                      </a:rPr>
                      <m:t>𝒙</m:t>
                    </m:r>
                  </m:oMath>
                </a14:m>
                <a:r>
                  <a:rPr lang="pt-BR" b="0" i="0" dirty="0">
                    <a:solidFill>
                      <a:schemeClr val="tx1"/>
                    </a:solidFill>
                    <a:effectLst/>
                  </a:rPr>
                  <a:t> e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 </a:t>
                </a:r>
                <a:r>
                  <a:rPr lang="pt-BR" b="1" i="1" dirty="0">
                    <a:solidFill>
                      <a:srgbClr val="00B050"/>
                    </a:solidFill>
                    <a:effectLst/>
                  </a:rPr>
                  <a:t>mesmo que os </a:t>
                </a:r>
                <a:r>
                  <a:rPr lang="pt-BR" b="1" i="1" dirty="0">
                    <a:solidFill>
                      <a:schemeClr val="accent5"/>
                    </a:solidFill>
                    <a:effectLst/>
                  </a:rPr>
                  <a:t>dados coletados </a:t>
                </a:r>
                <a:r>
                  <a:rPr lang="pt-BR" b="1" i="1" dirty="0">
                    <a:solidFill>
                      <a:srgbClr val="00B050"/>
                    </a:solidFill>
                    <a:effectLst/>
                  </a:rPr>
                  <a:t>estejam corrompidos por ruído</a:t>
                </a:r>
                <a:endParaRPr lang="pt-BR" dirty="0">
                  <a:effectLst/>
                </a:endParaRPr>
              </a:p>
              <a:p>
                <a:pPr marL="457200" lvl="1"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b="0" i="0" smtClean="0">
                            <a:latin typeface="Cambria Math" panose="02040503050406030204" pitchFamily="18" charset="0"/>
                          </a:rPr>
                          <m:t>observ</m:t>
                        </m:r>
                        <m:r>
                          <a:rPr lang="pt-BR" b="0" i="0" smtClean="0">
                            <a:latin typeface="Cambria Math" panose="02040503050406030204" pitchFamily="18" charset="0"/>
                          </a:rPr>
                          <m:t>á</m:t>
                        </m:r>
                        <m:r>
                          <m:rPr>
                            <m:sty m:val="p"/>
                          </m:rPr>
                          <a:rPr lang="pt-BR" b="0" i="0" smtClean="0">
                            <a:latin typeface="Cambria Math" panose="02040503050406030204" pitchFamily="18" charset="0"/>
                          </a:rPr>
                          <m:t>vel</m:t>
                        </m:r>
                      </m:sub>
                    </m:sSub>
                    <m:r>
                      <a:rPr lang="pt-BR" b="0" i="1" smtClean="0">
                        <a:latin typeface="Cambria Math" panose="02040503050406030204" pitchFamily="18" charset="0"/>
                      </a:rPr>
                      <m:t>=</m:t>
                    </m:r>
                    <m:r>
                      <a:rPr lang="pt-BR" i="1">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𝑤</m:t>
                    </m:r>
                  </m:oMath>
                </a14:m>
                <a:r>
                  <a:rPr lang="pt-BR" b="0" i="0" dirty="0">
                    <a:solidFill>
                      <a:schemeClr val="tx1"/>
                    </a:solidFill>
                    <a:effectLst/>
                  </a:rPr>
                  <a:t>.</a:t>
                </a:r>
              </a:p>
              <a:p>
                <a:r>
                  <a:rPr lang="pt-BR" b="0" i="0" dirty="0">
                    <a:solidFill>
                      <a:schemeClr val="tx1"/>
                    </a:solidFill>
                    <a:effectLst/>
                  </a:rPr>
                  <a:t>Em outras palavras, a regressão busca </a:t>
                </a:r>
                <a:r>
                  <a:rPr lang="pt-BR" b="1" i="1" dirty="0">
                    <a:solidFill>
                      <a:srgbClr val="7030A0"/>
                    </a:solidFill>
                    <a:effectLst/>
                  </a:rPr>
                  <a:t>capturar</a:t>
                </a:r>
                <a:r>
                  <a:rPr lang="pt-BR" b="0" i="0" dirty="0">
                    <a:solidFill>
                      <a:schemeClr val="tx1"/>
                    </a:solidFill>
                    <a:effectLst/>
                  </a:rPr>
                  <a:t> um </a:t>
                </a:r>
                <a:r>
                  <a:rPr lang="pt-BR" b="1" i="1" dirty="0">
                    <a:solidFill>
                      <a:schemeClr val="accent2"/>
                    </a:solidFill>
                    <a:effectLst/>
                  </a:rPr>
                  <a:t>padrão geral por trás dos dados</a:t>
                </a:r>
                <a:r>
                  <a:rPr lang="pt-BR" b="1" i="1" dirty="0">
                    <a:solidFill>
                      <a:srgbClr val="00B050"/>
                    </a:solidFill>
                    <a:effectLst/>
                  </a:rPr>
                  <a:t>, mesmo que </a:t>
                </a:r>
                <a:r>
                  <a:rPr lang="pt-BR" b="1" i="1" dirty="0">
                    <a:solidFill>
                      <a:srgbClr val="00B050"/>
                    </a:solidFill>
                  </a:rPr>
                  <a:t>ruidosos, de forma a se obter uma boa capacidade de </a:t>
                </a:r>
                <a:r>
                  <a:rPr lang="pt-BR" b="1" i="1" dirty="0">
                    <a:solidFill>
                      <a:srgbClr val="7030A0"/>
                    </a:solidFill>
                  </a:rPr>
                  <a:t>generalização</a:t>
                </a:r>
                <a:r>
                  <a:rPr lang="pt-BR" b="0" i="0" dirty="0">
                    <a:solidFill>
                      <a:schemeClr val="tx1"/>
                    </a:solidFill>
                    <a:effectLst/>
                  </a:rPr>
                  <a:t>.</a:t>
                </a:r>
              </a:p>
            </p:txBody>
          </p:sp>
        </mc:Choice>
        <mc:Fallback>
          <p:sp>
            <p:nvSpPr>
              <p:cNvPr id="3" name="Espaço Reservado para Conteúdo 2">
                <a:extLst>
                  <a:ext uri="{FF2B5EF4-FFF2-40B4-BE49-F238E27FC236}">
                    <a16:creationId xmlns:a16="http://schemas.microsoft.com/office/drawing/2014/main" id="{5A3F4B73-B00F-2BA0-9FDC-DA79A3BE9A64}"/>
                  </a:ext>
                </a:extLst>
              </p:cNvPr>
              <p:cNvSpPr>
                <a:spLocks noGrp="1" noRot="1" noChangeAspect="1" noMove="1" noResize="1" noEditPoints="1" noAdjustHandles="1" noChangeArrowheads="1" noChangeShapeType="1" noTextEdit="1"/>
              </p:cNvSpPr>
              <p:nvPr>
                <p:ph idx="1"/>
              </p:nvPr>
            </p:nvSpPr>
            <p:spPr>
              <a:xfrm>
                <a:off x="5411755" y="1825624"/>
                <a:ext cx="6629449" cy="5032375"/>
              </a:xfrm>
              <a:blipFill>
                <a:blip r:embed="rId2"/>
                <a:stretch>
                  <a:fillRect l="-1656" t="-1937" r="-3036"/>
                </a:stretch>
              </a:blipFill>
            </p:spPr>
            <p:txBody>
              <a:bodyPr/>
              <a:lstStyle/>
              <a:p>
                <a:r>
                  <a:rPr lang="en-US">
                    <a:noFill/>
                  </a:rPr>
                  <a:t> </a:t>
                </a:r>
              </a:p>
            </p:txBody>
          </p:sp>
        </mc:Fallback>
      </mc:AlternateContent>
      <p:sp>
        <p:nvSpPr>
          <p:cNvPr id="7" name="CaixaDeTexto 6">
            <a:extLst>
              <a:ext uri="{FF2B5EF4-FFF2-40B4-BE49-F238E27FC236}">
                <a16:creationId xmlns:a16="http://schemas.microsoft.com/office/drawing/2014/main" id="{70B7FF03-98F9-0FC1-1B8A-E4C33BE1FEB6}"/>
              </a:ext>
            </a:extLst>
          </p:cNvPr>
          <p:cNvSpPr txBox="1"/>
          <p:nvPr/>
        </p:nvSpPr>
        <p:spPr>
          <a:xfrm>
            <a:off x="829975" y="5427489"/>
            <a:ext cx="3988106" cy="307777"/>
          </a:xfrm>
          <a:prstGeom prst="rect">
            <a:avLst/>
          </a:prstGeom>
          <a:noFill/>
        </p:spPr>
        <p:txBody>
          <a:bodyPr wrap="square" rtlCol="0">
            <a:spAutoFit/>
          </a:bodyPr>
          <a:lstStyle/>
          <a:p>
            <a:pPr algn="ctr"/>
            <a:r>
              <a:rPr lang="pt-BR" sz="1400" b="1" dirty="0"/>
              <a:t>OBS</a:t>
            </a:r>
            <a:r>
              <a:rPr lang="pt-BR" sz="1400" dirty="0"/>
              <a:t>.: w representa o ruído contaminando os dados.</a:t>
            </a:r>
          </a:p>
        </p:txBody>
      </p:sp>
      <p:pic>
        <p:nvPicPr>
          <p:cNvPr id="11" name="Imagem 10">
            <a:extLst>
              <a:ext uri="{FF2B5EF4-FFF2-40B4-BE49-F238E27FC236}">
                <a16:creationId xmlns:a16="http://schemas.microsoft.com/office/drawing/2014/main" id="{ED79CC4F-976A-0A15-E178-DCD0B2C946A9}"/>
              </a:ext>
            </a:extLst>
          </p:cNvPr>
          <p:cNvPicPr>
            <a:picLocks noChangeAspect="1"/>
          </p:cNvPicPr>
          <p:nvPr/>
        </p:nvPicPr>
        <p:blipFill rotWithShape="1">
          <a:blip r:embed="rId3"/>
          <a:srcRect l="4036" t="11130" r="9398"/>
          <a:stretch/>
        </p:blipFill>
        <p:spPr>
          <a:xfrm>
            <a:off x="627288" y="2248429"/>
            <a:ext cx="4146725" cy="3192833"/>
          </a:xfrm>
          <a:prstGeom prst="rect">
            <a:avLst/>
          </a:prstGeom>
        </p:spPr>
      </p:pic>
    </p:spTree>
    <p:extLst>
      <p:ext uri="{BB962C8B-B14F-4D97-AF65-F5344CB8AC3E}">
        <p14:creationId xmlns:p14="http://schemas.microsoft.com/office/powerpoint/2010/main" val="608579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i="1" dirty="0"/>
                  <a:t>conjunto</a:t>
                </a:r>
                <a:r>
                  <a:rPr lang="pt-BR" dirty="0"/>
                  <a:t> de </a:t>
                </a:r>
                <a:r>
                  <a:rPr lang="pt-BR" b="1" i="1" dirty="0"/>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 os seus respectivos </a:t>
                </a:r>
                <a:r>
                  <a:rPr lang="pt-BR" b="1" i="1" dirty="0"/>
                  <a:t>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 </a:t>
                </a:r>
                <a:r>
                  <a:rPr lang="pt-BR" b="1" i="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sp>
        <p:nvSpPr>
          <p:cNvPr id="6" name="CaixaDeTexto 5">
            <a:extLst>
              <a:ext uri="{FF2B5EF4-FFF2-40B4-BE49-F238E27FC236}">
                <a16:creationId xmlns:a16="http://schemas.microsoft.com/office/drawing/2014/main" id="{1704DAE2-E91B-23FE-10BB-C07B62FCC506}"/>
              </a:ext>
            </a:extLst>
          </p:cNvPr>
          <p:cNvSpPr txBox="1"/>
          <p:nvPr/>
        </p:nvSpPr>
        <p:spPr>
          <a:xfrm>
            <a:off x="864618" y="5271567"/>
            <a:ext cx="3988106" cy="307777"/>
          </a:xfrm>
          <a:prstGeom prst="rect">
            <a:avLst/>
          </a:prstGeom>
          <a:noFill/>
        </p:spPr>
        <p:txBody>
          <a:bodyPr wrap="square" rtlCol="0">
            <a:spAutoFit/>
          </a:bodyPr>
          <a:lstStyle/>
          <a:p>
            <a:pPr algn="ctr"/>
            <a:r>
              <a:rPr lang="pt-BR" sz="1400" b="1" dirty="0"/>
              <a:t>OBS</a:t>
            </a:r>
            <a:r>
              <a:rPr lang="pt-BR" sz="1400" dirty="0"/>
              <a:t>.: w representa o ruído contaminando os dados.</a:t>
            </a:r>
          </a:p>
        </p:txBody>
      </p:sp>
      <p:pic>
        <p:nvPicPr>
          <p:cNvPr id="7" name="Imagem 6">
            <a:extLst>
              <a:ext uri="{FF2B5EF4-FFF2-40B4-BE49-F238E27FC236}">
                <a16:creationId xmlns:a16="http://schemas.microsoft.com/office/drawing/2014/main" id="{92D7A790-AA7C-14F4-BE67-E5CAF1F7806C}"/>
              </a:ext>
            </a:extLst>
          </p:cNvPr>
          <p:cNvPicPr>
            <a:picLocks noChangeAspect="1"/>
          </p:cNvPicPr>
          <p:nvPr/>
        </p:nvPicPr>
        <p:blipFill rotWithShape="1">
          <a:blip r:embed="rId3"/>
          <a:srcRect l="4036" t="11130" r="9398"/>
          <a:stretch/>
        </p:blipFill>
        <p:spPr>
          <a:xfrm>
            <a:off x="661931" y="2092507"/>
            <a:ext cx="4146725" cy="3192833"/>
          </a:xfrm>
          <a:prstGeom prst="rect">
            <a:avLst/>
          </a:prstGeom>
        </p:spPr>
      </p:pic>
    </p:spTree>
    <p:extLst>
      <p:ext uri="{BB962C8B-B14F-4D97-AF65-F5344CB8AC3E}">
        <p14:creationId xmlns:p14="http://schemas.microsoft.com/office/powerpoint/2010/main" val="3265644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3565592" y="2459504"/>
            <a:ext cx="5060816" cy="1938992"/>
          </a:xfrm>
          <a:prstGeom prst="rect">
            <a:avLst/>
          </a:prstGeom>
          <a:noFill/>
        </p:spPr>
        <p:txBody>
          <a:bodyPr wrap="square">
            <a:spAutoFit/>
          </a:bodyPr>
          <a:lstStyle/>
          <a:p>
            <a:pPr marL="0" indent="0" algn="ctr">
              <a:buNone/>
            </a:pPr>
            <a:r>
              <a:rPr lang="pt-BR" sz="6000" b="1" i="1" dirty="0">
                <a:solidFill>
                  <a:srgbClr val="00B050"/>
                </a:solidFill>
              </a:rPr>
              <a:t>Aprendizado supervisionado</a:t>
            </a:r>
          </a:p>
        </p:txBody>
      </p:sp>
    </p:spTree>
    <p:extLst>
      <p:ext uri="{BB962C8B-B14F-4D97-AF65-F5344CB8AC3E}">
        <p14:creationId xmlns:p14="http://schemas.microsoft.com/office/powerpoint/2010/main" val="17200687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4581331" y="1825624"/>
                <a:ext cx="7610669" cy="5032375"/>
              </a:xfrm>
            </p:spPr>
            <p:txBody>
              <a:bodyPr>
                <a:normAutofit/>
              </a:bodyPr>
              <a:lstStyle/>
              <a:p>
                <a:r>
                  <a:rPr lang="pt-BR" dirty="0"/>
                  <a:t>A </a:t>
                </a:r>
                <a:r>
                  <a:rPr lang="pt-BR" b="1" i="1" dirty="0"/>
                  <a:t>regressão</a:t>
                </a:r>
                <a:r>
                  <a:rPr lang="pt-BR" dirty="0"/>
                  <a:t> é chamada de </a:t>
                </a:r>
                <a:r>
                  <a:rPr lang="pt-BR" b="1" i="1" dirty="0"/>
                  <a:t>linear</a:t>
                </a:r>
                <a:r>
                  <a:rPr lang="pt-BR" dirty="0"/>
                  <a:t> porque a </a:t>
                </a:r>
                <a:r>
                  <a:rPr lang="pt-BR" b="1" i="1" dirty="0"/>
                  <a:t>função aproximadora</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i="1" dirty="0">
                    <a:solidFill>
                      <a:srgbClr val="00B050"/>
                    </a:solidFill>
                  </a:rPr>
                  <a:t>em relação aos pesos</a:t>
                </a:r>
                <a:r>
                  <a:rPr lang="pt-BR" dirty="0"/>
                  <a:t>.</a:t>
                </a:r>
              </a:p>
              <a:p>
                <a:r>
                  <a:rPr lang="pt-BR" dirty="0"/>
                  <a:t>Vejamos exemplos de funções </a:t>
                </a:r>
                <a:r>
                  <a:rPr lang="pt-BR" dirty="0" err="1"/>
                  <a:t>aproximadoras</a:t>
                </a:r>
                <a:r>
                  <a:rPr lang="pt-BR" dirty="0"/>
                  <a:t>:</a:t>
                </a:r>
              </a:p>
              <a:p>
                <a:pPr lvl="1">
                  <a:buFont typeface="Wingdings" panose="05000000000000000000" pitchFamily="2" charset="2"/>
                  <a:buChar char="§"/>
                </a:pPr>
                <a:r>
                  <a:rPr lang="pt-BR" dirty="0"/>
                  <a:t>Com </a:t>
                </a:r>
                <a:r>
                  <a:rPr lang="pt-BR" b="1" i="1" dirty="0">
                    <a:solidFill>
                      <a:schemeClr val="accent2"/>
                    </a:solidFill>
                  </a:rPr>
                  <a:t>um atributo</a:t>
                </a:r>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oMath>
                </a14:m>
                <a:r>
                  <a:rPr lang="pt-BR" dirty="0"/>
                  <a:t>, podemos ter a equação de uma </a:t>
                </a:r>
                <a:r>
                  <a:rPr lang="pt-BR" b="1" i="1" dirty="0"/>
                  <a:t>reta</a:t>
                </a:r>
                <a:r>
                  <a:rPr lang="pt-BR" dirty="0"/>
                  <a:t>:</a:t>
                </a:r>
              </a:p>
              <a:p>
                <a:pPr marL="914400" lvl="2" indent="0" algn="ctr">
                  <a:buNone/>
                </a:pPr>
                <a14:m>
                  <m:oMath xmlns:m="http://schemas.openxmlformats.org/officeDocument/2006/math">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ℎ</m:t>
                    </m:r>
                    <m:d>
                      <m:dPr>
                        <m:ctrlPr>
                          <a:rPr lang="pt-BR" sz="2400" i="1">
                            <a:latin typeface="Cambria Math" panose="02040503050406030204" pitchFamily="18" charset="0"/>
                            <a:ea typeface="Cambria Math" panose="02040503050406030204" pitchFamily="18" charset="0"/>
                          </a:rPr>
                        </m:ctrlPr>
                      </m:dPr>
                      <m:e>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𝑥</m:t>
                            </m:r>
                          </m:e>
                          <m:sub>
                            <m:r>
                              <a:rPr lang="pt-BR" sz="2400" i="1">
                                <a:latin typeface="Cambria Math" panose="02040503050406030204" pitchFamily="18" charset="0"/>
                                <a:ea typeface="Cambria Math" panose="02040503050406030204" pitchFamily="18" charset="0"/>
                              </a:rPr>
                              <m:t>1</m:t>
                            </m:r>
                          </m:sub>
                        </m:sSub>
                      </m:e>
                    </m:d>
                    <m:r>
                      <a:rPr lang="pt-BR" sz="2400" b="1" i="1">
                        <a:latin typeface="Cambria Math" panose="02040503050406030204" pitchFamily="18" charset="0"/>
                        <a:ea typeface="Cambria Math" panose="02040503050406030204" pitchFamily="18" charset="0"/>
                      </a:rPr>
                      <m:t>= </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𝑎</m:t>
                        </m:r>
                      </m:e>
                      <m:sub>
                        <m:r>
                          <a:rPr lang="pt-BR" sz="2400" i="1">
                            <a:latin typeface="Cambria Math" panose="02040503050406030204" pitchFamily="18" charset="0"/>
                            <a:ea typeface="Cambria Math" panose="02040503050406030204" pitchFamily="18" charset="0"/>
                          </a:rPr>
                          <m:t>0</m:t>
                        </m:r>
                      </m:sub>
                    </m:sSub>
                  </m:oMath>
                </a14:m>
                <a:r>
                  <a:rPr lang="pt-BR" sz="2400" dirty="0"/>
                  <a:t> + </a:t>
                </a:r>
                <a14:m>
                  <m:oMath xmlns:m="http://schemas.openxmlformats.org/officeDocument/2006/math">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𝑎</m:t>
                        </m:r>
                      </m:e>
                      <m:sub>
                        <m:r>
                          <a:rPr lang="pt-BR" sz="2400" i="1">
                            <a:latin typeface="Cambria Math" panose="02040503050406030204" pitchFamily="18" charset="0"/>
                            <a:ea typeface="Cambria Math" panose="02040503050406030204" pitchFamily="18" charset="0"/>
                          </a:rPr>
                          <m:t>1</m:t>
                        </m:r>
                      </m:sub>
                    </m:sSub>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𝑥</m:t>
                        </m:r>
                      </m:e>
                      <m:sub>
                        <m:r>
                          <a:rPr lang="pt-BR" sz="2400" i="1">
                            <a:latin typeface="Cambria Math" panose="02040503050406030204" pitchFamily="18" charset="0"/>
                            <a:ea typeface="Cambria Math" panose="02040503050406030204" pitchFamily="18" charset="0"/>
                          </a:rPr>
                          <m:t>1</m:t>
                        </m:r>
                      </m:sub>
                    </m:sSub>
                  </m:oMath>
                </a14:m>
                <a:r>
                  <a:rPr lang="pt-BR" sz="2400" dirty="0"/>
                  <a:t>.</a:t>
                </a:r>
              </a:p>
              <a:p>
                <a:pPr lvl="1">
                  <a:buFont typeface="Wingdings" panose="05000000000000000000" pitchFamily="2" charset="2"/>
                  <a:buChar char="§"/>
                </a:pPr>
                <a:r>
                  <a:rPr lang="pt-BR" dirty="0"/>
                  <a:t>Com </a:t>
                </a:r>
                <a:r>
                  <a:rPr lang="pt-BR" b="1" i="1" dirty="0">
                    <a:solidFill>
                      <a:schemeClr val="accent2"/>
                    </a:solidFill>
                  </a:rPr>
                  <a:t>dois atributos</a:t>
                </a:r>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oMath>
                </a14:m>
                <a:r>
                  <a:rPr lang="pt-BR" dirty="0"/>
                  <a:t>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podemos ter a equação de um </a:t>
                </a:r>
                <a:r>
                  <a:rPr lang="pt-BR" b="1" i="1" dirty="0"/>
                  <a:t>plano</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r>
                      <a:rPr lang="pt-BR" b="1"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a:t>
                </a:r>
              </a:p>
            </p:txBody>
          </p:sp>
        </mc:Choice>
        <mc:Fallback>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4581331" y="1825624"/>
                <a:ext cx="7610669" cy="5032375"/>
              </a:xfrm>
              <a:blipFill>
                <a:blip r:embed="rId2"/>
                <a:stretch>
                  <a:fillRect l="-1442" t="-1937" r="-801"/>
                </a:stretch>
              </a:blipFill>
            </p:spPr>
            <p:txBody>
              <a:bodyPr/>
              <a:lstStyle/>
              <a:p>
                <a:r>
                  <a:rPr lang="en-US">
                    <a:noFill/>
                  </a:rPr>
                  <a:t> </a:t>
                </a:r>
              </a:p>
            </p:txBody>
          </p:sp>
        </mc:Fallback>
      </mc:AlternateContent>
      <p:pic>
        <p:nvPicPr>
          <p:cNvPr id="15" name="Picture 4">
            <a:extLst>
              <a:ext uri="{FF2B5EF4-FFF2-40B4-BE49-F238E27FC236}">
                <a16:creationId xmlns:a16="http://schemas.microsoft.com/office/drawing/2014/main" id="{37CA3172-F031-AA15-4604-BE24D2F3D93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24488" t="17073" r="13012" b="8775"/>
          <a:stretch/>
        </p:blipFill>
        <p:spPr>
          <a:xfrm>
            <a:off x="921743" y="4414348"/>
            <a:ext cx="2696675" cy="2399584"/>
          </a:xfrm>
          <a:prstGeom prst="rect">
            <a:avLst/>
          </a:prstGeom>
        </p:spPr>
      </p:pic>
      <p:pic>
        <p:nvPicPr>
          <p:cNvPr id="16" name="Picture 5">
            <a:extLst>
              <a:ext uri="{FF2B5EF4-FFF2-40B4-BE49-F238E27FC236}">
                <a16:creationId xmlns:a16="http://schemas.microsoft.com/office/drawing/2014/main" id="{9B8E86C6-D422-38D2-D036-44B44A7C9E2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301" t="11423" r="9569" b="2419"/>
          <a:stretch/>
        </p:blipFill>
        <p:spPr>
          <a:xfrm>
            <a:off x="838200" y="1995964"/>
            <a:ext cx="2677173" cy="1985502"/>
          </a:xfrm>
          <a:prstGeom prst="rect">
            <a:avLst/>
          </a:prstGeom>
        </p:spPr>
      </p:pic>
      <mc:AlternateContent xmlns:mc="http://schemas.openxmlformats.org/markup-compatibility/2006" xmlns:a14="http://schemas.microsoft.com/office/drawing/2010/main">
        <mc:Choice Requires="a14">
          <p:sp>
            <p:nvSpPr>
              <p:cNvPr id="17" name="Rectangle 10">
                <a:extLst>
                  <a:ext uri="{FF2B5EF4-FFF2-40B4-BE49-F238E27FC236}">
                    <a16:creationId xmlns:a16="http://schemas.microsoft.com/office/drawing/2014/main" id="{D54FE044-A896-C28F-D51A-8495FEBCD0DC}"/>
                  </a:ext>
                </a:extLst>
              </p:cNvPr>
              <p:cNvSpPr/>
              <p:nvPr/>
            </p:nvSpPr>
            <p:spPr>
              <a:xfrm>
                <a:off x="663439" y="4109072"/>
                <a:ext cx="3001506" cy="338554"/>
              </a:xfrm>
              <a:prstGeom prst="rect">
                <a:avLst/>
              </a:prstGeom>
            </p:spPr>
            <p:txBody>
              <a:bodyPr wrap="square">
                <a:spAutoFit/>
              </a:bodyPr>
              <a:lstStyle/>
              <a:p>
                <a:pPr algn="ctr"/>
                <a14:m>
                  <m:oMath xmlns:m="http://schemas.openxmlformats.org/officeDocument/2006/math">
                    <m:r>
                      <a:rPr lang="pt-BR" sz="1600" i="1">
                        <a:latin typeface="Cambria Math" panose="02040503050406030204" pitchFamily="18" charset="0"/>
                        <a:ea typeface="Cambria Math" panose="02040503050406030204" pitchFamily="18" charset="0"/>
                      </a:rPr>
                      <m:t>ℎ</m:t>
                    </m:r>
                    <m:d>
                      <m:dPr>
                        <m:ctrlPr>
                          <a:rPr lang="pt-BR" sz="1600" b="1" i="1">
                            <a:latin typeface="Cambria Math" panose="02040503050406030204" pitchFamily="18" charset="0"/>
                            <a:ea typeface="Cambria Math" panose="02040503050406030204" pitchFamily="18" charset="0"/>
                          </a:rPr>
                        </m:ctrlPr>
                      </m:dPr>
                      <m:e>
                        <m:r>
                          <a:rPr lang="pt-BR" sz="1600" b="1" i="1">
                            <a:latin typeface="Cambria Math" panose="02040503050406030204" pitchFamily="18" charset="0"/>
                            <a:ea typeface="Cambria Math" panose="02040503050406030204" pitchFamily="18" charset="0"/>
                          </a:rPr>
                          <m:t>𝒙</m:t>
                        </m:r>
                      </m:e>
                    </m:d>
                    <m:r>
                      <a:rPr lang="pt-BR" sz="1600" b="1" i="1">
                        <a:latin typeface="Cambria Math" panose="02040503050406030204" pitchFamily="18" charset="0"/>
                        <a:ea typeface="Cambria Math" panose="02040503050406030204" pitchFamily="18" charset="0"/>
                      </a:rPr>
                      <m:t>= </m:t>
                    </m:r>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0</m:t>
                        </m:r>
                      </m:sub>
                    </m:sSub>
                  </m:oMath>
                </a14:m>
                <a:r>
                  <a:rPr lang="pt-BR" sz="1600" dirty="0"/>
                  <a:t> + </a:t>
                </a:r>
                <a14:m>
                  <m:oMath xmlns:m="http://schemas.openxmlformats.org/officeDocument/2006/math">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1</m:t>
                        </m:r>
                      </m:sub>
                    </m:sSub>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𝑥</m:t>
                        </m:r>
                      </m:e>
                      <m:sub>
                        <m:r>
                          <a:rPr lang="pt-BR" sz="1600" i="1">
                            <a:latin typeface="Cambria Math" panose="02040503050406030204" pitchFamily="18" charset="0"/>
                            <a:ea typeface="Cambria Math" panose="02040503050406030204" pitchFamily="18" charset="0"/>
                          </a:rPr>
                          <m:t>1</m:t>
                        </m:r>
                      </m:sub>
                    </m:sSub>
                  </m:oMath>
                </a14:m>
                <a:r>
                  <a:rPr lang="pt-BR" sz="1600" dirty="0"/>
                  <a:t>+ </a:t>
                </a:r>
                <a14:m>
                  <m:oMath xmlns:m="http://schemas.openxmlformats.org/officeDocument/2006/math">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2</m:t>
                        </m:r>
                      </m:sub>
                    </m:sSub>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𝑥</m:t>
                        </m:r>
                      </m:e>
                      <m:sub>
                        <m:r>
                          <a:rPr lang="pt-BR" sz="1600" i="1">
                            <a:latin typeface="Cambria Math" panose="02040503050406030204" pitchFamily="18" charset="0"/>
                            <a:ea typeface="Cambria Math" panose="02040503050406030204" pitchFamily="18" charset="0"/>
                          </a:rPr>
                          <m:t>2</m:t>
                        </m:r>
                      </m:sub>
                    </m:sSub>
                  </m:oMath>
                </a14:m>
                <a:r>
                  <a:rPr lang="pt-BR" sz="1600" dirty="0"/>
                  <a:t> (plano)</a:t>
                </a:r>
              </a:p>
            </p:txBody>
          </p:sp>
        </mc:Choice>
        <mc:Fallback xmlns="">
          <p:sp>
            <p:nvSpPr>
              <p:cNvPr id="17" name="Rectangle 10">
                <a:extLst>
                  <a:ext uri="{FF2B5EF4-FFF2-40B4-BE49-F238E27FC236}">
                    <a16:creationId xmlns:a16="http://schemas.microsoft.com/office/drawing/2014/main" id="{D54FE044-A896-C28F-D51A-8495FEBCD0DC}"/>
                  </a:ext>
                </a:extLst>
              </p:cNvPr>
              <p:cNvSpPr>
                <a:spLocks noRot="1" noChangeAspect="1" noMove="1" noResize="1" noEditPoints="1" noAdjustHandles="1" noChangeArrowheads="1" noChangeShapeType="1" noTextEdit="1"/>
              </p:cNvSpPr>
              <p:nvPr/>
            </p:nvSpPr>
            <p:spPr>
              <a:xfrm>
                <a:off x="663439" y="4109072"/>
                <a:ext cx="3001506" cy="338554"/>
              </a:xfrm>
              <a:prstGeom prst="rect">
                <a:avLst/>
              </a:prstGeom>
              <a:blipFill>
                <a:blip r:embed="rId5"/>
                <a:stretch>
                  <a:fillRect t="-5357" b="-214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Rectangle 11">
                <a:extLst>
                  <a:ext uri="{FF2B5EF4-FFF2-40B4-BE49-F238E27FC236}">
                    <a16:creationId xmlns:a16="http://schemas.microsoft.com/office/drawing/2014/main" id="{4C95BBF0-D0FC-ED09-8232-4BA9B9608B03}"/>
                  </a:ext>
                </a:extLst>
              </p:cNvPr>
              <p:cNvSpPr/>
              <p:nvPr/>
            </p:nvSpPr>
            <p:spPr>
              <a:xfrm>
                <a:off x="886682" y="1635877"/>
                <a:ext cx="2628691" cy="338554"/>
              </a:xfrm>
              <a:prstGeom prst="rect">
                <a:avLst/>
              </a:prstGeom>
            </p:spPr>
            <p:txBody>
              <a:bodyPr wrap="square">
                <a:spAutoFit/>
              </a:bodyPr>
              <a:lstStyle/>
              <a:p>
                <a:pPr algn="ctr"/>
                <a14:m>
                  <m:oMath xmlns:m="http://schemas.openxmlformats.org/officeDocument/2006/math">
                    <m:r>
                      <a:rPr lang="pt-BR" sz="1600" i="1">
                        <a:latin typeface="Cambria Math" panose="02040503050406030204" pitchFamily="18" charset="0"/>
                        <a:ea typeface="Cambria Math" panose="02040503050406030204" pitchFamily="18" charset="0"/>
                      </a:rPr>
                      <m:t>ℎ</m:t>
                    </m:r>
                    <m:d>
                      <m:dPr>
                        <m:ctrlPr>
                          <a:rPr lang="pt-BR" sz="1600" i="1">
                            <a:latin typeface="Cambria Math" panose="02040503050406030204" pitchFamily="18" charset="0"/>
                            <a:ea typeface="Cambria Math" panose="02040503050406030204" pitchFamily="18" charset="0"/>
                          </a:rPr>
                        </m:ctrlPr>
                      </m:dPr>
                      <m:e>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𝑥</m:t>
                            </m:r>
                          </m:e>
                          <m:sub>
                            <m:r>
                              <a:rPr lang="pt-BR" sz="1600" i="1">
                                <a:latin typeface="Cambria Math" panose="02040503050406030204" pitchFamily="18" charset="0"/>
                                <a:ea typeface="Cambria Math" panose="02040503050406030204" pitchFamily="18" charset="0"/>
                              </a:rPr>
                              <m:t>1</m:t>
                            </m:r>
                          </m:sub>
                        </m:sSub>
                      </m:e>
                    </m:d>
                    <m:r>
                      <a:rPr lang="pt-BR" sz="1600" b="1" i="1">
                        <a:latin typeface="Cambria Math" panose="02040503050406030204" pitchFamily="18" charset="0"/>
                        <a:ea typeface="Cambria Math" panose="02040503050406030204" pitchFamily="18" charset="0"/>
                      </a:rPr>
                      <m:t>= </m:t>
                    </m:r>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0</m:t>
                        </m:r>
                      </m:sub>
                    </m:sSub>
                  </m:oMath>
                </a14:m>
                <a:r>
                  <a:rPr lang="pt-BR" sz="1600" dirty="0"/>
                  <a:t> + </a:t>
                </a:r>
                <a14:m>
                  <m:oMath xmlns:m="http://schemas.openxmlformats.org/officeDocument/2006/math">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1</m:t>
                        </m:r>
                      </m:sub>
                    </m:sSub>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𝑥</m:t>
                        </m:r>
                      </m:e>
                      <m:sub>
                        <m:r>
                          <a:rPr lang="pt-BR" sz="1600" i="1">
                            <a:latin typeface="Cambria Math" panose="02040503050406030204" pitchFamily="18" charset="0"/>
                            <a:ea typeface="Cambria Math" panose="02040503050406030204" pitchFamily="18" charset="0"/>
                          </a:rPr>
                          <m:t>1</m:t>
                        </m:r>
                      </m:sub>
                    </m:sSub>
                  </m:oMath>
                </a14:m>
                <a:r>
                  <a:rPr lang="pt-BR" sz="1600" dirty="0"/>
                  <a:t> (reta)</a:t>
                </a:r>
              </a:p>
            </p:txBody>
          </p:sp>
        </mc:Choice>
        <mc:Fallback xmlns="">
          <p:sp>
            <p:nvSpPr>
              <p:cNvPr id="18" name="Rectangle 11">
                <a:extLst>
                  <a:ext uri="{FF2B5EF4-FFF2-40B4-BE49-F238E27FC236}">
                    <a16:creationId xmlns:a16="http://schemas.microsoft.com/office/drawing/2014/main" id="{4C95BBF0-D0FC-ED09-8232-4BA9B9608B03}"/>
                  </a:ext>
                </a:extLst>
              </p:cNvPr>
              <p:cNvSpPr>
                <a:spLocks noRot="1" noChangeAspect="1" noMove="1" noResize="1" noEditPoints="1" noAdjustHandles="1" noChangeArrowheads="1" noChangeShapeType="1" noTextEdit="1"/>
              </p:cNvSpPr>
              <p:nvPr/>
            </p:nvSpPr>
            <p:spPr>
              <a:xfrm>
                <a:off x="886682" y="1635877"/>
                <a:ext cx="2628691" cy="338554"/>
              </a:xfrm>
              <a:prstGeom prst="rect">
                <a:avLst/>
              </a:prstGeom>
              <a:blipFill>
                <a:blip r:embed="rId6"/>
                <a:stretch>
                  <a:fillRect t="-5357" b="-21429"/>
                </a:stretch>
              </a:blipFill>
            </p:spPr>
            <p:txBody>
              <a:bodyPr/>
              <a:lstStyle/>
              <a:p>
                <a:r>
                  <a:rPr lang="pt-BR">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5"/>
                <a:ext cx="11214253" cy="5032375"/>
              </a:xfrm>
            </p:spPr>
            <p:txBody>
              <a:bodyPr>
                <a:normAutofit/>
              </a:bodyPr>
              <a:lstStyle/>
              <a:p>
                <a:r>
                  <a:rPr lang="pt-BR" dirty="0"/>
                  <a:t>Uma </a:t>
                </a:r>
                <a:r>
                  <a:rPr lang="pt-BR" b="1" i="1" dirty="0"/>
                  <a:t>generalização</a:t>
                </a:r>
                <a:r>
                  <a:rPr lang="pt-BR" dirty="0"/>
                  <a:t> para qualquer </a:t>
                </a:r>
                <a:r>
                  <a:rPr lang="pt-BR" b="1" i="1" dirty="0">
                    <a:solidFill>
                      <a:srgbClr val="00B0F0"/>
                    </a:solidFill>
                  </a:rPr>
                  <a:t>número de atributos</a:t>
                </a:r>
                <a:r>
                  <a:rPr lang="pt-BR" dirty="0"/>
                  <a:t>, </a:t>
                </a:r>
                <a14:m>
                  <m:oMath xmlns:m="http://schemas.openxmlformats.org/officeDocument/2006/math">
                    <m:r>
                      <a:rPr lang="pt-BR" b="0" i="1" smtClean="0">
                        <a:latin typeface="Cambria Math" panose="02040503050406030204" pitchFamily="18" charset="0"/>
                      </a:rPr>
                      <m:t>𝐾</m:t>
                    </m:r>
                  </m:oMath>
                </a14:m>
                <a:r>
                  <a:rPr lang="pt-BR" dirty="0"/>
                  <a:t>, é dada pela equação do </a:t>
                </a:r>
                <a:r>
                  <a:rPr lang="pt-BR" b="1" i="1" dirty="0">
                    <a:solidFill>
                      <a:srgbClr val="00B050"/>
                    </a:solidFill>
                  </a:rPr>
                  <a:t>hiperplano</a:t>
                </a:r>
                <a:r>
                  <a:rPr lang="pt-BR" dirty="0"/>
                  <a:t>:</a:t>
                </a:r>
              </a:p>
              <a:p>
                <a:pPr marL="0"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𝐾</m:t>
                        </m:r>
                      </m:sub>
                    </m:sSub>
                    <m:r>
                      <a:rPr lang="pt-BR">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nary>
                      <m:naryPr>
                        <m:chr m:val="∑"/>
                        <m:ctrlPr>
                          <a:rPr lang="pt-BR" i="1">
                            <a:latin typeface="Cambria Math" panose="02040503050406030204" pitchFamily="18" charset="0"/>
                            <a:ea typeface="Cambria Math" panose="02040503050406030204" pitchFamily="18" charset="0"/>
                          </a:rPr>
                        </m:ctrlPr>
                      </m:naryPr>
                      <m:sub>
                        <m:r>
                          <m:rPr>
                            <m:brk m:alnAt="23"/>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nary>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𝑖</m:t>
                        </m:r>
                      </m:sub>
                    </m:sSub>
                  </m:oMath>
                </a14:m>
                <a:r>
                  <a:rPr lang="pt-BR" dirty="0"/>
                  <a:t>.</a:t>
                </a:r>
              </a:p>
              <a:p>
                <a:r>
                  <a:rPr lang="pt-BR" dirty="0"/>
                  <a:t>O </a:t>
                </a:r>
                <a:r>
                  <a:rPr lang="pt-BR" b="1" i="1" dirty="0"/>
                  <a:t>hiperplano</a:t>
                </a:r>
                <a:r>
                  <a:rPr lang="pt-BR" dirty="0"/>
                  <a:t> será o </a:t>
                </a:r>
                <a:r>
                  <a:rPr lang="pt-BR" b="1" i="1" dirty="0">
                    <a:solidFill>
                      <a:srgbClr val="00B0F0"/>
                    </a:solidFill>
                  </a:rPr>
                  <a:t>primeiro formato </a:t>
                </a:r>
                <a:r>
                  <a:rPr lang="pt-BR" dirty="0"/>
                  <a:t>de </a:t>
                </a:r>
                <a:r>
                  <a:rPr lang="pt-BR" b="1" i="1" dirty="0"/>
                  <a:t>função aproximadora</a:t>
                </a:r>
                <a:r>
                  <a:rPr lang="pt-BR" dirty="0"/>
                  <a:t> que usaremos.</a:t>
                </a:r>
              </a:p>
              <a:p>
                <a:r>
                  <a:rPr lang="pt-BR" dirty="0"/>
                  <a:t>No contexto do aprendizado de máquina, a </a:t>
                </a:r>
                <a:r>
                  <a:rPr lang="pt-BR" b="1" i="1" dirty="0"/>
                  <a:t>função aproximadora </a:t>
                </a:r>
                <a:r>
                  <a:rPr lang="pt-BR" dirty="0"/>
                  <a:t>é chamada de </a:t>
                </a:r>
                <a:r>
                  <a:rPr lang="pt-BR" b="1" i="1" dirty="0">
                    <a:solidFill>
                      <a:srgbClr val="00B050"/>
                    </a:solidFill>
                  </a:rPr>
                  <a:t>modelo</a:t>
                </a:r>
                <a:r>
                  <a:rPr lang="pt-BR" dirty="0"/>
                  <a:t>.</a:t>
                </a:r>
              </a:p>
              <a:p>
                <a:r>
                  <a:rPr lang="pt-BR" dirty="0"/>
                  <a:t>O </a:t>
                </a:r>
                <a:r>
                  <a:rPr lang="pt-BR" b="1" i="1" dirty="0">
                    <a:solidFill>
                      <a:srgbClr val="00B050"/>
                    </a:solidFill>
                  </a:rPr>
                  <a:t>modelo</a:t>
                </a:r>
                <a:r>
                  <a:rPr lang="pt-BR" dirty="0"/>
                  <a:t> é definido pela </a:t>
                </a:r>
                <a:r>
                  <a:rPr lang="pt-BR" b="1" i="1" dirty="0">
                    <a:solidFill>
                      <a:srgbClr val="00B050"/>
                    </a:solidFill>
                  </a:rPr>
                  <a:t>equação</a:t>
                </a:r>
                <a:r>
                  <a:rPr lang="pt-BR" dirty="0"/>
                  <a:t> e pelos seus </a:t>
                </a:r>
                <a:r>
                  <a:rPr lang="pt-BR" b="1" i="1" dirty="0">
                    <a:solidFill>
                      <a:srgbClr val="00B050"/>
                    </a:solidFill>
                  </a:rPr>
                  <a:t>pesos</a:t>
                </a:r>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r>
                      <a:rPr lang="pt-BR" b="0" i="1" smtClean="0">
                        <a:latin typeface="Cambria Math" panose="02040503050406030204" pitchFamily="18" charset="0"/>
                        <a:ea typeface="Cambria Math" panose="02040503050406030204" pitchFamily="18" charset="0"/>
                      </a:rPr>
                      <m:t>, ∀</m:t>
                    </m:r>
                    <m:r>
                      <a:rPr lang="pt-BR" b="0" i="1" smtClean="0">
                        <a:latin typeface="Cambria Math" panose="02040503050406030204" pitchFamily="18" charset="0"/>
                        <a:ea typeface="Cambria Math" panose="02040503050406030204" pitchFamily="18" charset="0"/>
                      </a:rPr>
                      <m:t>𝑖</m:t>
                    </m:r>
                  </m:oMath>
                </a14:m>
                <a:r>
                  <a:rPr lang="pt-BR" dirty="0"/>
                  <a:t>.</a:t>
                </a:r>
              </a:p>
              <a:p>
                <a:r>
                  <a:rPr lang="pt-BR" dirty="0"/>
                  <a:t>Existe outro formato bastante usado, os </a:t>
                </a:r>
                <a:r>
                  <a:rPr lang="pt-BR" b="1" i="1" dirty="0">
                    <a:solidFill>
                      <a:srgbClr val="00B050"/>
                    </a:solidFill>
                  </a:rPr>
                  <a:t>polinômios</a:t>
                </a:r>
                <a:r>
                  <a:rPr lang="pt-BR" dirty="0"/>
                  <a:t>, o qual veremos mais adiante e que modelará </a:t>
                </a:r>
                <a:r>
                  <a:rPr lang="pt-BR" b="1" i="1" dirty="0">
                    <a:solidFill>
                      <a:srgbClr val="7030A0"/>
                    </a:solidFill>
                  </a:rPr>
                  <a:t>relações não lineares </a:t>
                </a:r>
                <a:r>
                  <a:rPr lang="pt-BR" dirty="0"/>
                  <a:t>entre os atributos e a saída do modelo,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a:t>
                </a:r>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5"/>
                <a:ext cx="11214253" cy="5032375"/>
              </a:xfrm>
              <a:blipFill>
                <a:blip r:embed="rId3"/>
                <a:stretch>
                  <a:fillRect l="-979" t="-1937" r="-54" b="-2179"/>
                </a:stretch>
              </a:blipFill>
            </p:spPr>
            <p:txBody>
              <a:bodyPr/>
              <a:lstStyle/>
              <a:p>
                <a:r>
                  <a:rPr lang="pt-BR">
                    <a:noFill/>
                  </a:rPr>
                  <a:t> </a:t>
                </a:r>
              </a:p>
            </p:txBody>
          </p:sp>
        </mc:Fallback>
      </mc:AlternateContent>
    </p:spTree>
    <p:extLst>
      <p:ext uri="{BB962C8B-B14F-4D97-AF65-F5344CB8AC3E}">
        <p14:creationId xmlns:p14="http://schemas.microsoft.com/office/powerpoint/2010/main" val="34342619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199" y="1825624"/>
                <a:ext cx="11353801" cy="5032375"/>
              </a:xfrm>
            </p:spPr>
            <p:txBody>
              <a:bodyPr>
                <a:normAutofit/>
              </a:bodyPr>
              <a:lstStyle/>
              <a:p>
                <a:r>
                  <a:rPr lang="pt-BR" noProof="0" dirty="0"/>
                  <a:t>A palavra </a:t>
                </a:r>
                <a:r>
                  <a:rPr lang="pt-BR" b="1" i="1" noProof="0" dirty="0"/>
                  <a:t>linear</a:t>
                </a:r>
                <a:r>
                  <a:rPr lang="pt-BR" noProof="0" dirty="0"/>
                  <a:t> no contexto da regressão significa “</a:t>
                </a:r>
                <a:r>
                  <a:rPr lang="pt-BR" b="1" i="1" noProof="0" dirty="0">
                    <a:solidFill>
                      <a:srgbClr val="00B0F0"/>
                    </a:solidFill>
                  </a:rPr>
                  <a:t>linear com relação aos pesos</a:t>
                </a:r>
                <a:r>
                  <a:rPr lang="pt-BR" noProof="0" dirty="0"/>
                  <a:t>” e não com relação aos </a:t>
                </a:r>
                <a:r>
                  <a:rPr lang="pt-BR" b="1" i="1" noProof="0" dirty="0"/>
                  <a:t>atributos</a:t>
                </a:r>
                <a:r>
                  <a:rPr lang="pt-BR" noProof="0" dirty="0"/>
                  <a:t>, </a:t>
                </a:r>
                <a14:m>
                  <m:oMath xmlns:m="http://schemas.openxmlformats.org/officeDocument/2006/math">
                    <m:r>
                      <a:rPr lang="pt-BR" b="1" i="1" noProof="0">
                        <a:latin typeface="Cambria Math" panose="02040503050406030204" pitchFamily="18" charset="0"/>
                      </a:rPr>
                      <m:t>𝒙</m:t>
                    </m:r>
                  </m:oMath>
                </a14:m>
                <a:r>
                  <a:rPr lang="pt-BR" noProof="0" dirty="0"/>
                  <a:t>.</a:t>
                </a:r>
              </a:p>
              <a:p>
                <a:pPr lvl="1">
                  <a:buFont typeface="Wingdings" panose="05000000000000000000" pitchFamily="2" charset="2"/>
                  <a:buChar char="§"/>
                </a:pPr>
                <a:r>
                  <a:rPr lang="pt-BR" noProof="0" dirty="0"/>
                  <a:t>Em outras palavras, </a:t>
                </a:r>
                <a:r>
                  <a:rPr lang="pt-BR" b="1" noProof="0" dirty="0">
                    <a:solidFill>
                      <a:srgbClr val="00B050"/>
                    </a:solidFill>
                  </a:rPr>
                  <a:t>a saída é uma combinação linear dos pesos</a:t>
                </a:r>
                <a:r>
                  <a:rPr lang="pt-BR" noProof="0" dirty="0"/>
                  <a:t>.</a:t>
                </a:r>
              </a:p>
              <a:p>
                <a:r>
                  <a:rPr lang="pt-BR" noProof="0" dirty="0"/>
                  <a:t>Desta forma, os seguintes </a:t>
                </a:r>
                <a:r>
                  <a:rPr lang="pt-BR" b="1" i="1" noProof="0" dirty="0"/>
                  <a:t>modelos</a:t>
                </a:r>
                <a:r>
                  <a:rPr lang="pt-BR" noProof="0" dirty="0"/>
                  <a:t>, mesmo não tendo </a:t>
                </a:r>
                <a:r>
                  <a:rPr lang="pt-BR" b="1" i="1" noProof="0" dirty="0">
                    <a:solidFill>
                      <a:schemeClr val="accent2"/>
                    </a:solidFill>
                  </a:rPr>
                  <a:t>mapeamentos lineares dos atributos na saída</a:t>
                </a:r>
                <a:r>
                  <a:rPr lang="pt-BR" noProof="0" dirty="0"/>
                  <a:t>, são lineares com relação aos pesos:</a:t>
                </a:r>
              </a:p>
              <a:p>
                <a:pPr lvl="2">
                  <a:buFont typeface="Wingdings" panose="05000000000000000000" pitchFamily="2" charset="2"/>
                  <a:buChar char="ü"/>
                </a:pP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b="0"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1" i="1" noProof="0" smtClean="0">
                        <a:latin typeface="Cambria Math" panose="02040503050406030204" pitchFamily="18" charset="0"/>
                      </a:rPr>
                      <m:t>𝒙</m:t>
                    </m:r>
                    <m:r>
                      <a:rPr lang="pt-BR" b="0" i="1" noProof="0" smtClean="0">
                        <a:latin typeface="Cambria Math" panose="02040503050406030204" pitchFamily="18" charset="0"/>
                      </a:rPr>
                      <m:t>)=</m:t>
                    </m:r>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𝑎</m:t>
                        </m:r>
                      </m:e>
                      <m:sub>
                        <m:r>
                          <a:rPr lang="pt-BR" b="0" i="1" noProof="0" smtClean="0">
                            <a:latin typeface="Cambria Math" panose="02040503050406030204" pitchFamily="18" charset="0"/>
                          </a:rPr>
                          <m:t>0</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1</m:t>
                        </m:r>
                      </m:sub>
                    </m:sSub>
                    <m:func>
                      <m:funcPr>
                        <m:ctrlPr>
                          <a:rPr lang="pt-BR" i="0" noProof="0" smtClean="0">
                            <a:latin typeface="Cambria Math" panose="02040503050406030204" pitchFamily="18" charset="0"/>
                          </a:rPr>
                        </m:ctrlPr>
                      </m:funcPr>
                      <m:fName>
                        <m:r>
                          <m:rPr>
                            <m:sty m:val="p"/>
                          </m:rPr>
                          <a:rPr lang="pt-BR" i="0" noProof="0" smtClean="0">
                            <a:latin typeface="Cambria Math" panose="02040503050406030204" pitchFamily="18" charset="0"/>
                          </a:rPr>
                          <m:t>log</m:t>
                        </m:r>
                      </m:fName>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e>
                    </m:func>
                    <m:r>
                      <a:rPr lang="pt-BR" b="0" i="0"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2</m:t>
                        </m:r>
                      </m:sub>
                    </m:sSub>
                    <m:func>
                      <m:funcPr>
                        <m:ctrlPr>
                          <a:rPr lang="pt-BR" i="0" noProof="0" smtClean="0">
                            <a:latin typeface="Cambria Math" panose="02040503050406030204" pitchFamily="18" charset="0"/>
                          </a:rPr>
                        </m:ctrlPr>
                      </m:funcPr>
                      <m:fName>
                        <m:r>
                          <m:rPr>
                            <m:sty m:val="p"/>
                          </m:rPr>
                          <a:rPr lang="pt-BR" i="0" noProof="0" smtClean="0">
                            <a:latin typeface="Cambria Math" panose="02040503050406030204" pitchFamily="18" charset="0"/>
                          </a:rPr>
                          <m:t>cos</m:t>
                        </m:r>
                      </m:fName>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2</m:t>
                            </m:r>
                          </m:sub>
                        </m:sSub>
                      </m:e>
                    </m:func>
                  </m:oMath>
                </a14:m>
                <a:endParaRPr lang="pt-BR" noProof="0" dirty="0"/>
              </a:p>
              <a:p>
                <a:pPr lvl="2">
                  <a:buFont typeface="Wingdings" panose="05000000000000000000" pitchFamily="2" charset="2"/>
                  <a:buChar char="ü"/>
                </a:pP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b="0" i="1" noProof="0" smtClean="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1" i="1" noProof="0">
                        <a:latin typeface="Cambria Math" panose="02040503050406030204" pitchFamily="18" charset="0"/>
                      </a:rPr>
                      <m:t>𝒙</m:t>
                    </m:r>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i="1" noProof="0">
                            <a:latin typeface="Cambria Math" panose="02040503050406030204" pitchFamily="18" charset="0"/>
                          </a:rPr>
                          <m:t>0</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i="1" noProof="0">
                            <a:latin typeface="Cambria Math" panose="02040503050406030204" pitchFamily="18" charset="0"/>
                          </a:rPr>
                          <m:t>1</m:t>
                        </m:r>
                      </m:sub>
                    </m:sSub>
                    <m:sSup>
                      <m:sSupPr>
                        <m:ctrlPr>
                          <a:rPr lang="pt-BR" i="1" noProof="0" smtClean="0">
                            <a:latin typeface="Cambria Math" panose="02040503050406030204" pitchFamily="18" charset="0"/>
                          </a:rPr>
                        </m:ctrlPr>
                      </m:sSupPr>
                      <m:e>
                        <m:r>
                          <a:rPr lang="pt-BR" i="1" noProof="0" smtClean="0">
                            <a:latin typeface="Cambria Math" panose="02040503050406030204" pitchFamily="18" charset="0"/>
                          </a:rPr>
                          <m:t>𝑒</m:t>
                        </m:r>
                      </m:e>
                      <m:sup>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sup>
                    </m:sSup>
                  </m:oMath>
                </a14:m>
                <a:endParaRPr lang="pt-BR" noProof="0" dirty="0"/>
              </a:p>
              <a:p>
                <a:pPr lvl="2">
                  <a:buFont typeface="Wingdings" panose="05000000000000000000" pitchFamily="2" charset="2"/>
                  <a:buChar char="ü"/>
                </a:pP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b="0" i="1" noProof="0" smtClean="0">
                        <a:latin typeface="Cambria Math" panose="02040503050406030204" pitchFamily="18" charset="0"/>
                      </a:rPr>
                      <m:t>=</m:t>
                    </m:r>
                    <m:r>
                      <a:rPr lang="pt-BR" i="1" noProof="0">
                        <a:latin typeface="Cambria Math" panose="02040503050406030204" pitchFamily="18" charset="0"/>
                      </a:rPr>
                      <m:t>ℎ</m:t>
                    </m:r>
                    <m:d>
                      <m:dPr>
                        <m:ctrlPr>
                          <a:rPr lang="pt-BR" b="1" i="1" noProof="0">
                            <a:latin typeface="Cambria Math" panose="02040503050406030204" pitchFamily="18" charset="0"/>
                          </a:rPr>
                        </m:ctrlPr>
                      </m:dPr>
                      <m:e>
                        <m:r>
                          <a:rPr lang="pt-BR" b="1" i="1" noProof="0">
                            <a:latin typeface="Cambria Math" panose="02040503050406030204" pitchFamily="18" charset="0"/>
                          </a:rPr>
                          <m:t>𝒙</m:t>
                        </m:r>
                      </m:e>
                    </m:d>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i="1" noProof="0">
                            <a:latin typeface="Cambria Math" panose="02040503050406030204" pitchFamily="18" charset="0"/>
                          </a:rPr>
                          <m:t>0</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sub>
                        <m:r>
                          <a:rPr lang="pt-BR" i="1" noProof="0">
                            <a:latin typeface="Cambria Math" panose="02040503050406030204" pitchFamily="18" charset="0"/>
                          </a:rPr>
                          <m:t>1</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2</m:t>
                        </m:r>
                      </m:sub>
                    </m:sSub>
                    <m:sSubSup>
                      <m:sSubSupPr>
                        <m:ctrlPr>
                          <a:rPr lang="pt-BR" b="0" i="1" noProof="0" smtClean="0">
                            <a:latin typeface="Cambria Math" panose="02040503050406030204" pitchFamily="18" charset="0"/>
                          </a:rPr>
                        </m:ctrlPr>
                      </m:sSubSup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up>
                        <m:r>
                          <a:rPr lang="pt-BR" b="0" i="1" noProof="0" smtClean="0">
                            <a:latin typeface="Cambria Math" panose="02040503050406030204" pitchFamily="18" charset="0"/>
                          </a:rPr>
                          <m:t>2</m:t>
                        </m:r>
                      </m:sup>
                    </m:sSubSup>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3</m:t>
                        </m:r>
                      </m:sub>
                    </m:sSub>
                    <m:sSubSup>
                      <m:sSubSupPr>
                        <m:ctrlPr>
                          <a:rPr lang="pt-BR" i="1" noProof="0">
                            <a:latin typeface="Cambria Math" panose="02040503050406030204" pitchFamily="18" charset="0"/>
                          </a:rPr>
                        </m:ctrlPr>
                      </m:sSubSupPr>
                      <m:e>
                        <m:r>
                          <a:rPr lang="pt-BR" i="1" noProof="0">
                            <a:latin typeface="Cambria Math" panose="02040503050406030204" pitchFamily="18" charset="0"/>
                          </a:rPr>
                          <m:t>𝑥</m:t>
                        </m:r>
                      </m:e>
                      <m:sub>
                        <m:r>
                          <a:rPr lang="pt-BR" i="1" noProof="0">
                            <a:latin typeface="Cambria Math" panose="02040503050406030204" pitchFamily="18" charset="0"/>
                          </a:rPr>
                          <m:t>1</m:t>
                        </m:r>
                      </m:sub>
                      <m:sup>
                        <m:r>
                          <a:rPr lang="pt-BR" b="0" i="1" noProof="0" smtClean="0">
                            <a:latin typeface="Cambria Math" panose="02040503050406030204" pitchFamily="18" charset="0"/>
                          </a:rPr>
                          <m:t>3</m:t>
                        </m:r>
                      </m:sup>
                    </m:sSubSup>
                  </m:oMath>
                </a14:m>
                <a:endParaRPr lang="pt-BR" noProof="0" dirty="0"/>
              </a:p>
              <a:p>
                <a:r>
                  <a:rPr lang="pt-BR" b="0" noProof="0" dirty="0"/>
                  <a:t>Exemplo de um modelo </a:t>
                </a:r>
                <a:r>
                  <a:rPr lang="pt-BR" b="1" i="1" noProof="0" dirty="0">
                    <a:solidFill>
                      <a:srgbClr val="7030A0"/>
                    </a:solidFill>
                  </a:rPr>
                  <a:t>não-linear em relação aos pesos</a:t>
                </a:r>
                <a:r>
                  <a:rPr lang="pt-BR" b="0" noProof="0" dirty="0"/>
                  <a:t>: </a:t>
                </a:r>
                <a14:m>
                  <m:oMath xmlns:m="http://schemas.openxmlformats.org/officeDocument/2006/math">
                    <m:r>
                      <a:rPr lang="pt-BR" sz="2500" i="1" noProof="0">
                        <a:latin typeface="Cambria Math" panose="02040503050406030204" pitchFamily="18" charset="0"/>
                      </a:rPr>
                      <m:t>ℎ</m:t>
                    </m:r>
                    <m:d>
                      <m:dPr>
                        <m:ctrlPr>
                          <a:rPr lang="pt-BR" sz="2500" b="1" i="1" noProof="0">
                            <a:latin typeface="Cambria Math" panose="02040503050406030204" pitchFamily="18" charset="0"/>
                          </a:rPr>
                        </m:ctrlPr>
                      </m:dPr>
                      <m:e>
                        <m:r>
                          <a:rPr lang="pt-BR" sz="2500" b="1" i="1" noProof="0">
                            <a:latin typeface="Cambria Math" panose="02040503050406030204" pitchFamily="18" charset="0"/>
                          </a:rPr>
                          <m:t>𝒙</m:t>
                        </m:r>
                      </m:e>
                    </m:d>
                    <m:r>
                      <a:rPr lang="pt-BR" sz="2500" i="1" noProof="0">
                        <a:latin typeface="Cambria Math" panose="02040503050406030204" pitchFamily="18" charset="0"/>
                      </a:rPr>
                      <m:t>=</m:t>
                    </m:r>
                    <m:f>
                      <m:fPr>
                        <m:ctrlPr>
                          <a:rPr lang="pt-BR" sz="2500" i="1" noProof="0">
                            <a:latin typeface="Cambria Math" panose="02040503050406030204" pitchFamily="18" charset="0"/>
                          </a:rPr>
                        </m:ctrlPr>
                      </m:fPr>
                      <m:num>
                        <m:sSub>
                          <m:sSubPr>
                            <m:ctrlPr>
                              <a:rPr lang="pt-BR" sz="2500" i="1" noProof="0">
                                <a:latin typeface="Cambria Math" panose="02040503050406030204" pitchFamily="18" charset="0"/>
                              </a:rPr>
                            </m:ctrlPr>
                          </m:sSubPr>
                          <m:e>
                            <m:r>
                              <a:rPr lang="pt-BR" sz="2500" i="1" noProof="0">
                                <a:latin typeface="Cambria Math" panose="02040503050406030204" pitchFamily="18" charset="0"/>
                              </a:rPr>
                              <m:t>𝑎</m:t>
                            </m:r>
                          </m:e>
                          <m:sub>
                            <m:r>
                              <a:rPr lang="pt-BR" sz="2500" b="0" i="1" noProof="0" smtClean="0">
                                <a:latin typeface="Cambria Math" panose="02040503050406030204" pitchFamily="18" charset="0"/>
                              </a:rPr>
                              <m:t>1</m:t>
                            </m:r>
                          </m:sub>
                        </m:sSub>
                        <m:sSub>
                          <m:sSubPr>
                            <m:ctrlPr>
                              <a:rPr lang="pt-BR" sz="2500" i="1" noProof="0">
                                <a:latin typeface="Cambria Math" panose="02040503050406030204" pitchFamily="18" charset="0"/>
                              </a:rPr>
                            </m:ctrlPr>
                          </m:sSubPr>
                          <m:e>
                            <m:r>
                              <a:rPr lang="pt-BR" sz="2500" i="1" noProof="0">
                                <a:latin typeface="Cambria Math" panose="02040503050406030204" pitchFamily="18" charset="0"/>
                              </a:rPr>
                              <m:t>𝑥</m:t>
                            </m:r>
                          </m:e>
                          <m:sub>
                            <m:r>
                              <a:rPr lang="pt-BR" sz="2500" i="1" noProof="0">
                                <a:latin typeface="Cambria Math" panose="02040503050406030204" pitchFamily="18" charset="0"/>
                              </a:rPr>
                              <m:t>1</m:t>
                            </m:r>
                          </m:sub>
                        </m:sSub>
                      </m:num>
                      <m:den>
                        <m:r>
                          <a:rPr lang="pt-BR" sz="2500" b="0" i="1" noProof="0" smtClean="0">
                            <a:latin typeface="Cambria Math" panose="02040503050406030204" pitchFamily="18" charset="0"/>
                          </a:rPr>
                          <m:t>1</m:t>
                        </m:r>
                        <m:func>
                          <m:funcPr>
                            <m:ctrlPr>
                              <a:rPr lang="pt-BR" sz="2500" b="0" i="0" noProof="0" smtClean="0">
                                <a:latin typeface="Cambria Math" panose="02040503050406030204" pitchFamily="18" charset="0"/>
                              </a:rPr>
                            </m:ctrlPr>
                          </m:funcPr>
                          <m:fName>
                            <m:r>
                              <a:rPr lang="pt-BR" sz="2500" b="0" i="0" noProof="0" smtClean="0">
                                <a:latin typeface="Cambria Math" panose="02040503050406030204" pitchFamily="18" charset="0"/>
                              </a:rPr>
                              <m:t>+</m:t>
                            </m:r>
                          </m:fName>
                          <m:e>
                            <m:sSup>
                              <m:sSupPr>
                                <m:ctrlPr>
                                  <a:rPr lang="pt-BR" sz="2500" b="0" i="1" noProof="0" smtClean="0">
                                    <a:latin typeface="Cambria Math" panose="02040503050406030204" pitchFamily="18" charset="0"/>
                                  </a:rPr>
                                </m:ctrlPr>
                              </m:sSupPr>
                              <m:e>
                                <m:r>
                                  <a:rPr lang="pt-BR" sz="2500" b="0" i="1" noProof="0" smtClean="0">
                                    <a:latin typeface="Cambria Math" panose="02040503050406030204" pitchFamily="18" charset="0"/>
                                  </a:rPr>
                                  <m:t>𝑒</m:t>
                                </m:r>
                              </m:e>
                              <m:sup>
                                <m:sSub>
                                  <m:sSubPr>
                                    <m:ctrlPr>
                                      <a:rPr lang="pt-BR" sz="2500" b="0" i="1" noProof="0" smtClean="0">
                                        <a:latin typeface="Cambria Math" panose="02040503050406030204" pitchFamily="18" charset="0"/>
                                      </a:rPr>
                                    </m:ctrlPr>
                                  </m:sSubPr>
                                  <m:e>
                                    <m:r>
                                      <a:rPr lang="pt-BR" sz="2500" b="0" i="1" noProof="0" smtClean="0">
                                        <a:latin typeface="Cambria Math" panose="02040503050406030204" pitchFamily="18" charset="0"/>
                                      </a:rPr>
                                      <m:t>−</m:t>
                                    </m:r>
                                    <m:sSub>
                                      <m:sSubPr>
                                        <m:ctrlPr>
                                          <a:rPr lang="pt-BR" sz="2500" i="1" noProof="0">
                                            <a:latin typeface="Cambria Math" panose="02040503050406030204" pitchFamily="18" charset="0"/>
                                          </a:rPr>
                                        </m:ctrlPr>
                                      </m:sSubPr>
                                      <m:e>
                                        <m:r>
                                          <a:rPr lang="pt-BR" sz="2500" i="1" noProof="0">
                                            <a:latin typeface="Cambria Math" panose="02040503050406030204" pitchFamily="18" charset="0"/>
                                          </a:rPr>
                                          <m:t>𝑎</m:t>
                                        </m:r>
                                      </m:e>
                                      <m:sub>
                                        <m:r>
                                          <a:rPr lang="pt-BR" sz="2500" b="0" i="1" noProof="0" smtClean="0">
                                            <a:latin typeface="Cambria Math" panose="02040503050406030204" pitchFamily="18" charset="0"/>
                                          </a:rPr>
                                          <m:t>1</m:t>
                                        </m:r>
                                      </m:sub>
                                    </m:sSub>
                                    <m:r>
                                      <a:rPr lang="pt-BR" sz="2500" i="1" noProof="0">
                                        <a:latin typeface="Cambria Math" panose="02040503050406030204" pitchFamily="18" charset="0"/>
                                      </a:rPr>
                                      <m:t>𝑥</m:t>
                                    </m:r>
                                  </m:e>
                                  <m:sub>
                                    <m:r>
                                      <a:rPr lang="pt-BR" sz="2500" i="1" noProof="0">
                                        <a:latin typeface="Cambria Math" panose="02040503050406030204" pitchFamily="18" charset="0"/>
                                      </a:rPr>
                                      <m:t>2</m:t>
                                    </m:r>
                                  </m:sub>
                                </m:sSub>
                              </m:sup>
                            </m:sSup>
                          </m:e>
                        </m:func>
                      </m:den>
                    </m:f>
                    <m:r>
                      <a:rPr lang="pt-BR" sz="2500" b="0" i="0" noProof="0" smtClean="0">
                        <a:latin typeface="Cambria Math" panose="02040503050406030204" pitchFamily="18" charset="0"/>
                      </a:rPr>
                      <m:t>.</m:t>
                    </m:r>
                  </m:oMath>
                </a14:m>
                <a:endParaRPr lang="pt-BR" sz="2500" noProof="0" dirty="0"/>
              </a:p>
              <a:p>
                <a:r>
                  <a:rPr lang="pt-BR" noProof="0" dirty="0"/>
                  <a:t>Em geral, não é possível aplicar algumas das técnicas de regressão que veremos em breve a modelos não-lineares em relação aos pesos.</a:t>
                </a:r>
              </a:p>
            </p:txBody>
          </p:sp>
        </mc:Choice>
        <mc:Fallback>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r="-322"/>
                </a:stretch>
              </a:blipFill>
            </p:spPr>
            <p:txBody>
              <a:bodyPr/>
              <a:lstStyle/>
              <a:p>
                <a:r>
                  <a:rPr lang="en-US">
                    <a:noFill/>
                  </a:rPr>
                  <a:t> </a:t>
                </a:r>
              </a:p>
            </p:txBody>
          </p:sp>
        </mc:Fallback>
      </mc:AlternateContent>
      <p:sp>
        <p:nvSpPr>
          <p:cNvPr id="6" name="TextBox 3">
            <a:extLst>
              <a:ext uri="{FF2B5EF4-FFF2-40B4-BE49-F238E27FC236}">
                <a16:creationId xmlns:a16="http://schemas.microsoft.com/office/drawing/2014/main" id="{46A06D7D-605F-C2C1-C603-F50329E7D0B5}"/>
              </a:ext>
            </a:extLst>
          </p:cNvPr>
          <p:cNvSpPr txBox="1"/>
          <p:nvPr/>
        </p:nvSpPr>
        <p:spPr>
          <a:xfrm>
            <a:off x="9467850" y="4182844"/>
            <a:ext cx="2724150" cy="646331"/>
          </a:xfrm>
          <a:prstGeom prst="rect">
            <a:avLst/>
          </a:prstGeom>
          <a:noFill/>
        </p:spPr>
        <p:txBody>
          <a:bodyPr wrap="square" rtlCol="0">
            <a:spAutoFit/>
          </a:bodyPr>
          <a:lstStyle/>
          <a:p>
            <a:pPr algn="ctr"/>
            <a:r>
              <a:rPr lang="pt-BR" sz="1200" noProof="0" dirty="0"/>
              <a:t>O peso está no exponencial: se um peso aparece dentro de uma função não linear, o modelo é não linear nos pesos.</a:t>
            </a:r>
          </a:p>
        </p:txBody>
      </p:sp>
      <p:cxnSp>
        <p:nvCxnSpPr>
          <p:cNvPr id="7" name="Straight Arrow Connector 5">
            <a:extLst>
              <a:ext uri="{FF2B5EF4-FFF2-40B4-BE49-F238E27FC236}">
                <a16:creationId xmlns:a16="http://schemas.microsoft.com/office/drawing/2014/main" id="{EC222E79-6E3D-4BD2-60D0-75FFE08B8935}"/>
              </a:ext>
            </a:extLst>
          </p:cNvPr>
          <p:cNvCxnSpPr>
            <a:cxnSpLocks/>
          </p:cNvCxnSpPr>
          <p:nvPr/>
        </p:nvCxnSpPr>
        <p:spPr>
          <a:xfrm flipH="1">
            <a:off x="11449050" y="4829175"/>
            <a:ext cx="238125" cy="5334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047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7C19F6-4F23-2010-961A-A8FD998F9CD3}"/>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DD35193-F27B-1223-2210-4596352927B7}"/>
                  </a:ext>
                </a:extLst>
              </p:cNvPr>
              <p:cNvSpPr>
                <a:spLocks noGrp="1"/>
              </p:cNvSpPr>
              <p:nvPr>
                <p:ph idx="1"/>
              </p:nvPr>
            </p:nvSpPr>
            <p:spPr>
              <a:xfrm>
                <a:off x="838200" y="1825624"/>
                <a:ext cx="11192219" cy="5032375"/>
              </a:xfrm>
            </p:spPr>
            <p:txBody>
              <a:bodyPr>
                <a:normAutofit/>
              </a:bodyPr>
              <a:lstStyle/>
              <a:p>
                <a:r>
                  <a:rPr lang="pt-BR" dirty="0">
                    <a:ea typeface="Cambria Math" panose="02040503050406030204" pitchFamily="18" charset="0"/>
                  </a:rPr>
                  <a:t>No contexto da regressão, a </a:t>
                </a:r>
                <a:r>
                  <a:rPr lang="pt-BR" b="1" i="1" dirty="0">
                    <a:ea typeface="Cambria Math" panose="02040503050406030204" pitchFamily="18" charset="0"/>
                  </a:rPr>
                  <a:t>função aproximadora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chamada de </a:t>
                </a:r>
                <a:r>
                  <a:rPr lang="pt-BR" b="1" i="1" dirty="0">
                    <a:solidFill>
                      <a:schemeClr val="accent2"/>
                    </a:solidFill>
                  </a:rPr>
                  <a:t>função hipótese</a:t>
                </a:r>
                <a:r>
                  <a:rPr lang="pt-BR" dirty="0"/>
                  <a:t>, pois refere-se à </a:t>
                </a:r>
                <a:r>
                  <a:rPr lang="pt-BR" b="1" i="1" dirty="0">
                    <a:solidFill>
                      <a:schemeClr val="accent2"/>
                    </a:solidFill>
                  </a:rPr>
                  <a:t>explicação proposta </a:t>
                </a:r>
                <a:r>
                  <a:rPr lang="pt-BR" b="1" i="1" dirty="0">
                    <a:solidFill>
                      <a:srgbClr val="00B050"/>
                    </a:solidFill>
                  </a:rPr>
                  <a:t>para a relação entre as entradas</a:t>
                </a:r>
                <a:r>
                  <a:rPr lang="pt-BR" dirty="0"/>
                  <a:t>, </a:t>
                </a:r>
                <a14:m>
                  <m:oMath xmlns:m="http://schemas.openxmlformats.org/officeDocument/2006/math">
                    <m:r>
                      <a:rPr lang="pt-BR" b="1" i="1" smtClean="0">
                        <a:latin typeface="Cambria Math" panose="02040503050406030204" pitchFamily="18" charset="0"/>
                      </a:rPr>
                      <m:t>𝒙</m:t>
                    </m:r>
                  </m:oMath>
                </a14:m>
                <a:r>
                  <a:rPr lang="pt-BR" dirty="0"/>
                  <a:t> e a </a:t>
                </a:r>
                <a:r>
                  <a:rPr lang="pt-BR" b="1" i="1" dirty="0">
                    <a:solidFill>
                      <a:srgbClr val="00B050"/>
                    </a:solidFill>
                  </a:rPr>
                  <a:t>saída esperada</a:t>
                </a:r>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𝑦</m:t>
                    </m:r>
                  </m:oMath>
                </a14:m>
                <a:r>
                  <a:rPr lang="pt-BR" dirty="0"/>
                  <a:t>.</a:t>
                </a:r>
              </a:p>
              <a:p>
                <a:pPr lvl="1">
                  <a:buFont typeface="Wingdings" panose="05000000000000000000" pitchFamily="2" charset="2"/>
                  <a:buChar char="§"/>
                </a:pPr>
                <a:r>
                  <a:rPr lang="pt-BR" dirty="0"/>
                  <a:t>Por exemplo, anteriormente, </a:t>
                </a:r>
                <a:r>
                  <a:rPr lang="pt-BR" b="1" i="1" dirty="0">
                    <a:solidFill>
                      <a:srgbClr val="00B050"/>
                    </a:solidFill>
                  </a:rPr>
                  <a:t>hipotetizamos</a:t>
                </a:r>
                <a:r>
                  <a:rPr lang="pt-BR" dirty="0"/>
                  <a:t> que uma </a:t>
                </a:r>
                <a:r>
                  <a:rPr lang="pt-BR" b="1" i="1" dirty="0">
                    <a:solidFill>
                      <a:srgbClr val="00B050"/>
                    </a:solidFill>
                  </a:rPr>
                  <a:t>reta</a:t>
                </a:r>
                <a:r>
                  <a:rPr lang="pt-BR" dirty="0"/>
                  <a:t> explicaria bem a relação entre a temperatura média de um dia e o número de picolés vendidos.</a:t>
                </a:r>
              </a:p>
              <a:p>
                <a:r>
                  <a:rPr lang="pt-BR" dirty="0"/>
                  <a:t>O conjunto de todas as possíveis </a:t>
                </a:r>
                <a:r>
                  <a:rPr lang="pt-BR" b="1" i="1" dirty="0"/>
                  <a:t>funções hipótese</a:t>
                </a:r>
                <a:r>
                  <a:rPr lang="pt-BR" dirty="0"/>
                  <a:t> é chamado de </a:t>
                </a:r>
                <a:r>
                  <a:rPr lang="pt-BR" b="1" i="1" dirty="0">
                    <a:solidFill>
                      <a:srgbClr val="00B050"/>
                    </a:solidFill>
                  </a:rPr>
                  <a:t>espaço de hipóteses, </a:t>
                </a:r>
                <a14:m>
                  <m:oMath xmlns:m="http://schemas.openxmlformats.org/officeDocument/2006/math">
                    <m:r>
                      <a:rPr lang="pt-BR" b="1" i="1">
                        <a:solidFill>
                          <a:srgbClr val="00B050"/>
                        </a:solidFill>
                        <a:latin typeface="Cambria Math" panose="02040503050406030204" pitchFamily="18" charset="0"/>
                      </a:rPr>
                      <m:t>𝑯</m:t>
                    </m:r>
                  </m:oMath>
                </a14:m>
                <a:r>
                  <a:rPr lang="pt-BR" dirty="0"/>
                  <a:t>.</a:t>
                </a:r>
              </a:p>
              <a:p>
                <a:r>
                  <a:rPr lang="pt-BR" dirty="0"/>
                  <a:t>Em outras palavras, é o </a:t>
                </a:r>
                <a:r>
                  <a:rPr lang="pt-BR" b="1" i="1" dirty="0">
                    <a:solidFill>
                      <a:srgbClr val="00B050"/>
                    </a:solidFill>
                  </a:rPr>
                  <a:t>espaço</a:t>
                </a:r>
                <a:r>
                  <a:rPr lang="pt-BR" dirty="0"/>
                  <a:t> criado por </a:t>
                </a:r>
                <a:r>
                  <a:rPr lang="pt-BR" b="1" i="1" dirty="0">
                    <a:solidFill>
                      <a:srgbClr val="7030A0"/>
                    </a:solidFill>
                  </a:rPr>
                  <a:t>todas as combinações possíveis de atributos e valores dos pesos</a:t>
                </a:r>
                <a:r>
                  <a:rPr lang="pt-BR" dirty="0"/>
                  <a:t>.</a:t>
                </a:r>
              </a:p>
              <a:p>
                <a:r>
                  <a:rPr lang="pt-BR" dirty="0"/>
                  <a:t>A solução que </a:t>
                </a:r>
                <a:r>
                  <a:rPr lang="pt-BR" b="1" i="1" dirty="0">
                    <a:solidFill>
                      <a:srgbClr val="00B0F0"/>
                    </a:solidFill>
                  </a:rPr>
                  <a:t>melhor mapeia</a:t>
                </a:r>
                <a:r>
                  <a:rPr lang="pt-BR" dirty="0"/>
                  <a:t> </a:t>
                </a:r>
                <a14:m>
                  <m:oMath xmlns:m="http://schemas.openxmlformats.org/officeDocument/2006/math">
                    <m:r>
                      <a:rPr lang="pt-BR" b="1" i="1">
                        <a:latin typeface="Cambria Math" panose="02040503050406030204" pitchFamily="18" charset="0"/>
                      </a:rPr>
                      <m:t>𝒙</m:t>
                    </m:r>
                  </m:oMath>
                </a14:m>
                <a:r>
                  <a:rPr lang="pt-BR" dirty="0"/>
                  <a:t> em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 </m:t>
                    </m:r>
                  </m:oMath>
                </a14:m>
                <a:r>
                  <a:rPr lang="pt-BR" dirty="0"/>
                  <a:t>encontra-se dentro do </a:t>
                </a:r>
                <a:r>
                  <a:rPr lang="pt-BR" b="1" i="1" dirty="0"/>
                  <a:t>espaço de hipóteses</a:t>
                </a:r>
                <a:r>
                  <a:rPr lang="pt-BR" dirty="0"/>
                  <a:t> e </a:t>
                </a:r>
                <a:r>
                  <a:rPr lang="pt-BR" b="1" i="1" dirty="0">
                    <a:solidFill>
                      <a:srgbClr val="00B0F0"/>
                    </a:solidFill>
                  </a:rPr>
                  <a:t>nosso objetivo é encontra-la</a:t>
                </a:r>
                <a:r>
                  <a:rPr lang="pt-BR" dirty="0"/>
                  <a:t>.</a:t>
                </a:r>
              </a:p>
            </p:txBody>
          </p:sp>
        </mc:Choice>
        <mc:Fallback xmlns="">
          <p:sp>
            <p:nvSpPr>
              <p:cNvPr id="3" name="Espaço Reservado para Conteúdo 2">
                <a:extLst>
                  <a:ext uri="{FF2B5EF4-FFF2-40B4-BE49-F238E27FC236}">
                    <a16:creationId xmlns:a16="http://schemas.microsoft.com/office/drawing/2014/main" id="{6DD35193-F27B-1223-2210-4596352927B7}"/>
                  </a:ext>
                </a:extLst>
              </p:cNvPr>
              <p:cNvSpPr>
                <a:spLocks noGrp="1" noRot="1" noChangeAspect="1" noMove="1" noResize="1" noEditPoints="1" noAdjustHandles="1" noChangeArrowheads="1" noChangeShapeType="1" noTextEdit="1"/>
              </p:cNvSpPr>
              <p:nvPr>
                <p:ph idx="1"/>
              </p:nvPr>
            </p:nvSpPr>
            <p:spPr>
              <a:xfrm>
                <a:off x="838200" y="1825624"/>
                <a:ext cx="11192219" cy="5032375"/>
              </a:xfrm>
              <a:blipFill>
                <a:blip r:embed="rId3"/>
                <a:stretch>
                  <a:fillRect l="-981" t="-1937" r="-1144"/>
                </a:stretch>
              </a:blipFill>
            </p:spPr>
            <p:txBody>
              <a:bodyPr/>
              <a:lstStyle/>
              <a:p>
                <a:r>
                  <a:rPr lang="en-US">
                    <a:noFill/>
                  </a:rPr>
                  <a:t> </a:t>
                </a:r>
              </a:p>
            </p:txBody>
          </p:sp>
        </mc:Fallback>
      </mc:AlternateContent>
    </p:spTree>
    <p:extLst>
      <p:ext uri="{BB962C8B-B14F-4D97-AF65-F5344CB8AC3E}">
        <p14:creationId xmlns:p14="http://schemas.microsoft.com/office/powerpoint/2010/main" val="8784127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7C19F6-4F23-2010-961A-A8FD998F9CD3}"/>
              </a:ext>
            </a:extLst>
          </p:cNvPr>
          <p:cNvSpPr>
            <a:spLocks noGrp="1"/>
          </p:cNvSpPr>
          <p:nvPr>
            <p:ph type="title"/>
          </p:nvPr>
        </p:nvSpPr>
        <p:spPr/>
        <p:txBody>
          <a:bodyPr/>
          <a:lstStyle/>
          <a:p>
            <a:r>
              <a:rPr lang="pt-BR" dirty="0"/>
              <a:t>Espaço de hipóteses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DD35193-F27B-1223-2210-4596352927B7}"/>
                  </a:ext>
                </a:extLst>
              </p:cNvPr>
              <p:cNvSpPr>
                <a:spLocks noGrp="1"/>
              </p:cNvSpPr>
              <p:nvPr>
                <p:ph idx="1"/>
              </p:nvPr>
            </p:nvSpPr>
            <p:spPr>
              <a:xfrm>
                <a:off x="5201266" y="1825624"/>
                <a:ext cx="6829154" cy="5032375"/>
              </a:xfrm>
            </p:spPr>
            <p:txBody>
              <a:bodyPr>
                <a:normAutofit/>
              </a:bodyPr>
              <a:lstStyle/>
              <a:p>
                <a:r>
                  <a:rPr lang="pt-BR" dirty="0"/>
                  <a:t>N</a:t>
                </a:r>
                <a:r>
                  <a:rPr lang="pt-BR" dirty="0">
                    <a:solidFill>
                      <a:schemeClr val="tx1"/>
                    </a:solidFill>
                  </a:rPr>
                  <a:t>o exemplo da previsão da quantidade de picolés vendidos, onde usamos a </a:t>
                </a:r>
                <a:r>
                  <a:rPr lang="pt-BR" b="1" i="1" dirty="0">
                    <a:solidFill>
                      <a:schemeClr val="tx1"/>
                    </a:solidFill>
                  </a:rPr>
                  <a:t>equação de uma </a:t>
                </a:r>
                <a:r>
                  <a:rPr lang="pt-BR" b="1" i="1" dirty="0">
                    <a:solidFill>
                      <a:srgbClr val="7030A0"/>
                    </a:solidFill>
                  </a:rPr>
                  <a:t>reta</a:t>
                </a:r>
                <a:r>
                  <a:rPr lang="pt-BR" dirty="0">
                    <a:solidFill>
                      <a:schemeClr val="tx1"/>
                    </a:solidFill>
                  </a:rPr>
                  <a:t> como </a:t>
                </a:r>
                <a:r>
                  <a:rPr lang="pt-BR" b="1" i="1" dirty="0">
                    <a:solidFill>
                      <a:schemeClr val="tx1"/>
                    </a:solidFill>
                  </a:rPr>
                  <a:t>função hipótese</a:t>
                </a:r>
                <a:r>
                  <a:rPr lang="pt-BR" dirty="0">
                    <a:solidFill>
                      <a:schemeClr val="tx1"/>
                    </a:solidFill>
                  </a:rPr>
                  <a:t>,</a:t>
                </a:r>
              </a:p>
              <a:p>
                <a:pPr marL="0" indent="0" algn="ctr">
                  <a:buNone/>
                </a:pPr>
                <a14:m>
                  <m:oMath xmlns:m="http://schemas.openxmlformats.org/officeDocument/2006/math">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r>
                      <a:rPr lang="pt-BR" b="0" i="1" smtClean="0">
                        <a:solidFill>
                          <a:schemeClr val="tx1"/>
                        </a:solidFill>
                        <a:latin typeface="Cambria Math" panose="02040503050406030204" pitchFamily="18" charset="0"/>
                      </a:rPr>
                      <m:t>=</m:t>
                    </m:r>
                    <m:r>
                      <a:rPr lang="pt-BR" i="1">
                        <a:solidFill>
                          <a:schemeClr val="tx1"/>
                        </a:solidFill>
                        <a:latin typeface="Cambria Math" panose="02040503050406030204" pitchFamily="18" charset="0"/>
                        <a:ea typeface="Cambria Math" panose="02040503050406030204" pitchFamily="18" charset="0"/>
                      </a:rPr>
                      <m:t>ℎ</m:t>
                    </m:r>
                    <m:d>
                      <m:dPr>
                        <m:ctrlPr>
                          <a:rPr lang="pt-BR" b="1" i="1">
                            <a:solidFill>
                              <a:schemeClr val="tx1"/>
                            </a:solidFill>
                            <a:latin typeface="Cambria Math" panose="02040503050406030204" pitchFamily="18" charset="0"/>
                            <a:ea typeface="Cambria Math" panose="02040503050406030204" pitchFamily="18" charset="0"/>
                          </a:rPr>
                        </m:ctrlPr>
                      </m:dPr>
                      <m:e>
                        <m:r>
                          <a:rPr lang="pt-BR" b="1" i="1">
                            <a:solidFill>
                              <a:schemeClr val="tx1"/>
                            </a:solidFill>
                            <a:latin typeface="Cambria Math" panose="02040503050406030204" pitchFamily="18" charset="0"/>
                            <a:ea typeface="Cambria Math" panose="02040503050406030204" pitchFamily="18" charset="0"/>
                          </a:rPr>
                          <m:t>𝒙</m:t>
                        </m:r>
                      </m:e>
                    </m:d>
                    <m:r>
                      <a:rPr lang="pt-BR" b="1" i="1">
                        <a:solidFill>
                          <a:schemeClr val="tx1"/>
                        </a:solidFill>
                        <a:latin typeface="Cambria Math" panose="02040503050406030204" pitchFamily="18" charset="0"/>
                        <a:ea typeface="Cambria Math" panose="02040503050406030204" pitchFamily="18" charset="0"/>
                      </a:rPr>
                      <m:t>= </m:t>
                    </m:r>
                    <m:sSub>
                      <m:sSubPr>
                        <m:ctrlPr>
                          <a:rPr lang="pt-BR" i="1">
                            <a:solidFill>
                              <a:schemeClr val="tx1"/>
                            </a:solidFill>
                            <a:latin typeface="Cambria Math" panose="02040503050406030204" pitchFamily="18" charset="0"/>
                            <a:ea typeface="Cambria Math" panose="02040503050406030204" pitchFamily="18" charset="0"/>
                          </a:rPr>
                        </m:ctrlPr>
                      </m:sSubPr>
                      <m:e>
                        <m:r>
                          <a:rPr lang="pt-BR" i="1">
                            <a:solidFill>
                              <a:schemeClr val="tx1"/>
                            </a:solidFill>
                            <a:latin typeface="Cambria Math" panose="02040503050406030204" pitchFamily="18" charset="0"/>
                            <a:ea typeface="Cambria Math" panose="02040503050406030204" pitchFamily="18" charset="0"/>
                          </a:rPr>
                          <m:t>𝑎</m:t>
                        </m:r>
                      </m:e>
                      <m:sub>
                        <m:r>
                          <a:rPr lang="pt-BR" i="1">
                            <a:solidFill>
                              <a:schemeClr val="tx1"/>
                            </a:solidFill>
                            <a:latin typeface="Cambria Math" panose="02040503050406030204" pitchFamily="18" charset="0"/>
                            <a:ea typeface="Cambria Math" panose="02040503050406030204" pitchFamily="18" charset="0"/>
                          </a:rPr>
                          <m:t>0</m:t>
                        </m:r>
                      </m:sub>
                    </m:sSub>
                  </m:oMath>
                </a14:m>
                <a:r>
                  <a:rPr lang="pt-BR" dirty="0">
                    <a:solidFill>
                      <a:schemeClr val="tx1"/>
                    </a:solidFill>
                  </a:rPr>
                  <a:t> + </a:t>
                </a:r>
                <a14:m>
                  <m:oMath xmlns:m="http://schemas.openxmlformats.org/officeDocument/2006/math">
                    <m:sSub>
                      <m:sSubPr>
                        <m:ctrlPr>
                          <a:rPr lang="pt-BR" i="1">
                            <a:solidFill>
                              <a:schemeClr val="tx1"/>
                            </a:solidFill>
                            <a:latin typeface="Cambria Math" panose="02040503050406030204" pitchFamily="18" charset="0"/>
                            <a:ea typeface="Cambria Math" panose="02040503050406030204" pitchFamily="18" charset="0"/>
                          </a:rPr>
                        </m:ctrlPr>
                      </m:sSubPr>
                      <m:e>
                        <m:r>
                          <a:rPr lang="pt-BR" i="1">
                            <a:solidFill>
                              <a:schemeClr val="tx1"/>
                            </a:solidFill>
                            <a:latin typeface="Cambria Math" panose="02040503050406030204" pitchFamily="18" charset="0"/>
                            <a:ea typeface="Cambria Math" panose="02040503050406030204" pitchFamily="18" charset="0"/>
                          </a:rPr>
                          <m:t>𝑎</m:t>
                        </m:r>
                      </m:e>
                      <m:sub>
                        <m:r>
                          <a:rPr lang="pt-BR" i="1">
                            <a:solidFill>
                              <a:schemeClr val="tx1"/>
                            </a:solidFill>
                            <a:latin typeface="Cambria Math" panose="02040503050406030204" pitchFamily="18" charset="0"/>
                            <a:ea typeface="Cambria Math" panose="02040503050406030204" pitchFamily="18" charset="0"/>
                          </a:rPr>
                          <m:t>1</m:t>
                        </m:r>
                      </m:sub>
                    </m:sSub>
                    <m:sSub>
                      <m:sSubPr>
                        <m:ctrlPr>
                          <a:rPr lang="pt-BR" i="1">
                            <a:solidFill>
                              <a:schemeClr val="tx1"/>
                            </a:solidFill>
                            <a:latin typeface="Cambria Math" panose="02040503050406030204" pitchFamily="18" charset="0"/>
                            <a:ea typeface="Cambria Math" panose="02040503050406030204" pitchFamily="18" charset="0"/>
                          </a:rPr>
                        </m:ctrlPr>
                      </m:sSubPr>
                      <m:e>
                        <m:r>
                          <a:rPr lang="pt-BR" i="1">
                            <a:solidFill>
                              <a:schemeClr val="tx1"/>
                            </a:solidFill>
                            <a:latin typeface="Cambria Math" panose="02040503050406030204" pitchFamily="18" charset="0"/>
                            <a:ea typeface="Cambria Math" panose="02040503050406030204" pitchFamily="18" charset="0"/>
                          </a:rPr>
                          <m:t>𝑥</m:t>
                        </m:r>
                      </m:e>
                      <m:sub>
                        <m:r>
                          <a:rPr lang="pt-BR" i="1">
                            <a:solidFill>
                              <a:schemeClr val="tx1"/>
                            </a:solidFill>
                            <a:latin typeface="Cambria Math" panose="02040503050406030204" pitchFamily="18" charset="0"/>
                            <a:ea typeface="Cambria Math" panose="02040503050406030204" pitchFamily="18" charset="0"/>
                          </a:rPr>
                          <m:t>1</m:t>
                        </m:r>
                      </m:sub>
                    </m:sSub>
                  </m:oMath>
                </a14:m>
                <a:r>
                  <a:rPr lang="pt-BR" dirty="0">
                    <a:solidFill>
                      <a:schemeClr val="tx1"/>
                    </a:solidFill>
                  </a:rPr>
                  <a:t>,</a:t>
                </a:r>
              </a:p>
              <a:p>
                <a:pPr marL="0" indent="0">
                  <a:buNone/>
                </a:pPr>
                <a:r>
                  <a:rPr lang="pt-BR" b="0" i="0" dirty="0">
                    <a:solidFill>
                      <a:schemeClr val="tx1"/>
                    </a:solidFill>
                    <a:effectLst/>
                  </a:rPr>
                  <a:t>o </a:t>
                </a:r>
                <a:r>
                  <a:rPr lang="pt-BR" b="1" i="1" dirty="0">
                    <a:solidFill>
                      <a:srgbClr val="00B050"/>
                    </a:solidFill>
                    <a:effectLst/>
                  </a:rPr>
                  <a:t>(sub)espaço de hipóteses contém todas as </a:t>
                </a:r>
                <a:r>
                  <a:rPr lang="pt-BR" b="1" i="1" dirty="0">
                    <a:solidFill>
                      <a:srgbClr val="7030A0"/>
                    </a:solidFill>
                    <a:effectLst/>
                  </a:rPr>
                  <a:t>possíveis retas </a:t>
                </a:r>
                <a:r>
                  <a:rPr lang="pt-BR" dirty="0">
                    <a:effectLst/>
                  </a:rPr>
                  <a:t>(restringimos o espaço) </a:t>
                </a:r>
                <a:r>
                  <a:rPr lang="pt-BR" b="0" i="0" dirty="0">
                    <a:solidFill>
                      <a:schemeClr val="tx1"/>
                    </a:solidFill>
                    <a:effectLst/>
                  </a:rPr>
                  <a:t>que podem ser usadas para mapear os dados.</a:t>
                </a:r>
              </a:p>
              <a:p>
                <a:r>
                  <a:rPr lang="pt-BR" dirty="0"/>
                  <a:t>Porém, claro, </a:t>
                </a:r>
                <a:r>
                  <a:rPr lang="pt-BR" b="1" i="1" dirty="0">
                    <a:solidFill>
                      <a:schemeClr val="accent2"/>
                    </a:solidFill>
                  </a:rPr>
                  <a:t>apenas uma reta </a:t>
                </a:r>
                <a:r>
                  <a:rPr lang="pt-BR" b="1" i="1" dirty="0">
                    <a:solidFill>
                      <a:srgbClr val="00B0F0"/>
                    </a:solidFill>
                  </a:rPr>
                  <a:t>é a melhor segundo o critério de minimização da </a:t>
                </a:r>
                <a:r>
                  <a:rPr lang="pt-BR" b="1" i="1" dirty="0">
                    <a:solidFill>
                      <a:srgbClr val="7030A0"/>
                    </a:solidFill>
                  </a:rPr>
                  <a:t>diferença entre a saída do modelo e o valor esperado</a:t>
                </a:r>
                <a:r>
                  <a:rPr lang="pt-BR" dirty="0"/>
                  <a:t>.</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6DD35193-F27B-1223-2210-4596352927B7}"/>
                  </a:ext>
                </a:extLst>
              </p:cNvPr>
              <p:cNvSpPr>
                <a:spLocks noGrp="1" noRot="1" noChangeAspect="1" noMove="1" noResize="1" noEditPoints="1" noAdjustHandles="1" noChangeArrowheads="1" noChangeShapeType="1" noTextEdit="1"/>
              </p:cNvSpPr>
              <p:nvPr>
                <p:ph idx="1"/>
              </p:nvPr>
            </p:nvSpPr>
            <p:spPr>
              <a:xfrm>
                <a:off x="5201266" y="1825624"/>
                <a:ext cx="6829154" cy="5032375"/>
              </a:xfrm>
              <a:blipFill>
                <a:blip r:embed="rId3"/>
                <a:stretch>
                  <a:fillRect l="-1786" t="-1937" r="-2589"/>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80588651-B28C-DDC4-6AEC-CA0ECCC0A3A7}"/>
              </a:ext>
            </a:extLst>
          </p:cNvPr>
          <p:cNvPicPr>
            <a:picLocks noChangeAspect="1"/>
          </p:cNvPicPr>
          <p:nvPr/>
        </p:nvPicPr>
        <p:blipFill rotWithShape="1">
          <a:blip r:embed="rId4"/>
          <a:srcRect l="3333" t="10556" r="8646"/>
          <a:stretch/>
        </p:blipFill>
        <p:spPr>
          <a:xfrm>
            <a:off x="417375" y="2271251"/>
            <a:ext cx="4450853" cy="3392129"/>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E683ADAB-7E90-D936-CAF2-EA234A50BEF8}"/>
                  </a:ext>
                </a:extLst>
              </p:cNvPr>
              <p:cNvSpPr txBox="1"/>
              <p:nvPr/>
            </p:nvSpPr>
            <p:spPr>
              <a:xfrm>
                <a:off x="838200" y="5830529"/>
                <a:ext cx="4030028" cy="523220"/>
              </a:xfrm>
              <a:prstGeom prst="rect">
                <a:avLst/>
              </a:prstGeom>
              <a:noFill/>
            </p:spPr>
            <p:txBody>
              <a:bodyPr wrap="square" rtlCol="0">
                <a:spAutoFit/>
              </a:bodyPr>
              <a:lstStyle/>
              <a:p>
                <a:pPr algn="ctr"/>
                <a:r>
                  <a:rPr lang="pt-BR" sz="1400" dirty="0"/>
                  <a:t>A figura mostra algumas possíveis funções hipótese que modelam o relacionamento entre </a:t>
                </a:r>
                <a14:m>
                  <m:oMath xmlns:m="http://schemas.openxmlformats.org/officeDocument/2006/math">
                    <m:r>
                      <a:rPr lang="pt-BR" sz="1400" b="0" i="1" smtClean="0">
                        <a:latin typeface="Cambria Math" panose="02040503050406030204" pitchFamily="18" charset="0"/>
                      </a:rPr>
                      <m:t>𝑥</m:t>
                    </m:r>
                  </m:oMath>
                </a14:m>
                <a:r>
                  <a:rPr lang="pt-BR" sz="1400" dirty="0"/>
                  <a:t> e </a:t>
                </a:r>
                <a14:m>
                  <m:oMath xmlns:m="http://schemas.openxmlformats.org/officeDocument/2006/math">
                    <m:r>
                      <a:rPr lang="pt-BR" sz="1400" b="0" i="1" smtClean="0">
                        <a:latin typeface="Cambria Math" panose="02040503050406030204" pitchFamily="18" charset="0"/>
                      </a:rPr>
                      <m:t>𝑦</m:t>
                    </m:r>
                  </m:oMath>
                </a14:m>
                <a:r>
                  <a:rPr lang="pt-BR" sz="1400" dirty="0"/>
                  <a:t>.</a:t>
                </a:r>
              </a:p>
            </p:txBody>
          </p:sp>
        </mc:Choice>
        <mc:Fallback xmlns="">
          <p:sp>
            <p:nvSpPr>
              <p:cNvPr id="6" name="CaixaDeTexto 5">
                <a:extLst>
                  <a:ext uri="{FF2B5EF4-FFF2-40B4-BE49-F238E27FC236}">
                    <a16:creationId xmlns:a16="http://schemas.microsoft.com/office/drawing/2014/main" id="{E683ADAB-7E90-D936-CAF2-EA234A50BEF8}"/>
                  </a:ext>
                </a:extLst>
              </p:cNvPr>
              <p:cNvSpPr txBox="1">
                <a:spLocks noRot="1" noChangeAspect="1" noMove="1" noResize="1" noEditPoints="1" noAdjustHandles="1" noChangeArrowheads="1" noChangeShapeType="1" noTextEdit="1"/>
              </p:cNvSpPr>
              <p:nvPr/>
            </p:nvSpPr>
            <p:spPr>
              <a:xfrm>
                <a:off x="838200" y="5830529"/>
                <a:ext cx="4030028" cy="523220"/>
              </a:xfrm>
              <a:prstGeom prst="rect">
                <a:avLst/>
              </a:prstGeom>
              <a:blipFill>
                <a:blip r:embed="rId5"/>
                <a:stretch>
                  <a:fillRect t="-1163" b="-11628"/>
                </a:stretch>
              </a:blipFill>
            </p:spPr>
            <p:txBody>
              <a:bodyPr/>
              <a:lstStyle/>
              <a:p>
                <a:r>
                  <a:rPr lang="pt-BR">
                    <a:noFill/>
                  </a:rPr>
                  <a:t> </a:t>
                </a:r>
              </a:p>
            </p:txBody>
          </p:sp>
        </mc:Fallback>
      </mc:AlternateContent>
    </p:spTree>
    <p:extLst>
      <p:ext uri="{BB962C8B-B14F-4D97-AF65-F5344CB8AC3E}">
        <p14:creationId xmlns:p14="http://schemas.microsoft.com/office/powerpoint/2010/main" val="14841548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07E7AA-3E0D-96C4-873C-3F915EDD61FC}"/>
              </a:ext>
            </a:extLst>
          </p:cNvPr>
          <p:cNvSpPr>
            <a:spLocks noGrp="1"/>
          </p:cNvSpPr>
          <p:nvPr>
            <p:ph type="title"/>
          </p:nvPr>
        </p:nvSpPr>
        <p:spPr/>
        <p:txBody>
          <a:bodyPr/>
          <a:lstStyle/>
          <a:p>
            <a:r>
              <a:rPr lang="pt-BR" dirty="0"/>
              <a:t>Refinando o objetivo da regressão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1AA72A1-8E0E-FCE0-F2D7-1C852317B226}"/>
                  </a:ext>
                </a:extLst>
              </p:cNvPr>
              <p:cNvSpPr>
                <a:spLocks noGrp="1"/>
              </p:cNvSpPr>
              <p:nvPr>
                <p:ph idx="1"/>
              </p:nvPr>
            </p:nvSpPr>
            <p:spPr>
              <a:xfrm>
                <a:off x="838200" y="1825624"/>
                <a:ext cx="11287125" cy="5032375"/>
              </a:xfrm>
            </p:spPr>
            <p:txBody>
              <a:bodyPr/>
              <a:lstStyle/>
              <a:p>
                <a:r>
                  <a:rPr lang="pt-BR" dirty="0"/>
                  <a:t>Agora que temos um formato definido para o </a:t>
                </a:r>
                <a:r>
                  <a:rPr lang="pt-BR" b="1" i="1" dirty="0">
                    <a:solidFill>
                      <a:srgbClr val="00B050"/>
                    </a:solidFill>
                  </a:rPr>
                  <a:t>modelo</a:t>
                </a:r>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podemos refinar o objetivo da regressão um pouco mais.</a:t>
                </a:r>
              </a:p>
              <a:p>
                <a:r>
                  <a:rPr lang="pt-BR" b="1" dirty="0"/>
                  <a:t>Objetivo</a:t>
                </a:r>
                <a:r>
                  <a:rPr lang="pt-BR" dirty="0"/>
                  <a:t>: </a:t>
                </a:r>
                <a:r>
                  <a:rPr lang="pt-BR" b="1" i="1" dirty="0">
                    <a:solidFill>
                      <a:srgbClr val="00B050"/>
                    </a:solidFill>
                  </a:rPr>
                  <a:t>Encontrar</a:t>
                </a:r>
                <a:r>
                  <a:rPr lang="pt-BR" dirty="0"/>
                  <a:t> os </a:t>
                </a:r>
                <a:r>
                  <a:rPr lang="pt-BR" b="1" i="1" dirty="0">
                    <a:solidFill>
                      <a:srgbClr val="00B050"/>
                    </a:solidFill>
                  </a:rPr>
                  <a:t>pesos</a:t>
                </a:r>
                <a:r>
                  <a:rPr lang="pt-BR" dirty="0"/>
                  <a:t>, </a:t>
                </a:r>
                <a14:m>
                  <m:oMath xmlns:m="http://schemas.openxmlformats.org/officeDocument/2006/math">
                    <m:sSub>
                      <m:sSubPr>
                        <m:ctrlPr>
                          <a:rPr lang="pt-BR" b="0" i="1">
                            <a:latin typeface="Cambria Math" panose="02040503050406030204" pitchFamily="18" charset="0"/>
                            <a:ea typeface="Cambria Math" panose="02040503050406030204" pitchFamily="18" charset="0"/>
                          </a:rPr>
                        </m:ctrlPr>
                      </m:sSubPr>
                      <m:e>
                        <m:r>
                          <a:rPr lang="pt-BR" b="0" i="1">
                            <a:latin typeface="Cambria Math" panose="02040503050406030204" pitchFamily="18" charset="0"/>
                            <a:ea typeface="Cambria Math" panose="02040503050406030204" pitchFamily="18" charset="0"/>
                          </a:rPr>
                          <m:t>𝑎</m:t>
                        </m:r>
                      </m:e>
                      <m:sub>
                        <m:r>
                          <a:rPr lang="pt-BR" b="0" i="1">
                            <a:latin typeface="Cambria Math" panose="02040503050406030204" pitchFamily="18" charset="0"/>
                            <a:ea typeface="Cambria Math" panose="02040503050406030204" pitchFamily="18" charset="0"/>
                          </a:rPr>
                          <m:t>0</m:t>
                        </m:r>
                      </m:sub>
                    </m:sSub>
                  </m:oMath>
                </a14:m>
                <a:r>
                  <a:rPr lang="pt-BR" dirty="0"/>
                  <a:t>, </a:t>
                </a:r>
                <a14:m>
                  <m:oMath xmlns:m="http://schemas.openxmlformats.org/officeDocument/2006/math">
                    <m:sSub>
                      <m:sSubPr>
                        <m:ctrlPr>
                          <a:rPr lang="pt-BR" b="0" i="1">
                            <a:latin typeface="Cambria Math" panose="02040503050406030204" pitchFamily="18" charset="0"/>
                            <a:ea typeface="Cambria Math" panose="02040503050406030204" pitchFamily="18" charset="0"/>
                          </a:rPr>
                        </m:ctrlPr>
                      </m:sSubPr>
                      <m:e>
                        <m:r>
                          <a:rPr lang="pt-BR" b="0"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oMath>
                </a14:m>
                <a:r>
                  <a:rPr lang="pt-BR" dirty="0"/>
                  <a:t>, …, </a:t>
                </a:r>
                <a14:m>
                  <m:oMath xmlns:m="http://schemas.openxmlformats.org/officeDocument/2006/math">
                    <m:sSub>
                      <m:sSubPr>
                        <m:ctrlPr>
                          <a:rPr lang="pt-BR" b="0" i="1">
                            <a:latin typeface="Cambria Math" panose="02040503050406030204" pitchFamily="18" charset="0"/>
                            <a:ea typeface="Cambria Math" panose="02040503050406030204" pitchFamily="18" charset="0"/>
                          </a:rPr>
                        </m:ctrlPr>
                      </m:sSubPr>
                      <m:e>
                        <m:r>
                          <a:rPr lang="pt-BR" b="0"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𝐾</m:t>
                        </m:r>
                      </m:sub>
                    </m:sSub>
                  </m:oMath>
                </a14:m>
                <a:r>
                  <a:rPr lang="pt-BR" dirty="0"/>
                  <a:t>, que façam com que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se </a:t>
                </a:r>
                <a:r>
                  <a:rPr lang="pt-BR" b="1" i="1" dirty="0">
                    <a:solidFill>
                      <a:srgbClr val="00B050"/>
                    </a:solidFill>
                  </a:rPr>
                  <a:t>ajuste de forma ótima</a:t>
                </a:r>
                <a:r>
                  <a:rPr lang="pt-BR" dirty="0"/>
                  <a:t> ao conjunto de dados coletado.</a:t>
                </a:r>
              </a:p>
              <a:p>
                <a:pPr lvl="1">
                  <a:buFont typeface="Wingdings" panose="05000000000000000000" pitchFamily="2" charset="2"/>
                  <a:buChar char="§"/>
                </a:pPr>
                <a:r>
                  <a:rPr lang="pt-BR" b="1" i="1" dirty="0"/>
                  <a:t>Ótima</a:t>
                </a:r>
                <a:r>
                  <a:rPr lang="pt-BR" dirty="0"/>
                  <a:t> no sentido em que </a:t>
                </a:r>
                <a14:m>
                  <m:oMath xmlns:m="http://schemas.openxmlformats.org/officeDocument/2006/math">
                    <m:r>
                      <a:rPr lang="pt-BR" i="1" smtClean="0">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minimiza o erro entre os valores de saída do modelo,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os esperados, </a:t>
                </a:r>
                <a14:m>
                  <m:oMath xmlns:m="http://schemas.openxmlformats.org/officeDocument/2006/math">
                    <m:r>
                      <a:rPr lang="pt-BR" b="0" i="1" smtClean="0">
                        <a:latin typeface="Cambria Math" panose="02040503050406030204" pitchFamily="18" charset="0"/>
                      </a:rPr>
                      <m:t>𝑦</m:t>
                    </m:r>
                  </m:oMath>
                </a14:m>
                <a:r>
                  <a:rPr lang="pt-BR" dirty="0"/>
                  <a:t>.</a:t>
                </a:r>
              </a:p>
              <a:p>
                <a:pPr lvl="1">
                  <a:buFont typeface="Wingdings" panose="05000000000000000000" pitchFamily="2" charset="2"/>
                  <a:buChar char="§"/>
                </a:pPr>
                <a:r>
                  <a:rPr lang="pt-BR" b="1" dirty="0">
                    <a:solidFill>
                      <a:srgbClr val="7030A0"/>
                    </a:solidFill>
                  </a:rPr>
                  <a:t>OBS</a:t>
                </a:r>
                <a:r>
                  <a:rPr lang="pt-BR" dirty="0"/>
                  <a:t>.: No início do curso, definiremos a equação de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e encontraremos seus pesos.</a:t>
                </a:r>
              </a:p>
              <a:p>
                <a:r>
                  <a:rPr lang="pt-BR" dirty="0"/>
                  <a:t>Na sequência, definiremos uma </a:t>
                </a:r>
                <a:r>
                  <a:rPr lang="pt-BR" b="1" i="1" dirty="0">
                    <a:solidFill>
                      <a:srgbClr val="00B050"/>
                    </a:solidFill>
                  </a:rPr>
                  <a:t>função de erro</a:t>
                </a:r>
                <a:r>
                  <a:rPr lang="pt-BR" dirty="0"/>
                  <a:t> que nos ajudará a encontrar os </a:t>
                </a:r>
                <a:r>
                  <a:rPr lang="pt-BR" b="1" i="1" dirty="0">
                    <a:solidFill>
                      <a:srgbClr val="00B050"/>
                    </a:solidFill>
                  </a:rPr>
                  <a:t>pesos ótimos</a:t>
                </a:r>
                <a:r>
                  <a:rPr lang="pt-BR" dirty="0"/>
                  <a:t> do modelo.</a:t>
                </a:r>
              </a:p>
              <a:p>
                <a:pPr lvl="1">
                  <a:buFont typeface="Wingdings" panose="05000000000000000000" pitchFamily="2" charset="2"/>
                  <a:buChar char="§"/>
                </a:pPr>
                <a:r>
                  <a:rPr lang="pt-BR" b="1" dirty="0"/>
                  <a:t>Pesos ótimos</a:t>
                </a:r>
                <a:r>
                  <a:rPr lang="pt-BR" dirty="0"/>
                  <a:t>: conjunto de pesos da função hipótese, </a:t>
                </a:r>
                <a14:m>
                  <m:oMath xmlns:m="http://schemas.openxmlformats.org/officeDocument/2006/math">
                    <m:r>
                      <a:rPr lang="pt-BR" i="1" smtClean="0">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que fazem com que o erro seja minimizado.</a:t>
                </a:r>
              </a:p>
            </p:txBody>
          </p:sp>
        </mc:Choice>
        <mc:Fallback>
          <p:sp>
            <p:nvSpPr>
              <p:cNvPr id="3" name="Espaço Reservado para Conteúdo 2">
                <a:extLst>
                  <a:ext uri="{FF2B5EF4-FFF2-40B4-BE49-F238E27FC236}">
                    <a16:creationId xmlns:a16="http://schemas.microsoft.com/office/drawing/2014/main" id="{A1AA72A1-8E0E-FCE0-F2D7-1C852317B226}"/>
                  </a:ext>
                </a:extLst>
              </p:cNvPr>
              <p:cNvSpPr>
                <a:spLocks noGrp="1" noRot="1" noChangeAspect="1" noMove="1" noResize="1" noEditPoints="1" noAdjustHandles="1" noChangeArrowheads="1" noChangeShapeType="1" noTextEdit="1"/>
              </p:cNvSpPr>
              <p:nvPr>
                <p:ph idx="1"/>
              </p:nvPr>
            </p:nvSpPr>
            <p:spPr>
              <a:xfrm>
                <a:off x="838200" y="1825624"/>
                <a:ext cx="11287125" cy="5032375"/>
              </a:xfrm>
              <a:blipFill>
                <a:blip r:embed="rId2"/>
                <a:stretch>
                  <a:fillRect l="-972" t="-1937"/>
                </a:stretch>
              </a:blipFill>
            </p:spPr>
            <p:txBody>
              <a:bodyPr/>
              <a:lstStyle/>
              <a:p>
                <a:r>
                  <a:rPr lang="en-US">
                    <a:noFill/>
                  </a:rPr>
                  <a:t> </a:t>
                </a:r>
              </a:p>
            </p:txBody>
          </p:sp>
        </mc:Fallback>
      </mc:AlternateContent>
    </p:spTree>
    <p:extLst>
      <p:ext uri="{BB962C8B-B14F-4D97-AF65-F5344CB8AC3E}">
        <p14:creationId xmlns:p14="http://schemas.microsoft.com/office/powerpoint/2010/main" val="1696490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4E097E-CCBA-48CB-F78F-5EE5114DDF42}"/>
              </a:ext>
            </a:extLst>
          </p:cNvPr>
          <p:cNvSpPr>
            <a:spLocks noGrp="1"/>
          </p:cNvSpPr>
          <p:nvPr>
            <p:ph type="title"/>
          </p:nvPr>
        </p:nvSpPr>
        <p:spPr/>
        <p:txBody>
          <a:bodyPr/>
          <a:lstStyle/>
          <a:p>
            <a:r>
              <a:rPr lang="pt-BR" dirty="0"/>
              <a:t>Definição formal do problema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65C9A46-AD88-7C29-34AF-E73A7729AC98}"/>
                  </a:ext>
                </a:extLst>
              </p:cNvPr>
              <p:cNvSpPr>
                <a:spLocks noGrp="1"/>
              </p:cNvSpPr>
              <p:nvPr>
                <p:ph idx="1"/>
              </p:nvPr>
            </p:nvSpPr>
            <p:spPr>
              <a:xfrm>
                <a:off x="838199" y="1825624"/>
                <a:ext cx="11249025" cy="5032375"/>
              </a:xfrm>
            </p:spPr>
            <p:txBody>
              <a:bodyPr>
                <a:normAutofit/>
              </a:bodyPr>
              <a:lstStyle/>
              <a:p>
                <a:pPr marL="0" indent="0">
                  <a:buNone/>
                </a:pPr>
                <a:r>
                  <a:rPr lang="pt-BR" b="1" dirty="0">
                    <a:solidFill>
                      <a:schemeClr val="accent2"/>
                    </a:solidFill>
                  </a:rPr>
                  <a:t>Informação disponível</a:t>
                </a:r>
                <a:endParaRPr lang="pt-BR" dirty="0">
                  <a:solidFill>
                    <a:schemeClr val="accent2"/>
                  </a:solidFill>
                </a:endParaRPr>
              </a:p>
              <a:p>
                <a:r>
                  <a:rPr lang="pt-BR" dirty="0"/>
                  <a:t>Conjunto de </a:t>
                </a:r>
                <a14:m>
                  <m:oMath xmlns:m="http://schemas.openxmlformats.org/officeDocument/2006/math">
                    <m:r>
                      <a:rPr lang="pt-BR" b="0" i="1" smtClean="0">
                        <a:latin typeface="Cambria Math" panose="02040503050406030204" pitchFamily="18" charset="0"/>
                      </a:rPr>
                      <m:t>𝑁</m:t>
                    </m:r>
                  </m:oMath>
                </a14:m>
                <a:r>
                  <a:rPr lang="pt-BR" b="1" i="1" dirty="0"/>
                  <a:t> pares de amostras</a:t>
                </a:r>
                <a:r>
                  <a:rPr lang="pt-BR" dirty="0"/>
                  <a:t>: </a:t>
                </a:r>
                <a14:m>
                  <m:oMath xmlns:m="http://schemas.openxmlformats.org/officeDocument/2006/math">
                    <m:r>
                      <a:rPr lang="pt-BR" b="0" i="0" smtClean="0">
                        <a:latin typeface="Cambria Math" panose="02040503050406030204" pitchFamily="18" charset="0"/>
                      </a:rPr>
                      <m:t>{</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i="1"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oMath>
                </a14:m>
                <a:r>
                  <a:rPr lang="pt-BR" i="1" dirty="0"/>
                  <a:t>, </a:t>
                </a:r>
                <a14:m>
                  <m:oMath xmlns:m="http://schemas.openxmlformats.org/officeDocument/2006/math">
                    <m:r>
                      <a:rPr lang="pt-BR" i="1">
                        <a:latin typeface="Cambria Math" panose="02040503050406030204" pitchFamily="18" charset="0"/>
                      </a:rPr>
                      <m:t>𝑖</m:t>
                    </m:r>
                    <m:r>
                      <a:rPr lang="pt-BR" i="1">
                        <a:latin typeface="Cambria Math" panose="02040503050406030204" pitchFamily="18" charset="0"/>
                      </a:rPr>
                      <m:t>=0,…,</m:t>
                    </m:r>
                    <m:r>
                      <a:rPr lang="pt-BR" i="1">
                        <a:latin typeface="Cambria Math" panose="02040503050406030204" pitchFamily="18" charset="0"/>
                      </a:rPr>
                      <m:t>𝑁</m:t>
                    </m:r>
                    <m:r>
                      <a:rPr lang="pt-BR" i="1">
                        <a:latin typeface="Cambria Math" panose="02040503050406030204" pitchFamily="18" charset="0"/>
                      </a:rPr>
                      <m:t>−1</m:t>
                    </m:r>
                  </m:oMath>
                </a14:m>
                <a:r>
                  <a:rPr lang="pt-BR" i="1" dirty="0"/>
                  <a:t>,</a:t>
                </a:r>
                <a:r>
                  <a:rPr lang="pt-BR" dirty="0"/>
                  <a:t> onde </a:t>
                </a:r>
              </a:p>
              <a:p>
                <a:pPr lvl="1">
                  <a:buFont typeface="Wingdings" panose="05000000000000000000" pitchFamily="2" charset="2"/>
                  <a:buChar char="§"/>
                </a:pP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𝐾</m:t>
                            </m:r>
                          </m:sub>
                        </m:sSub>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m:t>
                        </m:r>
                      </m:sup>
                    </m:sSup>
                  </m:oMath>
                </a14:m>
                <a:r>
                  <a:rPr lang="pt-BR" dirty="0"/>
                  <a:t> é o </a:t>
                </a:r>
                <a14:m>
                  <m:oMath xmlns:m="http://schemas.openxmlformats.org/officeDocument/2006/math">
                    <m:r>
                      <a:rPr lang="pt-BR" i="1">
                        <a:latin typeface="Cambria Math" panose="02040503050406030204" pitchFamily="18" charset="0"/>
                      </a:rPr>
                      <m:t>𝑖</m:t>
                    </m:r>
                  </m:oMath>
                </a14:m>
                <a:r>
                  <a:rPr lang="pt-BR" dirty="0"/>
                  <a:t>-ésimo </a:t>
                </a:r>
                <a:r>
                  <a:rPr lang="pt-BR" b="1" i="1" dirty="0">
                    <a:solidFill>
                      <a:srgbClr val="00B0F0"/>
                    </a:solidFill>
                  </a:rPr>
                  <a:t>vetor de atributos</a:t>
                </a:r>
                <a:r>
                  <a:rPr lang="pt-BR" dirty="0"/>
                  <a:t>.</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𝑖</m:t>
                        </m:r>
                      </m:e>
                    </m:d>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ℝ</m:t>
                    </m:r>
                  </m:oMath>
                </a14:m>
                <a:r>
                  <a:rPr lang="pt-BR" i="1" dirty="0"/>
                  <a:t> </a:t>
                </a:r>
                <a:r>
                  <a:rPr lang="pt-BR" dirty="0"/>
                  <a:t>é o </a:t>
                </a:r>
                <a14:m>
                  <m:oMath xmlns:m="http://schemas.openxmlformats.org/officeDocument/2006/math">
                    <m:r>
                      <a:rPr lang="pt-BR" b="0" i="1" smtClean="0">
                        <a:latin typeface="Cambria Math" panose="02040503050406030204" pitchFamily="18" charset="0"/>
                      </a:rPr>
                      <m:t>𝑖</m:t>
                    </m:r>
                  </m:oMath>
                </a14:m>
                <a:r>
                  <a:rPr lang="pt-BR" dirty="0"/>
                  <a:t>-ésimo </a:t>
                </a:r>
                <a:r>
                  <a:rPr lang="pt-BR" b="1" i="1" dirty="0">
                    <a:solidFill>
                      <a:srgbClr val="00B0F0"/>
                    </a:solidFill>
                  </a:rPr>
                  <a:t>rótulo</a:t>
                </a:r>
                <a:r>
                  <a:rPr lang="pt-BR" dirty="0"/>
                  <a:t> referente ao vetor de atributos,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i="1" dirty="0"/>
                  <a:t>.</a:t>
                </a:r>
              </a:p>
              <a:p>
                <a:r>
                  <a:rPr lang="pt-BR" dirty="0"/>
                  <a:t>Os </a:t>
                </a:r>
                <a14:m>
                  <m:oMath xmlns:m="http://schemas.openxmlformats.org/officeDocument/2006/math">
                    <m:r>
                      <a:rPr lang="pt-BR" b="0" i="1" smtClean="0">
                        <a:latin typeface="Cambria Math" panose="02040503050406030204" pitchFamily="18" charset="0"/>
                      </a:rPr>
                      <m:t>𝑁</m:t>
                    </m:r>
                  </m:oMath>
                </a14:m>
                <a:r>
                  <a:rPr lang="pt-BR" dirty="0"/>
                  <a:t> pares de amostras formam o </a:t>
                </a:r>
                <a:r>
                  <a:rPr lang="pt-BR" b="1" i="1" dirty="0">
                    <a:solidFill>
                      <a:srgbClr val="00B050"/>
                    </a:solidFill>
                  </a:rPr>
                  <a:t>conjunto de dados que usaremos para treinar e validar o modelo</a:t>
                </a:r>
                <a:r>
                  <a:rPr lang="pt-BR" dirty="0"/>
                  <a:t>.</a:t>
                </a:r>
              </a:p>
            </p:txBody>
          </p:sp>
        </mc:Choice>
        <mc:Fallback>
          <p:sp>
            <p:nvSpPr>
              <p:cNvPr id="3" name="Espaço Reservado para Conteúdo 2">
                <a:extLst>
                  <a:ext uri="{FF2B5EF4-FFF2-40B4-BE49-F238E27FC236}">
                    <a16:creationId xmlns:a16="http://schemas.microsoft.com/office/drawing/2014/main" id="{B65C9A46-AD88-7C29-34AF-E73A7729AC98}"/>
                  </a:ext>
                </a:extLst>
              </p:cNvPr>
              <p:cNvSpPr>
                <a:spLocks noGrp="1" noRot="1" noChangeAspect="1" noMove="1" noResize="1" noEditPoints="1" noAdjustHandles="1" noChangeArrowheads="1" noChangeShapeType="1" noTextEdit="1"/>
              </p:cNvSpPr>
              <p:nvPr>
                <p:ph idx="1"/>
              </p:nvPr>
            </p:nvSpPr>
            <p:spPr>
              <a:xfrm>
                <a:off x="838199" y="1825624"/>
                <a:ext cx="11249025" cy="5032375"/>
              </a:xfrm>
              <a:blipFill>
                <a:blip r:embed="rId3"/>
                <a:stretch>
                  <a:fillRect l="-1083" t="-1937"/>
                </a:stretch>
              </a:blipFill>
            </p:spPr>
            <p:txBody>
              <a:bodyPr/>
              <a:lstStyle/>
              <a:p>
                <a:r>
                  <a:rPr lang="en-US">
                    <a:noFill/>
                  </a:rPr>
                  <a:t> </a:t>
                </a:r>
              </a:p>
            </p:txBody>
          </p:sp>
        </mc:Fallback>
      </mc:AlternateContent>
    </p:spTree>
    <p:extLst>
      <p:ext uri="{BB962C8B-B14F-4D97-AF65-F5344CB8AC3E}">
        <p14:creationId xmlns:p14="http://schemas.microsoft.com/office/powerpoint/2010/main" val="12743950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4E097E-CCBA-48CB-F78F-5EE5114DDF42}"/>
              </a:ext>
            </a:extLst>
          </p:cNvPr>
          <p:cNvSpPr>
            <a:spLocks noGrp="1"/>
          </p:cNvSpPr>
          <p:nvPr>
            <p:ph type="title"/>
          </p:nvPr>
        </p:nvSpPr>
        <p:spPr/>
        <p:txBody>
          <a:bodyPr/>
          <a:lstStyle/>
          <a:p>
            <a:r>
              <a:rPr lang="pt-BR" dirty="0"/>
              <a:t>Definição formal do problema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65C9A46-AD88-7C29-34AF-E73A7729AC98}"/>
                  </a:ext>
                </a:extLst>
              </p:cNvPr>
              <p:cNvSpPr>
                <a:spLocks noGrp="1"/>
              </p:cNvSpPr>
              <p:nvPr>
                <p:ph idx="1"/>
              </p:nvPr>
            </p:nvSpPr>
            <p:spPr>
              <a:xfrm>
                <a:off x="838199" y="1600200"/>
                <a:ext cx="11353801" cy="5257800"/>
              </a:xfrm>
            </p:spPr>
            <p:txBody>
              <a:bodyPr>
                <a:normAutofit/>
              </a:bodyPr>
              <a:lstStyle/>
              <a:p>
                <a:pPr marL="0" indent="0">
                  <a:buNone/>
                </a:pPr>
                <a:r>
                  <a:rPr lang="pt-BR" b="1" dirty="0">
                    <a:solidFill>
                      <a:schemeClr val="accent2"/>
                    </a:solidFill>
                  </a:rPr>
                  <a:t>Modelo</a:t>
                </a:r>
                <a:endParaRPr lang="pt-BR" b="1" dirty="0">
                  <a:solidFill>
                    <a:schemeClr val="accent2"/>
                  </a:solidFill>
                  <a:ea typeface="Cambria Math" panose="02040503050406030204" pitchFamily="18" charset="0"/>
                </a:endParaRPr>
              </a:p>
              <a:p>
                <a:r>
                  <a:rPr lang="pt-BR" dirty="0">
                    <a:ea typeface="Cambria Math" panose="02040503050406030204" pitchFamily="18" charset="0"/>
                  </a:rPr>
                  <a:t>Função do hiperplano</a:t>
                </a:r>
                <a:endParaRPr lang="pt-BR" dirty="0"/>
              </a:p>
              <a:p>
                <a:pPr marL="0"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1" i="1">
                        <a:latin typeface="Cambria Math" panose="02040503050406030204" pitchFamily="18" charset="0"/>
                      </a:rPr>
                      <m:t>=</m:t>
                    </m:r>
                    <m:nary>
                      <m:naryPr>
                        <m:chr m:val="∑"/>
                        <m:ctrlPr>
                          <a:rPr lang="pt-BR" i="1">
                            <a:latin typeface="Cambria Math" panose="02040503050406030204" pitchFamily="18" charset="0"/>
                            <a:ea typeface="Cambria Math" panose="02040503050406030204" pitchFamily="18" charset="0"/>
                          </a:rPr>
                        </m:ctrlPr>
                      </m:naryPr>
                      <m:sub>
                        <m:r>
                          <m:rPr>
                            <m:brk m:alnAt="23"/>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sub>
                      <m:sup>
                        <m:r>
                          <a:rPr lang="pt-BR" i="1">
                            <a:latin typeface="Cambria Math" panose="02040503050406030204" pitchFamily="18" charset="0"/>
                            <a:ea typeface="Cambria Math" panose="02040503050406030204" pitchFamily="18" charset="0"/>
                          </a:rPr>
                          <m:t>𝐾</m:t>
                        </m:r>
                      </m:sup>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nary>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𝑖</m:t>
                        </m:r>
                      </m:sub>
                    </m:sSub>
                    <m:r>
                      <a:rPr lang="pt-BR" b="0" i="1" smtClean="0">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smtClean="0">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oMath>
                </a14:m>
                <a:r>
                  <a:rPr lang="pt-BR" dirty="0"/>
                  <a:t>,</a:t>
                </a:r>
              </a:p>
              <a:p>
                <a:pPr marL="0" indent="0">
                  <a:buNone/>
                </a:pPr>
                <a:r>
                  <a:rPr lang="pt-BR" dirty="0"/>
                  <a:t>onde </a:t>
                </a:r>
                <a14:m>
                  <m:oMath xmlns:m="http://schemas.openxmlformats.org/officeDocument/2006/math">
                    <m:r>
                      <a:rPr lang="pt-BR" b="1" i="1">
                        <a:latin typeface="Cambria Math" panose="02040503050406030204" pitchFamily="18" charset="0"/>
                      </a:rPr>
                      <m:t>𝒂</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os </a:t>
                </a:r>
                <a:r>
                  <a:rPr lang="pt-BR" b="1" i="1" dirty="0"/>
                  <a:t>pesos</a:t>
                </a:r>
                <a:r>
                  <a:rPr lang="pt-BR" dirty="0"/>
                  <a:t> da </a:t>
                </a:r>
                <a:r>
                  <a:rPr lang="pt-BR" b="1" i="1" dirty="0"/>
                  <a:t>função hipótese</a:t>
                </a:r>
                <a:r>
                  <a:rPr lang="pt-BR" dirty="0"/>
                  <a:t> e o vetor de atributos passa a ter mais um elemento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0" i="0" smtClean="0">
                            <a:latin typeface="Cambria Math" panose="02040503050406030204" pitchFamily="18" charset="0"/>
                          </a:rPr>
                          <m:t>1</m:t>
                        </m:r>
                        <m:r>
                          <a:rPr lang="pt-BR" b="1" i="1" smtClean="0">
                            <a:latin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𝐾</m:t>
                            </m:r>
                          </m:sub>
                        </m:sSub>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m:t> </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a:t>
                </a:r>
              </a:p>
              <a:p>
                <a:pPr marL="0" indent="0">
                  <a:buNone/>
                </a:pPr>
                <a:r>
                  <a:rPr lang="pt-BR" b="1" dirty="0"/>
                  <a:t>Observações</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é o </a:t>
                </a:r>
                <a:r>
                  <a:rPr lang="pt-BR" b="1" i="1" dirty="0"/>
                  <a:t>coeficiente linear</a:t>
                </a:r>
                <a:r>
                  <a:rPr lang="pt-BR" dirty="0"/>
                  <a:t>, ou seja, é o valor de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que intercepta o eixo das ordenadas, </a:t>
                </a:r>
                <a14:m>
                  <m:oMath xmlns:m="http://schemas.openxmlformats.org/officeDocument/2006/math">
                    <m:r>
                      <a:rPr lang="pt-BR" b="0" i="1" smtClean="0">
                        <a:latin typeface="Cambria Math" panose="02040503050406030204" pitchFamily="18" charset="0"/>
                      </a:rPr>
                      <m:t>𝑦</m:t>
                    </m:r>
                  </m:oMath>
                </a14:m>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é conhecido também como </a:t>
                </a:r>
                <a:r>
                  <a:rPr lang="pt-BR" b="1" i="1" dirty="0"/>
                  <a:t>intercept </a:t>
                </a:r>
                <a:r>
                  <a:rPr lang="pt-BR" dirty="0"/>
                  <a:t>ou</a:t>
                </a:r>
                <a:r>
                  <a:rPr lang="pt-BR" b="1" i="1" dirty="0"/>
                  <a:t> bias</a:t>
                </a:r>
                <a:r>
                  <a:rPr lang="pt-BR" dirty="0"/>
                  <a:t>.</a:t>
                </a:r>
              </a:p>
              <a:p>
                <a:pPr lvl="1">
                  <a:buFont typeface="Wingdings" panose="05000000000000000000" pitchFamily="2" charset="2"/>
                  <a:buChar char="§"/>
                </a:pPr>
                <a:r>
                  <a:rPr lang="pt-BR" dirty="0"/>
                  <a:t>Como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não tem um </a:t>
                </a:r>
                <a:r>
                  <a:rPr lang="pt-BR" b="1" i="1" dirty="0"/>
                  <a:t>atributo</a:t>
                </a:r>
                <a:r>
                  <a:rPr lang="pt-BR" dirty="0"/>
                  <a:t> relacionado a ele, para </a:t>
                </a:r>
                <a:r>
                  <a:rPr lang="pt-BR" b="1" i="1" dirty="0">
                    <a:solidFill>
                      <a:srgbClr val="0070C0"/>
                    </a:solidFill>
                  </a:rPr>
                  <a:t>possibilitar a representação vetorial</a:t>
                </a:r>
                <a:r>
                  <a:rPr lang="pt-BR" dirty="0"/>
                  <a:t>, criamos um </a:t>
                </a:r>
                <a:r>
                  <a:rPr lang="pt-BR" b="1" i="1" dirty="0">
                    <a:solidFill>
                      <a:srgbClr val="0070C0"/>
                    </a:solidFill>
                  </a:rPr>
                  <a:t>atributo falso</a:t>
                </a:r>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0</m:t>
                        </m:r>
                      </m:sub>
                    </m:sSub>
                  </m:oMath>
                </a14:m>
                <a:r>
                  <a:rPr lang="pt-BR" dirty="0"/>
                  <a:t>, chamado de </a:t>
                </a:r>
                <a:r>
                  <a:rPr lang="pt-BR" b="1" i="1" dirty="0">
                    <a:solidFill>
                      <a:srgbClr val="7030A0"/>
                    </a:solidFill>
                  </a:rPr>
                  <a:t>atributos de bias</a:t>
                </a:r>
                <a:r>
                  <a:rPr lang="pt-BR" dirty="0"/>
                  <a:t>, com valor constante igual a </a:t>
                </a:r>
                <a14:m>
                  <m:oMath xmlns:m="http://schemas.openxmlformats.org/officeDocument/2006/math">
                    <m:r>
                      <a:rPr lang="pt-BR" b="0" i="1" smtClean="0">
                        <a:latin typeface="Cambria Math" panose="02040503050406030204" pitchFamily="18" charset="0"/>
                        <a:ea typeface="Cambria Math" panose="02040503050406030204" pitchFamily="18" charset="0"/>
                      </a:rPr>
                      <m:t>1</m:t>
                    </m:r>
                  </m:oMath>
                </a14:m>
                <a:r>
                  <a:rPr lang="pt-BR" dirty="0"/>
                  <a:t>.</a:t>
                </a:r>
                <a:endParaRPr lang="pt-BR" b="1" dirty="0">
                  <a:solidFill>
                    <a:srgbClr val="00B050"/>
                  </a:solidFill>
                </a:endParaRPr>
              </a:p>
            </p:txBody>
          </p:sp>
        </mc:Choice>
        <mc:Fallback>
          <p:sp>
            <p:nvSpPr>
              <p:cNvPr id="3" name="Espaço Reservado para Conteúdo 2">
                <a:extLst>
                  <a:ext uri="{FF2B5EF4-FFF2-40B4-BE49-F238E27FC236}">
                    <a16:creationId xmlns:a16="http://schemas.microsoft.com/office/drawing/2014/main" id="{B65C9A46-AD88-7C29-34AF-E73A7729AC98}"/>
                  </a:ext>
                </a:extLst>
              </p:cNvPr>
              <p:cNvSpPr>
                <a:spLocks noGrp="1" noRot="1" noChangeAspect="1" noMove="1" noResize="1" noEditPoints="1" noAdjustHandles="1" noChangeArrowheads="1" noChangeShapeType="1" noTextEdit="1"/>
              </p:cNvSpPr>
              <p:nvPr>
                <p:ph idx="1"/>
              </p:nvPr>
            </p:nvSpPr>
            <p:spPr>
              <a:xfrm>
                <a:off x="838199" y="1600200"/>
                <a:ext cx="11353801" cy="5257800"/>
              </a:xfrm>
              <a:blipFill>
                <a:blip r:embed="rId3"/>
                <a:stretch>
                  <a:fillRect l="-1074" t="-1972"/>
                </a:stretch>
              </a:blipFill>
            </p:spPr>
            <p:txBody>
              <a:bodyPr/>
              <a:lstStyle/>
              <a:p>
                <a:r>
                  <a:rPr lang="en-US">
                    <a:noFill/>
                  </a:rPr>
                  <a:t> </a:t>
                </a:r>
              </a:p>
            </p:txBody>
          </p:sp>
        </mc:Fallback>
      </mc:AlternateContent>
      <p:sp>
        <p:nvSpPr>
          <p:cNvPr id="4" name="Retângulo 3">
            <a:extLst>
              <a:ext uri="{FF2B5EF4-FFF2-40B4-BE49-F238E27FC236}">
                <a16:creationId xmlns:a16="http://schemas.microsoft.com/office/drawing/2014/main" id="{0F38CF97-77B5-34C3-70DD-460ABC709C68}"/>
              </a:ext>
            </a:extLst>
          </p:cNvPr>
          <p:cNvSpPr/>
          <p:nvPr/>
        </p:nvSpPr>
        <p:spPr>
          <a:xfrm>
            <a:off x="8191500" y="2620387"/>
            <a:ext cx="1082386" cy="4466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CaixaDeTexto 4">
            <a:extLst>
              <a:ext uri="{FF2B5EF4-FFF2-40B4-BE49-F238E27FC236}">
                <a16:creationId xmlns:a16="http://schemas.microsoft.com/office/drawing/2014/main" id="{EE388632-B577-80F0-1496-7941484E016E}"/>
              </a:ext>
            </a:extLst>
          </p:cNvPr>
          <p:cNvSpPr txBox="1"/>
          <p:nvPr/>
        </p:nvSpPr>
        <p:spPr>
          <a:xfrm>
            <a:off x="9273886" y="2275847"/>
            <a:ext cx="1670339" cy="276999"/>
          </a:xfrm>
          <a:prstGeom prst="rect">
            <a:avLst/>
          </a:prstGeom>
          <a:noFill/>
        </p:spPr>
        <p:txBody>
          <a:bodyPr wrap="square" rtlCol="0">
            <a:spAutoFit/>
          </a:bodyPr>
          <a:lstStyle/>
          <a:p>
            <a:pPr algn="ctr"/>
            <a:r>
              <a:rPr lang="pt-BR" sz="1200" dirty="0"/>
              <a:t>Representação vetorial</a:t>
            </a:r>
          </a:p>
        </p:txBody>
      </p:sp>
      <p:cxnSp>
        <p:nvCxnSpPr>
          <p:cNvPr id="7" name="Conector de Seta Reta 6">
            <a:extLst>
              <a:ext uri="{FF2B5EF4-FFF2-40B4-BE49-F238E27FC236}">
                <a16:creationId xmlns:a16="http://schemas.microsoft.com/office/drawing/2014/main" id="{0FB75C2C-566D-5A76-479A-8937EF5EFCBD}"/>
              </a:ext>
            </a:extLst>
          </p:cNvPr>
          <p:cNvCxnSpPr>
            <a:cxnSpLocks/>
          </p:cNvCxnSpPr>
          <p:nvPr/>
        </p:nvCxnSpPr>
        <p:spPr>
          <a:xfrm flipH="1">
            <a:off x="8732693" y="2409825"/>
            <a:ext cx="678007" cy="1430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60001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4EE6D5-B143-C7FD-B9CF-66F4209E71D2}"/>
              </a:ext>
            </a:extLst>
          </p:cNvPr>
          <p:cNvSpPr>
            <a:spLocks noGrp="1"/>
          </p:cNvSpPr>
          <p:nvPr>
            <p:ph type="title"/>
          </p:nvPr>
        </p:nvSpPr>
        <p:spPr/>
        <p:txBody>
          <a:bodyPr/>
          <a:lstStyle/>
          <a:p>
            <a:r>
              <a:rPr lang="pt-BR" dirty="0"/>
              <a:t>Definição formal do problema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00898A1-6B3C-25BC-A17A-B679B22B1330}"/>
                  </a:ext>
                </a:extLst>
              </p:cNvPr>
              <p:cNvSpPr>
                <a:spLocks noGrp="1"/>
              </p:cNvSpPr>
              <p:nvPr>
                <p:ph idx="1"/>
              </p:nvPr>
            </p:nvSpPr>
            <p:spPr>
              <a:xfrm>
                <a:off x="838200" y="1825624"/>
                <a:ext cx="11117826" cy="5032375"/>
              </a:xfrm>
            </p:spPr>
            <p:txBody>
              <a:bodyPr>
                <a:normAutofit/>
              </a:bodyPr>
              <a:lstStyle/>
              <a:p>
                <a:pPr marL="0" indent="0">
                  <a:buNone/>
                </a:pPr>
                <a:r>
                  <a:rPr lang="pt-BR" b="1" dirty="0">
                    <a:solidFill>
                      <a:schemeClr val="accent2"/>
                    </a:solidFill>
                  </a:rPr>
                  <a:t>Objetivo</a:t>
                </a:r>
                <a:endParaRPr lang="pt-BR" dirty="0">
                  <a:solidFill>
                    <a:schemeClr val="accent2"/>
                  </a:solidFill>
                </a:endParaRPr>
              </a:p>
              <a:p>
                <a:r>
                  <a:rPr lang="pt-BR" dirty="0"/>
                  <a:t>Encontrar o </a:t>
                </a:r>
                <a:r>
                  <a:rPr lang="pt-BR" b="1" i="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que minimize o </a:t>
                </a:r>
                <a:r>
                  <a:rPr lang="pt-BR" b="1" i="1" dirty="0"/>
                  <a:t>erro</a:t>
                </a:r>
                <a:r>
                  <a:rPr lang="pt-BR" dirty="0"/>
                  <a:t>, dado por uma </a:t>
                </a:r>
                <a:r>
                  <a:rPr lang="pt-BR" b="1" i="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dirty="0"/>
                  <a:t>, e o valor esperado,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rgbClr val="00B050"/>
                    </a:solidFill>
                  </a:rPr>
                  <a:t>para todos </a:t>
                </a:r>
                <a:r>
                  <a:rPr lang="pt-BR" b="1" i="1" dirty="0">
                    <a:solidFill>
                      <a:srgbClr val="0070C0"/>
                    </a:solidFill>
                  </a:rPr>
                  <a:t>os exemplos do conjunto de treinamento</a:t>
                </a:r>
                <a:r>
                  <a:rPr lang="pt-BR" dirty="0"/>
                  <a:t>.</a:t>
                </a:r>
              </a:p>
              <a:p>
                <a:r>
                  <a:rPr lang="pt-BR" dirty="0"/>
                  <a:t>Ou seja, o </a:t>
                </a:r>
                <a:r>
                  <a:rPr lang="pt-BR" b="1" i="1" dirty="0">
                    <a:solidFill>
                      <a:srgbClr val="7030A0"/>
                    </a:solidFill>
                  </a:rPr>
                  <a:t>treinamento</a:t>
                </a:r>
                <a:r>
                  <a:rPr lang="pt-BR" dirty="0"/>
                  <a:t> do modelo </a:t>
                </a:r>
                <a:r>
                  <a:rPr lang="pt-BR" b="1" i="1" dirty="0">
                    <a:solidFill>
                      <a:srgbClr val="0070C0"/>
                    </a:solidFill>
                  </a:rPr>
                  <a:t>envolve</a:t>
                </a:r>
                <a:r>
                  <a:rPr lang="pt-BR" dirty="0"/>
                  <a:t> a </a:t>
                </a:r>
                <a:r>
                  <a:rPr lang="pt-BR" b="1" i="1" dirty="0">
                    <a:solidFill>
                      <a:srgbClr val="0070C0"/>
                    </a:solidFill>
                  </a:rPr>
                  <a:t>minimização de uma função de erro</a:t>
                </a:r>
                <a:r>
                  <a:rPr lang="pt-BR" dirty="0"/>
                  <a:t>.</a:t>
                </a:r>
              </a:p>
              <a:p>
                <a:r>
                  <a:rPr lang="pt-BR" dirty="0"/>
                  <a:t>Isso pode ser escrito como um problema de otimização</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a:p>
                <a:r>
                  <a:rPr lang="pt-BR" dirty="0"/>
                  <a:t>Portanto, para que consigamos treinar o modelo, precisamos </a:t>
                </a:r>
                <a:r>
                  <a:rPr lang="pt-BR" b="1" i="1" dirty="0">
                    <a:solidFill>
                      <a:srgbClr val="0070C0"/>
                    </a:solidFill>
                  </a:rPr>
                  <a:t>definir</a:t>
                </a:r>
                <a:r>
                  <a:rPr lang="pt-BR" dirty="0"/>
                  <a:t> uma </a:t>
                </a:r>
                <a:r>
                  <a:rPr lang="pt-BR" b="1" i="1" dirty="0">
                    <a:solidFill>
                      <a:srgbClr val="FF0000"/>
                    </a:solidFill>
                  </a:rPr>
                  <a:t>função de erro</a:t>
                </a:r>
                <a:r>
                  <a:rPr lang="pt-BR" dirty="0"/>
                  <a:t>.</a:t>
                </a:r>
              </a:p>
            </p:txBody>
          </p:sp>
        </mc:Choice>
        <mc:Fallback xmlns="">
          <p:sp>
            <p:nvSpPr>
              <p:cNvPr id="3" name="Espaço Reservado para Conteúdo 2">
                <a:extLst>
                  <a:ext uri="{FF2B5EF4-FFF2-40B4-BE49-F238E27FC236}">
                    <a16:creationId xmlns:a16="http://schemas.microsoft.com/office/drawing/2014/main" id="{500898A1-6B3C-25BC-A17A-B679B22B1330}"/>
                  </a:ext>
                </a:extLst>
              </p:cNvPr>
              <p:cNvSpPr>
                <a:spLocks noGrp="1" noRot="1" noChangeAspect="1" noMove="1" noResize="1" noEditPoints="1" noAdjustHandles="1" noChangeArrowheads="1" noChangeShapeType="1" noTextEdit="1"/>
              </p:cNvSpPr>
              <p:nvPr>
                <p:ph idx="1"/>
              </p:nvPr>
            </p:nvSpPr>
            <p:spPr>
              <a:xfrm>
                <a:off x="838200" y="1825624"/>
                <a:ext cx="11117826" cy="5032375"/>
              </a:xfrm>
              <a:blipFill>
                <a:blip r:embed="rId3"/>
                <a:stretch>
                  <a:fillRect l="-1152" t="-1937" r="-1591"/>
                </a:stretch>
              </a:blipFill>
            </p:spPr>
            <p:txBody>
              <a:bodyPr/>
              <a:lstStyle/>
              <a:p>
                <a:r>
                  <a:rPr lang="en-US">
                    <a:noFill/>
                  </a:rPr>
                  <a:t> </a:t>
                </a:r>
              </a:p>
            </p:txBody>
          </p:sp>
        </mc:Fallback>
      </mc:AlternateContent>
    </p:spTree>
    <p:extLst>
      <p:ext uri="{BB962C8B-B14F-4D97-AF65-F5344CB8AC3E}">
        <p14:creationId xmlns:p14="http://schemas.microsoft.com/office/powerpoint/2010/main" val="25022817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157155" cy="5032375"/>
              </a:xfrm>
            </p:spPr>
            <p:txBody>
              <a:bodyPr>
                <a:normAutofit/>
              </a:bodyPr>
              <a:lstStyle/>
              <a:p>
                <a:r>
                  <a:rPr lang="pt-BR" dirty="0"/>
                  <a:t>Existem várias possibilidades para a </a:t>
                </a:r>
                <a:r>
                  <a:rPr lang="pt-BR" b="1" i="1" dirty="0">
                    <a:solidFill>
                      <a:srgbClr val="7030A0"/>
                    </a:solidFill>
                  </a:rPr>
                  <a:t>função de erro</a:t>
                </a:r>
                <a:r>
                  <a:rPr lang="pt-BR" dirty="0"/>
                  <a:t>. </a:t>
                </a:r>
              </a:p>
              <a:p>
                <a:r>
                  <a:rPr lang="pt-BR" dirty="0"/>
                  <a:t>Porém, em problemas de regressão, a função mais comum é a do </a:t>
                </a:r>
                <a:r>
                  <a:rPr lang="pt-BR" b="1" i="1" dirty="0">
                    <a:solidFill>
                      <a:srgbClr val="7030A0"/>
                    </a:solidFill>
                  </a:rPr>
                  <a:t>erro quadrático médio (EQM)</a:t>
                </a:r>
                <a:r>
                  <a:rPr lang="pt-BR" dirty="0"/>
                  <a:t> </a:t>
                </a:r>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smtClean="0">
                                          <a:latin typeface="Cambria Math" panose="02040503050406030204" pitchFamily="18" charset="0"/>
                                        </a:rPr>
                                        <m:t>(</m:t>
                                      </m:r>
                                      <m:r>
                                        <a:rPr lang="pt-BR" b="0" i="1" smtClean="0">
                                          <a:latin typeface="Cambria Math" panose="02040503050406030204" pitchFamily="18" charset="0"/>
                                        </a:rPr>
                                        <m:t>𝑖</m:t>
                                      </m:r>
                                      <m:r>
                                        <a:rPr lang="pt-BR" b="1"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rPr>
                                        <m:t>𝒂</m:t>
                                      </m:r>
                                    </m:e>
                                  </m:d>
                                </m:e>
                              </m:d>
                            </m:e>
                            <m:sup>
                              <m:r>
                                <a:rPr lang="pt-BR" b="0" i="1" smtClean="0">
                                  <a:latin typeface="Cambria Math" panose="02040503050406030204" pitchFamily="18" charset="0"/>
                                </a:rPr>
                                <m:t>2</m:t>
                              </m:r>
                            </m:sup>
                          </m:sSup>
                        </m:e>
                      </m:nary>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de amostras.</a:t>
                </a:r>
              </a:p>
              <a:p>
                <a:r>
                  <a:rPr lang="pt-BR" dirty="0"/>
                  <a:t>O </a:t>
                </a:r>
                <a:r>
                  <a:rPr lang="pt-BR" b="1" i="1" dirty="0">
                    <a:solidFill>
                      <a:srgbClr val="00B050"/>
                    </a:solidFill>
                  </a:rPr>
                  <a:t>EQM</a:t>
                </a:r>
                <a:r>
                  <a:rPr lang="pt-BR" dirty="0"/>
                  <a:t> nada mais é do que a </a:t>
                </a:r>
                <a:r>
                  <a:rPr lang="pt-BR" b="1" i="1" dirty="0">
                    <a:solidFill>
                      <a:srgbClr val="00B050"/>
                    </a:solidFill>
                  </a:rPr>
                  <a:t>média aritmética do quadrado dos erros entre as saídas esperadas e as saídas da função hipótese</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157155" cy="5032375"/>
              </a:xfrm>
              <a:blipFill>
                <a:blip r:embed="rId3"/>
                <a:stretch>
                  <a:fillRect l="-1148" t="-1937"/>
                </a:stretch>
              </a:blipFill>
            </p:spPr>
            <p:txBody>
              <a:bodyPr/>
              <a:lstStyle/>
              <a:p>
                <a:r>
                  <a:rPr lang="pt-BR">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76429-08BC-0D5C-0F9A-3A32B01240F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BABEA08-69AF-BDFA-AF35-C38E677866D4}"/>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E46B640-7C64-6D85-194E-E963EC6D3757}"/>
                  </a:ext>
                </a:extLst>
              </p:cNvPr>
              <p:cNvSpPr>
                <a:spLocks noGrp="1"/>
              </p:cNvSpPr>
              <p:nvPr>
                <p:ph idx="1"/>
              </p:nvPr>
            </p:nvSpPr>
            <p:spPr>
              <a:xfrm>
                <a:off x="838200" y="1825624"/>
                <a:ext cx="11157155" cy="5032375"/>
              </a:xfrm>
            </p:spPr>
            <p:txBody>
              <a:bodyPr>
                <a:normAutofit/>
              </a:bodyPr>
              <a:lstStyle/>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smtClean="0">
                                          <a:latin typeface="Cambria Math" panose="02040503050406030204" pitchFamily="18" charset="0"/>
                                        </a:rPr>
                                        <m:t>(</m:t>
                                      </m:r>
                                      <m:r>
                                        <a:rPr lang="pt-BR" b="0" i="1" smtClean="0">
                                          <a:latin typeface="Cambria Math" panose="02040503050406030204" pitchFamily="18" charset="0"/>
                                        </a:rPr>
                                        <m:t>𝑖</m:t>
                                      </m:r>
                                      <m:r>
                                        <a:rPr lang="pt-BR" b="1"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rPr>
                                        <m:t>𝒂</m:t>
                                      </m:r>
                                    </m:e>
                                  </m:d>
                                </m:e>
                              </m:d>
                            </m:e>
                            <m:sup>
                              <m:r>
                                <a:rPr lang="pt-BR" b="0" i="1" smtClean="0">
                                  <a:latin typeface="Cambria Math" panose="02040503050406030204" pitchFamily="18" charset="0"/>
                                </a:rPr>
                                <m:t>2</m:t>
                              </m:r>
                            </m:sup>
                          </m:sSup>
                        </m:e>
                      </m:nary>
                      <m:r>
                        <a:rPr lang="pt-BR" b="0" i="0" smtClean="0">
                          <a:latin typeface="Cambria Math" panose="02040503050406030204" pitchFamily="18" charset="0"/>
                        </a:rPr>
                        <m:t>,</m:t>
                      </m:r>
                    </m:oMath>
                  </m:oMathPara>
                </a14:m>
                <a:endParaRPr lang="pt-BR" dirty="0"/>
              </a:p>
              <a:p>
                <a:r>
                  <a:rPr lang="pt-BR" dirty="0"/>
                  <a:t>Veremos mais adiante a razão pela qual o </a:t>
                </a:r>
                <a:r>
                  <a:rPr lang="pt-BR" b="1" i="1" dirty="0">
                    <a:solidFill>
                      <a:srgbClr val="00B050"/>
                    </a:solidFill>
                  </a:rPr>
                  <a:t>EQM</a:t>
                </a:r>
                <a:r>
                  <a:rPr lang="pt-BR" b="1" i="1" dirty="0"/>
                  <a:t> </a:t>
                </a:r>
                <a:r>
                  <a:rPr lang="pt-BR" dirty="0"/>
                  <a:t>é utilizado.</a:t>
                </a:r>
              </a:p>
              <a:p>
                <a:r>
                  <a:rPr lang="pt-BR" dirty="0"/>
                  <a:t>O vetor de pesos foi colocado em evidência na função hipótese para deixar claro que o </a:t>
                </a:r>
                <a:r>
                  <a:rPr lang="pt-BR" b="1" i="1" dirty="0">
                    <a:solidFill>
                      <a:srgbClr val="00B050"/>
                    </a:solidFill>
                  </a:rPr>
                  <a:t>erro varia com o valor dos pesos</a:t>
                </a:r>
                <a:r>
                  <a:rPr lang="pt-BR" dirty="0"/>
                  <a:t>.</a:t>
                </a:r>
              </a:p>
              <a:p>
                <a:pPr lvl="1">
                  <a:buFont typeface="Wingdings" panose="05000000000000000000" pitchFamily="2" charset="2"/>
                  <a:buChar char="§"/>
                </a:pPr>
                <a:r>
                  <a:rPr lang="pt-BR" dirty="0"/>
                  <a:t>Variando os pesos, ficamos mais próximos ou mais distantes da função hipótese que minimiza o erro, i.e., da </a:t>
                </a:r>
                <a:r>
                  <a:rPr lang="pt-BR" b="1" i="1" dirty="0">
                    <a:solidFill>
                      <a:srgbClr val="7030A0"/>
                    </a:solidFill>
                  </a:rPr>
                  <a:t>função hipótese ótima</a:t>
                </a:r>
                <a:r>
                  <a:rPr lang="pt-BR" dirty="0"/>
                  <a:t>. </a:t>
                </a:r>
              </a:p>
              <a:p>
                <a:pPr lvl="1">
                  <a:buFont typeface="Wingdings" panose="05000000000000000000" pitchFamily="2" charset="2"/>
                  <a:buChar char="§"/>
                </a:pPr>
                <a:r>
                  <a:rPr lang="pt-BR" dirty="0"/>
                  <a:t>A variação dos pesos faz com que caminhemos no espaço de hipóteses.</a:t>
                </a:r>
              </a:p>
            </p:txBody>
          </p:sp>
        </mc:Choice>
        <mc:Fallback xmlns="">
          <p:sp>
            <p:nvSpPr>
              <p:cNvPr id="3" name="Espaço Reservado para Conteúdo 2">
                <a:extLst>
                  <a:ext uri="{FF2B5EF4-FFF2-40B4-BE49-F238E27FC236}">
                    <a16:creationId xmlns:a16="http://schemas.microsoft.com/office/drawing/2014/main" id="{8E46B640-7C64-6D85-194E-E963EC6D3757}"/>
                  </a:ext>
                </a:extLst>
              </p:cNvPr>
              <p:cNvSpPr>
                <a:spLocks noGrp="1" noRot="1" noChangeAspect="1" noMove="1" noResize="1" noEditPoints="1" noAdjustHandles="1" noChangeArrowheads="1" noChangeShapeType="1" noTextEdit="1"/>
              </p:cNvSpPr>
              <p:nvPr>
                <p:ph idx="1"/>
              </p:nvPr>
            </p:nvSpPr>
            <p:spPr>
              <a:xfrm>
                <a:off x="838200" y="1825624"/>
                <a:ext cx="11157155" cy="5032375"/>
              </a:xfrm>
              <a:blipFill>
                <a:blip r:embed="rId3"/>
                <a:stretch>
                  <a:fillRect l="-984"/>
                </a:stretch>
              </a:blipFill>
            </p:spPr>
            <p:txBody>
              <a:bodyPr/>
              <a:lstStyle/>
              <a:p>
                <a:r>
                  <a:rPr lang="en-US">
                    <a:noFill/>
                  </a:rPr>
                  <a:t> </a:t>
                </a:r>
              </a:p>
            </p:txBody>
          </p:sp>
        </mc:Fallback>
      </mc:AlternateContent>
    </p:spTree>
    <p:extLst>
      <p:ext uri="{BB962C8B-B14F-4D97-AF65-F5344CB8AC3E}">
        <p14:creationId xmlns:p14="http://schemas.microsoft.com/office/powerpoint/2010/main" val="23435736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206316" cy="5032375"/>
              </a:xfrm>
            </p:spPr>
            <p:txBody>
              <a:bodyPr>
                <a:normAutofit/>
              </a:bodyPr>
              <a:lstStyle/>
              <a:p>
                <a:r>
                  <a:rPr lang="pt-BR" dirty="0"/>
                  <a:t>A </a:t>
                </a:r>
                <a:r>
                  <a:rPr lang="pt-BR" b="1" i="1" dirty="0"/>
                  <a:t>função de erro</a:t>
                </a:r>
                <a:r>
                  <a:rPr lang="pt-BR" dirty="0"/>
                  <a:t> pode ser reescrita em </a:t>
                </a:r>
                <a:r>
                  <a:rPr lang="pt-BR" b="1" i="1" dirty="0"/>
                  <a:t>formato matricial </a:t>
                </a:r>
                <a:r>
                  <a:rPr lang="pt-BR" dirty="0"/>
                  <a:t>como</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r>
                                <a:rPr lang="pt-BR" b="1" i="1" smtClean="0">
                                  <a:latin typeface="Cambria Math" panose="02040503050406030204" pitchFamily="18" charset="0"/>
                                </a:rPr>
                                <m:t>𝒚</m:t>
                              </m:r>
                              <m:r>
                                <a:rPr lang="pt-BR" b="0" i="1" smtClean="0">
                                  <a:latin typeface="Cambria Math" panose="02040503050406030204" pitchFamily="18" charset="0"/>
                                </a:rPr>
                                <m:t> −</m:t>
                              </m:r>
                              <m:r>
                                <a:rPr lang="pt-BR" b="1" i="1" smtClean="0">
                                  <a:latin typeface="Cambria Math" panose="02040503050406030204" pitchFamily="18" charset="0"/>
                                </a:rPr>
                                <m:t>𝑿𝒂</m:t>
                              </m:r>
                            </m:e>
                          </m:d>
                        </m:e>
                        <m:sup>
                          <m:r>
                            <a:rPr lang="pt-BR" b="0" i="1" smtClean="0">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0" i="1" smtClean="0">
                            <a:latin typeface="Cambria Math" panose="02040503050406030204" pitchFamily="18" charset="0"/>
                          </a:rPr>
                          <m:t>𝑦</m:t>
                        </m:r>
                        <m:r>
                          <a:rPr lang="pt-BR" b="0" i="1" smtClean="0">
                            <a:latin typeface="Cambria Math" panose="02040503050406030204" pitchFamily="18" charset="0"/>
                          </a:rPr>
                          <m:t>(0), …,</m:t>
                        </m:r>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sup>
                        <m:r>
                          <a:rPr lang="pt-BR" b="0" i="1">
                            <a:latin typeface="Cambria Math" panose="02040503050406030204" pitchFamily="18" charset="0"/>
                          </a:rPr>
                          <m:t>𝑇</m:t>
                        </m:r>
                      </m:sup>
                    </m:sSup>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b="0" i="1" smtClean="0">
                            <a:latin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é o </a:t>
                </a:r>
                <a:r>
                  <a:rPr lang="pt-BR" b="1" i="1" dirty="0">
                    <a:solidFill>
                      <a:srgbClr val="0070C0"/>
                    </a:solidFill>
                  </a:rPr>
                  <a:t>vetor de rótulos </a:t>
                </a:r>
                <a:r>
                  <a:rPr lang="pt-BR" dirty="0"/>
                  <a:t>contendo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valores esperados 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smtClean="0">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0</m:t>
                        </m:r>
                        <m:r>
                          <a:rPr lang="pt-BR" i="1">
                            <a:latin typeface="Cambria Math" panose="02040503050406030204" pitchFamily="18" charset="0"/>
                          </a:rPr>
                          <m:t>)</m:t>
                        </m:r>
                        <m:r>
                          <a:rPr lang="pt-BR" b="1" i="1">
                            <a:latin typeface="Cambria Math" panose="02040503050406030204" pitchFamily="18" charset="0"/>
                            <a:ea typeface="Cambria Math" panose="02040503050406030204" pitchFamily="18" charset="0"/>
                          </a:rPr>
                          <m:t>, …,</m:t>
                        </m:r>
                        <m:r>
                          <a:rPr lang="pt-BR" b="1" i="1" smtClean="0">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b="0" i="1">
                            <a:latin typeface="Cambria Math" panose="02040503050406030204" pitchFamily="18" charset="0"/>
                          </a:rPr>
                          <m:t>𝑇</m:t>
                        </m:r>
                      </m:sup>
                    </m:sSup>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b="0" i="1" smtClean="0">
                            <a:latin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m:t>
                        </m:r>
                      </m:sup>
                    </m:sSup>
                  </m:oMath>
                </a14:m>
                <a:r>
                  <a:rPr lang="pt-BR" dirty="0"/>
                  <a:t>é a </a:t>
                </a:r>
                <a:r>
                  <a:rPr lang="pt-BR" b="1" i="1" dirty="0">
                    <a:solidFill>
                      <a:srgbClr val="0070C0"/>
                    </a:solidFill>
                  </a:rPr>
                  <a:t>matriz de atributos </a:t>
                </a:r>
                <a:r>
                  <a:rPr lang="pt-BR" dirty="0"/>
                  <a:t>contendo todos os vetores de atributo.</a:t>
                </a:r>
              </a:p>
              <a:p>
                <a:r>
                  <a:rPr lang="pt-BR" dirty="0"/>
                  <a:t>Então, para encontrarmos o </a:t>
                </a:r>
                <a:r>
                  <a:rPr lang="pt-BR" b="1" i="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i="1" dirty="0">
                    <a:solidFill>
                      <a:srgbClr val="00B050"/>
                    </a:solidFill>
                  </a:rPr>
                  <a:t>minimizar a função de erro</a:t>
                </a:r>
                <a:endParaRPr lang="pt-BR" dirty="0"/>
              </a:p>
              <a:p>
                <a:pPr marL="0" indent="0">
                  <a:buNone/>
                </a:pPr>
                <a14:m>
                  <m:oMathPara xmlns:m="http://schemas.openxmlformats.org/officeDocument/2006/math">
                    <m:oMath>
                      <m:func>
                        <m:funcPr>
                          <m:ctrlPr>
                            <a:rPr lang="nl-BE" i="1" smtClean="0">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r>
                                <a:rPr lang="pt-BR" b="1" i="1" smtClean="0">
                                  <a:latin typeface="Cambria Math" panose="02040503050406030204" pitchFamily="18" charset="0"/>
                                </a:rPr>
                                <m:t> </m:t>
                              </m:r>
                            </m:lim>
                          </m:limLow>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fName>
                        <m:e>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206316" cy="5032375"/>
              </a:xfrm>
              <a:blipFill>
                <a:blip r:embed="rId3"/>
                <a:stretch>
                  <a:fillRect l="-1143" t="-1937"/>
                </a:stretch>
              </a:blipFill>
            </p:spPr>
            <p:txBody>
              <a:bodyPr/>
              <a:lstStyle/>
              <a:p>
                <a:r>
                  <a:rPr lang="en-US">
                    <a:noFill/>
                  </a:rPr>
                  <a:t> </a:t>
                </a:r>
              </a:p>
            </p:txBody>
          </p:sp>
        </mc:Fallback>
      </mc:AlternateContent>
    </p:spTree>
    <p:extLst>
      <p:ext uri="{BB962C8B-B14F-4D97-AF65-F5344CB8AC3E}">
        <p14:creationId xmlns:p14="http://schemas.microsoft.com/office/powerpoint/2010/main" val="2865665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5724525" y="1551214"/>
            <a:ext cx="6319991" cy="5306785"/>
          </a:xfrm>
        </p:spPr>
        <p:txBody>
          <a:bodyPr>
            <a:normAutofit/>
          </a:bodyPr>
          <a:lstStyle/>
          <a:p>
            <a:r>
              <a:rPr lang="pt-BR" dirty="0"/>
              <a:t>Nosso objetivo é </a:t>
            </a:r>
            <a:r>
              <a:rPr lang="pt-BR" b="1" i="1" dirty="0">
                <a:solidFill>
                  <a:srgbClr val="00B050"/>
                </a:solidFill>
              </a:rPr>
              <a:t>treinar</a:t>
            </a:r>
            <a:r>
              <a:rPr lang="pt-BR" dirty="0"/>
              <a:t> um </a:t>
            </a:r>
            <a:r>
              <a:rPr lang="pt-BR" b="1" i="1" dirty="0">
                <a:solidFill>
                  <a:srgbClr val="00B050"/>
                </a:solidFill>
              </a:rPr>
              <a:t>modelo</a:t>
            </a:r>
            <a:r>
              <a:rPr lang="pt-BR" dirty="0"/>
              <a:t>, a partir de um </a:t>
            </a:r>
            <a:r>
              <a:rPr lang="pt-BR" b="1" i="1" dirty="0">
                <a:solidFill>
                  <a:srgbClr val="00B050"/>
                </a:solidFill>
              </a:rPr>
              <a:t>conjunto de treinamento</a:t>
            </a:r>
            <a:r>
              <a:rPr lang="pt-BR" dirty="0"/>
              <a:t>, que </a:t>
            </a:r>
            <a:r>
              <a:rPr lang="pt-BR" b="1" i="1" dirty="0">
                <a:solidFill>
                  <a:srgbClr val="00B050"/>
                </a:solidFill>
              </a:rPr>
              <a:t>minimize o erro de aproximação</a:t>
            </a:r>
            <a:r>
              <a:rPr lang="pt-BR" dirty="0"/>
              <a:t>.</a:t>
            </a:r>
          </a:p>
          <a:p>
            <a:r>
              <a:rPr lang="pt-BR" dirty="0"/>
              <a:t>Assim, para </a:t>
            </a:r>
            <a:r>
              <a:rPr lang="pt-BR" b="1" i="1" dirty="0">
                <a:solidFill>
                  <a:srgbClr val="00B050"/>
                </a:solidFill>
              </a:rPr>
              <a:t>treinar</a:t>
            </a:r>
            <a:r>
              <a:rPr lang="pt-BR" dirty="0"/>
              <a:t> o modelo, precisamos encontrar </a:t>
            </a:r>
            <a:r>
              <a:rPr lang="pt-BR" b="1" i="1" dirty="0">
                <a:solidFill>
                  <a:srgbClr val="7030A0"/>
                </a:solidFill>
              </a:rPr>
              <a:t>maneiras</a:t>
            </a:r>
            <a:r>
              <a:rPr lang="pt-BR" b="1" i="1" dirty="0">
                <a:solidFill>
                  <a:srgbClr val="00B050"/>
                </a:solidFill>
              </a:rPr>
              <a:t> </a:t>
            </a:r>
            <a:r>
              <a:rPr lang="pt-BR" dirty="0"/>
              <a:t>de </a:t>
            </a:r>
            <a:r>
              <a:rPr lang="pt-BR" b="1" i="1" dirty="0">
                <a:solidFill>
                  <a:schemeClr val="accent2"/>
                </a:solidFill>
              </a:rPr>
              <a:t>ajustar seus pesos</a:t>
            </a:r>
            <a:r>
              <a:rPr lang="pt-BR" b="1" i="1" dirty="0">
                <a:solidFill>
                  <a:srgbClr val="00B050"/>
                </a:solidFill>
              </a:rPr>
              <a:t> </a:t>
            </a:r>
            <a:r>
              <a:rPr lang="pt-BR" dirty="0"/>
              <a:t>de forma que o erro seja minimizado.</a:t>
            </a:r>
          </a:p>
          <a:p>
            <a:r>
              <a:rPr lang="pt-BR" dirty="0"/>
              <a:t>Na sequência veremos duas formas de se encontrar o </a:t>
            </a:r>
            <a:r>
              <a:rPr lang="pt-BR" b="1" i="1" dirty="0">
                <a:solidFill>
                  <a:srgbClr val="00B050"/>
                </a:solidFill>
              </a:rPr>
              <a:t>conjunto de pesos ótimo </a:t>
            </a:r>
            <a:r>
              <a:rPr lang="pt-BR" dirty="0"/>
              <a:t>através da </a:t>
            </a:r>
            <a:r>
              <a:rPr lang="pt-BR" b="1" i="1" dirty="0">
                <a:solidFill>
                  <a:srgbClr val="7030A0"/>
                </a:solidFill>
              </a:rPr>
              <a:t>minimização da função de erro</a:t>
            </a:r>
            <a:r>
              <a:rPr lang="pt-BR" dirty="0"/>
              <a:t>.</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419100" y="2001835"/>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93787" y="4074825"/>
                <a:ext cx="1309262" cy="276999"/>
              </a:xfrm>
              <a:prstGeom prst="rect">
                <a:avLst/>
              </a:prstGeom>
              <a:noFill/>
            </p:spPr>
            <p:txBody>
              <a:bodyPr wrap="square" rtlCol="0">
                <a:spAutoFit/>
              </a:bodyPr>
              <a:lstStyle/>
              <a:p>
                <a:pPr algn="ctr"/>
                <a:r>
                  <a:rPr lang="pt-BR" sz="1200" dirty="0"/>
                  <a:t>Ajuste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estimativa</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690966"/>
            <a:ext cx="10687665" cy="1476068"/>
          </a:xfrm>
        </p:spPr>
        <p:txBody>
          <a:bodyPr>
            <a:normAutofit/>
          </a:bodyPr>
          <a:lstStyle/>
          <a:p>
            <a:pPr marL="0" indent="0" algn="ctr">
              <a:buNone/>
            </a:pPr>
            <a:r>
              <a:rPr lang="pt-BR" sz="4800" b="1" i="1" dirty="0"/>
              <a:t>Como encontramos os pesos que minimizam a função de erro?</a:t>
            </a:r>
          </a:p>
          <a:p>
            <a:pPr algn="ctr"/>
            <a:endParaRPr lang="pt-BR" sz="4800" i="1" dirty="0"/>
          </a:p>
        </p:txBody>
      </p:sp>
    </p:spTree>
    <p:extLst>
      <p:ext uri="{BB962C8B-B14F-4D97-AF65-F5344CB8AC3E}">
        <p14:creationId xmlns:p14="http://schemas.microsoft.com/office/powerpoint/2010/main" val="2069448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8997FE-4FF7-78B0-BAE7-3473256F565D}"/>
              </a:ext>
            </a:extLst>
          </p:cNvPr>
          <p:cNvSpPr>
            <a:spLocks noGrp="1"/>
          </p:cNvSpPr>
          <p:nvPr>
            <p:ph type="title"/>
          </p:nvPr>
        </p:nvSpPr>
        <p:spPr/>
        <p:txBody>
          <a:bodyPr/>
          <a:lstStyle/>
          <a:p>
            <a:r>
              <a:rPr lang="pt-BR" dirty="0"/>
              <a:t>Como minimizar a 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BED31F7-9ADB-CE3C-D522-F33C86E7B549}"/>
                  </a:ext>
                </a:extLst>
              </p:cNvPr>
              <p:cNvSpPr>
                <a:spLocks noGrp="1"/>
              </p:cNvSpPr>
              <p:nvPr>
                <p:ph idx="1"/>
              </p:nvPr>
            </p:nvSpPr>
            <p:spPr>
              <a:xfrm>
                <a:off x="5428648" y="1825624"/>
                <a:ext cx="6597739" cy="5032375"/>
              </a:xfrm>
            </p:spPr>
            <p:txBody>
              <a:bodyPr>
                <a:normAutofit/>
              </a:bodyPr>
              <a:lstStyle/>
              <a:p>
                <a:r>
                  <a:rPr lang="pt-BR" dirty="0"/>
                  <a:t>Da disciplina de cálculo, sabemos que derivando a </a:t>
                </a:r>
                <a:r>
                  <a:rPr lang="pt-BR" b="1" i="1" dirty="0"/>
                  <a:t>função de erro</a:t>
                </a:r>
                <a:r>
                  <a:rPr lang="pt-BR" dirty="0"/>
                  <a:t> em relação ao vetor </a:t>
                </a:r>
                <a14:m>
                  <m:oMath xmlns:m="http://schemas.openxmlformats.org/officeDocument/2006/math">
                    <m:r>
                      <a:rPr lang="pt-BR" b="1" i="1">
                        <a:latin typeface="Cambria Math" panose="02040503050406030204" pitchFamily="18" charset="0"/>
                      </a:rPr>
                      <m:t>𝒂</m:t>
                    </m:r>
                  </m:oMath>
                </a14:m>
                <a:r>
                  <a:rPr lang="pt-BR" dirty="0"/>
                  <a:t> e igualando a derivada à 0, nós encontramos o </a:t>
                </a:r>
                <a:r>
                  <a:rPr lang="pt-BR" b="1" i="1" dirty="0">
                    <a:solidFill>
                      <a:srgbClr val="7030A0"/>
                    </a:solidFill>
                  </a:rPr>
                  <a:t>ponto</a:t>
                </a:r>
                <a:r>
                  <a:rPr lang="pt-BR" dirty="0"/>
                  <a:t> (i.e., os valores dos pesos) onde a </a:t>
                </a:r>
                <a:r>
                  <a:rPr lang="pt-BR" b="1" i="1" dirty="0">
                    <a:solidFill>
                      <a:srgbClr val="00B050"/>
                    </a:solidFill>
                  </a:rPr>
                  <a:t>taxa de variação da função é nula</a:t>
                </a:r>
                <a:r>
                  <a:rPr lang="pt-BR" dirty="0"/>
                  <a:t> (i.e., não cresce ou decresce mais)</a:t>
                </a:r>
              </a:p>
              <a:p>
                <a:pPr marL="0" indent="0">
                  <a:buNone/>
                </a:pPr>
                <a:endParaRPr lang="pt-BR" sz="1100" dirty="0"/>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r>
                        <a:rPr lang="pt-BR">
                          <a:latin typeface="Cambria Math" panose="02040503050406030204" pitchFamily="18" charset="0"/>
                        </a:rPr>
                        <m:t>=</m:t>
                      </m:r>
                      <m:r>
                        <a:rPr lang="pt-BR" b="0" i="0" smtClean="0">
                          <a:latin typeface="Cambria Math" panose="02040503050406030204" pitchFamily="18" charset="0"/>
                        </a:rPr>
                        <m:t>0.</m:t>
                      </m:r>
                    </m:oMath>
                  </m:oMathPara>
                </a14:m>
                <a:endParaRPr lang="pt-BR"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EBED31F7-9ADB-CE3C-D522-F33C86E7B549}"/>
                  </a:ext>
                </a:extLst>
              </p:cNvPr>
              <p:cNvSpPr>
                <a:spLocks noGrp="1" noRot="1" noChangeAspect="1" noMove="1" noResize="1" noEditPoints="1" noAdjustHandles="1" noChangeArrowheads="1" noChangeShapeType="1" noTextEdit="1"/>
              </p:cNvSpPr>
              <p:nvPr>
                <p:ph idx="1"/>
              </p:nvPr>
            </p:nvSpPr>
            <p:spPr>
              <a:xfrm>
                <a:off x="5428648" y="1825624"/>
                <a:ext cx="6597739" cy="5032375"/>
              </a:xfrm>
              <a:blipFill>
                <a:blip r:embed="rId3"/>
                <a:stretch>
                  <a:fillRect l="-1664" t="-1937" r="-1479"/>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84D3356C-8206-8CEB-7355-803AD11A84F8}"/>
              </a:ext>
            </a:extLst>
          </p:cNvPr>
          <p:cNvSpPr/>
          <p:nvPr/>
        </p:nvSpPr>
        <p:spPr>
          <a:xfrm>
            <a:off x="1105300" y="1893113"/>
            <a:ext cx="3443324" cy="523220"/>
          </a:xfrm>
          <a:prstGeom prst="rect">
            <a:avLst/>
          </a:prstGeom>
        </p:spPr>
        <p:txBody>
          <a:bodyPr wrap="square">
            <a:spAutoFit/>
          </a:bodyPr>
          <a:lstStyle/>
          <a:p>
            <a:pPr algn="ctr"/>
            <a:r>
              <a:rPr lang="pt-BR" sz="1400" dirty="0"/>
              <a:t>Exemplo da variação de uma função de erro qualquer com apenas um peso.</a:t>
            </a:r>
          </a:p>
        </p:txBody>
      </p:sp>
      <p:pic>
        <p:nvPicPr>
          <p:cNvPr id="6" name="Imagem 21">
            <a:extLst>
              <a:ext uri="{FF2B5EF4-FFF2-40B4-BE49-F238E27FC236}">
                <a16:creationId xmlns:a16="http://schemas.microsoft.com/office/drawing/2014/main" id="{AE4A393C-03D2-D1C1-D418-94941BAA405E}"/>
              </a:ext>
            </a:extLst>
          </p:cNvPr>
          <p:cNvPicPr>
            <a:picLocks noChangeAspect="1"/>
          </p:cNvPicPr>
          <p:nvPr/>
        </p:nvPicPr>
        <p:blipFill rotWithShape="1">
          <a:blip r:embed="rId4"/>
          <a:srcRect t="11111" r="9167"/>
          <a:stretch/>
        </p:blipFill>
        <p:spPr>
          <a:xfrm>
            <a:off x="390524" y="2416333"/>
            <a:ext cx="4308475" cy="3162183"/>
          </a:xfrm>
          <a:prstGeom prst="rect">
            <a:avLst/>
          </a:prstGeom>
        </p:spPr>
      </p:pic>
    </p:spTree>
    <p:extLst>
      <p:ext uri="{BB962C8B-B14F-4D97-AF65-F5344CB8AC3E}">
        <p14:creationId xmlns:p14="http://schemas.microsoft.com/office/powerpoint/2010/main" val="38856675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8997FE-4FF7-78B0-BAE7-3473256F565D}"/>
              </a:ext>
            </a:extLst>
          </p:cNvPr>
          <p:cNvSpPr>
            <a:spLocks noGrp="1"/>
          </p:cNvSpPr>
          <p:nvPr>
            <p:ph type="title"/>
          </p:nvPr>
        </p:nvSpPr>
        <p:spPr/>
        <p:txBody>
          <a:bodyPr/>
          <a:lstStyle/>
          <a:p>
            <a:r>
              <a:rPr lang="pt-BR" dirty="0"/>
              <a:t>Como minimizar a 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EBED31F7-9ADB-CE3C-D522-F33C86E7B549}"/>
                  </a:ext>
                </a:extLst>
              </p:cNvPr>
              <p:cNvSpPr>
                <a:spLocks noGrp="1"/>
              </p:cNvSpPr>
              <p:nvPr>
                <p:ph idx="1"/>
              </p:nvPr>
            </p:nvSpPr>
            <p:spPr>
              <a:xfrm>
                <a:off x="5648325" y="1825624"/>
                <a:ext cx="6543674" cy="5032375"/>
              </a:xfrm>
            </p:spPr>
            <p:txBody>
              <a:bodyPr>
                <a:normAutofit/>
              </a:bodyPr>
              <a:lstStyle/>
              <a:p>
                <a14:m>
                  <m:oMath xmlns:m="http://schemas.openxmlformats.org/officeDocument/2006/math">
                    <m:r>
                      <m:rPr>
                        <m:nor/>
                      </m:rPr>
                      <a:rPr lang="pt-BR" i="0" dirty="0" smtClean="0"/>
                      <m:t>Após aplicarmos a derivada parcial, chegamos à seguinte equação</m:t>
                    </m:r>
                  </m:oMath>
                </a14:m>
                <a:endParaRPr lang="pt-BR" dirty="0"/>
              </a:p>
              <a:p>
                <a:pPr marL="0" indent="0">
                  <a:buNone/>
                </a:pPr>
                <a:endParaRPr lang="pt-BR" sz="1000" dirty="0"/>
              </a:p>
              <a:p>
                <a:pPr marL="0" indent="0" algn="ctr">
                  <a:buNone/>
                </a:pPr>
                <a14:m>
                  <m:oMathPara xmlns:m="http://schemas.openxmlformats.org/officeDocument/2006/math">
                    <m:oMath>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𝒚</m:t>
                          </m:r>
                        </m:e>
                        <m:sup>
                          <m:r>
                            <a:rPr lang="pt-BR" i="1">
                              <a:latin typeface="Cambria Math" panose="02040503050406030204" pitchFamily="18" charset="0"/>
                            </a:rPr>
                            <m:t>𝑇</m:t>
                          </m:r>
                        </m:sup>
                      </m:sSup>
                      <m:r>
                        <a:rPr lang="pt-BR" b="1" i="1">
                          <a:latin typeface="Cambria Math" panose="02040503050406030204" pitchFamily="18" charset="0"/>
                        </a:rPr>
                        <m:t>𝑿</m:t>
                      </m:r>
                      <m:r>
                        <a:rPr lang="pt-BR" b="1" i="1">
                          <a:latin typeface="Cambria Math" panose="02040503050406030204" pitchFamily="18" charset="0"/>
                        </a:rPr>
                        <m:t>=0.</m:t>
                      </m:r>
                    </m:oMath>
                  </m:oMathPara>
                </a14:m>
                <a:endParaRPr lang="pt-BR" dirty="0"/>
              </a:p>
              <a:p>
                <a:r>
                  <a:rPr lang="pt-BR" b="0" i="0" dirty="0"/>
                  <a:t>A resolução dessa derivada também é interpretada como sendo o </a:t>
                </a:r>
                <a:r>
                  <a:rPr lang="pt-BR" b="1" i="1" dirty="0">
                    <a:solidFill>
                      <a:srgbClr val="7030A0"/>
                    </a:solidFill>
                  </a:rPr>
                  <a:t>ponto</a:t>
                </a:r>
                <a:r>
                  <a:rPr lang="pt-BR" b="0" i="0" dirty="0"/>
                  <a:t>, i.e., </a:t>
                </a:r>
                <a14:m>
                  <m:oMath xmlns:m="http://schemas.openxmlformats.org/officeDocument/2006/math">
                    <m:r>
                      <a:rPr lang="pt-BR" b="1" i="1" smtClean="0">
                        <a:latin typeface="Cambria Math" panose="02040503050406030204" pitchFamily="18" charset="0"/>
                      </a:rPr>
                      <m:t>𝒂</m:t>
                    </m:r>
                  </m:oMath>
                </a14:m>
                <a:r>
                  <a:rPr lang="pt-BR" b="0" i="0" dirty="0"/>
                  <a:t>, onde a</a:t>
                </a:r>
                <a:r>
                  <a:rPr lang="pt-BR" dirty="0"/>
                  <a:t> </a:t>
                </a:r>
                <a:r>
                  <a:rPr lang="pt-BR" b="1" i="1" dirty="0">
                    <a:solidFill>
                      <a:srgbClr val="00B0F0"/>
                    </a:solidFill>
                  </a:rPr>
                  <a:t>inclinação</a:t>
                </a:r>
                <a:r>
                  <a:rPr lang="pt-BR" b="1" i="1" dirty="0">
                    <a:solidFill>
                      <a:srgbClr val="00B050"/>
                    </a:solidFill>
                  </a:rPr>
                  <a:t> de um </a:t>
                </a:r>
                <a:r>
                  <a:rPr lang="pt-BR" b="1" i="1" dirty="0">
                    <a:solidFill>
                      <a:schemeClr val="accent2"/>
                    </a:solidFill>
                  </a:rPr>
                  <a:t>hiperplano</a:t>
                </a:r>
                <a:r>
                  <a:rPr lang="pt-BR" b="1" i="1" dirty="0">
                    <a:solidFill>
                      <a:srgbClr val="00B050"/>
                    </a:solidFill>
                  </a:rPr>
                  <a:t> tangente à função de erro é </a:t>
                </a:r>
                <a:r>
                  <a:rPr lang="pt-BR" b="1" i="1" dirty="0">
                    <a:solidFill>
                      <a:schemeClr val="accent2"/>
                    </a:solidFill>
                  </a:rPr>
                  <a:t>nula</a:t>
                </a:r>
                <a:r>
                  <a:rPr lang="pt-BR" b="0" i="0" dirty="0"/>
                  <a:t>.</a:t>
                </a:r>
              </a:p>
              <a:p>
                <a:pPr lvl="1">
                  <a:buFont typeface="Wingdings" panose="05000000000000000000" pitchFamily="2" charset="2"/>
                  <a:buChar char="§"/>
                </a:pPr>
                <a:r>
                  <a:rPr lang="pt-BR" dirty="0"/>
                  <a:t>Na figura temos uma </a:t>
                </a:r>
                <a:r>
                  <a:rPr lang="pt-BR" b="1" i="1" dirty="0"/>
                  <a:t>reta</a:t>
                </a:r>
                <a:r>
                  <a:rPr lang="pt-BR" dirty="0"/>
                  <a:t>, pois existe apenas </a:t>
                </a:r>
                <a:r>
                  <a:rPr lang="pt-BR" b="1" i="1" dirty="0"/>
                  <a:t>um peso</a:t>
                </a:r>
                <a:r>
                  <a:rPr lang="pt-BR" dirty="0"/>
                  <a:t>.</a:t>
                </a:r>
              </a:p>
            </p:txBody>
          </p:sp>
        </mc:Choice>
        <mc:Fallback>
          <p:sp>
            <p:nvSpPr>
              <p:cNvPr id="3" name="Espaço Reservado para Conteúdo 2">
                <a:extLst>
                  <a:ext uri="{FF2B5EF4-FFF2-40B4-BE49-F238E27FC236}">
                    <a16:creationId xmlns:a16="http://schemas.microsoft.com/office/drawing/2014/main" id="{EBED31F7-9ADB-CE3C-D522-F33C86E7B549}"/>
                  </a:ext>
                </a:extLst>
              </p:cNvPr>
              <p:cNvSpPr>
                <a:spLocks noGrp="1" noRot="1" noChangeAspect="1" noMove="1" noResize="1" noEditPoints="1" noAdjustHandles="1" noChangeArrowheads="1" noChangeShapeType="1" noTextEdit="1"/>
              </p:cNvSpPr>
              <p:nvPr>
                <p:ph idx="1"/>
              </p:nvPr>
            </p:nvSpPr>
            <p:spPr>
              <a:xfrm>
                <a:off x="5648325" y="1825624"/>
                <a:ext cx="6543674" cy="5032375"/>
              </a:xfrm>
              <a:blipFill>
                <a:blip r:embed="rId3"/>
                <a:stretch>
                  <a:fillRect l="-1678" r="-746"/>
                </a:stretch>
              </a:blipFill>
            </p:spPr>
            <p:txBody>
              <a:bodyPr/>
              <a:lstStyle/>
              <a:p>
                <a:r>
                  <a:rPr lang="en-US">
                    <a:noFill/>
                  </a:rPr>
                  <a:t> </a:t>
                </a:r>
              </a:p>
            </p:txBody>
          </p:sp>
        </mc:Fallback>
      </mc:AlternateContent>
      <p:sp>
        <p:nvSpPr>
          <p:cNvPr id="4" name="Rectangle 4">
            <a:extLst>
              <a:ext uri="{FF2B5EF4-FFF2-40B4-BE49-F238E27FC236}">
                <a16:creationId xmlns:a16="http://schemas.microsoft.com/office/drawing/2014/main" id="{4164D828-BFCD-4F04-7AC4-FF59D6A9DFEF}"/>
              </a:ext>
            </a:extLst>
          </p:cNvPr>
          <p:cNvSpPr/>
          <p:nvPr/>
        </p:nvSpPr>
        <p:spPr>
          <a:xfrm>
            <a:off x="579498" y="5191265"/>
            <a:ext cx="4169411" cy="738664"/>
          </a:xfrm>
          <a:prstGeom prst="rect">
            <a:avLst/>
          </a:prstGeom>
        </p:spPr>
        <p:txBody>
          <a:bodyPr wrap="square">
            <a:spAutoFit/>
          </a:bodyPr>
          <a:lstStyle/>
          <a:p>
            <a:pPr algn="ctr"/>
            <a:r>
              <a:rPr lang="pt-BR" sz="1400" dirty="0"/>
              <a:t>A reta vermelha é </a:t>
            </a:r>
            <a:r>
              <a:rPr lang="pt-BR" sz="1400" b="1" dirty="0"/>
              <a:t>tangente</a:t>
            </a:r>
            <a:r>
              <a:rPr lang="pt-BR" sz="1400" dirty="0"/>
              <a:t> à curva no ponto </a:t>
            </a:r>
            <a:r>
              <a:rPr lang="pt-BR" sz="1400" b="1" dirty="0"/>
              <a:t>P</a:t>
            </a:r>
            <a:r>
              <a:rPr lang="pt-BR" sz="1400" dirty="0"/>
              <a:t> (roxo). </a:t>
            </a:r>
          </a:p>
          <a:p>
            <a:pPr algn="ctr"/>
            <a:r>
              <a:rPr lang="pt-BR" sz="1400" dirty="0"/>
              <a:t>Sua </a:t>
            </a:r>
            <a:r>
              <a:rPr lang="pt-BR" sz="1400" b="1" dirty="0"/>
              <a:t>inclinação</a:t>
            </a:r>
            <a:r>
              <a:rPr lang="pt-BR" sz="1400" dirty="0"/>
              <a:t> é dada pela </a:t>
            </a:r>
            <a:r>
              <a:rPr lang="pt-BR" sz="1400" b="1" dirty="0"/>
              <a:t>derivada</a:t>
            </a:r>
            <a:r>
              <a:rPr lang="pt-BR" sz="1400" dirty="0"/>
              <a:t> </a:t>
            </a:r>
            <a:r>
              <a:rPr lang="pt-BR" sz="1400" b="1" dirty="0"/>
              <a:t>parcial</a:t>
            </a:r>
            <a:r>
              <a:rPr lang="pt-BR" sz="1400" dirty="0"/>
              <a:t> da função naquele ponto.</a:t>
            </a:r>
          </a:p>
        </p:txBody>
      </p:sp>
      <p:pic>
        <p:nvPicPr>
          <p:cNvPr id="9" name="Imagem 8">
            <a:extLst>
              <a:ext uri="{FF2B5EF4-FFF2-40B4-BE49-F238E27FC236}">
                <a16:creationId xmlns:a16="http://schemas.microsoft.com/office/drawing/2014/main" id="{19F669FD-DF98-440C-627F-AAA3BFD5DB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9498" y="2346223"/>
            <a:ext cx="3978751" cy="2919874"/>
          </a:xfrm>
          <a:prstGeom prst="rect">
            <a:avLst/>
          </a:prstGeom>
        </p:spPr>
      </p:pic>
      <p:sp>
        <p:nvSpPr>
          <p:cNvPr id="5" name="Rectangle 4">
            <a:extLst>
              <a:ext uri="{FF2B5EF4-FFF2-40B4-BE49-F238E27FC236}">
                <a16:creationId xmlns:a16="http://schemas.microsoft.com/office/drawing/2014/main" id="{84D3356C-8206-8CEB-7355-803AD11A84F8}"/>
              </a:ext>
            </a:extLst>
          </p:cNvPr>
          <p:cNvSpPr/>
          <p:nvPr/>
        </p:nvSpPr>
        <p:spPr>
          <a:xfrm>
            <a:off x="1114925" y="1893113"/>
            <a:ext cx="3443324" cy="523220"/>
          </a:xfrm>
          <a:prstGeom prst="rect">
            <a:avLst/>
          </a:prstGeom>
        </p:spPr>
        <p:txBody>
          <a:bodyPr wrap="square">
            <a:spAutoFit/>
          </a:bodyPr>
          <a:lstStyle/>
          <a:p>
            <a:pPr algn="ctr"/>
            <a:r>
              <a:rPr lang="pt-BR" sz="1400" dirty="0"/>
              <a:t>Exemplo da variação da função de erro com apenas um peso.</a:t>
            </a:r>
          </a:p>
        </p:txBody>
      </p:sp>
    </p:spTree>
    <p:extLst>
      <p:ext uri="{BB962C8B-B14F-4D97-AF65-F5344CB8AC3E}">
        <p14:creationId xmlns:p14="http://schemas.microsoft.com/office/powerpoint/2010/main" val="26793359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8997FE-4FF7-78B0-BAE7-3473256F565D}"/>
              </a:ext>
            </a:extLst>
          </p:cNvPr>
          <p:cNvSpPr>
            <a:spLocks noGrp="1"/>
          </p:cNvSpPr>
          <p:nvPr>
            <p:ph type="title"/>
          </p:nvPr>
        </p:nvSpPr>
        <p:spPr/>
        <p:txBody>
          <a:bodyPr/>
          <a:lstStyle/>
          <a:p>
            <a:r>
              <a:rPr lang="pt-BR" dirty="0"/>
              <a:t>Como minimizar a função de erro?</a:t>
            </a:r>
          </a:p>
        </p:txBody>
      </p:sp>
      <p:sp>
        <p:nvSpPr>
          <p:cNvPr id="3" name="Espaço Reservado para Conteúdo 2">
            <a:extLst>
              <a:ext uri="{FF2B5EF4-FFF2-40B4-BE49-F238E27FC236}">
                <a16:creationId xmlns:a16="http://schemas.microsoft.com/office/drawing/2014/main" id="{EBED31F7-9ADB-CE3C-D522-F33C86E7B549}"/>
              </a:ext>
            </a:extLst>
          </p:cNvPr>
          <p:cNvSpPr>
            <a:spLocks noGrp="1"/>
          </p:cNvSpPr>
          <p:nvPr>
            <p:ph idx="1"/>
          </p:nvPr>
        </p:nvSpPr>
        <p:spPr>
          <a:xfrm>
            <a:off x="5384799" y="1825624"/>
            <a:ext cx="6629401" cy="5032375"/>
          </a:xfrm>
        </p:spPr>
        <p:txBody>
          <a:bodyPr>
            <a:normAutofit/>
          </a:bodyPr>
          <a:lstStyle/>
          <a:p>
            <a:r>
              <a:rPr lang="pt-BR" dirty="0"/>
              <a:t>Porém, o </a:t>
            </a:r>
            <a:r>
              <a:rPr lang="pt-BR" b="1" i="1" dirty="0">
                <a:solidFill>
                  <a:srgbClr val="7030A0"/>
                </a:solidFill>
              </a:rPr>
              <a:t>ponto</a:t>
            </a:r>
            <a:r>
              <a:rPr lang="pt-BR" dirty="0"/>
              <a:t> onde a </a:t>
            </a:r>
            <a:r>
              <a:rPr lang="pt-BR" b="1" i="1" dirty="0">
                <a:solidFill>
                  <a:schemeClr val="accent2"/>
                </a:solidFill>
              </a:rPr>
              <a:t>taxa de variação da função de erro é nula</a:t>
            </a:r>
            <a:r>
              <a:rPr lang="pt-BR" dirty="0"/>
              <a:t> pode ocorrer tanto em um </a:t>
            </a:r>
            <a:r>
              <a:rPr lang="pt-BR" b="1" i="1" dirty="0">
                <a:solidFill>
                  <a:srgbClr val="7030A0"/>
                </a:solidFill>
              </a:rPr>
              <a:t>mínimo</a:t>
            </a:r>
            <a:r>
              <a:rPr lang="pt-BR" dirty="0"/>
              <a:t> quanto em um </a:t>
            </a:r>
            <a:r>
              <a:rPr lang="pt-BR" b="1" i="1" dirty="0">
                <a:solidFill>
                  <a:srgbClr val="7030A0"/>
                </a:solidFill>
              </a:rPr>
              <a:t>máximo</a:t>
            </a:r>
            <a:r>
              <a:rPr lang="pt-BR" dirty="0"/>
              <a:t> da </a:t>
            </a:r>
            <a:r>
              <a:rPr lang="pt-BR" b="1" i="1" dirty="0"/>
              <a:t>função</a:t>
            </a:r>
            <a:r>
              <a:rPr lang="pt-BR" dirty="0"/>
              <a:t>,</a:t>
            </a:r>
            <a:r>
              <a:rPr lang="pt-BR" b="1" i="1" dirty="0"/>
              <a:t> </a:t>
            </a:r>
            <a:r>
              <a:rPr lang="pt-BR" dirty="0"/>
              <a:t>pois a inclinação da reta tangente é nula em ambos os casos.</a:t>
            </a:r>
          </a:p>
          <a:p>
            <a:r>
              <a:rPr lang="pt-BR" dirty="0"/>
              <a:t>Entretanto, no nosso caso, estamos interessados no </a:t>
            </a:r>
            <a:r>
              <a:rPr lang="pt-BR" b="1" i="1" dirty="0">
                <a:solidFill>
                  <a:srgbClr val="7030A0"/>
                </a:solidFill>
              </a:rPr>
              <a:t>ponto</a:t>
            </a:r>
            <a:r>
              <a:rPr lang="pt-BR" dirty="0"/>
              <a:t> onde a </a:t>
            </a:r>
            <a:r>
              <a:rPr lang="pt-BR" b="1" i="1" dirty="0">
                <a:solidFill>
                  <a:srgbClr val="00B050"/>
                </a:solidFill>
              </a:rPr>
              <a:t>função de erro tem o seu </a:t>
            </a:r>
            <a:r>
              <a:rPr lang="pt-BR" b="1" i="1" dirty="0">
                <a:solidFill>
                  <a:srgbClr val="00B0F0"/>
                </a:solidFill>
              </a:rPr>
              <a:t>menor</a:t>
            </a:r>
            <a:r>
              <a:rPr lang="pt-BR" b="1" i="1" dirty="0">
                <a:solidFill>
                  <a:srgbClr val="00B050"/>
                </a:solidFill>
              </a:rPr>
              <a:t> valor</a:t>
            </a:r>
            <a:r>
              <a:rPr lang="pt-BR" dirty="0"/>
              <a:t>.</a:t>
            </a:r>
          </a:p>
          <a:p>
            <a:pPr lvl="1">
              <a:buFont typeface="Wingdings" panose="05000000000000000000" pitchFamily="2" charset="2"/>
              <a:buChar char="§"/>
            </a:pPr>
            <a:r>
              <a:rPr lang="pt-BR" dirty="0"/>
              <a:t>Ponto de mínimo.</a:t>
            </a:r>
          </a:p>
          <a:p>
            <a:r>
              <a:rPr lang="pt-BR" dirty="0"/>
              <a:t>É nesse ponto que encontramos os pesos que nos dão a </a:t>
            </a:r>
            <a:r>
              <a:rPr lang="pt-BR" b="1" i="1" dirty="0">
                <a:solidFill>
                  <a:srgbClr val="00B0F0"/>
                </a:solidFill>
              </a:rPr>
              <a:t>função hipótese ótima</a:t>
            </a:r>
            <a:r>
              <a:rPr lang="pt-BR" dirty="0"/>
              <a:t>.</a:t>
            </a:r>
          </a:p>
        </p:txBody>
      </p:sp>
      <p:pic>
        <p:nvPicPr>
          <p:cNvPr id="9" name="Imagem 8">
            <a:extLst>
              <a:ext uri="{FF2B5EF4-FFF2-40B4-BE49-F238E27FC236}">
                <a16:creationId xmlns:a16="http://schemas.microsoft.com/office/drawing/2014/main" id="{4C5955AF-0027-56C7-1FBD-30E34C129D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43412" y="2371622"/>
            <a:ext cx="4673087" cy="3431141"/>
          </a:xfrm>
          <a:prstGeom prst="rect">
            <a:avLst/>
          </a:prstGeom>
        </p:spPr>
      </p:pic>
      <p:sp>
        <p:nvSpPr>
          <p:cNvPr id="4" name="CaixaDeTexto 3">
            <a:extLst>
              <a:ext uri="{FF2B5EF4-FFF2-40B4-BE49-F238E27FC236}">
                <a16:creationId xmlns:a16="http://schemas.microsoft.com/office/drawing/2014/main" id="{0E4C71D1-50EA-A2EC-9A23-91169617C043}"/>
              </a:ext>
            </a:extLst>
          </p:cNvPr>
          <p:cNvSpPr txBox="1"/>
          <p:nvPr/>
        </p:nvSpPr>
        <p:spPr>
          <a:xfrm>
            <a:off x="3319022" y="5892711"/>
            <a:ext cx="1310128" cy="600164"/>
          </a:xfrm>
          <a:prstGeom prst="rect">
            <a:avLst/>
          </a:prstGeom>
          <a:noFill/>
        </p:spPr>
        <p:txBody>
          <a:bodyPr wrap="square" rtlCol="0">
            <a:spAutoFit/>
          </a:bodyPr>
          <a:lstStyle/>
          <a:p>
            <a:pPr algn="ctr"/>
            <a:r>
              <a:rPr lang="pt-BR" sz="1100" dirty="0"/>
              <a:t>Peso ótimo, i.e., peso que minimiza a função de erro</a:t>
            </a:r>
          </a:p>
        </p:txBody>
      </p:sp>
      <p:cxnSp>
        <p:nvCxnSpPr>
          <p:cNvPr id="6" name="Conector de Seta Reta 5">
            <a:extLst>
              <a:ext uri="{FF2B5EF4-FFF2-40B4-BE49-F238E27FC236}">
                <a16:creationId xmlns:a16="http://schemas.microsoft.com/office/drawing/2014/main" id="{47EF2106-10D5-9DFC-30FB-16D95F71A5FB}"/>
              </a:ext>
            </a:extLst>
          </p:cNvPr>
          <p:cNvCxnSpPr>
            <a:cxnSpLocks/>
            <a:stCxn id="4" idx="0"/>
          </p:cNvCxnSpPr>
          <p:nvPr/>
        </p:nvCxnSpPr>
        <p:spPr>
          <a:xfrm flipH="1" flipV="1">
            <a:off x="3904236" y="5344160"/>
            <a:ext cx="69850" cy="548551"/>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81734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392516"/>
            <a:ext cx="10687665" cy="2072968"/>
          </a:xfrm>
        </p:spPr>
        <p:txBody>
          <a:bodyPr>
            <a:normAutofit/>
          </a:bodyPr>
          <a:lstStyle/>
          <a:p>
            <a:pPr marL="0" indent="0" algn="ctr">
              <a:buNone/>
            </a:pPr>
            <a:r>
              <a:rPr lang="pt-BR" sz="4800" b="1" i="1" dirty="0"/>
              <a:t>Então, como sabemos se o ponto encontrado é um mínimo ou um máximo da função?</a:t>
            </a:r>
          </a:p>
          <a:p>
            <a:pPr algn="ctr"/>
            <a:endParaRPr lang="pt-BR" sz="4800" i="1" dirty="0"/>
          </a:p>
        </p:txBody>
      </p:sp>
    </p:spTree>
    <p:extLst>
      <p:ext uri="{BB962C8B-B14F-4D97-AF65-F5344CB8AC3E}">
        <p14:creationId xmlns:p14="http://schemas.microsoft.com/office/powerpoint/2010/main" val="23647150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6D07DB-5322-938F-5498-3A147D4DDA53}"/>
              </a:ext>
            </a:extLst>
          </p:cNvPr>
          <p:cNvSpPr>
            <a:spLocks noGrp="1"/>
          </p:cNvSpPr>
          <p:nvPr>
            <p:ph type="title"/>
          </p:nvPr>
        </p:nvSpPr>
        <p:spPr/>
        <p:txBody>
          <a:bodyPr/>
          <a:lstStyle/>
          <a:p>
            <a:r>
              <a:rPr lang="pt-BR" dirty="0"/>
              <a:t>Como minimizar a 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8FDF1E8A-A9D9-E4F1-F63A-53C2060F1C00}"/>
                  </a:ext>
                </a:extLst>
              </p:cNvPr>
              <p:cNvSpPr>
                <a:spLocks noGrp="1"/>
              </p:cNvSpPr>
              <p:nvPr>
                <p:ph idx="1"/>
              </p:nvPr>
            </p:nvSpPr>
            <p:spPr>
              <a:xfrm>
                <a:off x="838200" y="1825624"/>
                <a:ext cx="11176000" cy="5032375"/>
              </a:xfrm>
            </p:spPr>
            <p:txBody>
              <a:bodyPr>
                <a:normAutofit/>
              </a:bodyPr>
              <a:lstStyle/>
              <a:p>
                <a:r>
                  <a:rPr lang="pt-BR" dirty="0"/>
                  <a:t>Se a </a:t>
                </a:r>
                <a:r>
                  <a:rPr lang="pt-BR" b="1" i="1" dirty="0"/>
                  <a:t>inclinação da reta tangente é </a:t>
                </a:r>
                <a:r>
                  <a:rPr lang="pt-BR" b="1" i="1" dirty="0">
                    <a:solidFill>
                      <a:srgbClr val="0070C0"/>
                    </a:solidFill>
                  </a:rPr>
                  <a:t>nula</a:t>
                </a:r>
                <a:r>
                  <a:rPr lang="pt-BR" b="1" i="1" dirty="0"/>
                  <a:t> </a:t>
                </a:r>
                <a:r>
                  <a:rPr lang="pt-BR" b="1" i="1" dirty="0">
                    <a:solidFill>
                      <a:srgbClr val="00B050"/>
                    </a:solidFill>
                  </a:rPr>
                  <a:t>E</a:t>
                </a:r>
                <a:r>
                  <a:rPr lang="pt-BR" b="1" dirty="0">
                    <a:solidFill>
                      <a:srgbClr val="00B050"/>
                    </a:solidFill>
                  </a:rPr>
                  <a:t> </a:t>
                </a:r>
                <a:r>
                  <a:rPr lang="pt-BR" dirty="0"/>
                  <a:t>a </a:t>
                </a:r>
                <a:r>
                  <a:rPr lang="pt-BR" b="1" i="1" dirty="0"/>
                  <a:t>derivada parcial de segunda ordem</a:t>
                </a:r>
                <a:r>
                  <a:rPr lang="pt-BR" dirty="0"/>
                  <a:t> da função for </a:t>
                </a:r>
                <a:r>
                  <a:rPr lang="pt-BR" b="1" i="1" dirty="0">
                    <a:solidFill>
                      <a:srgbClr val="0070C0"/>
                    </a:solidFill>
                  </a:rPr>
                  <a:t>positiva</a:t>
                </a:r>
                <a:r>
                  <a:rPr lang="pt-BR" dirty="0"/>
                  <a:t>, então o </a:t>
                </a:r>
                <a:r>
                  <a:rPr lang="pt-BR" b="1" i="1" dirty="0">
                    <a:solidFill>
                      <a:srgbClr val="7030A0"/>
                    </a:solidFill>
                  </a:rPr>
                  <a:t>ponto</a:t>
                </a:r>
                <a:r>
                  <a:rPr lang="pt-BR" dirty="0"/>
                  <a:t> nos dá o </a:t>
                </a:r>
                <a:r>
                  <a:rPr lang="pt-BR" b="1" i="1" dirty="0">
                    <a:solidFill>
                      <a:schemeClr val="accent2"/>
                    </a:solidFill>
                  </a:rPr>
                  <a:t>mínimo</a:t>
                </a:r>
                <a:r>
                  <a:rPr lang="pt-BR" dirty="0"/>
                  <a:t> da função,</a:t>
                </a:r>
              </a:p>
              <a:p>
                <a:pPr marL="0" indent="0" algn="ctr">
                  <a:buNone/>
                </a:pPr>
                <a14:m>
                  <m:oMathPara xmlns:m="http://schemas.openxmlformats.org/officeDocument/2006/math">
                    <m:o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r>
                        <a:rPr lang="pt-BR">
                          <a:latin typeface="Cambria Math" panose="02040503050406030204" pitchFamily="18" charset="0"/>
                        </a:rPr>
                        <m:t>.</m:t>
                      </m:r>
                    </m:oMath>
                  </m:oMathPara>
                </a14:m>
                <a:endParaRPr lang="pt-BR" dirty="0"/>
              </a:p>
              <a:p>
                <a:r>
                  <a:rPr lang="pt-BR" dirty="0"/>
                  <a:t>Se a </a:t>
                </a:r>
                <a:r>
                  <a:rPr lang="pt-BR" b="1" i="1" dirty="0">
                    <a:solidFill>
                      <a:srgbClr val="00B050"/>
                    </a:solidFill>
                  </a:rPr>
                  <a:t>matriz de atributos</a:t>
                </a:r>
                <a:r>
                  <a:rPr lang="pt-BR" dirty="0"/>
                  <a:t>, </a:t>
                </a:r>
                <a14:m>
                  <m:oMath xmlns:m="http://schemas.openxmlformats.org/officeDocument/2006/math">
                    <m:r>
                      <a:rPr lang="pt-BR" b="1" i="1" smtClean="0">
                        <a:latin typeface="Cambria Math" panose="02040503050406030204" pitchFamily="18" charset="0"/>
                      </a:rPr>
                      <m:t>𝑿</m:t>
                    </m:r>
                  </m:oMath>
                </a14:m>
                <a:r>
                  <a:rPr lang="pt-BR" dirty="0"/>
                  <a:t>, tiver </a:t>
                </a:r>
                <a:r>
                  <a:rPr lang="pt-BR" b="1" i="1" dirty="0"/>
                  <a:t>posto</a:t>
                </a:r>
                <a:r>
                  <a:rPr lang="pt-BR" dirty="0"/>
                  <a:t> igual a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m:t>
                    </m:r>
                  </m:oMath>
                </a14:m>
                <a:r>
                  <a:rPr lang="pt-BR" dirty="0"/>
                  <a:t>, então a matriz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é </a:t>
                </a:r>
                <a:r>
                  <a:rPr lang="pt-BR" b="1" i="1" dirty="0"/>
                  <a:t>positiva definida</a:t>
                </a:r>
                <a:r>
                  <a:rPr lang="pt-BR" dirty="0"/>
                  <a:t> e, portanto, o </a:t>
                </a:r>
                <a:r>
                  <a:rPr lang="pt-BR" b="1" i="1" dirty="0">
                    <a:solidFill>
                      <a:srgbClr val="7030A0"/>
                    </a:solidFill>
                  </a:rPr>
                  <a:t>ponto</a:t>
                </a:r>
                <a:r>
                  <a:rPr lang="pt-BR" dirty="0"/>
                  <a:t> encontrado é </a:t>
                </a:r>
                <a:r>
                  <a:rPr lang="pt-BR" b="1" i="1" dirty="0">
                    <a:solidFill>
                      <a:srgbClr val="00B050"/>
                    </a:solidFill>
                  </a:rPr>
                  <a:t>o ponto de mínimo</a:t>
                </a:r>
                <a:r>
                  <a:rPr lang="pt-BR" dirty="0"/>
                  <a:t> da </a:t>
                </a:r>
                <a:r>
                  <a:rPr lang="pt-BR" b="1" i="1" dirty="0"/>
                  <a:t>função de erro</a:t>
                </a:r>
                <a:r>
                  <a:rPr lang="pt-BR" dirty="0"/>
                  <a:t>.</a:t>
                </a:r>
              </a:p>
              <a:p>
                <a:pPr lvl="1">
                  <a:buFont typeface="Wingdings" panose="05000000000000000000" pitchFamily="2" charset="2"/>
                  <a:buChar char="§"/>
                </a:pPr>
                <a:r>
                  <a:rPr lang="pt-BR" b="1" dirty="0"/>
                  <a:t>Posto de uma matriz</a:t>
                </a:r>
                <a:r>
                  <a:rPr lang="pt-BR" dirty="0"/>
                  <a:t>: é o número de linhas ou colunas linearmente independentes da matriz.</a:t>
                </a:r>
              </a:p>
              <a:p>
                <a:pPr lvl="1">
                  <a:buFont typeface="Wingdings" panose="05000000000000000000" pitchFamily="2" charset="2"/>
                  <a:buChar char="§"/>
                </a:pPr>
                <a:r>
                  <a:rPr lang="pt-BR" dirty="0"/>
                  <a:t>Uma matriz quadrada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é </a:t>
                </a:r>
                <a:r>
                  <a:rPr lang="pt-BR" b="1" i="1" dirty="0"/>
                  <a:t>positiva definida </a:t>
                </a:r>
                <a:r>
                  <a:rPr lang="pt-BR" dirty="0"/>
                  <a:t>se </a:t>
                </a:r>
                <a14:m>
                  <m:oMath xmlns:m="http://schemas.openxmlformats.org/officeDocument/2006/math">
                    <m:sSup>
                      <m:sSupPr>
                        <m:ctrlPr>
                          <a:rPr lang="pt-BR" i="1">
                            <a:latin typeface="Cambria Math" panose="02040503050406030204" pitchFamily="18" charset="0"/>
                          </a:rPr>
                        </m:ctrlPr>
                      </m:sSupPr>
                      <m:e>
                        <m:sSup>
                          <m:sSupPr>
                            <m:ctrlPr>
                              <a:rPr lang="pt-BR" b="1" i="1" smtClean="0">
                                <a:latin typeface="Cambria Math" panose="02040503050406030204" pitchFamily="18" charset="0"/>
                              </a:rPr>
                            </m:ctrlPr>
                          </m:sSupPr>
                          <m:e>
                            <m:r>
                              <a:rPr lang="pt-BR" b="1" i="1" smtClean="0">
                                <a:latin typeface="Cambria Math" panose="02040503050406030204" pitchFamily="18" charset="0"/>
                              </a:rPr>
                              <m:t>𝒛</m:t>
                            </m:r>
                          </m:e>
                          <m:sup>
                            <m:r>
                              <a:rPr lang="pt-BR" i="1">
                                <a:latin typeface="Cambria Math" panose="02040503050406030204" pitchFamily="18" charset="0"/>
                              </a:rPr>
                              <m:t>𝑇</m:t>
                            </m:r>
                          </m:sup>
                        </m:sSup>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𝑿𝒛</m:t>
                    </m:r>
                    <m:r>
                      <a:rPr lang="pt-BR">
                        <a:latin typeface="Cambria Math" panose="02040503050406030204" pitchFamily="18" charset="0"/>
                      </a:rPr>
                      <m:t>=</m:t>
                    </m:r>
                    <m:sSubSup>
                      <m:sSubSupPr>
                        <m:ctrlPr>
                          <a:rPr lang="pt-BR" i="1" dirty="0">
                            <a:latin typeface="Cambria Math" panose="02040503050406030204" pitchFamily="18" charset="0"/>
                          </a:rPr>
                        </m:ctrlPr>
                      </m:sSubSupPr>
                      <m:e>
                        <m:d>
                          <m:dPr>
                            <m:begChr m:val="‖"/>
                            <m:endChr m:val="‖"/>
                            <m:ctrlPr>
                              <a:rPr lang="pt-BR" b="1" i="1" smtClean="0">
                                <a:latin typeface="Cambria Math" panose="02040503050406030204" pitchFamily="18" charset="0"/>
                              </a:rPr>
                            </m:ctrlPr>
                          </m:dPr>
                          <m:e>
                            <m:r>
                              <a:rPr lang="pt-BR" b="1" i="1" smtClean="0">
                                <a:latin typeface="Cambria Math" panose="02040503050406030204" pitchFamily="18" charset="0"/>
                              </a:rPr>
                              <m:t>𝑿𝒛</m:t>
                            </m:r>
                          </m:e>
                        </m:d>
                      </m:e>
                      <m:sub>
                        <m:r>
                          <a:rPr lang="pt-BR" i="1" dirty="0">
                            <a:latin typeface="Cambria Math" panose="02040503050406030204" pitchFamily="18" charset="0"/>
                          </a:rPr>
                          <m:t>2</m:t>
                        </m:r>
                      </m:sub>
                      <m:sup>
                        <m:r>
                          <a:rPr lang="pt-BR" i="1" dirty="0">
                            <a:latin typeface="Cambria Math" panose="02040503050406030204" pitchFamily="18" charset="0"/>
                          </a:rPr>
                          <m:t>2</m:t>
                        </m:r>
                      </m:sup>
                    </m:sSubSup>
                    <m:r>
                      <a:rPr lang="pt-BR" b="0" i="1" dirty="0" smtClean="0">
                        <a:latin typeface="Cambria Math" panose="02040503050406030204" pitchFamily="18" charset="0"/>
                      </a:rPr>
                      <m:t>&gt;</m:t>
                    </m:r>
                    <m:r>
                      <a:rPr lang="pt-BR" i="1">
                        <a:latin typeface="Cambria Math" panose="02040503050406030204" pitchFamily="18" charset="0"/>
                        <a:ea typeface="Cambria Math" panose="02040503050406030204" pitchFamily="18" charset="0"/>
                      </a:rPr>
                      <m:t>0, ∀</m:t>
                    </m:r>
                    <m:r>
                      <a:rPr lang="pt-BR" b="1" i="1" smtClean="0">
                        <a:latin typeface="Cambria Math" panose="02040503050406030204" pitchFamily="18" charset="0"/>
                        <a:ea typeface="Cambria Math" panose="02040503050406030204" pitchFamily="18" charset="0"/>
                      </a:rPr>
                      <m:t>𝒛</m:t>
                    </m:r>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𝟎</m:t>
                    </m:r>
                  </m:oMath>
                </a14:m>
                <a:r>
                  <a:rPr lang="pt-BR" dirty="0"/>
                  <a:t>.</a:t>
                </a:r>
              </a:p>
            </p:txBody>
          </p:sp>
        </mc:Choice>
        <mc:Fallback>
          <p:sp>
            <p:nvSpPr>
              <p:cNvPr id="3" name="Espaço Reservado para Conteúdo 2">
                <a:extLst>
                  <a:ext uri="{FF2B5EF4-FFF2-40B4-BE49-F238E27FC236}">
                    <a16:creationId xmlns:a16="http://schemas.microsoft.com/office/drawing/2014/main" id="{8FDF1E8A-A9D9-E4F1-F63A-53C2060F1C00}"/>
                  </a:ext>
                </a:extLst>
              </p:cNvPr>
              <p:cNvSpPr>
                <a:spLocks noGrp="1" noRot="1" noChangeAspect="1" noMove="1" noResize="1" noEditPoints="1" noAdjustHandles="1" noChangeArrowheads="1" noChangeShapeType="1" noTextEdit="1"/>
              </p:cNvSpPr>
              <p:nvPr>
                <p:ph idx="1"/>
              </p:nvPr>
            </p:nvSpPr>
            <p:spPr>
              <a:xfrm>
                <a:off x="838200" y="1825624"/>
                <a:ext cx="11176000" cy="5032375"/>
              </a:xfrm>
              <a:blipFill>
                <a:blip r:embed="rId3"/>
                <a:stretch>
                  <a:fillRect l="-982" t="-1937" r="-927"/>
                </a:stretch>
              </a:blipFill>
            </p:spPr>
            <p:txBody>
              <a:bodyPr/>
              <a:lstStyle/>
              <a:p>
                <a:r>
                  <a:rPr lang="en-US">
                    <a:noFill/>
                  </a:rPr>
                  <a:t> </a:t>
                </a:r>
              </a:p>
            </p:txBody>
          </p:sp>
        </mc:Fallback>
      </mc:AlternateContent>
    </p:spTree>
    <p:extLst>
      <p:ext uri="{BB962C8B-B14F-4D97-AF65-F5344CB8AC3E}">
        <p14:creationId xmlns:p14="http://schemas.microsoft.com/office/powerpoint/2010/main" val="15471093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004D122-26EB-041D-538F-2CF655AB7E67}"/>
              </a:ext>
            </a:extLst>
          </p:cNvPr>
          <p:cNvSpPr>
            <a:spLocks noGrp="1"/>
          </p:cNvSpPr>
          <p:nvPr>
            <p:ph type="title"/>
          </p:nvPr>
        </p:nvSpPr>
        <p:spPr/>
        <p:txBody>
          <a:bodyPr/>
          <a:lstStyle/>
          <a:p>
            <a:r>
              <a:rPr lang="pt-BR" dirty="0"/>
              <a:t>Equação normal</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4F0825DE-5806-6672-5690-89FC1812F15E}"/>
                  </a:ext>
                </a:extLst>
              </p:cNvPr>
              <p:cNvSpPr>
                <a:spLocks noGrp="1"/>
              </p:cNvSpPr>
              <p:nvPr>
                <p:ph idx="1"/>
              </p:nvPr>
            </p:nvSpPr>
            <p:spPr>
              <a:xfrm>
                <a:off x="838200" y="1825624"/>
                <a:ext cx="11176000" cy="5032375"/>
              </a:xfrm>
            </p:spPr>
            <p:txBody>
              <a:bodyPr>
                <a:normAutofit/>
              </a:bodyPr>
              <a:lstStyle/>
              <a:p>
                <a:r>
                  <a:rPr lang="pt-BR" dirty="0"/>
                  <a:t>Então se a matriz de atributos, </a:t>
                </a:r>
                <a14:m>
                  <m:oMath xmlns:m="http://schemas.openxmlformats.org/officeDocument/2006/math">
                    <m:r>
                      <a:rPr lang="pt-BR" b="1" i="1">
                        <a:latin typeface="Cambria Math" panose="02040503050406030204" pitchFamily="18" charset="0"/>
                      </a:rPr>
                      <m:t>𝑿</m:t>
                    </m:r>
                  </m:oMath>
                </a14:m>
                <a:r>
                  <a:rPr lang="pt-BR" dirty="0"/>
                  <a:t>, tiver </a:t>
                </a:r>
                <a14:m>
                  <m:oMath xmlns:m="http://schemas.openxmlformats.org/officeDocument/2006/math">
                    <m:r>
                      <a:rPr lang="pt-BR" i="1" smtClean="0">
                        <a:latin typeface="Cambria Math" panose="02040503050406030204" pitchFamily="18" charset="0"/>
                      </a:rPr>
                      <m:t>𝐾</m:t>
                    </m:r>
                    <m:r>
                      <a:rPr lang="pt-BR" i="1" smtClean="0">
                        <a:latin typeface="Cambria Math" panose="02040503050406030204" pitchFamily="18" charset="0"/>
                      </a:rPr>
                      <m:t>+1</m:t>
                    </m:r>
                  </m:oMath>
                </a14:m>
                <a:r>
                  <a:rPr lang="pt-BR" dirty="0"/>
                  <a:t> </a:t>
                </a:r>
                <a:r>
                  <a:rPr lang="pt-BR" b="1" i="1" dirty="0">
                    <a:solidFill>
                      <a:srgbClr val="00B050"/>
                    </a:solidFill>
                  </a:rPr>
                  <a:t>colunas linearmente independentes</a:t>
                </a:r>
                <a:r>
                  <a:rPr lang="pt-BR" dirty="0"/>
                  <a:t>, encontramos o </a:t>
                </a:r>
                <a:r>
                  <a:rPr lang="pt-BR" b="1" i="1" dirty="0">
                    <a:solidFill>
                      <a:srgbClr val="00B050"/>
                    </a:solidFill>
                  </a:rPr>
                  <a:t>ponto de mínimo da função de erro </a:t>
                </a:r>
                <a:r>
                  <a:rPr lang="pt-BR" dirty="0"/>
                  <a:t>através da sua </a:t>
                </a:r>
                <a:r>
                  <a:rPr lang="pt-BR" b="1" i="1" dirty="0">
                    <a:solidFill>
                      <a:srgbClr val="00B050"/>
                    </a:solidFill>
                  </a:rPr>
                  <a:t>derivada parcial</a:t>
                </a:r>
                <a:r>
                  <a:rPr lang="pt-BR" dirty="0"/>
                  <a:t>.</a:t>
                </a:r>
                <a:endParaRPr lang="pt-BR" b="1" i="1" dirty="0">
                  <a:solidFill>
                    <a:srgbClr val="00B050"/>
                  </a:solidFill>
                </a:endParaRPr>
              </a:p>
              <a:p>
                <a:r>
                  <a:rPr lang="pt-BR" dirty="0"/>
                  <a:t>Assim, resolvendo a equação da derivada parcial em função de </a:t>
                </a:r>
                <a14:m>
                  <m:oMath xmlns:m="http://schemas.openxmlformats.org/officeDocument/2006/math">
                    <m:r>
                      <a:rPr lang="pt-BR" b="1" i="1">
                        <a:latin typeface="Cambria Math" panose="02040503050406030204" pitchFamily="18" charset="0"/>
                      </a:rPr>
                      <m:t>𝒂</m:t>
                    </m:r>
                  </m:oMath>
                </a14:m>
                <a:r>
                  <a:rPr lang="pt-BR" dirty="0"/>
                  <a:t>, temos</a:t>
                </a:r>
              </a:p>
              <a:p>
                <a:pPr marL="0" indent="0" algn="ctr">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b="0" i="0" smtClean="0">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e>
                          </m:d>
                        </m:e>
                        <m:sup>
                          <m:r>
                            <a:rPr lang="pt-BR" b="0" i="1" smtClean="0">
                              <a:latin typeface="Cambria Math" panose="02040503050406030204" pitchFamily="18" charset="0"/>
                            </a:rPr>
                            <m:t>−1</m:t>
                          </m:r>
                        </m:sup>
                      </m:sSup>
                      <m:sSup>
                        <m:sSupPr>
                          <m:ctrlPr>
                            <a:rPr lang="pt-BR" b="0" i="1" smtClean="0">
                              <a:latin typeface="Cambria Math" panose="02040503050406030204" pitchFamily="18" charset="0"/>
                            </a:rPr>
                          </m:ctrlPr>
                        </m:sSupPr>
                        <m:e>
                          <m:r>
                            <a:rPr lang="pt-BR" b="0" i="1" smtClean="0">
                              <a:latin typeface="Cambria Math" panose="02040503050406030204" pitchFamily="18" charset="0"/>
                            </a:rPr>
                            <m:t> </m:t>
                          </m:r>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r>
                        <a:rPr lang="pt-BR" b="0" i="0" smtClean="0">
                          <a:latin typeface="Cambria Math" panose="02040503050406030204" pitchFamily="18" charset="0"/>
                        </a:rPr>
                        <m:t>,</m:t>
                      </m:r>
                    </m:oMath>
                  </m:oMathPara>
                </a14:m>
                <a:endParaRPr lang="pt-BR" dirty="0"/>
              </a:p>
              <a:p>
                <a:pPr marL="0" indent="0">
                  <a:buNone/>
                </a:pPr>
                <a:r>
                  <a:rPr lang="pt-BR" dirty="0"/>
                  <a:t>onde é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b="0" i="1" smtClean="0">
                            <a:latin typeface="Cambria Math" panose="02040503050406030204" pitchFamily="18" charset="0"/>
                          </a:rPr>
                          <m:t>𝐾</m:t>
                        </m:r>
                        <m:r>
                          <a:rPr lang="pt-BR" b="0" i="1" smtClean="0">
                            <a:latin typeface="Cambria Math" panose="02040503050406030204" pitchFamily="18" charset="0"/>
                          </a:rPr>
                          <m:t>+1×1</m:t>
                        </m:r>
                      </m:sup>
                    </m:sSup>
                  </m:oMath>
                </a14:m>
                <a:r>
                  <a:rPr lang="pt-BR" dirty="0"/>
                  <a:t>é o </a:t>
                </a:r>
                <a:r>
                  <a:rPr lang="pt-BR" b="1" i="1" dirty="0">
                    <a:solidFill>
                      <a:schemeClr val="accent2"/>
                    </a:solidFill>
                  </a:rPr>
                  <a:t>vetor de pesos ótimo</a:t>
                </a:r>
                <a:r>
                  <a:rPr lang="pt-BR" dirty="0"/>
                  <a:t>, que correspondente ao </a:t>
                </a:r>
                <a:r>
                  <a:rPr lang="pt-BR" b="1" i="1" dirty="0">
                    <a:solidFill>
                      <a:schemeClr val="accent2"/>
                    </a:solidFill>
                  </a:rPr>
                  <a:t>ponto</a:t>
                </a:r>
                <a:r>
                  <a:rPr lang="pt-BR" dirty="0"/>
                  <a:t> mais baixo da função de erro.</a:t>
                </a:r>
              </a:p>
            </p:txBody>
          </p:sp>
        </mc:Choice>
        <mc:Fallback>
          <p:sp>
            <p:nvSpPr>
              <p:cNvPr id="3" name="Espaço Reservado para Conteúdo 2">
                <a:extLst>
                  <a:ext uri="{FF2B5EF4-FFF2-40B4-BE49-F238E27FC236}">
                    <a16:creationId xmlns:a16="http://schemas.microsoft.com/office/drawing/2014/main" id="{4F0825DE-5806-6672-5690-89FC1812F15E}"/>
                  </a:ext>
                </a:extLst>
              </p:cNvPr>
              <p:cNvSpPr>
                <a:spLocks noGrp="1" noRot="1" noChangeAspect="1" noMove="1" noResize="1" noEditPoints="1" noAdjustHandles="1" noChangeArrowheads="1" noChangeShapeType="1" noTextEdit="1"/>
              </p:cNvSpPr>
              <p:nvPr>
                <p:ph idx="1"/>
              </p:nvPr>
            </p:nvSpPr>
            <p:spPr>
              <a:xfrm>
                <a:off x="838200" y="1825624"/>
                <a:ext cx="11176000" cy="5032375"/>
              </a:xfrm>
              <a:blipFill>
                <a:blip r:embed="rId3"/>
                <a:stretch>
                  <a:fillRect l="-1146" t="-1937"/>
                </a:stretch>
              </a:blipFill>
            </p:spPr>
            <p:txBody>
              <a:bodyPr/>
              <a:lstStyle/>
              <a:p>
                <a:r>
                  <a:rPr lang="en-US">
                    <a:noFill/>
                  </a:rPr>
                  <a:t> </a:t>
                </a:r>
              </a:p>
            </p:txBody>
          </p:sp>
        </mc:Fallback>
      </mc:AlternateContent>
    </p:spTree>
    <p:extLst>
      <p:ext uri="{BB962C8B-B14F-4D97-AF65-F5344CB8AC3E}">
        <p14:creationId xmlns:p14="http://schemas.microsoft.com/office/powerpoint/2010/main" val="25149610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19685-CB71-AAA6-520D-3ED4068143A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F6B96B-D29C-438A-64E8-69741E3EB062}"/>
              </a:ext>
            </a:extLst>
          </p:cNvPr>
          <p:cNvSpPr>
            <a:spLocks noGrp="1"/>
          </p:cNvSpPr>
          <p:nvPr>
            <p:ph type="title"/>
          </p:nvPr>
        </p:nvSpPr>
        <p:spPr/>
        <p:txBody>
          <a:bodyPr/>
          <a:lstStyle/>
          <a:p>
            <a:r>
              <a:rPr lang="pt-BR" dirty="0"/>
              <a:t>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69AD4F-5C5F-7ABA-0AC2-0AD67336036E}"/>
                  </a:ext>
                </a:extLst>
              </p:cNvPr>
              <p:cNvSpPr>
                <a:spLocks noGrp="1"/>
              </p:cNvSpPr>
              <p:nvPr>
                <p:ph idx="1"/>
              </p:nvPr>
            </p:nvSpPr>
            <p:spPr>
              <a:xfrm>
                <a:off x="838200" y="1825624"/>
                <a:ext cx="11176000" cy="5032375"/>
              </a:xfrm>
            </p:spPr>
            <p:txBody>
              <a:bodyPr>
                <a:normAutofit/>
              </a:bodyPr>
              <a:lstStyle/>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b="0" i="0" smtClean="0">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e>
                        </m:d>
                      </m:e>
                      <m:sup>
                        <m:r>
                          <a:rPr lang="pt-BR" b="0" i="1" smtClean="0">
                            <a:latin typeface="Cambria Math" panose="02040503050406030204" pitchFamily="18" charset="0"/>
                          </a:rPr>
                          <m:t>−1</m:t>
                        </m:r>
                      </m:sup>
                    </m:sSup>
                    <m:sSup>
                      <m:sSupPr>
                        <m:ctrlPr>
                          <a:rPr lang="pt-BR" b="0" i="1" smtClean="0">
                            <a:latin typeface="Cambria Math" panose="02040503050406030204" pitchFamily="18" charset="0"/>
                          </a:rPr>
                        </m:ctrlPr>
                      </m:sSupPr>
                      <m:e>
                        <m:r>
                          <a:rPr lang="pt-BR" b="0" i="1" smtClean="0">
                            <a:latin typeface="Cambria Math" panose="02040503050406030204" pitchFamily="18" charset="0"/>
                          </a:rPr>
                          <m:t> </m:t>
                        </m:r>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a14:m>
                <a:r>
                  <a:rPr lang="pt-BR" dirty="0"/>
                  <a:t>.</a:t>
                </a:r>
              </a:p>
              <a:p>
                <a:r>
                  <a:rPr lang="pt-BR" dirty="0"/>
                  <a:t>Essa equação é conhecida como </a:t>
                </a:r>
                <a:r>
                  <a:rPr lang="pt-BR" b="1" i="1" dirty="0">
                    <a:solidFill>
                      <a:srgbClr val="7030A0"/>
                    </a:solidFill>
                  </a:rPr>
                  <a:t>equação normal</a:t>
                </a:r>
                <a:r>
                  <a:rPr lang="pt-BR" dirty="0">
                    <a:solidFill>
                      <a:srgbClr val="7030A0"/>
                    </a:solidFill>
                  </a:rPr>
                  <a:t> </a:t>
                </a:r>
                <a:r>
                  <a:rPr lang="pt-BR" dirty="0"/>
                  <a:t>e nos dá a </a:t>
                </a:r>
                <a:r>
                  <a:rPr lang="pt-BR" b="1" i="1" dirty="0">
                    <a:solidFill>
                      <a:srgbClr val="00B0F0"/>
                    </a:solidFill>
                  </a:rPr>
                  <a:t>solução ótima </a:t>
                </a:r>
                <a:r>
                  <a:rPr lang="pt-BR" dirty="0"/>
                  <a:t>em </a:t>
                </a:r>
                <a:r>
                  <a:rPr lang="pt-BR" b="1" i="1" dirty="0">
                    <a:solidFill>
                      <a:srgbClr val="00B050"/>
                    </a:solidFill>
                  </a:rPr>
                  <a:t>relação a minimização do erro quadrático médio </a:t>
                </a:r>
                <a:r>
                  <a:rPr lang="pt-BR" dirty="0"/>
                  <a:t>para um dado </a:t>
                </a:r>
                <a:r>
                  <a:rPr lang="pt-BR" b="1" i="1" dirty="0"/>
                  <a:t>sistema de equações lineares</a:t>
                </a:r>
                <a:r>
                  <a:rPr lang="pt-BR" dirty="0"/>
                  <a:t>.</a:t>
                </a:r>
              </a:p>
              <a:p>
                <a:r>
                  <a:rPr lang="pt-BR" dirty="0"/>
                  <a:t>Notem que só precisamos do conjunto de amostras coletadas, </a:t>
                </a:r>
                <a14:m>
                  <m:oMath xmlns:m="http://schemas.openxmlformats.org/officeDocument/2006/math">
                    <m:r>
                      <a:rPr lang="pt-BR" b="1" i="1" smtClean="0">
                        <a:latin typeface="Cambria Math" panose="02040503050406030204" pitchFamily="18" charset="0"/>
                      </a:rPr>
                      <m:t>𝑿</m:t>
                    </m:r>
                  </m:oMath>
                </a14:m>
                <a:r>
                  <a:rPr lang="pt-BR" dirty="0"/>
                  <a:t> e </a:t>
                </a:r>
                <a14:m>
                  <m:oMath xmlns:m="http://schemas.openxmlformats.org/officeDocument/2006/math">
                    <m:r>
                      <a:rPr lang="pt-BR" b="1" i="1">
                        <a:latin typeface="Cambria Math" panose="02040503050406030204" pitchFamily="18" charset="0"/>
                      </a:rPr>
                      <m:t>𝒚</m:t>
                    </m:r>
                  </m:oMath>
                </a14:m>
                <a:r>
                  <a:rPr lang="pt-BR" dirty="0"/>
                  <a:t>, para encontrar o </a:t>
                </a:r>
                <a:r>
                  <a:rPr lang="pt-BR" b="1" i="1" dirty="0">
                    <a:solidFill>
                      <a:srgbClr val="7030A0"/>
                    </a:solidFill>
                  </a:rPr>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id="{DD69AD4F-5C5F-7ABA-0AC2-0AD67336036E}"/>
                  </a:ext>
                </a:extLst>
              </p:cNvPr>
              <p:cNvSpPr>
                <a:spLocks noGrp="1" noRot="1" noChangeAspect="1" noMove="1" noResize="1" noEditPoints="1" noAdjustHandles="1" noChangeArrowheads="1" noChangeShapeType="1" noTextEdit="1"/>
              </p:cNvSpPr>
              <p:nvPr>
                <p:ph idx="1"/>
              </p:nvPr>
            </p:nvSpPr>
            <p:spPr>
              <a:xfrm>
                <a:off x="838200" y="1825624"/>
                <a:ext cx="11176000" cy="5032375"/>
              </a:xfrm>
              <a:blipFill>
                <a:blip r:embed="rId3"/>
                <a:stretch>
                  <a:fillRect l="-982" t="-1574" r="-1528"/>
                </a:stretch>
              </a:blipFill>
            </p:spPr>
            <p:txBody>
              <a:bodyPr/>
              <a:lstStyle/>
              <a:p>
                <a:r>
                  <a:rPr lang="en-US">
                    <a:noFill/>
                  </a:rPr>
                  <a:t> </a:t>
                </a:r>
              </a:p>
            </p:txBody>
          </p:sp>
        </mc:Fallback>
      </mc:AlternateContent>
    </p:spTree>
    <p:extLst>
      <p:ext uri="{BB962C8B-B14F-4D97-AF65-F5344CB8AC3E}">
        <p14:creationId xmlns:p14="http://schemas.microsoft.com/office/powerpoint/2010/main" val="268310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85219B-C4E3-2AF5-168B-1CEF859961D0}"/>
              </a:ext>
            </a:extLst>
          </p:cNvPr>
          <p:cNvSpPr>
            <a:spLocks noGrp="1"/>
          </p:cNvSpPr>
          <p:nvPr>
            <p:ph type="title"/>
          </p:nvPr>
        </p:nvSpPr>
        <p:spPr/>
        <p:txBody>
          <a:bodyPr/>
          <a:lstStyle/>
          <a:p>
            <a:r>
              <a:rPr lang="pt-BR" dirty="0"/>
              <a:t>Observações quanto a 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840CE43-AE86-20ED-905E-CC2DA05823B6}"/>
                  </a:ext>
                </a:extLst>
              </p:cNvPr>
              <p:cNvSpPr>
                <a:spLocks noGrp="1"/>
              </p:cNvSpPr>
              <p:nvPr>
                <p:ph idx="1"/>
              </p:nvPr>
            </p:nvSpPr>
            <p:spPr>
              <a:xfrm>
                <a:off x="838200" y="1825624"/>
                <a:ext cx="11163300" cy="5032375"/>
              </a:xfrm>
            </p:spPr>
            <p:txBody>
              <a:bodyPr>
                <a:normAutofit/>
              </a:bodyPr>
              <a:lstStyle/>
              <a:p>
                <a:pPr marL="514350" indent="-514350">
                  <a:buFont typeface="+mj-lt"/>
                  <a:buAutoNum type="arabicPeriod"/>
                </a:pPr>
                <a:r>
                  <a:rPr lang="pt-BR" dirty="0"/>
                  <a:t>A </a:t>
                </a:r>
                <a:r>
                  <a:rPr lang="pt-BR" b="1" i="1" dirty="0">
                    <a:solidFill>
                      <a:srgbClr val="7030A0"/>
                    </a:solidFill>
                  </a:rPr>
                  <a:t>equação normal </a:t>
                </a:r>
                <a:r>
                  <a:rPr lang="pt-BR" dirty="0"/>
                  <a:t>encontra uma </a:t>
                </a:r>
                <a:r>
                  <a:rPr lang="pt-BR" b="1" i="1" dirty="0"/>
                  <a:t>solução única</a:t>
                </a:r>
                <a:r>
                  <a:rPr lang="pt-BR" dirty="0"/>
                  <a:t> se e somente se a matriz,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for </a:t>
                </a:r>
                <a:r>
                  <a:rPr lang="pt-BR" b="1" i="1" dirty="0"/>
                  <a:t>invertível</a:t>
                </a:r>
                <a:r>
                  <a:rPr lang="pt-BR" dirty="0"/>
                  <a:t> (i.e., </a:t>
                </a:r>
                <a:r>
                  <a:rPr lang="pt-BR" b="1" i="1" dirty="0"/>
                  <a:t>não-singular</a:t>
                </a:r>
                <a:r>
                  <a:rPr lang="pt-BR" dirty="0"/>
                  <a:t>). </a:t>
                </a:r>
              </a:p>
              <a:p>
                <a:pPr lvl="1">
                  <a:buFont typeface="Wingdings" panose="05000000000000000000" pitchFamily="2" charset="2"/>
                  <a:buChar char="§"/>
                </a:pPr>
                <a:r>
                  <a:rPr lang="pt-BR" dirty="0"/>
                  <a:t>Para que a matriz seja invertível, ela deve ter </a:t>
                </a:r>
                <a:r>
                  <a:rPr lang="pt-BR" b="1" i="1" dirty="0"/>
                  <a:t>posto</a:t>
                </a:r>
                <a:r>
                  <a:rPr lang="pt-BR" dirty="0"/>
                  <a:t> igual a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m:t>
                    </m:r>
                  </m:oMath>
                </a14:m>
                <a:r>
                  <a:rPr lang="pt-BR" dirty="0"/>
                  <a:t>.</a:t>
                </a:r>
              </a:p>
              <a:p>
                <a:pPr marL="514350" indent="-514350">
                  <a:buFont typeface="+mj-lt"/>
                  <a:buAutoNum type="arabicPeriod"/>
                </a:pPr>
                <a:r>
                  <a:rPr lang="pt-BR" dirty="0"/>
                  <a:t>A </a:t>
                </a:r>
                <a:r>
                  <a:rPr lang="pt-BR" b="1" i="1" dirty="0">
                    <a:solidFill>
                      <a:srgbClr val="7030A0"/>
                    </a:solidFill>
                  </a:rPr>
                  <a:t>equação normal</a:t>
                </a:r>
                <a:r>
                  <a:rPr lang="pt-BR" dirty="0"/>
                  <a:t> só funciona para sistemas </a:t>
                </a:r>
                <a:r>
                  <a:rPr lang="pt-BR" b="1" i="1" dirty="0"/>
                  <a:t>determinados</a:t>
                </a:r>
                <a:r>
                  <a:rPr lang="pt-BR" dirty="0"/>
                  <a:t> </a:t>
                </a:r>
                <a:r>
                  <a:rPr lang="pt-BR" b="1" i="1" dirty="0"/>
                  <a:t>ou</a:t>
                </a:r>
                <a:r>
                  <a:rPr lang="pt-BR" dirty="0"/>
                  <a:t> </a:t>
                </a:r>
                <a:r>
                  <a:rPr lang="pt-BR" b="1" i="1" dirty="0"/>
                  <a:t>sobredeterminados</a:t>
                </a:r>
                <a:r>
                  <a:rPr lang="pt-BR" dirty="0"/>
                  <a:t>, ou seja, quando o número de amostras, </a:t>
                </a:r>
                <a14:m>
                  <m:oMath xmlns:m="http://schemas.openxmlformats.org/officeDocument/2006/math">
                    <m:r>
                      <a:rPr lang="pt-BR" i="1">
                        <a:latin typeface="Cambria Math" panose="02040503050406030204" pitchFamily="18" charset="0"/>
                      </a:rPr>
                      <m:t>𝑁</m:t>
                    </m:r>
                  </m:oMath>
                </a14:m>
                <a:r>
                  <a:rPr lang="pt-BR" dirty="0"/>
                  <a:t> é </a:t>
                </a:r>
                <a:r>
                  <a:rPr lang="pt-BR" b="1" i="1" dirty="0"/>
                  <a:t>igual ou maior </a:t>
                </a:r>
                <a:r>
                  <a:rPr lang="pt-BR" dirty="0"/>
                  <a:t>do que o número de pesos (i.e., incógnitas),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m:t>
                    </m:r>
                  </m:oMath>
                </a14:m>
                <a:r>
                  <a:rPr lang="pt-BR" dirty="0"/>
                  <a:t>. </a:t>
                </a:r>
              </a:p>
              <a:p>
                <a:pPr marL="514350" indent="-514350">
                  <a:buFont typeface="+mj-lt"/>
                  <a:buAutoNum type="arabicPeriod"/>
                </a:pPr>
                <a:r>
                  <a:rPr lang="pt-BR" dirty="0"/>
                  <a:t>Para sistemas </a:t>
                </a:r>
                <a:r>
                  <a:rPr lang="pt-BR" b="1" i="1" dirty="0"/>
                  <a:t>subdeterminados</a:t>
                </a:r>
                <a:r>
                  <a:rPr lang="pt-BR" dirty="0"/>
                  <a:t>, ou seja, que têm menos amostras do que pesos (</a:t>
                </a:r>
                <a14:m>
                  <m:oMath xmlns:m="http://schemas.openxmlformats.org/officeDocument/2006/math">
                    <m:r>
                      <a:rPr lang="pt-BR" i="1">
                        <a:latin typeface="Cambria Math" panose="02040503050406030204" pitchFamily="18" charset="0"/>
                      </a:rPr>
                      <m:t>𝑁</m:t>
                    </m:r>
                    <m:r>
                      <a:rPr lang="pt-BR" b="0" i="1" smtClean="0">
                        <a:latin typeface="Cambria Math" panose="02040503050406030204" pitchFamily="18" charset="0"/>
                      </a:rPr>
                      <m:t>&lt;</m:t>
                    </m:r>
                    <m:r>
                      <a:rPr lang="pt-BR" i="1">
                        <a:latin typeface="Cambria Math" panose="02040503050406030204" pitchFamily="18" charset="0"/>
                      </a:rPr>
                      <m:t>𝐾</m:t>
                    </m:r>
                    <m:r>
                      <a:rPr lang="pt-BR" i="1">
                        <a:latin typeface="Cambria Math" panose="02040503050406030204" pitchFamily="18" charset="0"/>
                      </a:rPr>
                      <m:t>+1</m:t>
                    </m:r>
                  </m:oMath>
                </a14:m>
                <a:r>
                  <a:rPr lang="pt-BR" dirty="0"/>
                  <a:t>), a matriz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tem </a:t>
                </a:r>
                <a:r>
                  <a:rPr lang="pt-BR" b="1" i="1" dirty="0"/>
                  <a:t>posto</a:t>
                </a:r>
                <a:r>
                  <a:rPr lang="pt-BR" dirty="0"/>
                  <a:t> menor do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m:t>
                    </m:r>
                  </m:oMath>
                </a14:m>
                <a:r>
                  <a:rPr lang="pt-BR" b="1" dirty="0"/>
                  <a:t> </a:t>
                </a:r>
                <a:r>
                  <a:rPr lang="pt-BR" dirty="0"/>
                  <a:t>e, portanto, é </a:t>
                </a:r>
                <a:r>
                  <a:rPr lang="pt-BR" b="1" i="1" dirty="0"/>
                  <a:t>singular</a:t>
                </a:r>
                <a:r>
                  <a:rPr lang="pt-BR" dirty="0"/>
                  <a:t> (i.e., a matriz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não é invertível).</a:t>
                </a:r>
              </a:p>
              <a:p>
                <a:pPr lvl="1">
                  <a:buFont typeface="Wingdings" panose="05000000000000000000" pitchFamily="2" charset="2"/>
                  <a:buChar char="§"/>
                </a:pPr>
                <a:r>
                  <a:rPr lang="pt-BR" dirty="0"/>
                  <a:t>Neste caso, não existe solução ou ela não é única.</a:t>
                </a:r>
              </a:p>
            </p:txBody>
          </p:sp>
        </mc:Choice>
        <mc:Fallback xmlns="">
          <p:sp>
            <p:nvSpPr>
              <p:cNvPr id="3" name="Espaço Reservado para Conteúdo 2">
                <a:extLst>
                  <a:ext uri="{FF2B5EF4-FFF2-40B4-BE49-F238E27FC236}">
                    <a16:creationId xmlns:a16="http://schemas.microsoft.com/office/drawing/2014/main" id="{4840CE43-AE86-20ED-905E-CC2DA05823B6}"/>
                  </a:ext>
                </a:extLst>
              </p:cNvPr>
              <p:cNvSpPr>
                <a:spLocks noGrp="1" noRot="1" noChangeAspect="1" noMove="1" noResize="1" noEditPoints="1" noAdjustHandles="1" noChangeArrowheads="1" noChangeShapeType="1" noTextEdit="1"/>
              </p:cNvSpPr>
              <p:nvPr>
                <p:ph idx="1"/>
              </p:nvPr>
            </p:nvSpPr>
            <p:spPr>
              <a:xfrm>
                <a:off x="838200" y="1825624"/>
                <a:ext cx="11163300" cy="5032375"/>
              </a:xfrm>
              <a:blipFill>
                <a:blip r:embed="rId3"/>
                <a:stretch>
                  <a:fillRect l="-1147" t="-2058" r="-1584"/>
                </a:stretch>
              </a:blipFill>
            </p:spPr>
            <p:txBody>
              <a:bodyPr/>
              <a:lstStyle/>
              <a:p>
                <a:r>
                  <a:rPr lang="en-US">
                    <a:noFill/>
                  </a:rPr>
                  <a:t> </a:t>
                </a:r>
              </a:p>
            </p:txBody>
          </p:sp>
        </mc:Fallback>
      </mc:AlternateContent>
      <p:sp>
        <p:nvSpPr>
          <p:cNvPr id="4" name="Retângulo 3">
            <a:extLst>
              <a:ext uri="{FF2B5EF4-FFF2-40B4-BE49-F238E27FC236}">
                <a16:creationId xmlns:a16="http://schemas.microsoft.com/office/drawing/2014/main" id="{84395B02-F312-596B-F280-E4EC3018BE2D}"/>
              </a:ext>
            </a:extLst>
          </p:cNvPr>
          <p:cNvSpPr/>
          <p:nvPr/>
        </p:nvSpPr>
        <p:spPr>
          <a:xfrm>
            <a:off x="8235404" y="6492875"/>
            <a:ext cx="3956596" cy="338554"/>
          </a:xfrm>
          <a:prstGeom prst="rect">
            <a:avLst/>
          </a:prstGeom>
        </p:spPr>
        <p:txBody>
          <a:bodyPr wrap="none">
            <a:spAutoFit/>
          </a:bodyPr>
          <a:lstStyle/>
          <a:p>
            <a:r>
              <a:rPr lang="pt-BR" sz="1600" b="1" dirty="0">
                <a:solidFill>
                  <a:srgbClr val="00B0F0"/>
                </a:solidFill>
                <a:hlinkClick r:id="rId4"/>
              </a:rPr>
              <a:t>Exemplo: normal_equation_example1.ipynb</a:t>
            </a:r>
            <a:endParaRPr lang="pt-BR" sz="1600" b="1" dirty="0">
              <a:solidFill>
                <a:srgbClr val="00B0F0"/>
              </a:solidFill>
            </a:endParaRPr>
          </a:p>
        </p:txBody>
      </p:sp>
    </p:spTree>
    <p:extLst>
      <p:ext uri="{BB962C8B-B14F-4D97-AF65-F5344CB8AC3E}">
        <p14:creationId xmlns:p14="http://schemas.microsoft.com/office/powerpoint/2010/main" val="39020192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082E2C-EA61-6F8C-EA3C-4F8120210B93}"/>
              </a:ext>
            </a:extLst>
          </p:cNvPr>
          <p:cNvSpPr>
            <a:spLocks noGrp="1"/>
          </p:cNvSpPr>
          <p:nvPr>
            <p:ph type="title"/>
          </p:nvPr>
        </p:nvSpPr>
        <p:spPr/>
        <p:txBody>
          <a:bodyPr/>
          <a:lstStyle/>
          <a:p>
            <a:r>
              <a:rPr lang="pt-BR" dirty="0"/>
              <a:t>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6B1083-9DC9-8CAB-F4BD-9FE4521FBFAD}"/>
                  </a:ext>
                </a:extLst>
              </p:cNvPr>
              <p:cNvSpPr>
                <a:spLocks noGrp="1"/>
              </p:cNvSpPr>
              <p:nvPr>
                <p:ph idx="1"/>
              </p:nvPr>
            </p:nvSpPr>
            <p:spPr>
              <a:xfrm>
                <a:off x="5370786" y="1825624"/>
                <a:ext cx="6745014" cy="5032375"/>
              </a:xfrm>
            </p:spPr>
            <p:txBody>
              <a:bodyPr>
                <a:normAutofit lnSpcReduction="10000"/>
              </a:bodyPr>
              <a:lstStyle/>
              <a:p>
                <a:r>
                  <a:rPr lang="pt-BR" dirty="0"/>
                  <a:t>Notem que o EQM é </a:t>
                </a:r>
                <a:r>
                  <a:rPr lang="pt-BR" b="1" i="1" dirty="0">
                    <a:solidFill>
                      <a:srgbClr val="FF0000"/>
                    </a:solidFill>
                  </a:rPr>
                  <a:t>função do vetor de pesos</a:t>
                </a:r>
                <a:r>
                  <a:rPr lang="pt-BR" dirty="0"/>
                  <a:t>, </a:t>
                </a:r>
                <a14:m>
                  <m:oMath xmlns:m="http://schemas.openxmlformats.org/officeDocument/2006/math">
                    <m:r>
                      <a:rPr lang="pt-BR" b="1" i="1" smtClean="0">
                        <a:latin typeface="Cambria Math" panose="02040503050406030204" pitchFamily="18" charset="0"/>
                      </a:rPr>
                      <m:t>𝒂</m:t>
                    </m:r>
                  </m:oMath>
                </a14:m>
                <a:r>
                  <a:rPr lang="pt-BR" dirty="0"/>
                  <a:t>, pois o </a:t>
                </a:r>
                <a:r>
                  <a:rPr lang="pt-BR" b="1" i="1" dirty="0">
                    <a:solidFill>
                      <a:srgbClr val="00B050"/>
                    </a:solidFill>
                  </a:rPr>
                  <a:t>conjunto de amostras é fixo (dados do problema)</a:t>
                </a:r>
                <a:r>
                  <a:rPr lang="pt-BR" dirty="0"/>
                  <a:t>.</a:t>
                </a:r>
              </a:p>
              <a:p>
                <a:r>
                  <a:rPr lang="pt-BR" dirty="0"/>
                  <a:t>Ou seja, o erro varia conforme os valores dos pesos mudam.</a:t>
                </a:r>
              </a:p>
              <a:p>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mapeia o </a:t>
                </a:r>
                <a:r>
                  <a:rPr lang="pt-BR" b="1" i="1" dirty="0">
                    <a:solidFill>
                      <a:srgbClr val="00B050"/>
                    </a:solidFill>
                  </a:rPr>
                  <a:t>vetor de pesos</a:t>
                </a:r>
                <a:r>
                  <a:rPr lang="pt-BR" dirty="0"/>
                  <a:t> no </a:t>
                </a:r>
                <a:r>
                  <a:rPr lang="pt-BR" b="1" i="1" dirty="0">
                    <a:solidFill>
                      <a:srgbClr val="00B050"/>
                    </a:solidFill>
                  </a:rPr>
                  <a:t>erro correspondente</a:t>
                </a:r>
                <a:r>
                  <a:rPr lang="pt-BR" dirty="0"/>
                  <a:t>:</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m:t>
                    </m:r>
                    <m:r>
                      <a:rPr lang="pt-BR" b="1" i="1">
                        <a:latin typeface="Cambria Math" panose="02040503050406030204" pitchFamily="18" charset="0"/>
                      </a:rPr>
                      <m:t>ℝ</m:t>
                    </m:r>
                  </m:oMath>
                </a14:m>
                <a:endParaRPr lang="pt-BR" dirty="0"/>
              </a:p>
              <a:p>
                <a:r>
                  <a:rPr lang="pt-BR" dirty="0"/>
                  <a:t>Se nós calcularmos o EQM para diversos valores de </a:t>
                </a:r>
                <a14:m>
                  <m:oMath xmlns:m="http://schemas.openxmlformats.org/officeDocument/2006/math">
                    <m:r>
                      <a:rPr lang="pt-BR" b="1" i="1" smtClean="0">
                        <a:latin typeface="Cambria Math" panose="02040503050406030204" pitchFamily="18" charset="0"/>
                      </a:rPr>
                      <m:t>𝒂</m:t>
                    </m:r>
                  </m:oMath>
                </a14:m>
                <a:r>
                  <a:rPr lang="pt-BR" dirty="0"/>
                  <a:t> e </a:t>
                </a:r>
                <a:r>
                  <a:rPr lang="pt-BR" b="1" i="1" dirty="0">
                    <a:solidFill>
                      <a:srgbClr val="0070C0"/>
                    </a:solidFill>
                  </a:rPr>
                  <a:t>plotarmos esses erros em função dos valores dos pesos</a:t>
                </a:r>
                <a:r>
                  <a:rPr lang="pt-BR" dirty="0"/>
                  <a:t>, nos obtemos uma superfície chamada de </a:t>
                </a:r>
                <a:r>
                  <a:rPr lang="pt-BR" b="1" i="1" dirty="0">
                    <a:solidFill>
                      <a:srgbClr val="7030A0"/>
                    </a:solidFill>
                  </a:rPr>
                  <a:t>superfície de erro</a:t>
                </a:r>
                <a:r>
                  <a:rPr lang="pt-BR" dirty="0"/>
                  <a:t>.</a:t>
                </a:r>
              </a:p>
            </p:txBody>
          </p:sp>
        </mc:Choice>
        <mc:Fallback xmlns="">
          <p:sp>
            <p:nvSpPr>
              <p:cNvPr id="3" name="Espaço Reservado para Conteúdo 2">
                <a:extLst>
                  <a:ext uri="{FF2B5EF4-FFF2-40B4-BE49-F238E27FC236}">
                    <a16:creationId xmlns:a16="http://schemas.microsoft.com/office/drawing/2014/main" id="{576B1083-9DC9-8CAB-F4BD-9FE4521FBFAD}"/>
                  </a:ext>
                </a:extLst>
              </p:cNvPr>
              <p:cNvSpPr>
                <a:spLocks noGrp="1" noRot="1" noChangeAspect="1" noMove="1" noResize="1" noEditPoints="1" noAdjustHandles="1" noChangeArrowheads="1" noChangeShapeType="1" noTextEdit="1"/>
              </p:cNvSpPr>
              <p:nvPr>
                <p:ph idx="1"/>
              </p:nvPr>
            </p:nvSpPr>
            <p:spPr>
              <a:xfrm>
                <a:off x="5370786" y="1825624"/>
                <a:ext cx="6745014" cy="5032375"/>
              </a:xfrm>
              <a:blipFill>
                <a:blip r:embed="rId3"/>
                <a:stretch>
                  <a:fillRect l="-1626" t="-2663" r="-2529" b="-1453"/>
                </a:stretch>
              </a:blipFill>
            </p:spPr>
            <p:txBody>
              <a:bodyPr/>
              <a:lstStyle/>
              <a:p>
                <a:r>
                  <a:rPr lang="en-US">
                    <a:noFill/>
                  </a:rPr>
                  <a:t> </a:t>
                </a:r>
              </a:p>
            </p:txBody>
          </p:sp>
        </mc:Fallback>
      </mc:AlternateContent>
      <p:grpSp>
        <p:nvGrpSpPr>
          <p:cNvPr id="11" name="Agrupar 10">
            <a:extLst>
              <a:ext uri="{FF2B5EF4-FFF2-40B4-BE49-F238E27FC236}">
                <a16:creationId xmlns:a16="http://schemas.microsoft.com/office/drawing/2014/main" id="{667AE05B-2707-74BE-7B60-B3031983C061}"/>
              </a:ext>
            </a:extLst>
          </p:cNvPr>
          <p:cNvGrpSpPr/>
          <p:nvPr/>
        </p:nvGrpSpPr>
        <p:grpSpPr>
          <a:xfrm>
            <a:off x="704192" y="3134175"/>
            <a:ext cx="4103017" cy="898964"/>
            <a:chOff x="1797268" y="4721237"/>
            <a:chExt cx="4103017" cy="898964"/>
          </a:xfrm>
        </p:grpSpPr>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610F6A7B-2DE8-5C84-5998-A2F33C4ABC15}"/>
                    </a:ext>
                  </a:extLst>
                </p:cNvPr>
                <p:cNvSpPr txBox="1"/>
                <p:nvPr/>
              </p:nvSpPr>
              <p:spPr>
                <a:xfrm>
                  <a:off x="1797268" y="4721237"/>
                  <a:ext cx="4103017" cy="898964"/>
                </a:xfrm>
                <a:prstGeom prst="rect">
                  <a:avLst/>
                </a:prstGeom>
                <a:noFill/>
              </p:spPr>
              <p:txBody>
                <a:bodyPr wrap="square">
                  <a:spAutoFit/>
                </a:bodyPr>
                <a:lstStyle/>
                <a:p>
                  <a:pPr/>
                  <a14:m>
                    <m:oMathPara xmlns:m="http://schemas.openxmlformats.org/officeDocument/2006/math">
                      <m:oMath>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b="1" i="1">
                                <a:latin typeface="Cambria Math" panose="02040503050406030204" pitchFamily="18" charset="0"/>
                              </a:rPr>
                            </m:ctrlPr>
                          </m:dPr>
                          <m:e>
                            <m:r>
                              <a:rPr lang="pt-BR" sz="2800" b="1" i="1">
                                <a:latin typeface="Cambria Math" panose="02040503050406030204" pitchFamily="18" charset="0"/>
                              </a:rPr>
                              <m:t>𝒂</m:t>
                            </m:r>
                          </m:e>
                        </m:d>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sSup>
                          <m:sSupPr>
                            <m:ctrlPr>
                              <a:rPr lang="pt-BR" sz="2800" i="1" smtClean="0">
                                <a:latin typeface="Cambria Math" panose="02040503050406030204" pitchFamily="18" charset="0"/>
                              </a:rPr>
                            </m:ctrlPr>
                          </m:sSupPr>
                          <m:e>
                            <m:d>
                              <m:dPr>
                                <m:begChr m:val="‖"/>
                                <m:endChr m:val="‖"/>
                                <m:ctrlPr>
                                  <a:rPr lang="pt-BR" sz="2800" b="1" i="1" smtClean="0">
                                    <a:latin typeface="Cambria Math" panose="02040503050406030204" pitchFamily="18" charset="0"/>
                                  </a:rPr>
                                </m:ctrlPr>
                              </m:dPr>
                              <m:e>
                                <m:r>
                                  <a:rPr lang="pt-BR" sz="2800" b="1" i="1" smtClean="0">
                                    <a:latin typeface="Cambria Math" panose="02040503050406030204" pitchFamily="18" charset="0"/>
                                  </a:rPr>
                                  <m:t>𝒚</m:t>
                                </m:r>
                                <m:r>
                                  <a:rPr lang="pt-BR" sz="2800" b="0" i="1" smtClean="0">
                                    <a:latin typeface="Cambria Math" panose="02040503050406030204" pitchFamily="18" charset="0"/>
                                  </a:rPr>
                                  <m:t> −</m:t>
                                </m:r>
                                <m:r>
                                  <a:rPr lang="pt-BR" sz="2800" b="1" i="1" smtClean="0">
                                    <a:latin typeface="Cambria Math" panose="02040503050406030204" pitchFamily="18" charset="0"/>
                                  </a:rPr>
                                  <m:t>𝑿𝒂</m:t>
                                </m:r>
                              </m:e>
                            </m:d>
                          </m:e>
                          <m:sup>
                            <m:r>
                              <a:rPr lang="pt-BR" sz="2800" b="0" i="1" smtClean="0">
                                <a:latin typeface="Cambria Math" panose="02040503050406030204" pitchFamily="18" charset="0"/>
                              </a:rPr>
                              <m:t>2</m:t>
                            </m:r>
                          </m:sup>
                        </m:sSup>
                      </m:oMath>
                    </m:oMathPara>
                  </a14:m>
                  <a:endParaRPr lang="pt-BR" sz="2800" dirty="0"/>
                </a:p>
              </p:txBody>
            </p:sp>
          </mc:Choice>
          <mc:Fallback xmlns="">
            <p:sp>
              <p:nvSpPr>
                <p:cNvPr id="9" name="CaixaDeTexto 8">
                  <a:extLst>
                    <a:ext uri="{FF2B5EF4-FFF2-40B4-BE49-F238E27FC236}">
                      <a16:creationId xmlns:a16="http://schemas.microsoft.com/office/drawing/2014/main" id="{610F6A7B-2DE8-5C84-5998-A2F33C4ABC15}"/>
                    </a:ext>
                  </a:extLst>
                </p:cNvPr>
                <p:cNvSpPr txBox="1">
                  <a:spLocks noRot="1" noChangeAspect="1" noMove="1" noResize="1" noEditPoints="1" noAdjustHandles="1" noChangeArrowheads="1" noChangeShapeType="1" noTextEdit="1"/>
                </p:cNvSpPr>
                <p:nvPr/>
              </p:nvSpPr>
              <p:spPr>
                <a:xfrm>
                  <a:off x="1797268" y="4721237"/>
                  <a:ext cx="4103017" cy="898964"/>
                </a:xfrm>
                <a:prstGeom prst="rect">
                  <a:avLst/>
                </a:prstGeom>
                <a:blipFill>
                  <a:blip r:embed="rId4"/>
                  <a:stretch>
                    <a:fillRect/>
                  </a:stretch>
                </a:blipFill>
              </p:spPr>
              <p:txBody>
                <a:bodyPr/>
                <a:lstStyle/>
                <a:p>
                  <a:r>
                    <a:rPr lang="pt-BR">
                      <a:noFill/>
                    </a:rPr>
                    <a:t> </a:t>
                  </a:r>
                </a:p>
              </p:txBody>
            </p:sp>
          </mc:Fallback>
        </mc:AlternateContent>
        <p:sp>
          <p:nvSpPr>
            <p:cNvPr id="10" name="Retângulo 9">
              <a:extLst>
                <a:ext uri="{FF2B5EF4-FFF2-40B4-BE49-F238E27FC236}">
                  <a16:creationId xmlns:a16="http://schemas.microsoft.com/office/drawing/2014/main" id="{360144E8-A531-7FD5-66BB-22632D0E3456}"/>
                </a:ext>
              </a:extLst>
            </p:cNvPr>
            <p:cNvSpPr/>
            <p:nvPr/>
          </p:nvSpPr>
          <p:spPr>
            <a:xfrm>
              <a:off x="4912601" y="5079562"/>
              <a:ext cx="247650" cy="288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19606487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596433"/>
            <a:ext cx="10687665" cy="1665134"/>
          </a:xfrm>
        </p:spPr>
        <p:txBody>
          <a:bodyPr>
            <a:normAutofit/>
          </a:bodyPr>
          <a:lstStyle/>
          <a:p>
            <a:pPr marL="0" indent="0" algn="ctr">
              <a:buNone/>
            </a:pPr>
            <a:r>
              <a:rPr lang="pt-BR" sz="4800" b="1" i="1" dirty="0"/>
              <a:t>Que formato vocês acham que essa superfície tem?</a:t>
            </a:r>
          </a:p>
          <a:p>
            <a:endParaRPr lang="pt-BR" sz="4800" dirty="0"/>
          </a:p>
          <a:p>
            <a:pPr marL="0" indent="0" algn="ctr">
              <a:buNone/>
            </a:pPr>
            <a:endParaRPr lang="pt-BR" sz="4800" b="1" i="1" dirty="0"/>
          </a:p>
          <a:p>
            <a:pPr algn="ctr"/>
            <a:endParaRPr lang="pt-BR" sz="4800" i="1" dirty="0"/>
          </a:p>
        </p:txBody>
      </p:sp>
    </p:spTree>
    <p:extLst>
      <p:ext uri="{BB962C8B-B14F-4D97-AF65-F5344CB8AC3E}">
        <p14:creationId xmlns:p14="http://schemas.microsoft.com/office/powerpoint/2010/main" val="38391335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082E2C-EA61-6F8C-EA3C-4F8120210B93}"/>
              </a:ext>
            </a:extLst>
          </p:cNvPr>
          <p:cNvSpPr>
            <a:spLocks noGrp="1"/>
          </p:cNvSpPr>
          <p:nvPr>
            <p:ph type="title"/>
          </p:nvPr>
        </p:nvSpPr>
        <p:spPr/>
        <p:txBody>
          <a:bodyPr/>
          <a:lstStyle/>
          <a:p>
            <a:r>
              <a:rPr lang="pt-BR" dirty="0"/>
              <a:t>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6B1083-9DC9-8CAB-F4BD-9FE4521FBFAD}"/>
                  </a:ext>
                </a:extLst>
              </p:cNvPr>
              <p:cNvSpPr>
                <a:spLocks noGrp="1"/>
              </p:cNvSpPr>
              <p:nvPr>
                <p:ph idx="1"/>
              </p:nvPr>
            </p:nvSpPr>
            <p:spPr>
              <a:xfrm>
                <a:off x="838200" y="1825624"/>
                <a:ext cx="11183755" cy="5032375"/>
              </a:xfrm>
            </p:spPr>
            <p:txBody>
              <a:bodyPr>
                <a:normAutofit/>
              </a:bodyPr>
              <a:lstStyle/>
              <a:p>
                <a:r>
                  <a:rPr lang="pt-BR" dirty="0"/>
                  <a:t>É fácil descobrir se analisarmos a equação do EQM.</a:t>
                </a:r>
              </a:p>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a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No caso do EQM, 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p:txBody>
          </p:sp>
        </mc:Choice>
        <mc:Fallback xmlns="">
          <p:sp>
            <p:nvSpPr>
              <p:cNvPr id="3" name="Espaço Reservado para Conteúdo 2">
                <a:extLst>
                  <a:ext uri="{FF2B5EF4-FFF2-40B4-BE49-F238E27FC236}">
                    <a16:creationId xmlns:a16="http://schemas.microsoft.com/office/drawing/2014/main" id="{576B1083-9DC9-8CAB-F4BD-9FE4521FBFAD}"/>
                  </a:ext>
                </a:extLst>
              </p:cNvPr>
              <p:cNvSpPr>
                <a:spLocks noGrp="1" noRot="1" noChangeAspect="1" noMove="1" noResize="1" noEditPoints="1" noAdjustHandles="1" noChangeArrowheads="1" noChangeShapeType="1" noTextEdit="1"/>
              </p:cNvSpPr>
              <p:nvPr>
                <p:ph idx="1"/>
              </p:nvPr>
            </p:nvSpPr>
            <p:spPr>
              <a:xfrm>
                <a:off x="838200" y="1825624"/>
                <a:ext cx="11183755" cy="5032375"/>
              </a:xfrm>
              <a:blipFill>
                <a:blip r:embed="rId3"/>
                <a:stretch>
                  <a:fillRect l="-981"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0514632D-C4AC-E578-1FC4-A89A514DFE1C}"/>
              </a:ext>
            </a:extLst>
          </p:cNvPr>
          <p:cNvGrpSpPr/>
          <p:nvPr/>
        </p:nvGrpSpPr>
        <p:grpSpPr>
          <a:xfrm>
            <a:off x="9606454" y="2669774"/>
            <a:ext cx="2585546" cy="1067470"/>
            <a:chOff x="9606454" y="3179912"/>
            <a:chExt cx="2585546" cy="1067470"/>
          </a:xfrm>
        </p:grpSpPr>
        <p:sp>
          <p:nvSpPr>
            <p:cNvPr id="4" name="Rectangle 3">
              <a:extLst>
                <a:ext uri="{FF2B5EF4-FFF2-40B4-BE49-F238E27FC236}">
                  <a16:creationId xmlns:a16="http://schemas.microsoft.com/office/drawing/2014/main" id="{4420CCE5-B63C-8045-AE89-407A7A547B7F}"/>
                </a:ext>
              </a:extLst>
            </p:cNvPr>
            <p:cNvSpPr/>
            <p:nvPr/>
          </p:nvSpPr>
          <p:spPr>
            <a:xfrm>
              <a:off x="9606454" y="3808974"/>
              <a:ext cx="1303284" cy="43840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mc:AlternateContent xmlns:mc="http://schemas.openxmlformats.org/markup-compatibility/2006" xmlns:a14="http://schemas.microsoft.com/office/drawing/2010/main">
          <mc:Choice Requires="a14">
            <p:sp>
              <p:nvSpPr>
                <p:cNvPr id="8" name="TextBox 4">
                  <a:extLst>
                    <a:ext uri="{FF2B5EF4-FFF2-40B4-BE49-F238E27FC236}">
                      <a16:creationId xmlns:a16="http://schemas.microsoft.com/office/drawing/2014/main" id="{57E15437-7609-D367-4EC4-C43742718455}"/>
                    </a:ext>
                  </a:extLst>
                </p:cNvPr>
                <p:cNvSpPr txBox="1"/>
                <p:nvPr/>
              </p:nvSpPr>
              <p:spPr>
                <a:xfrm>
                  <a:off x="11204028" y="3179912"/>
                  <a:ext cx="987972" cy="646331"/>
                </a:xfrm>
                <a:prstGeom prst="rect">
                  <a:avLst/>
                </a:prstGeom>
                <a:noFill/>
              </p:spPr>
              <p:txBody>
                <a:bodyPr wrap="square" rtlCol="0">
                  <a:spAutoFit/>
                </a:bodyPr>
                <a:lstStyle/>
                <a:p>
                  <a:pPr algn="ctr"/>
                  <a:r>
                    <a:rPr lang="pt-BR" sz="1200" dirty="0"/>
                    <a:t>Termo quadrático, </a:t>
                  </a:r>
                  <a14:m>
                    <m:oMath xmlns:m="http://schemas.openxmlformats.org/officeDocument/2006/math">
                      <m:sSup>
                        <m:sSupPr>
                          <m:ctrlPr>
                            <a:rPr lang="pt-BR" sz="1200" i="1">
                              <a:latin typeface="Cambria Math" panose="02040503050406030204" pitchFamily="18" charset="0"/>
                            </a:rPr>
                          </m:ctrlPr>
                        </m:sSupPr>
                        <m:e>
                          <m:d>
                            <m:dPr>
                              <m:begChr m:val="‖"/>
                              <m:endChr m:val="‖"/>
                              <m:ctrlPr>
                                <a:rPr lang="pt-BR" sz="1200" b="1" i="1" smtClean="0">
                                  <a:latin typeface="Cambria Math" panose="02040503050406030204" pitchFamily="18" charset="0"/>
                                </a:rPr>
                              </m:ctrlPr>
                            </m:dPr>
                            <m:e>
                              <m:r>
                                <a:rPr lang="pt-BR" sz="1200" b="1" i="1" smtClean="0">
                                  <a:latin typeface="Cambria Math" panose="02040503050406030204" pitchFamily="18" charset="0"/>
                                </a:rPr>
                                <m:t>𝑿𝒂</m:t>
                              </m:r>
                            </m:e>
                          </m:d>
                        </m:e>
                        <m:sup>
                          <m:r>
                            <a:rPr lang="pt-BR" sz="1200" i="1">
                              <a:latin typeface="Cambria Math" panose="02040503050406030204" pitchFamily="18" charset="0"/>
                            </a:rPr>
                            <m:t>2</m:t>
                          </m:r>
                        </m:sup>
                      </m:sSup>
                    </m:oMath>
                  </a14:m>
                  <a:r>
                    <a:rPr lang="pt-BR" sz="1200" dirty="0"/>
                    <a:t>.</a:t>
                  </a:r>
                </a:p>
              </p:txBody>
            </p:sp>
          </mc:Choice>
          <mc:Fallback xmlns="">
            <p:sp>
              <p:nvSpPr>
                <p:cNvPr id="8" name="TextBox 4">
                  <a:extLst>
                    <a:ext uri="{FF2B5EF4-FFF2-40B4-BE49-F238E27FC236}">
                      <a16:creationId xmlns:a16="http://schemas.microsoft.com/office/drawing/2014/main" id="{57E15437-7609-D367-4EC4-C43742718455}"/>
                    </a:ext>
                  </a:extLst>
                </p:cNvPr>
                <p:cNvSpPr txBox="1">
                  <a:spLocks noRot="1" noChangeAspect="1" noMove="1" noResize="1" noEditPoints="1" noAdjustHandles="1" noChangeArrowheads="1" noChangeShapeType="1" noTextEdit="1"/>
                </p:cNvSpPr>
                <p:nvPr/>
              </p:nvSpPr>
              <p:spPr>
                <a:xfrm>
                  <a:off x="11204028" y="3179912"/>
                  <a:ext cx="987972" cy="646331"/>
                </a:xfrm>
                <a:prstGeom prst="rect">
                  <a:avLst/>
                </a:prstGeom>
                <a:blipFill>
                  <a:blip r:embed="rId4"/>
                  <a:stretch>
                    <a:fillRect t="-943" b="-7547"/>
                  </a:stretch>
                </a:blipFill>
              </p:spPr>
              <p:txBody>
                <a:bodyPr/>
                <a:lstStyle/>
                <a:p>
                  <a:r>
                    <a:rPr lang="pt-BR">
                      <a:noFill/>
                    </a:rPr>
                    <a:t> </a:t>
                  </a:r>
                </a:p>
              </p:txBody>
            </p:sp>
          </mc:Fallback>
        </mc:AlternateContent>
        <p:cxnSp>
          <p:nvCxnSpPr>
            <p:cNvPr id="9" name="Straight Arrow Connector 5">
              <a:extLst>
                <a:ext uri="{FF2B5EF4-FFF2-40B4-BE49-F238E27FC236}">
                  <a16:creationId xmlns:a16="http://schemas.microsoft.com/office/drawing/2014/main" id="{671548BA-3823-DF7E-FF35-DDB0C739827D}"/>
                </a:ext>
              </a:extLst>
            </p:cNvPr>
            <p:cNvCxnSpPr/>
            <p:nvPr/>
          </p:nvCxnSpPr>
          <p:spPr>
            <a:xfrm flipH="1">
              <a:off x="10830912" y="3522302"/>
              <a:ext cx="483474" cy="219204"/>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94288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4F0A51-6716-FF96-7F79-E17F08B9D99C}"/>
              </a:ext>
            </a:extLst>
          </p:cNvPr>
          <p:cNvSpPr>
            <a:spLocks noGrp="1"/>
          </p:cNvSpPr>
          <p:nvPr>
            <p:ph type="title"/>
          </p:nvPr>
        </p:nvSpPr>
        <p:spPr/>
        <p:txBody>
          <a:bodyPr/>
          <a:lstStyle/>
          <a:p>
            <a:r>
              <a:rPr lang="pt-BR" dirty="0"/>
              <a:t>Superfície de erro</a:t>
            </a:r>
          </a:p>
        </p:txBody>
      </p:sp>
      <p:sp>
        <p:nvSpPr>
          <p:cNvPr id="3" name="Espaço Reservado para Conteúdo 2">
            <a:extLst>
              <a:ext uri="{FF2B5EF4-FFF2-40B4-BE49-F238E27FC236}">
                <a16:creationId xmlns:a16="http://schemas.microsoft.com/office/drawing/2014/main" id="{584C43F1-E89D-C1DA-C10D-52517A597AF5}"/>
              </a:ext>
            </a:extLst>
          </p:cNvPr>
          <p:cNvSpPr>
            <a:spLocks noGrp="1"/>
          </p:cNvSpPr>
          <p:nvPr>
            <p:ph idx="1"/>
          </p:nvPr>
        </p:nvSpPr>
        <p:spPr>
          <a:xfrm>
            <a:off x="5412828" y="1825624"/>
            <a:ext cx="6579475" cy="5032375"/>
          </a:xfrm>
        </p:spPr>
        <p:txBody>
          <a:bodyPr>
            <a:normAutofit/>
          </a:bodyPr>
          <a:lstStyle/>
          <a:p>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r>
              <a:rPr lang="pt-BR" dirty="0"/>
              <a:t>A figura ao lado mostra o formato da </a:t>
            </a:r>
            <a:r>
              <a:rPr lang="pt-BR" b="1" i="1" dirty="0">
                <a:solidFill>
                  <a:srgbClr val="0070C0"/>
                </a:solidFill>
              </a:rPr>
              <a:t>superfície de erro para uma função hipótese com apenas </a:t>
            </a:r>
            <a:r>
              <a:rPr lang="pt-BR" b="1" i="1" dirty="0">
                <a:solidFill>
                  <a:srgbClr val="FF0000"/>
                </a:solidFill>
              </a:rPr>
              <a:t>um peso</a:t>
            </a:r>
            <a:r>
              <a:rPr lang="pt-BR" dirty="0"/>
              <a:t>.</a:t>
            </a:r>
          </a:p>
          <a:p>
            <a:r>
              <a:rPr lang="pt-BR" dirty="0"/>
              <a:t>Para funções hipótese com mais pesos, teremos superfícies em 3 ou mais dimensões.</a:t>
            </a:r>
          </a:p>
        </p:txBody>
      </p:sp>
      <p:pic>
        <p:nvPicPr>
          <p:cNvPr id="15" name="Imagem 14">
            <a:extLst>
              <a:ext uri="{FF2B5EF4-FFF2-40B4-BE49-F238E27FC236}">
                <a16:creationId xmlns:a16="http://schemas.microsoft.com/office/drawing/2014/main" id="{A426D12A-684D-3903-6005-F2BFA77FCF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9057" y="1978990"/>
            <a:ext cx="3638977" cy="3612513"/>
          </a:xfrm>
          <a:prstGeom prst="rect">
            <a:avLst/>
          </a:prstGeom>
        </p:spPr>
      </p:pic>
    </p:spTree>
    <p:extLst>
      <p:ext uri="{BB962C8B-B14F-4D97-AF65-F5344CB8AC3E}">
        <p14:creationId xmlns:p14="http://schemas.microsoft.com/office/powerpoint/2010/main" val="15172734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C5FC96-D670-941C-4334-E673700B274C}"/>
              </a:ext>
            </a:extLst>
          </p:cNvPr>
          <p:cNvSpPr>
            <a:spLocks noGrp="1"/>
          </p:cNvSpPr>
          <p:nvPr>
            <p:ph type="title"/>
          </p:nvPr>
        </p:nvSpPr>
        <p:spPr/>
        <p:txBody>
          <a:bodyPr/>
          <a:lstStyle/>
          <a:p>
            <a:r>
              <a:rPr lang="pt-BR" dirty="0"/>
              <a:t>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446B14B-3D4A-6C16-11CE-05DA96A401A0}"/>
                  </a:ext>
                </a:extLst>
              </p:cNvPr>
              <p:cNvSpPr>
                <a:spLocks noGrp="1"/>
              </p:cNvSpPr>
              <p:nvPr>
                <p:ph idx="1"/>
              </p:nvPr>
            </p:nvSpPr>
            <p:spPr>
              <a:xfrm>
                <a:off x="5444359" y="1825624"/>
                <a:ext cx="6623816" cy="5032375"/>
              </a:xfrm>
            </p:spPr>
            <p:txBody>
              <a:bodyPr>
                <a:normAutofit/>
              </a:bodyPr>
              <a:lstStyle/>
              <a:p>
                <a:r>
                  <a:rPr lang="pt-BR" dirty="0"/>
                  <a:t>Vejam que a superfície possui </a:t>
                </a:r>
                <a:r>
                  <a:rPr lang="pt-BR" b="1" i="1" dirty="0">
                    <a:solidFill>
                      <a:srgbClr val="00B050"/>
                    </a:solidFill>
                  </a:rPr>
                  <a:t>um</a:t>
                </a:r>
                <a:r>
                  <a:rPr lang="pt-BR" dirty="0"/>
                  <a:t> </a:t>
                </a:r>
                <a:r>
                  <a:rPr lang="pt-BR" b="1" i="1" dirty="0">
                    <a:solidFill>
                      <a:srgbClr val="00B050"/>
                    </a:solidFill>
                  </a:rPr>
                  <a:t>único</a:t>
                </a:r>
                <a:r>
                  <a:rPr lang="pt-BR" dirty="0">
                    <a:solidFill>
                      <a:srgbClr val="00B050"/>
                    </a:solidFill>
                  </a:rPr>
                  <a:t> </a:t>
                </a:r>
                <a:r>
                  <a:rPr lang="pt-BR" b="1" i="1" dirty="0">
                    <a:solidFill>
                      <a:srgbClr val="00B050"/>
                    </a:solidFill>
                  </a:rPr>
                  <a:t>valor</a:t>
                </a:r>
                <a:r>
                  <a:rPr lang="pt-BR" dirty="0">
                    <a:solidFill>
                      <a:srgbClr val="00B050"/>
                    </a:solidFill>
                  </a:rPr>
                  <a:t> </a:t>
                </a:r>
                <a:r>
                  <a:rPr lang="pt-BR" b="1" i="1" dirty="0">
                    <a:solidFill>
                      <a:srgbClr val="00B050"/>
                    </a:solidFill>
                  </a:rPr>
                  <a:t>mínimo</a:t>
                </a:r>
                <a:r>
                  <a:rPr lang="pt-BR" dirty="0"/>
                  <a:t> (i.e., o </a:t>
                </a:r>
                <a:r>
                  <a:rPr lang="pt-BR" b="1" i="1" dirty="0">
                    <a:solidFill>
                      <a:srgbClr val="7030A0"/>
                    </a:solidFill>
                  </a:rPr>
                  <a:t>vértice</a:t>
                </a:r>
                <a:r>
                  <a:rPr lang="pt-BR" dirty="0"/>
                  <a:t> da parábola).</a:t>
                </a:r>
              </a:p>
              <a:p>
                <a:r>
                  <a:rPr lang="pt-BR" dirty="0"/>
                  <a:t>Esse ponto da superfície é chamado de </a:t>
                </a:r>
                <a:r>
                  <a:rPr lang="pt-BR" b="1" i="1" dirty="0">
                    <a:solidFill>
                      <a:srgbClr val="00B050"/>
                    </a:solidFill>
                  </a:rPr>
                  <a:t>ponto de mínimo</a:t>
                </a:r>
                <a:r>
                  <a:rPr lang="pt-BR" dirty="0"/>
                  <a:t>.</a:t>
                </a:r>
              </a:p>
              <a:p>
                <a:r>
                  <a:rPr lang="pt-BR" dirty="0"/>
                  <a:t>Ele também é chamado de </a:t>
                </a:r>
                <a:r>
                  <a:rPr lang="pt-BR" b="1" i="1" dirty="0">
                    <a:solidFill>
                      <a:srgbClr val="00B050"/>
                    </a:solidFill>
                  </a:rPr>
                  <a:t>ponto de mínimo</a:t>
                </a:r>
                <a:r>
                  <a:rPr lang="pt-BR" dirty="0">
                    <a:solidFill>
                      <a:srgbClr val="00B050"/>
                    </a:solidFill>
                  </a:rPr>
                  <a:t> </a:t>
                </a:r>
                <a:r>
                  <a:rPr lang="pt-BR" b="1" i="1" dirty="0">
                    <a:solidFill>
                      <a:srgbClr val="00B050"/>
                    </a:solidFill>
                  </a:rPr>
                  <a:t>global</a:t>
                </a:r>
                <a:r>
                  <a:rPr lang="pt-BR" dirty="0"/>
                  <a:t>, pois não há outro valor de </a:t>
                </a:r>
                <a14:m>
                  <m:oMath xmlns:m="http://schemas.openxmlformats.org/officeDocument/2006/math">
                    <m:r>
                      <a:rPr lang="pt-BR" b="1" i="1" smtClean="0">
                        <a:latin typeface="Cambria Math" panose="02040503050406030204" pitchFamily="18" charset="0"/>
                      </a:rPr>
                      <m:t>𝒂</m:t>
                    </m:r>
                    <m:r>
                      <a:rPr lang="pt-BR" b="0" i="1" smtClean="0">
                        <a:latin typeface="Cambria Math" panose="02040503050406030204" pitchFamily="18" charset="0"/>
                      </a:rPr>
                      <m:t>,</m:t>
                    </m:r>
                  </m:oMath>
                </a14:m>
                <a:r>
                  <a:rPr lang="pt-BR" dirty="0"/>
                  <a:t> que resulte em um erro menor</a:t>
                </a:r>
                <a:r>
                  <a:rPr lang="pt-BR" i="1" dirty="0"/>
                  <a:t>.</a:t>
                </a:r>
              </a:p>
              <a:p>
                <a:r>
                  <a:rPr lang="pt-BR" dirty="0"/>
                  <a:t>Toda </a:t>
                </a:r>
                <a:r>
                  <a:rPr lang="pt-BR" b="1" i="1" dirty="0">
                    <a:solidFill>
                      <a:schemeClr val="accent2"/>
                    </a:solidFill>
                  </a:rPr>
                  <a:t>superfície convexa </a:t>
                </a:r>
                <a:r>
                  <a:rPr lang="pt-BR" b="1" i="1" dirty="0">
                    <a:solidFill>
                      <a:srgbClr val="0070C0"/>
                    </a:solidFill>
                  </a:rPr>
                  <a:t>só possui um ponto de mínimo</a:t>
                </a:r>
                <a:r>
                  <a:rPr lang="pt-BR" dirty="0"/>
                  <a:t>, o </a:t>
                </a:r>
                <a:r>
                  <a:rPr lang="pt-BR" b="1" i="1" dirty="0">
                    <a:solidFill>
                      <a:srgbClr val="7030A0"/>
                    </a:solidFill>
                  </a:rPr>
                  <a:t>global</a:t>
                </a:r>
                <a:r>
                  <a:rPr lang="pt-BR" dirty="0"/>
                  <a:t>.</a:t>
                </a:r>
              </a:p>
              <a:p>
                <a:r>
                  <a:rPr lang="pt-BR" dirty="0"/>
                  <a:t>Todos os outros valores têm erro maior.</a:t>
                </a:r>
              </a:p>
            </p:txBody>
          </p:sp>
        </mc:Choice>
        <mc:Fallback xmlns="">
          <p:sp>
            <p:nvSpPr>
              <p:cNvPr id="3" name="Espaço Reservado para Conteúdo 2">
                <a:extLst>
                  <a:ext uri="{FF2B5EF4-FFF2-40B4-BE49-F238E27FC236}">
                    <a16:creationId xmlns:a16="http://schemas.microsoft.com/office/drawing/2014/main" id="{5446B14B-3D4A-6C16-11CE-05DA96A401A0}"/>
                  </a:ext>
                </a:extLst>
              </p:cNvPr>
              <p:cNvSpPr>
                <a:spLocks noGrp="1" noRot="1" noChangeAspect="1" noMove="1" noResize="1" noEditPoints="1" noAdjustHandles="1" noChangeArrowheads="1" noChangeShapeType="1" noTextEdit="1"/>
              </p:cNvSpPr>
              <p:nvPr>
                <p:ph idx="1"/>
              </p:nvPr>
            </p:nvSpPr>
            <p:spPr>
              <a:xfrm>
                <a:off x="5444359" y="1825624"/>
                <a:ext cx="6623816" cy="5032375"/>
              </a:xfrm>
              <a:blipFill>
                <a:blip r:embed="rId3"/>
                <a:stretch>
                  <a:fillRect l="-1656" t="-1937" r="-1104"/>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C8B0583-25DE-2F2D-FE3F-B34C060BEA2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9057" y="1978990"/>
            <a:ext cx="3638977" cy="3612513"/>
          </a:xfrm>
          <a:prstGeom prst="rect">
            <a:avLst/>
          </a:prstGeom>
        </p:spPr>
      </p:pic>
    </p:spTree>
    <p:extLst>
      <p:ext uri="{BB962C8B-B14F-4D97-AF65-F5344CB8AC3E}">
        <p14:creationId xmlns:p14="http://schemas.microsoft.com/office/powerpoint/2010/main" val="16244151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611809-7528-5172-038A-797C091A0119}"/>
              </a:ext>
            </a:extLst>
          </p:cNvPr>
          <p:cNvSpPr>
            <a:spLocks noGrp="1"/>
          </p:cNvSpPr>
          <p:nvPr>
            <p:ph type="title"/>
          </p:nvPr>
        </p:nvSpPr>
        <p:spPr/>
        <p:txBody>
          <a:bodyPr/>
          <a:lstStyle/>
          <a:p>
            <a:r>
              <a:rPr lang="pt-BR" dirty="0"/>
              <a:t>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B8115EF-3974-2397-C618-949A576E3064}"/>
                  </a:ext>
                </a:extLst>
              </p:cNvPr>
              <p:cNvSpPr>
                <a:spLocks noGrp="1"/>
              </p:cNvSpPr>
              <p:nvPr>
                <p:ph idx="1"/>
              </p:nvPr>
            </p:nvSpPr>
            <p:spPr>
              <a:xfrm>
                <a:off x="4976262" y="1825624"/>
                <a:ext cx="7005532" cy="5032375"/>
              </a:xfrm>
            </p:spPr>
            <p:txBody>
              <a:bodyPr>
                <a:normAutofit/>
              </a:bodyPr>
              <a:lstStyle/>
              <a:p>
                <a:r>
                  <a:rPr lang="pt-BR" dirty="0"/>
                  <a:t>Este é o motivo de usarmos o </a:t>
                </a:r>
                <a:r>
                  <a:rPr lang="pt-BR" b="1" i="1" dirty="0">
                    <a:solidFill>
                      <a:srgbClr val="00B050"/>
                    </a:solidFill>
                  </a:rPr>
                  <a:t>erro quadrático médio</a:t>
                </a:r>
                <a:r>
                  <a:rPr lang="pt-BR" b="1" i="1" dirty="0"/>
                  <a:t> </a:t>
                </a:r>
                <a:r>
                  <a:rPr lang="pt-BR" dirty="0"/>
                  <a:t>como </a:t>
                </a:r>
                <a:r>
                  <a:rPr lang="pt-BR" b="1" i="1" dirty="0"/>
                  <a:t>função de erro</a:t>
                </a:r>
                <a:r>
                  <a:rPr lang="pt-BR" dirty="0"/>
                  <a:t>, pois</a:t>
                </a:r>
              </a:p>
              <a:p>
                <a:pPr lvl="1">
                  <a:buFont typeface="Wingdings" panose="05000000000000000000" pitchFamily="2" charset="2"/>
                  <a:buChar char="§"/>
                </a:pPr>
                <a:r>
                  <a:rPr lang="pt-BR" dirty="0"/>
                  <a:t>a superfície resultante é convexa </a:t>
                </a:r>
              </a:p>
              <a:p>
                <a:pPr lvl="1">
                  <a:buFont typeface="Wingdings" panose="05000000000000000000" pitchFamily="2" charset="2"/>
                  <a:buChar char="§"/>
                </a:pPr>
                <a:r>
                  <a:rPr lang="pt-BR" dirty="0"/>
                  <a:t>e, consequentemente, </a:t>
                </a:r>
                <a:r>
                  <a:rPr lang="pt-BR" b="1" i="1" dirty="0">
                    <a:solidFill>
                      <a:srgbClr val="7030A0"/>
                    </a:solidFill>
                  </a:rPr>
                  <a:t>só existe </a:t>
                </a:r>
                <a:r>
                  <a:rPr lang="pt-BR" b="1" i="1" dirty="0">
                    <a:solidFill>
                      <a:schemeClr val="accent2"/>
                    </a:solidFill>
                  </a:rPr>
                  <a:t>um único </a:t>
                </a:r>
                <a:r>
                  <a:rPr lang="pt-BR" b="1" i="1" dirty="0">
                    <a:solidFill>
                      <a:srgbClr val="7030A0"/>
                    </a:solidFill>
                  </a:rPr>
                  <a:t>vetor de pesos </a:t>
                </a:r>
                <a:r>
                  <a:rPr lang="pt-BR" dirty="0"/>
                  <a:t>que </a:t>
                </a:r>
                <a:r>
                  <a:rPr lang="pt-BR" b="1" i="1" dirty="0">
                    <a:solidFill>
                      <a:srgbClr val="7030A0"/>
                    </a:solidFill>
                  </a:rPr>
                  <a:t>minimiza a função de erro</a:t>
                </a:r>
                <a:r>
                  <a:rPr lang="pt-BR" dirty="0"/>
                  <a:t>, o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ó</m:t>
                        </m:r>
                        <m:r>
                          <a:rPr lang="pt-BR" b="0" i="1" smtClean="0">
                            <a:latin typeface="Cambria Math" panose="02040503050406030204" pitchFamily="18" charset="0"/>
                          </a:rPr>
                          <m:t>𝑡𝑖𝑚𝑜</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id="{2B8115EF-3974-2397-C618-949A576E3064}"/>
                  </a:ext>
                </a:extLst>
              </p:cNvPr>
              <p:cNvSpPr>
                <a:spLocks noGrp="1" noRot="1" noChangeAspect="1" noMove="1" noResize="1" noEditPoints="1" noAdjustHandles="1" noChangeArrowheads="1" noChangeShapeType="1" noTextEdit="1"/>
              </p:cNvSpPr>
              <p:nvPr>
                <p:ph idx="1"/>
              </p:nvPr>
            </p:nvSpPr>
            <p:spPr>
              <a:xfrm>
                <a:off x="4976262" y="1825624"/>
                <a:ext cx="7005532" cy="5032375"/>
              </a:xfrm>
              <a:blipFill>
                <a:blip r:embed="rId3"/>
                <a:stretch>
                  <a:fillRect l="-1565" t="-1937" r="-174"/>
                </a:stretch>
              </a:blipFill>
            </p:spPr>
            <p:txBody>
              <a:bodyPr/>
              <a:lstStyle/>
              <a:p>
                <a:r>
                  <a:rPr lang="en-US">
                    <a:noFill/>
                  </a:rPr>
                  <a:t> </a:t>
                </a:r>
              </a:p>
            </p:txBody>
          </p:sp>
        </mc:Fallback>
      </mc:AlternateContent>
      <p:pic>
        <p:nvPicPr>
          <p:cNvPr id="5" name="Imagem 3">
            <a:extLst>
              <a:ext uri="{FF2B5EF4-FFF2-40B4-BE49-F238E27FC236}">
                <a16:creationId xmlns:a16="http://schemas.microsoft.com/office/drawing/2014/main" id="{A0973E21-2B4D-7BC2-9582-7E2F412D27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9057" y="1978990"/>
            <a:ext cx="3638977" cy="3612513"/>
          </a:xfrm>
          <a:prstGeom prst="rect">
            <a:avLst/>
          </a:prstGeom>
        </p:spPr>
      </p:pic>
    </p:spTree>
    <p:extLst>
      <p:ext uri="{BB962C8B-B14F-4D97-AF65-F5344CB8AC3E}">
        <p14:creationId xmlns:p14="http://schemas.microsoft.com/office/powerpoint/2010/main" val="13742198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F1EB7-BD43-9BED-4212-B036C99D2A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BE14EB-B331-AD95-1FC2-EE32FC728A86}"/>
              </a:ext>
            </a:extLst>
          </p:cNvPr>
          <p:cNvSpPr>
            <a:spLocks noGrp="1"/>
          </p:cNvSpPr>
          <p:nvPr>
            <p:ph type="title"/>
          </p:nvPr>
        </p:nvSpPr>
        <p:spPr/>
        <p:txBody>
          <a:bodyPr/>
          <a:lstStyle/>
          <a:p>
            <a:r>
              <a:rPr lang="pt-BR" dirty="0"/>
              <a:t>Superfície de erro</a:t>
            </a:r>
          </a:p>
        </p:txBody>
      </p:sp>
      <p:sp>
        <p:nvSpPr>
          <p:cNvPr id="3" name="Espaço Reservado para Conteúdo 2">
            <a:extLst>
              <a:ext uri="{FF2B5EF4-FFF2-40B4-BE49-F238E27FC236}">
                <a16:creationId xmlns:a16="http://schemas.microsoft.com/office/drawing/2014/main" id="{29B58A84-8B66-0B5B-3BE0-60C78A5445AC}"/>
              </a:ext>
            </a:extLst>
          </p:cNvPr>
          <p:cNvSpPr>
            <a:spLocks noGrp="1"/>
          </p:cNvSpPr>
          <p:nvPr>
            <p:ph idx="1"/>
          </p:nvPr>
        </p:nvSpPr>
        <p:spPr>
          <a:xfrm>
            <a:off x="4976261" y="1825624"/>
            <a:ext cx="7130013" cy="5032375"/>
          </a:xfrm>
        </p:spPr>
        <p:txBody>
          <a:bodyPr>
            <a:normAutofit/>
          </a:bodyPr>
          <a:lstStyle/>
          <a:p>
            <a:r>
              <a:rPr lang="pt-BR" dirty="0"/>
              <a:t>O </a:t>
            </a:r>
            <a:r>
              <a:rPr lang="pt-BR" b="1" i="1" dirty="0">
                <a:solidFill>
                  <a:srgbClr val="00B050"/>
                </a:solidFill>
              </a:rPr>
              <a:t>vetor de pesos ótimo</a:t>
            </a:r>
            <a:r>
              <a:rPr lang="pt-BR" dirty="0"/>
              <a:t> é encontrado</a:t>
            </a:r>
          </a:p>
          <a:p>
            <a:pPr lvl="1">
              <a:buFont typeface="Wingdings" panose="05000000000000000000" pitchFamily="2" charset="2"/>
              <a:buChar char="§"/>
            </a:pPr>
            <a:r>
              <a:rPr lang="pt-BR" dirty="0"/>
              <a:t>através da </a:t>
            </a:r>
            <a:r>
              <a:rPr lang="pt-BR" b="1" i="1" dirty="0">
                <a:solidFill>
                  <a:srgbClr val="7030A0"/>
                </a:solidFill>
              </a:rPr>
              <a:t>equação normal</a:t>
            </a:r>
            <a:r>
              <a:rPr lang="pt-BR" dirty="0"/>
              <a:t>.</a:t>
            </a:r>
          </a:p>
          <a:p>
            <a:pPr lvl="1">
              <a:buFont typeface="Wingdings" panose="05000000000000000000" pitchFamily="2" charset="2"/>
              <a:buChar char="§"/>
            </a:pPr>
            <a:r>
              <a:rPr lang="pt-BR" b="1" i="1" dirty="0">
                <a:solidFill>
                  <a:srgbClr val="00B050"/>
                </a:solidFill>
              </a:rPr>
              <a:t>visualmente</a:t>
            </a:r>
            <a:r>
              <a:rPr lang="pt-BR" dirty="0"/>
              <a:t>, em alguns casos, se plotarmos a superfície, pois basta </a:t>
            </a:r>
            <a:r>
              <a:rPr lang="pt-BR" b="1" i="1" dirty="0">
                <a:solidFill>
                  <a:srgbClr val="00B050"/>
                </a:solidFill>
              </a:rPr>
              <a:t>localizar seu ponto mais baixo</a:t>
            </a:r>
            <a:r>
              <a:rPr lang="pt-BR" dirty="0"/>
              <a:t>.</a:t>
            </a:r>
          </a:p>
          <a:p>
            <a:pPr lvl="1">
              <a:buFont typeface="Wingdings" panose="05000000000000000000" pitchFamily="2" charset="2"/>
              <a:buChar char="§"/>
            </a:pPr>
            <a:r>
              <a:rPr lang="pt-BR" dirty="0"/>
              <a:t>ou através do </a:t>
            </a:r>
            <a:r>
              <a:rPr lang="pt-BR" b="1" i="1" dirty="0">
                <a:solidFill>
                  <a:schemeClr val="accent2"/>
                </a:solidFill>
              </a:rPr>
              <a:t>gradiente descendente</a:t>
            </a:r>
            <a:r>
              <a:rPr lang="pt-BR" dirty="0"/>
              <a:t>, um </a:t>
            </a:r>
            <a:r>
              <a:rPr lang="pt-BR" b="1" i="1" dirty="0">
                <a:solidFill>
                  <a:srgbClr val="0070C0"/>
                </a:solidFill>
              </a:rPr>
              <a:t>algoritmo de otimização iterativo</a:t>
            </a:r>
            <a:r>
              <a:rPr lang="pt-BR" dirty="0"/>
              <a:t> que caminha sempre em direção à parte mais baixa da superfície.</a:t>
            </a:r>
          </a:p>
        </p:txBody>
      </p:sp>
      <p:pic>
        <p:nvPicPr>
          <p:cNvPr id="4" name="Imagem 3">
            <a:extLst>
              <a:ext uri="{FF2B5EF4-FFF2-40B4-BE49-F238E27FC236}">
                <a16:creationId xmlns:a16="http://schemas.microsoft.com/office/drawing/2014/main" id="{AE895890-5C0E-7D0A-F506-09EC4A95D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248497"/>
            <a:ext cx="3638977" cy="3612513"/>
          </a:xfrm>
          <a:prstGeom prst="rect">
            <a:avLst/>
          </a:prstGeom>
        </p:spPr>
      </p:pic>
    </p:spTree>
    <p:extLst>
      <p:ext uri="{BB962C8B-B14F-4D97-AF65-F5344CB8AC3E}">
        <p14:creationId xmlns:p14="http://schemas.microsoft.com/office/powerpoint/2010/main" val="15756290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F067601-DE44-95FD-10EC-812D69CBDF65}"/>
              </a:ext>
            </a:extLst>
          </p:cNvPr>
          <p:cNvSpPr>
            <a:spLocks noGrp="1"/>
          </p:cNvSpPr>
          <p:nvPr>
            <p:ph type="title"/>
          </p:nvPr>
        </p:nvSpPr>
        <p:spPr/>
        <p:txBody>
          <a:bodyPr/>
          <a:lstStyle/>
          <a:p>
            <a:r>
              <a:rPr lang="pt-BR" dirty="0"/>
              <a:t>Superfície de erro</a:t>
            </a:r>
          </a:p>
        </p:txBody>
      </p:sp>
      <p:sp>
        <p:nvSpPr>
          <p:cNvPr id="3" name="Espaço Reservado para Conteúdo 2">
            <a:extLst>
              <a:ext uri="{FF2B5EF4-FFF2-40B4-BE49-F238E27FC236}">
                <a16:creationId xmlns:a16="http://schemas.microsoft.com/office/drawing/2014/main" id="{A6E745B3-2DD4-0428-7AB9-B68BFFA1809B}"/>
              </a:ext>
            </a:extLst>
          </p:cNvPr>
          <p:cNvSpPr>
            <a:spLocks noGrp="1"/>
          </p:cNvSpPr>
          <p:nvPr>
            <p:ph idx="1"/>
          </p:nvPr>
        </p:nvSpPr>
        <p:spPr>
          <a:xfrm>
            <a:off x="5454868" y="1825624"/>
            <a:ext cx="6594257" cy="5032375"/>
          </a:xfrm>
        </p:spPr>
        <p:txBody>
          <a:bodyPr/>
          <a:lstStyle/>
          <a:p>
            <a:r>
              <a:rPr lang="pt-BR" dirty="0"/>
              <a:t>O entendimento do </a:t>
            </a:r>
            <a:r>
              <a:rPr lang="pt-BR" b="1" i="1" dirty="0">
                <a:solidFill>
                  <a:srgbClr val="7030A0"/>
                </a:solidFill>
              </a:rPr>
              <a:t>formato</a:t>
            </a:r>
            <a:r>
              <a:rPr lang="pt-BR" dirty="0"/>
              <a:t> e da questão da superfície ter </a:t>
            </a:r>
            <a:r>
              <a:rPr lang="pt-BR" b="1" i="1" dirty="0">
                <a:solidFill>
                  <a:srgbClr val="7030A0"/>
                </a:solidFill>
              </a:rPr>
              <a:t>apenas um único ponto de mínimo </a:t>
            </a:r>
            <a:r>
              <a:rPr lang="pt-BR" dirty="0"/>
              <a:t>nos ajudará a entender como o </a:t>
            </a:r>
            <a:r>
              <a:rPr lang="pt-BR" b="1" i="1" dirty="0">
                <a:solidFill>
                  <a:schemeClr val="accent2"/>
                </a:solidFill>
              </a:rPr>
              <a:t>gradiente descendente</a:t>
            </a:r>
            <a:r>
              <a:rPr lang="pt-BR" dirty="0"/>
              <a:t> funciona.</a:t>
            </a:r>
          </a:p>
          <a:p>
            <a:r>
              <a:rPr lang="pt-BR" dirty="0"/>
              <a:t>Na sequência, plotamos a superfície de erro para uma dada função hipótese.</a:t>
            </a:r>
          </a:p>
        </p:txBody>
      </p:sp>
      <p:pic>
        <p:nvPicPr>
          <p:cNvPr id="4" name="Imagem 3">
            <a:extLst>
              <a:ext uri="{FF2B5EF4-FFF2-40B4-BE49-F238E27FC236}">
                <a16:creationId xmlns:a16="http://schemas.microsoft.com/office/drawing/2014/main" id="{4A28462E-3219-BB72-BA62-A1D9DA9BF8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057" y="1978990"/>
            <a:ext cx="3638977" cy="3612513"/>
          </a:xfrm>
          <a:prstGeom prst="rect">
            <a:avLst/>
          </a:prstGeom>
        </p:spPr>
      </p:pic>
    </p:spTree>
    <p:extLst>
      <p:ext uri="{BB962C8B-B14F-4D97-AF65-F5344CB8AC3E}">
        <p14:creationId xmlns:p14="http://schemas.microsoft.com/office/powerpoint/2010/main" val="35444300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Plotando a superfície de erro</a:t>
            </a:r>
          </a:p>
        </p:txBody>
      </p:sp>
      <p:pic>
        <p:nvPicPr>
          <p:cNvPr id="11" name="Imagem 10"/>
          <p:cNvPicPr>
            <a:picLocks noChangeAspect="1"/>
          </p:cNvPicPr>
          <p:nvPr/>
        </p:nvPicPr>
        <p:blipFill rotWithShape="1">
          <a:blip r:embed="rId3" cstate="print">
            <a:extLst>
              <a:ext uri="{28A0092B-C50C-407E-A947-70E740481C1C}">
                <a14:useLocalDpi xmlns:a14="http://schemas.microsoft.com/office/drawing/2010/main" val="0"/>
              </a:ext>
            </a:extLst>
          </a:blip>
          <a:srcRect l="14828" t="22799" r="1723" b="9597"/>
          <a:stretch/>
        </p:blipFill>
        <p:spPr>
          <a:xfrm>
            <a:off x="8452882" y="1902372"/>
            <a:ext cx="3696586" cy="2994706"/>
          </a:xfrm>
          <a:prstGeom prst="rect">
            <a:avLst/>
          </a:prstGeom>
        </p:spPr>
      </p:pic>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8022020" cy="5032375"/>
              </a:xfrm>
            </p:spPr>
            <p:txBody>
              <a:bodyPr>
                <a:normAutofit/>
              </a:bodyPr>
              <a:lstStyle/>
              <a:p>
                <a:r>
                  <a:rPr lang="pt-BR" dirty="0"/>
                  <a:t>Vamos usar a seguinte </a:t>
                </a:r>
                <a:r>
                  <a:rPr lang="pt-BR" b="1" i="1" dirty="0"/>
                  <a:t>função observável</a:t>
                </a:r>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𝑤</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𝑤</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e </a:t>
                </a:r>
                <a14:m>
                  <m:oMath xmlns:m="http://schemas.openxmlformats.org/officeDocument/2006/math">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 é a </a:t>
                </a:r>
                <a:r>
                  <a:rPr lang="pt-BR" b="1" i="1" dirty="0"/>
                  <a:t>função objetivo</a:t>
                </a:r>
                <a:r>
                  <a:rPr lang="pt-BR" dirty="0"/>
                  <a:t> (ou </a:t>
                </a:r>
                <a:r>
                  <a:rPr lang="pt-BR" b="1" i="1" dirty="0"/>
                  <a:t>modelo gerador</a:t>
                </a:r>
                <a:r>
                  <a:rPr lang="pt-BR" dirty="0"/>
                  <a:t>)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𝑎</m:t>
                              </m:r>
                            </m:e>
                            <m:sub>
                              <m:r>
                                <a:rPr lang="pt-BR" i="1" dirty="0">
                                  <a:latin typeface="Cambria Math" panose="02040503050406030204" pitchFamily="18" charset="0"/>
                                </a:rPr>
                                <m:t>1</m:t>
                              </m:r>
                            </m:sub>
                          </m:sSub>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dirty="0">
                              <a:latin typeface="Cambria Math" panose="02040503050406030204" pitchFamily="18" charset="0"/>
                            </a:rPr>
                          </m:ctrlPr>
                        </m:sSubPr>
                        <m:e>
                          <m:sSub>
                            <m:sSubPr>
                              <m:ctrlPr>
                                <a:rPr lang="pt-BR" i="1" dirty="0">
                                  <a:latin typeface="Cambria Math" panose="02040503050406030204" pitchFamily="18" charset="0"/>
                                </a:rPr>
                              </m:ctrlPr>
                            </m:sSubPr>
                            <m:e>
                              <m:r>
                                <a:rPr lang="pt-BR" i="1" dirty="0">
                                  <a:latin typeface="Cambria Math" panose="02040503050406030204" pitchFamily="18" charset="0"/>
                                </a:rPr>
                                <m:t>𝑎</m:t>
                              </m:r>
                            </m:e>
                            <m:sub>
                              <m:r>
                                <a:rPr lang="pt-BR" b="0" i="1" dirty="0" smtClean="0">
                                  <a:latin typeface="Cambria Math" panose="02040503050406030204" pitchFamily="18" charset="0"/>
                                </a:rPr>
                                <m:t>2</m:t>
                              </m:r>
                            </m:sub>
                          </m:sSub>
                          <m:r>
                            <a:rPr lang="pt-BR" i="1">
                              <a:latin typeface="Cambria Math" panose="02040503050406030204" pitchFamily="18" charset="0"/>
                            </a:rPr>
                            <m:t>𝑥</m:t>
                          </m:r>
                        </m:e>
                        <m:sub>
                          <m:r>
                            <a:rPr lang="pt-BR" b="0" i="1" smtClean="0">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𝑈</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−1, 1</m:t>
                        </m:r>
                      </m:e>
                    </m:d>
                  </m:oMath>
                </a14:m>
                <a:r>
                  <a:rPr lang="pt-BR" dirty="0"/>
                  <a:t> e </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𝑎</m:t>
                        </m:r>
                      </m:e>
                      <m:sub>
                        <m:r>
                          <a:rPr lang="pt-BR" i="1" dirty="0">
                            <a:latin typeface="Cambria Math" panose="02040503050406030204" pitchFamily="18" charset="0"/>
                          </a:rPr>
                          <m:t>1</m:t>
                        </m:r>
                      </m:sub>
                    </m:sSub>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𝑎</m:t>
                        </m:r>
                      </m:e>
                      <m:sub>
                        <m:r>
                          <a:rPr lang="pt-BR" i="1" dirty="0">
                            <a:latin typeface="Cambria Math" panose="02040503050406030204" pitchFamily="18" charset="0"/>
                          </a:rPr>
                          <m:t>2</m:t>
                        </m:r>
                      </m:sub>
                    </m:sSub>
                    <m:r>
                      <a:rPr lang="pt-BR" i="1" dirty="0">
                        <a:latin typeface="Cambria Math" panose="02040503050406030204" pitchFamily="18" charset="0"/>
                      </a:rPr>
                      <m:t>=1</m:t>
                    </m:r>
                  </m:oMath>
                </a14:m>
                <a:r>
                  <a:rPr lang="pt-BR" dirty="0"/>
                  <a:t>.</a:t>
                </a:r>
              </a:p>
              <a:p>
                <a:r>
                  <a:rPr lang="pt-BR" dirty="0"/>
                  <a:t>Agora, suponhamos que nós quiséssemos aproximar a </a:t>
                </a:r>
                <a:r>
                  <a:rPr lang="pt-BR" b="1" i="1" dirty="0"/>
                  <a:t>função objetivo </a:t>
                </a:r>
                <a:r>
                  <a:rPr lang="pt-BR" dirty="0"/>
                  <a:t>a partir, apenas, de suas </a:t>
                </a:r>
                <a:r>
                  <a:rPr lang="pt-BR" b="1" i="1" dirty="0"/>
                  <a:t>amostras ruidosas </a:t>
                </a:r>
                <a:r>
                  <a:rPr lang="pt-BR" dirty="0"/>
                  <a:t>com a seguinte </a:t>
                </a:r>
                <a:r>
                  <a:rPr lang="pt-BR" b="1" i="1" dirty="0"/>
                  <a:t>função hipótese</a:t>
                </a:r>
                <a:endParaRPr lang="pt-BR" dirty="0"/>
              </a:p>
              <a:p>
                <a:pPr marL="0" indent="0">
                  <a:buNone/>
                </a:pPr>
                <a14:m>
                  <m:oMathPara xmlns:m="http://schemas.openxmlformats.org/officeDocument/2006/math">
                    <m:o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r>
                            <a:rPr lang="pt-BR" b="0" i="1" smtClean="0">
                              <a:latin typeface="Cambria Math" panose="02040503050406030204" pitchFamily="18" charset="0"/>
                              <a:ea typeface="Cambria Math" panose="02040503050406030204" pitchFamily="18" charset="0"/>
                            </a:rPr>
                            <m:t>),</m:t>
                          </m:r>
                          <m:acc>
                            <m:accPr>
                              <m:chr m:val="̂"/>
                              <m:ctrlPr>
                                <a:rPr lang="pt-BR" b="1" i="1" smtClean="0">
                                  <a:latin typeface="Cambria Math" panose="02040503050406030204" pitchFamily="18" charset="0"/>
                                  <a:ea typeface="Cambria Math" panose="02040503050406030204" pitchFamily="18" charset="0"/>
                                </a:rPr>
                              </m:ctrlPr>
                            </m:accPr>
                            <m:e>
                              <m:r>
                                <a:rPr lang="pt-BR" b="1" i="1" smtClean="0">
                                  <a:latin typeface="Cambria Math" panose="02040503050406030204" pitchFamily="18" charset="0"/>
                                  <a:ea typeface="Cambria Math" panose="02040503050406030204" pitchFamily="18" charset="0"/>
                                </a:rPr>
                                <m:t>𝒂</m:t>
                              </m:r>
                            </m:e>
                          </m:acc>
                        </m:e>
                      </m:d>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a:latin typeface="Cambria Math" panose="02040503050406030204" pitchFamily="18" charset="0"/>
                        </a:rPr>
                        <m:t>+</m:t>
                      </m:r>
                      <m:sSub>
                        <m:sSubPr>
                          <m:ctrlPr>
                            <a:rPr lang="pt-BR" i="1">
                              <a:latin typeface="Cambria Math" panose="02040503050406030204" pitchFamily="18" charset="0"/>
                            </a:rPr>
                          </m:ctrlPr>
                        </m:sSub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b="0" i="1" smtClean="0">
                                  <a:latin typeface="Cambria Math" panose="02040503050406030204" pitchFamily="18" charset="0"/>
                                </a:rPr>
                                <m:t>2</m:t>
                              </m:r>
                            </m:sub>
                          </m:sSub>
                          <m:r>
                            <a:rPr lang="pt-BR" i="1" dirty="0">
                              <a:latin typeface="Cambria Math" panose="02040503050406030204" pitchFamily="18" charset="0"/>
                            </a:rPr>
                            <m:t>𝑥</m:t>
                          </m:r>
                        </m:e>
                        <m:sub>
                          <m:r>
                            <a:rPr lang="pt-BR" i="1" dirty="0">
                              <a:latin typeface="Cambria Math" panose="02040503050406030204" pitchFamily="18" charset="0"/>
                            </a:rPr>
                            <m:t>2</m:t>
                          </m:r>
                        </m:sub>
                      </m:sSub>
                      <m:r>
                        <a:rPr lang="pt-BR" i="1" dirty="0">
                          <a:latin typeface="Cambria Math" panose="02040503050406030204" pitchFamily="18" charset="0"/>
                        </a:rPr>
                        <m:t>(</m:t>
                      </m:r>
                      <m:r>
                        <a:rPr lang="pt-BR" i="1" dirty="0">
                          <a:latin typeface="Cambria Math" panose="02040503050406030204" pitchFamily="18" charset="0"/>
                        </a:rPr>
                        <m:t>𝑛</m:t>
                      </m:r>
                      <m:r>
                        <a:rPr lang="pt-BR" i="1" dirty="0">
                          <a:latin typeface="Cambria Math" panose="02040503050406030204" pitchFamily="18" charset="0"/>
                        </a:rPr>
                        <m:t>).</m:t>
                      </m:r>
                    </m:oMath>
                  </m:oMathPara>
                </a14:m>
                <a:endParaRPr lang="pt-BR" dirty="0"/>
              </a:p>
              <a:p>
                <a:r>
                  <a:rPr lang="pt-BR" b="1" dirty="0">
                    <a:solidFill>
                      <a:srgbClr val="00B0F0"/>
                    </a:solidFill>
                  </a:rPr>
                  <a:t>Como encontraríamos os valores de </a:t>
                </a:r>
                <a14:m>
                  <m:oMath xmlns:m="http://schemas.openxmlformats.org/officeDocument/2006/math">
                    <m:sSub>
                      <m:sSubPr>
                        <m:ctrlPr>
                          <a:rPr lang="pt-BR" b="1" i="1">
                            <a:solidFill>
                              <a:srgbClr val="00B0F0"/>
                            </a:solidFill>
                            <a:latin typeface="Cambria Math" panose="02040503050406030204" pitchFamily="18" charset="0"/>
                          </a:rPr>
                        </m:ctrlPr>
                      </m:sSubPr>
                      <m:e>
                        <m:acc>
                          <m:accPr>
                            <m:chr m:val="̂"/>
                            <m:ctrlPr>
                              <a:rPr lang="pt-BR" b="1">
                                <a:solidFill>
                                  <a:srgbClr val="00B0F0"/>
                                </a:solidFill>
                                <a:latin typeface="Cambria Math" panose="02040503050406030204" pitchFamily="18" charset="0"/>
                              </a:rPr>
                            </m:ctrlPr>
                          </m:accPr>
                          <m:e>
                            <m:r>
                              <a:rPr lang="pt-BR" b="1">
                                <a:solidFill>
                                  <a:srgbClr val="00B0F0"/>
                                </a:solidFill>
                                <a:latin typeface="Cambria Math" panose="02040503050406030204" pitchFamily="18" charset="0"/>
                              </a:rPr>
                              <m:t>𝑎</m:t>
                            </m:r>
                          </m:e>
                        </m:acc>
                      </m:e>
                      <m:sub>
                        <m:r>
                          <a:rPr lang="pt-BR" b="1">
                            <a:solidFill>
                              <a:srgbClr val="00B0F0"/>
                            </a:solidFill>
                            <a:latin typeface="Cambria Math" panose="02040503050406030204" pitchFamily="18" charset="0"/>
                          </a:rPr>
                          <m:t>1</m:t>
                        </m:r>
                      </m:sub>
                    </m:sSub>
                  </m:oMath>
                </a14:m>
                <a:r>
                  <a:rPr lang="pt-BR" b="1" dirty="0">
                    <a:solidFill>
                      <a:srgbClr val="00B0F0"/>
                    </a:solidFill>
                  </a:rPr>
                  <a:t> e </a:t>
                </a:r>
                <a14:m>
                  <m:oMath xmlns:m="http://schemas.openxmlformats.org/officeDocument/2006/math">
                    <m:sSub>
                      <m:sSubPr>
                        <m:ctrlPr>
                          <a:rPr lang="pt-BR" b="1" i="1">
                            <a:solidFill>
                              <a:srgbClr val="00B0F0"/>
                            </a:solidFill>
                            <a:latin typeface="Cambria Math" panose="02040503050406030204" pitchFamily="18" charset="0"/>
                          </a:rPr>
                        </m:ctrlPr>
                      </m:sSubPr>
                      <m:e>
                        <m:acc>
                          <m:accPr>
                            <m:chr m:val="̂"/>
                            <m:ctrlPr>
                              <a:rPr lang="pt-BR" b="1">
                                <a:solidFill>
                                  <a:srgbClr val="00B0F0"/>
                                </a:solidFill>
                                <a:latin typeface="Cambria Math" panose="02040503050406030204" pitchFamily="18" charset="0"/>
                              </a:rPr>
                            </m:ctrlPr>
                          </m:accPr>
                          <m:e>
                            <m:r>
                              <a:rPr lang="pt-BR" b="1">
                                <a:solidFill>
                                  <a:srgbClr val="00B0F0"/>
                                </a:solidFill>
                                <a:latin typeface="Cambria Math" panose="02040503050406030204" pitchFamily="18" charset="0"/>
                              </a:rPr>
                              <m:t>𝑎</m:t>
                            </m:r>
                          </m:e>
                        </m:acc>
                      </m:e>
                      <m:sub>
                        <m:r>
                          <a:rPr lang="pt-BR" b="1">
                            <a:solidFill>
                              <a:srgbClr val="00B0F0"/>
                            </a:solidFill>
                            <a:latin typeface="Cambria Math" panose="02040503050406030204" pitchFamily="18" charset="0"/>
                          </a:rPr>
                          <m:t>2</m:t>
                        </m:r>
                      </m:sub>
                    </m:sSub>
                  </m:oMath>
                </a14:m>
                <a:r>
                  <a:rPr lang="pt-BR" b="1" dirty="0">
                    <a:solidFill>
                      <a:srgbClr val="00B0F0"/>
                    </a:solidFill>
                  </a:rPr>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8022020" cy="5032375"/>
              </a:xfrm>
              <a:blipFill>
                <a:blip r:embed="rId4"/>
                <a:stretch>
                  <a:fillRect l="-1597" t="-1937" r="-21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aixaDeTexto 11"/>
              <p:cNvSpPr txBox="1"/>
              <p:nvPr/>
            </p:nvSpPr>
            <p:spPr>
              <a:xfrm>
                <a:off x="9004564" y="5204245"/>
                <a:ext cx="2671042" cy="1169551"/>
              </a:xfrm>
              <a:prstGeom prst="rect">
                <a:avLst/>
              </a:prstGeom>
              <a:noFill/>
            </p:spPr>
            <p:txBody>
              <a:bodyPr wrap="square" rtlCol="0">
                <a:spAutoFit/>
              </a:bodyPr>
              <a:lstStyle/>
              <a:p>
                <a:pPr algn="ctr"/>
                <a:r>
                  <a:rPr lang="pt-BR" sz="1400" b="1" dirty="0"/>
                  <a:t>OBS</a:t>
                </a:r>
                <a:r>
                  <a:rPr lang="pt-BR" sz="1400" dirty="0"/>
                  <a:t>.: para não confundirmos com os pesos originais, </a:t>
                </a:r>
                <a14:m>
                  <m:oMath xmlns:m="http://schemas.openxmlformats.org/officeDocument/2006/math">
                    <m:sSub>
                      <m:sSubPr>
                        <m:ctrlPr>
                          <a:rPr lang="pt-BR" sz="1400" i="1" dirty="0">
                            <a:latin typeface="Cambria Math" panose="02040503050406030204" pitchFamily="18" charset="0"/>
                          </a:rPr>
                        </m:ctrlPr>
                      </m:sSubPr>
                      <m:e>
                        <m:r>
                          <a:rPr lang="pt-BR" sz="1400" i="1" dirty="0">
                            <a:latin typeface="Cambria Math" panose="02040503050406030204" pitchFamily="18" charset="0"/>
                          </a:rPr>
                          <m:t>𝑎</m:t>
                        </m:r>
                      </m:e>
                      <m:sub>
                        <m:r>
                          <a:rPr lang="pt-BR" sz="1400" i="1" dirty="0">
                            <a:latin typeface="Cambria Math" panose="02040503050406030204" pitchFamily="18" charset="0"/>
                          </a:rPr>
                          <m:t>1</m:t>
                        </m:r>
                      </m:sub>
                    </m:sSub>
                  </m:oMath>
                </a14:m>
                <a:r>
                  <a:rPr lang="pt-BR" sz="1400" dirty="0"/>
                  <a:t> e </a:t>
                </a:r>
                <a14:m>
                  <m:oMath xmlns:m="http://schemas.openxmlformats.org/officeDocument/2006/math">
                    <m:sSub>
                      <m:sSubPr>
                        <m:ctrlPr>
                          <a:rPr lang="pt-BR" sz="1400" i="1" dirty="0">
                            <a:latin typeface="Cambria Math" panose="02040503050406030204" pitchFamily="18" charset="0"/>
                          </a:rPr>
                        </m:ctrlPr>
                      </m:sSubPr>
                      <m:e>
                        <m:r>
                          <a:rPr lang="pt-BR" sz="1400" i="1" dirty="0">
                            <a:latin typeface="Cambria Math" panose="02040503050406030204" pitchFamily="18" charset="0"/>
                          </a:rPr>
                          <m:t>𝑎</m:t>
                        </m:r>
                      </m:e>
                      <m:sub>
                        <m:r>
                          <a:rPr lang="pt-BR" sz="1400" b="0" i="1" dirty="0" smtClean="0">
                            <a:latin typeface="Cambria Math" panose="02040503050406030204" pitchFamily="18" charset="0"/>
                          </a:rPr>
                          <m:t>2</m:t>
                        </m:r>
                      </m:sub>
                    </m:sSub>
                  </m:oMath>
                </a14:m>
                <a:r>
                  <a:rPr lang="pt-BR" sz="1400" dirty="0"/>
                  <a:t>, vamos usar </a:t>
                </a:r>
                <a14:m>
                  <m:oMath xmlns:m="http://schemas.openxmlformats.org/officeDocument/2006/math">
                    <m:sSub>
                      <m:sSubPr>
                        <m:ctrlPr>
                          <a:rPr lang="pt-BR" sz="1400" i="1">
                            <a:latin typeface="Cambria Math" panose="02040503050406030204" pitchFamily="18" charset="0"/>
                          </a:rPr>
                        </m:ctrlPr>
                      </m:sSubPr>
                      <m:e>
                        <m:acc>
                          <m:accPr>
                            <m:chr m:val="̂"/>
                            <m:ctrlPr>
                              <a:rPr lang="pt-BR" sz="1400" i="1">
                                <a:latin typeface="Cambria Math" panose="02040503050406030204" pitchFamily="18" charset="0"/>
                              </a:rPr>
                            </m:ctrlPr>
                          </m:accPr>
                          <m:e>
                            <m:r>
                              <a:rPr lang="pt-BR" sz="1400" i="1">
                                <a:latin typeface="Cambria Math" panose="02040503050406030204" pitchFamily="18" charset="0"/>
                              </a:rPr>
                              <m:t>𝑎</m:t>
                            </m:r>
                          </m:e>
                        </m:acc>
                      </m:e>
                      <m:sub>
                        <m:r>
                          <a:rPr lang="pt-BR" sz="1400" i="1">
                            <a:latin typeface="Cambria Math" panose="02040503050406030204" pitchFamily="18" charset="0"/>
                          </a:rPr>
                          <m:t>1</m:t>
                        </m:r>
                      </m:sub>
                    </m:sSub>
                  </m:oMath>
                </a14:m>
                <a:r>
                  <a:rPr lang="pt-BR" sz="1400" dirty="0"/>
                  <a:t> e </a:t>
                </a:r>
                <a14:m>
                  <m:oMath xmlns:m="http://schemas.openxmlformats.org/officeDocument/2006/math">
                    <m:sSub>
                      <m:sSubPr>
                        <m:ctrlPr>
                          <a:rPr lang="pt-BR" sz="1400" i="1">
                            <a:latin typeface="Cambria Math" panose="02040503050406030204" pitchFamily="18" charset="0"/>
                          </a:rPr>
                        </m:ctrlPr>
                      </m:sSubPr>
                      <m:e>
                        <m:acc>
                          <m:accPr>
                            <m:chr m:val="̂"/>
                            <m:ctrlPr>
                              <a:rPr lang="pt-BR" sz="1400" i="1">
                                <a:latin typeface="Cambria Math" panose="02040503050406030204" pitchFamily="18" charset="0"/>
                              </a:rPr>
                            </m:ctrlPr>
                          </m:accPr>
                          <m:e>
                            <m:r>
                              <a:rPr lang="pt-BR" sz="1400" i="1">
                                <a:latin typeface="Cambria Math" panose="02040503050406030204" pitchFamily="18" charset="0"/>
                              </a:rPr>
                              <m:t>𝑎</m:t>
                            </m:r>
                          </m:e>
                        </m:acc>
                      </m:e>
                      <m:sub>
                        <m:r>
                          <a:rPr lang="pt-BR" sz="1400" b="0" i="1" smtClean="0">
                            <a:latin typeface="Cambria Math" panose="02040503050406030204" pitchFamily="18" charset="0"/>
                          </a:rPr>
                          <m:t>2</m:t>
                        </m:r>
                      </m:sub>
                    </m:sSub>
                  </m:oMath>
                </a14:m>
                <a:r>
                  <a:rPr lang="pt-BR" sz="1400" dirty="0"/>
                  <a:t> para nos referir aos pesos da função hipótese, i.e., as estimativas de </a:t>
                </a:r>
                <a14:m>
                  <m:oMath xmlns:m="http://schemas.openxmlformats.org/officeDocument/2006/math">
                    <m:sSub>
                      <m:sSubPr>
                        <m:ctrlPr>
                          <a:rPr lang="pt-BR" sz="1400" i="1" dirty="0">
                            <a:latin typeface="Cambria Math" panose="02040503050406030204" pitchFamily="18" charset="0"/>
                          </a:rPr>
                        </m:ctrlPr>
                      </m:sSubPr>
                      <m:e>
                        <m:r>
                          <a:rPr lang="pt-BR" sz="1400" i="1" dirty="0">
                            <a:latin typeface="Cambria Math" panose="02040503050406030204" pitchFamily="18" charset="0"/>
                          </a:rPr>
                          <m:t>𝑎</m:t>
                        </m:r>
                      </m:e>
                      <m:sub>
                        <m:r>
                          <a:rPr lang="pt-BR" sz="1400" i="1" dirty="0">
                            <a:latin typeface="Cambria Math" panose="02040503050406030204" pitchFamily="18" charset="0"/>
                          </a:rPr>
                          <m:t>1</m:t>
                        </m:r>
                      </m:sub>
                    </m:sSub>
                  </m:oMath>
                </a14:m>
                <a:r>
                  <a:rPr lang="pt-BR" sz="1400" dirty="0"/>
                  <a:t> e </a:t>
                </a:r>
                <a14:m>
                  <m:oMath xmlns:m="http://schemas.openxmlformats.org/officeDocument/2006/math">
                    <m:sSub>
                      <m:sSubPr>
                        <m:ctrlPr>
                          <a:rPr lang="pt-BR" sz="1400" i="1" dirty="0">
                            <a:latin typeface="Cambria Math" panose="02040503050406030204" pitchFamily="18" charset="0"/>
                          </a:rPr>
                        </m:ctrlPr>
                      </m:sSubPr>
                      <m:e>
                        <m:r>
                          <a:rPr lang="pt-BR" sz="1400" i="1" dirty="0">
                            <a:latin typeface="Cambria Math" panose="02040503050406030204" pitchFamily="18" charset="0"/>
                          </a:rPr>
                          <m:t>𝑎</m:t>
                        </m:r>
                      </m:e>
                      <m:sub>
                        <m:r>
                          <a:rPr lang="pt-BR" sz="1400" i="1" dirty="0">
                            <a:latin typeface="Cambria Math" panose="02040503050406030204" pitchFamily="18" charset="0"/>
                          </a:rPr>
                          <m:t>2</m:t>
                        </m:r>
                      </m:sub>
                    </m:sSub>
                  </m:oMath>
                </a14:m>
                <a:r>
                  <a:rPr lang="pt-BR" sz="1400" dirty="0"/>
                  <a:t>.</a:t>
                </a:r>
              </a:p>
            </p:txBody>
          </p:sp>
        </mc:Choice>
        <mc:Fallback xmlns="">
          <p:sp>
            <p:nvSpPr>
              <p:cNvPr id="12" name="CaixaDeTexto 11"/>
              <p:cNvSpPr txBox="1">
                <a:spLocks noRot="1" noChangeAspect="1" noMove="1" noResize="1" noEditPoints="1" noAdjustHandles="1" noChangeArrowheads="1" noChangeShapeType="1" noTextEdit="1"/>
              </p:cNvSpPr>
              <p:nvPr/>
            </p:nvSpPr>
            <p:spPr>
              <a:xfrm>
                <a:off x="9004564" y="5204245"/>
                <a:ext cx="2671042" cy="1169551"/>
              </a:xfrm>
              <a:prstGeom prst="rect">
                <a:avLst/>
              </a:prstGeom>
              <a:blipFill>
                <a:blip r:embed="rId5"/>
                <a:stretch>
                  <a:fillRect l="-228" t="-1042" r="-1598" b="-4167"/>
                </a:stretch>
              </a:blipFill>
            </p:spPr>
            <p:txBody>
              <a:bodyPr/>
              <a:lstStyle/>
              <a:p>
                <a:r>
                  <a:rPr lang="pt-BR">
                    <a:noFill/>
                  </a:rPr>
                  <a:t> </a:t>
                </a:r>
              </a:p>
            </p:txBody>
          </p:sp>
        </mc:Fallback>
      </mc:AlternateContent>
      <p:pic>
        <p:nvPicPr>
          <p:cNvPr id="9" name="Imagem 8"/>
          <p:cNvPicPr>
            <a:picLocks noChangeAspect="1"/>
          </p:cNvPicPr>
          <p:nvPr/>
        </p:nvPicPr>
        <p:blipFill rotWithShape="1">
          <a:blip r:embed="rId6">
            <a:extLst>
              <a:ext uri="{28A0092B-C50C-407E-A947-70E740481C1C}">
                <a14:useLocalDpi xmlns:a14="http://schemas.microsoft.com/office/drawing/2010/main" val="0"/>
              </a:ext>
            </a:extLst>
          </a:blip>
          <a:srcRect l="46015" t="12567" r="10919" b="80230"/>
          <a:stretch/>
        </p:blipFill>
        <p:spPr>
          <a:xfrm>
            <a:off x="8452882" y="1611366"/>
            <a:ext cx="2561974" cy="428515"/>
          </a:xfrm>
          <a:prstGeom prst="rect">
            <a:avLst/>
          </a:prstGeom>
        </p:spPr>
      </p:pic>
      <p:sp>
        <p:nvSpPr>
          <p:cNvPr id="13" name="TextBox 5"/>
          <p:cNvSpPr txBox="1"/>
          <p:nvPr/>
        </p:nvSpPr>
        <p:spPr>
          <a:xfrm>
            <a:off x="8519445" y="6465519"/>
            <a:ext cx="3641281" cy="338554"/>
          </a:xfrm>
          <a:prstGeom prst="rect">
            <a:avLst/>
          </a:prstGeom>
          <a:noFill/>
        </p:spPr>
        <p:txBody>
          <a:bodyPr wrap="square" rtlCol="0">
            <a:spAutoFit/>
          </a:bodyPr>
          <a:lstStyle/>
          <a:p>
            <a:r>
              <a:rPr lang="pt-BR" sz="1600" b="1" dirty="0">
                <a:solidFill>
                  <a:srgbClr val="00B0F0"/>
                </a:solidFill>
                <a:hlinkClick r:id="rId7"/>
              </a:rPr>
              <a:t>Exemplo: error_surface_example2.ipynb</a:t>
            </a:r>
            <a:endParaRPr lang="pt-BR" sz="1600" b="1" dirty="0">
              <a:solidFill>
                <a:srgbClr val="00B0F0"/>
              </a:solidFill>
            </a:endParaRPr>
          </a:p>
        </p:txBody>
      </p:sp>
    </p:spTree>
    <p:extLst>
      <p:ext uri="{BB962C8B-B14F-4D97-AF65-F5344CB8AC3E}">
        <p14:creationId xmlns:p14="http://schemas.microsoft.com/office/powerpoint/2010/main" val="40806612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E3B9D4-DED6-762A-9E06-AB0DC48A04B6}"/>
              </a:ext>
            </a:extLst>
          </p:cNvPr>
          <p:cNvSpPr>
            <a:spLocks noGrp="1"/>
          </p:cNvSpPr>
          <p:nvPr>
            <p:ph type="title"/>
          </p:nvPr>
        </p:nvSpPr>
        <p:spPr/>
        <p:txBody>
          <a:bodyPr/>
          <a:lstStyle/>
          <a:p>
            <a:r>
              <a:rPr lang="pt-BR" dirty="0"/>
              <a:t>Plotando a 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D8F349C-97DE-0D2B-4878-CE50CD2E4808}"/>
                  </a:ext>
                </a:extLst>
              </p:cNvPr>
              <p:cNvSpPr>
                <a:spLocks noGrp="1"/>
              </p:cNvSpPr>
              <p:nvPr>
                <p:ph idx="1"/>
              </p:nvPr>
            </p:nvSpPr>
            <p:spPr>
              <a:xfrm>
                <a:off x="4866290" y="1825624"/>
                <a:ext cx="7199586" cy="5032375"/>
              </a:xfrm>
            </p:spPr>
            <p:txBody>
              <a:bodyPr/>
              <a:lstStyle/>
              <a:p>
                <a:r>
                  <a:rPr lang="pt-BR" dirty="0"/>
                  <a:t>Até o momento, conseguiríamos encontrar o </a:t>
                </a:r>
                <a:r>
                  <a:rPr lang="pt-BR" b="1" i="1" dirty="0">
                    <a:solidFill>
                      <a:srgbClr val="00B050"/>
                    </a:solidFill>
                  </a:rPr>
                  <a:t>ponto de mínimo </a:t>
                </a:r>
                <a:r>
                  <a:rPr lang="pt-BR" dirty="0"/>
                  <a:t>com a </a:t>
                </a:r>
                <a:r>
                  <a:rPr lang="pt-BR" b="1" i="1" dirty="0"/>
                  <a:t>equação normal </a:t>
                </a:r>
                <a:r>
                  <a:rPr lang="pt-BR" dirty="0"/>
                  <a:t>ou </a:t>
                </a:r>
                <a:r>
                  <a:rPr lang="pt-BR" b="1" i="1" dirty="0"/>
                  <a:t>visualmente</a:t>
                </a:r>
                <a:r>
                  <a:rPr lang="pt-BR" dirty="0"/>
                  <a:t>, plotando a </a:t>
                </a:r>
                <a:r>
                  <a:rPr lang="pt-BR" b="1" i="1" dirty="0"/>
                  <a:t>superfície de erro </a:t>
                </a:r>
                <a:r>
                  <a:rPr lang="pt-BR" dirty="0"/>
                  <a:t>a partir da função do EQM</a:t>
                </a:r>
              </a:p>
              <a:p>
                <a:pPr marL="0" indent="0">
                  <a:buNone/>
                </a:pPr>
                <a14:m>
                  <m:oMathPara xmlns:m="http://schemas.openxmlformats.org/officeDocument/2006/math">
                    <m:oMathParaPr>
                      <m:jc m:val="center"/>
                    </m:oMathParaPr>
                    <m:oMath>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𝑎</m:t>
                                  </m:r>
                                </m:e>
                              </m:acc>
                            </m:e>
                            <m:sub>
                              <m:r>
                                <a:rPr lang="pt-BR" sz="2400" i="1">
                                  <a:latin typeface="Cambria Math" panose="02040503050406030204" pitchFamily="18" charset="0"/>
                                </a:rPr>
                                <m:t>1</m:t>
                              </m:r>
                            </m:sub>
                          </m:sSub>
                          <m:r>
                            <a:rPr lang="pt-BR" sz="2400" i="1">
                              <a:latin typeface="Cambria Math" panose="02040503050406030204" pitchFamily="18" charset="0"/>
                            </a:rPr>
                            <m:t>,</m:t>
                          </m:r>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𝑎</m:t>
                                  </m:r>
                                </m:e>
                              </m:acc>
                            </m:e>
                            <m:sub>
                              <m:r>
                                <a:rPr lang="pt-BR" sz="2400" b="0" i="1" smtClean="0">
                                  <a:latin typeface="Cambria Math" panose="02040503050406030204" pitchFamily="18" charset="0"/>
                                </a:rPr>
                                <m:t>2</m:t>
                              </m:r>
                            </m:sub>
                          </m:sSub>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sSup>
                            <m:sSupPr>
                              <m:ctrlPr>
                                <a:rPr lang="pt-BR" sz="2400" i="1">
                                  <a:latin typeface="Cambria Math" panose="02040503050406030204" pitchFamily="18" charset="0"/>
                                </a:rPr>
                              </m:ctrlPr>
                            </m:sSupPr>
                            <m:e>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m:rPr>
                                          <m:sty m:val="p"/>
                                        </m:rPr>
                                        <a:rPr lang="pt-BR" sz="2400">
                                          <a:latin typeface="Cambria Math" panose="02040503050406030204" pitchFamily="18" charset="0"/>
                                        </a:rPr>
                                        <m:t>noisy</m:t>
                                      </m:r>
                                    </m:sub>
                                  </m:sSub>
                                  <m:r>
                                    <a:rPr lang="pt-BR" sz="2400" i="1">
                                      <a:latin typeface="Cambria Math" panose="02040503050406030204" pitchFamily="18" charset="0"/>
                                    </a:rPr>
                                    <m:t>(</m:t>
                                  </m:r>
                                  <m:r>
                                    <a:rPr lang="pt-BR" sz="2400" i="1">
                                      <a:latin typeface="Cambria Math" panose="02040503050406030204" pitchFamily="18" charset="0"/>
                                    </a:rPr>
                                    <m:t>𝑛</m:t>
                                  </m:r>
                                  <m:r>
                                    <a:rPr lang="pt-BR" sz="2400" i="1">
                                      <a:latin typeface="Cambria Math" panose="02040503050406030204" pitchFamily="18" charset="0"/>
                                    </a:rPr>
                                    <m:t>)−</m:t>
                                  </m:r>
                                  <m:acc>
                                    <m:accPr>
                                      <m:chr m:val="̂"/>
                                      <m:ctrlPr>
                                        <a:rPr lang="pt-BR" sz="2400" i="1">
                                          <a:latin typeface="Cambria Math" panose="02040503050406030204" pitchFamily="18" charset="0"/>
                                          <a:ea typeface="Cambria Math" panose="02040503050406030204" pitchFamily="18" charset="0"/>
                                        </a:rPr>
                                      </m:ctrlPr>
                                    </m:accPr>
                                    <m:e>
                                      <m:r>
                                        <a:rPr lang="pt-BR" sz="2400" i="1">
                                          <a:latin typeface="Cambria Math" panose="02040503050406030204" pitchFamily="18" charset="0"/>
                                          <a:ea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e>
                            <m:sup>
                              <m:r>
                                <a:rPr lang="pt-BR" sz="2400" i="1">
                                  <a:latin typeface="Cambria Math" panose="02040503050406030204" pitchFamily="18" charset="0"/>
                                </a:rPr>
                                <m:t>2</m:t>
                              </m:r>
                            </m:sup>
                          </m:sSup>
                        </m:e>
                      </m:nary>
                    </m:oMath>
                  </m:oMathPara>
                </a14:m>
                <a:endParaRPr lang="pt-BR" sz="2400" i="1" dirty="0">
                  <a:latin typeface="Cambria Math" panose="02040503050406030204" pitchFamily="18" charset="0"/>
                </a:endParaRPr>
              </a:p>
              <a:p>
                <a:pPr marL="0" indent="0">
                  <a:buNone/>
                </a:pPr>
                <a14:m>
                  <m:oMathPara xmlns:m="http://schemas.openxmlformats.org/officeDocument/2006/math">
                    <m:oMathParaPr>
                      <m:jc m:val="center"/>
                    </m:oMathParaPr>
                    <m:oMath>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sSup>
                            <m:sSupPr>
                              <m:ctrlPr>
                                <a:rPr lang="pt-BR" sz="2400" i="1">
                                  <a:latin typeface="Cambria Math" panose="02040503050406030204" pitchFamily="18" charset="0"/>
                                </a:rPr>
                              </m:ctrlPr>
                            </m:sSupPr>
                            <m:e>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m:rPr>
                                          <m:sty m:val="p"/>
                                        </m:rPr>
                                        <a:rPr lang="pt-BR" sz="2400">
                                          <a:latin typeface="Cambria Math" panose="02040503050406030204" pitchFamily="18" charset="0"/>
                                        </a:rPr>
                                        <m:t>noisy</m:t>
                                      </m:r>
                                    </m:sub>
                                  </m:sSub>
                                  <m:r>
                                    <a:rPr lang="pt-BR" sz="2400" i="1">
                                      <a:latin typeface="Cambria Math" panose="02040503050406030204" pitchFamily="18" charset="0"/>
                                    </a:rPr>
                                    <m:t>(</m:t>
                                  </m:r>
                                  <m:r>
                                    <a:rPr lang="pt-BR" sz="2400" i="1">
                                      <a:latin typeface="Cambria Math" panose="02040503050406030204" pitchFamily="18" charset="0"/>
                                    </a:rPr>
                                    <m:t>𝑛</m:t>
                                  </m:r>
                                  <m:r>
                                    <a:rPr lang="pt-BR" sz="2400" i="1">
                                      <a:latin typeface="Cambria Math" panose="02040503050406030204" pitchFamily="18" charset="0"/>
                                    </a:rPr>
                                    <m:t>)−</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𝑎</m:t>
                                              </m:r>
                                            </m:e>
                                          </m:acc>
                                        </m:e>
                                        <m:sub>
                                          <m:r>
                                            <a:rPr lang="pt-BR" sz="2400" i="1">
                                              <a:latin typeface="Cambria Math" panose="02040503050406030204" pitchFamily="18" charset="0"/>
                                            </a:rPr>
                                            <m:t>1</m:t>
                                          </m:r>
                                        </m:sub>
                                      </m:sSub>
                                      <m:sSub>
                                        <m:sSubPr>
                                          <m:ctrlPr>
                                            <a:rPr lang="pt-BR" sz="2400" i="1" dirty="0">
                                              <a:latin typeface="Cambria Math" panose="02040503050406030204" pitchFamily="18" charset="0"/>
                                            </a:rPr>
                                          </m:ctrlPr>
                                        </m:sSubPr>
                                        <m:e>
                                          <m:r>
                                            <a:rPr lang="pt-BR" sz="2400" i="1" dirty="0">
                                              <a:latin typeface="Cambria Math" panose="02040503050406030204" pitchFamily="18" charset="0"/>
                                            </a:rPr>
                                            <m:t>𝑥</m:t>
                                          </m:r>
                                        </m:e>
                                        <m:sub>
                                          <m:r>
                                            <a:rPr lang="pt-BR" sz="2400" i="1" dirty="0">
                                              <a:latin typeface="Cambria Math" panose="02040503050406030204" pitchFamily="18" charset="0"/>
                                            </a:rPr>
                                            <m:t>1</m:t>
                                          </m:r>
                                        </m:sub>
                                      </m:sSub>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𝑎</m:t>
                                              </m:r>
                                            </m:e>
                                          </m:acc>
                                        </m:e>
                                        <m:sub>
                                          <m:r>
                                            <a:rPr lang="pt-BR" sz="2400" b="0" i="1" smtClean="0">
                                              <a:latin typeface="Cambria Math" panose="02040503050406030204" pitchFamily="18" charset="0"/>
                                            </a:rPr>
                                            <m:t>2</m:t>
                                          </m:r>
                                        </m:sub>
                                      </m:sSub>
                                      <m:sSub>
                                        <m:sSubPr>
                                          <m:ctrlPr>
                                            <a:rPr lang="pt-BR" sz="2400" i="1" dirty="0">
                                              <a:latin typeface="Cambria Math" panose="02040503050406030204" pitchFamily="18" charset="0"/>
                                            </a:rPr>
                                          </m:ctrlPr>
                                        </m:sSubPr>
                                        <m:e>
                                          <m:r>
                                            <a:rPr lang="pt-BR" sz="2400" i="1" dirty="0">
                                              <a:latin typeface="Cambria Math" panose="02040503050406030204" pitchFamily="18" charset="0"/>
                                            </a:rPr>
                                            <m:t>𝑥</m:t>
                                          </m:r>
                                        </m:e>
                                        <m:sub>
                                          <m:r>
                                            <a:rPr lang="pt-BR" sz="2400" i="1" dirty="0">
                                              <a:latin typeface="Cambria Math" panose="02040503050406030204" pitchFamily="18" charset="0"/>
                                            </a:rPr>
                                            <m:t>2</m:t>
                                          </m:r>
                                        </m:sub>
                                      </m:sSub>
                                      <m:r>
                                        <a:rPr lang="pt-BR" sz="2400" i="1">
                                          <a:latin typeface="Cambria Math" panose="02040503050406030204" pitchFamily="18" charset="0"/>
                                        </a:rPr>
                                        <m:t>(</m:t>
                                      </m:r>
                                      <m:r>
                                        <a:rPr lang="pt-BR" sz="2400" i="1">
                                          <a:latin typeface="Cambria Math" panose="02040503050406030204" pitchFamily="18" charset="0"/>
                                        </a:rPr>
                                        <m:t>𝑛</m:t>
                                      </m:r>
                                      <m:r>
                                        <a:rPr lang="pt-BR" sz="2400" i="1">
                                          <a:latin typeface="Cambria Math" panose="02040503050406030204" pitchFamily="18" charset="0"/>
                                        </a:rPr>
                                        <m:t>)</m:t>
                                      </m:r>
                                    </m:e>
                                  </m:d>
                                </m:e>
                              </m:d>
                            </m:e>
                            <m:sup>
                              <m:r>
                                <a:rPr lang="pt-BR" sz="2400" i="1">
                                  <a:latin typeface="Cambria Math" panose="02040503050406030204" pitchFamily="18" charset="0"/>
                                </a:rPr>
                                <m:t>2</m:t>
                              </m:r>
                            </m:sup>
                          </m:sSup>
                        </m:e>
                      </m:nary>
                      <m:r>
                        <a:rPr lang="pt-BR" sz="2400" b="0" i="1" smtClean="0">
                          <a:latin typeface="Cambria Math" panose="02040503050406030204" pitchFamily="18" charset="0"/>
                        </a:rPr>
                        <m:t>.</m:t>
                      </m:r>
                    </m:oMath>
                  </m:oMathPara>
                </a14:m>
                <a:endParaRPr lang="pt-BR" sz="1600" dirty="0"/>
              </a:p>
              <a:p>
                <a:pPr marL="0" indent="0">
                  <a:buNone/>
                </a:pPr>
                <a:r>
                  <a:rPr lang="pt-BR" dirty="0"/>
                  <a:t>e </a:t>
                </a:r>
                <a:r>
                  <a:rPr lang="pt-BR" b="1" i="1" dirty="0">
                    <a:solidFill>
                      <a:srgbClr val="FF0000"/>
                    </a:solidFill>
                  </a:rPr>
                  <a:t>procurando por sua parte mais baixa</a:t>
                </a:r>
                <a:r>
                  <a:rPr lang="pt-BR" dirty="0"/>
                  <a:t>.</a:t>
                </a:r>
              </a:p>
            </p:txBody>
          </p:sp>
        </mc:Choice>
        <mc:Fallback xmlns="">
          <p:sp>
            <p:nvSpPr>
              <p:cNvPr id="3" name="Espaço Reservado para Conteúdo 2">
                <a:extLst>
                  <a:ext uri="{FF2B5EF4-FFF2-40B4-BE49-F238E27FC236}">
                    <a16:creationId xmlns:a16="http://schemas.microsoft.com/office/drawing/2014/main" id="{FD8F349C-97DE-0D2B-4878-CE50CD2E4808}"/>
                  </a:ext>
                </a:extLst>
              </p:cNvPr>
              <p:cNvSpPr>
                <a:spLocks noGrp="1" noRot="1" noChangeAspect="1" noMove="1" noResize="1" noEditPoints="1" noAdjustHandles="1" noChangeArrowheads="1" noChangeShapeType="1" noTextEdit="1"/>
              </p:cNvSpPr>
              <p:nvPr>
                <p:ph idx="1"/>
              </p:nvPr>
            </p:nvSpPr>
            <p:spPr>
              <a:xfrm>
                <a:off x="4866290" y="1825624"/>
                <a:ext cx="7199586" cy="5032375"/>
              </a:xfrm>
              <a:blipFill>
                <a:blip r:embed="rId3"/>
                <a:stretch>
                  <a:fillRect l="-1693" t="-1937"/>
                </a:stretch>
              </a:blipFill>
            </p:spPr>
            <p:txBody>
              <a:bodyPr/>
              <a:lstStyle/>
              <a:p>
                <a:r>
                  <a:rPr lang="pt-BR">
                    <a:noFill/>
                  </a:rPr>
                  <a:t> </a:t>
                </a:r>
              </a:p>
            </p:txBody>
          </p:sp>
        </mc:Fallback>
      </mc:AlternateContent>
      <p:sp>
        <p:nvSpPr>
          <p:cNvPr id="5" name="TextBox 6">
            <a:extLst>
              <a:ext uri="{FF2B5EF4-FFF2-40B4-BE49-F238E27FC236}">
                <a16:creationId xmlns:a16="http://schemas.microsoft.com/office/drawing/2014/main" id="{535FE6D4-36E0-C13F-DF79-B89CAF0B5A33}"/>
              </a:ext>
            </a:extLst>
          </p:cNvPr>
          <p:cNvSpPr txBox="1"/>
          <p:nvPr/>
        </p:nvSpPr>
        <p:spPr>
          <a:xfrm>
            <a:off x="2448909" y="4946586"/>
            <a:ext cx="1560669" cy="954107"/>
          </a:xfrm>
          <a:prstGeom prst="rect">
            <a:avLst/>
          </a:prstGeom>
          <a:noFill/>
        </p:spPr>
        <p:txBody>
          <a:bodyPr wrap="square" rtlCol="0">
            <a:spAutoFit/>
          </a:bodyPr>
          <a:lstStyle/>
          <a:p>
            <a:pPr algn="ctr"/>
            <a:r>
              <a:rPr lang="pt-BR" sz="1400" dirty="0"/>
              <a:t>solução ótima</a:t>
            </a:r>
          </a:p>
          <a:p>
            <a:pPr algn="ctr"/>
            <a:r>
              <a:rPr lang="pt-BR" sz="1400" dirty="0"/>
              <a:t>=</a:t>
            </a:r>
          </a:p>
          <a:p>
            <a:pPr algn="ctr"/>
            <a:r>
              <a:rPr lang="pt-BR" sz="1400" dirty="0"/>
              <a:t>ponto mais baixo da superfície</a:t>
            </a:r>
          </a:p>
        </p:txBody>
      </p:sp>
      <p:pic>
        <p:nvPicPr>
          <p:cNvPr id="1026" name="Picture 2">
            <a:extLst>
              <a:ext uri="{FF2B5EF4-FFF2-40B4-BE49-F238E27FC236}">
                <a16:creationId xmlns:a16="http://schemas.microsoft.com/office/drawing/2014/main" id="{2A013E68-AFE9-7994-025D-3D88DC6133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333" t="27872" r="10139" b="18750"/>
          <a:stretch/>
        </p:blipFill>
        <p:spPr bwMode="auto">
          <a:xfrm>
            <a:off x="104394" y="2133599"/>
            <a:ext cx="4430367" cy="273307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8">
            <a:extLst>
              <a:ext uri="{FF2B5EF4-FFF2-40B4-BE49-F238E27FC236}">
                <a16:creationId xmlns:a16="http://schemas.microsoft.com/office/drawing/2014/main" id="{4D680ECA-918A-731A-C075-143172A9504C}"/>
              </a:ext>
            </a:extLst>
          </p:cNvPr>
          <p:cNvCxnSpPr>
            <a:cxnSpLocks/>
            <a:stCxn id="5" idx="0"/>
          </p:cNvCxnSpPr>
          <p:nvPr/>
        </p:nvCxnSpPr>
        <p:spPr>
          <a:xfrm flipH="1" flipV="1">
            <a:off x="2638425" y="4210050"/>
            <a:ext cx="590819" cy="7365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24918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E3B9D4-DED6-762A-9E06-AB0DC48A04B6}"/>
              </a:ext>
            </a:extLst>
          </p:cNvPr>
          <p:cNvSpPr>
            <a:spLocks noGrp="1"/>
          </p:cNvSpPr>
          <p:nvPr>
            <p:ph type="title"/>
          </p:nvPr>
        </p:nvSpPr>
        <p:spPr/>
        <p:txBody>
          <a:bodyPr/>
          <a:lstStyle/>
          <a:p>
            <a:r>
              <a:rPr lang="pt-BR" dirty="0"/>
              <a:t>Plotando a 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D8F349C-97DE-0D2B-4878-CE50CD2E4808}"/>
                  </a:ext>
                </a:extLst>
              </p:cNvPr>
              <p:cNvSpPr>
                <a:spLocks noGrp="1"/>
              </p:cNvSpPr>
              <p:nvPr>
                <p:ph idx="1"/>
              </p:nvPr>
            </p:nvSpPr>
            <p:spPr>
              <a:xfrm>
                <a:off x="5457825" y="1825624"/>
                <a:ext cx="6608051" cy="5032375"/>
              </a:xfrm>
            </p:spPr>
            <p:txBody>
              <a:bodyPr>
                <a:normAutofit/>
              </a:bodyPr>
              <a:lstStyle/>
              <a:p>
                <a:r>
                  <a:rPr lang="pt-BR" dirty="0"/>
                  <a:t>Os valores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2</m:t>
                            </m:r>
                          </m:sub>
                        </m:sSub>
                      </m:e>
                    </m:d>
                  </m:oMath>
                </a14:m>
                <a:r>
                  <a:rPr lang="pt-BR" dirty="0"/>
                  <a:t>, para plotarmos a </a:t>
                </a:r>
                <a:r>
                  <a:rPr lang="pt-BR" b="1" i="1" dirty="0"/>
                  <a:t>superfície de erro </a:t>
                </a:r>
                <a:r>
                  <a:rPr lang="pt-BR" dirty="0"/>
                  <a:t>são obtidos variando-se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b="0" i="1" smtClean="0">
                            <a:latin typeface="Cambria Math" panose="02040503050406030204" pitchFamily="18" charset="0"/>
                          </a:rPr>
                          <m:t>2</m:t>
                        </m:r>
                      </m:sub>
                    </m:sSub>
                  </m:oMath>
                </a14:m>
                <a:r>
                  <a:rPr lang="pt-BR" dirty="0"/>
                  <a:t> na equação do EQM.</a:t>
                </a:r>
              </a:p>
              <a:p>
                <a:r>
                  <a:rPr lang="pt-BR" dirty="0"/>
                  <a:t>Para este exemplo, onde temos dois atributos, a </a:t>
                </a:r>
                <a:r>
                  <a:rPr lang="pt-BR" b="1" i="1" dirty="0">
                    <a:solidFill>
                      <a:srgbClr val="00B050"/>
                    </a:solidFill>
                  </a:rPr>
                  <a:t>superfície de erro</a:t>
                </a:r>
                <a:r>
                  <a:rPr lang="pt-BR" dirty="0"/>
                  <a:t> é </a:t>
                </a:r>
                <a:r>
                  <a:rPr lang="pt-BR" b="1" i="1" dirty="0">
                    <a:solidFill>
                      <a:srgbClr val="7030A0"/>
                    </a:solidFill>
                  </a:rPr>
                  <a:t>representada por uma figura em 3 dimensões</a:t>
                </a:r>
                <a:r>
                  <a:rPr lang="pt-BR" dirty="0"/>
                  <a:t>, onde cada par de valores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b="0" i="1" smtClean="0">
                            <a:latin typeface="Cambria Math" panose="02040503050406030204" pitchFamily="18" charset="0"/>
                          </a:rPr>
                          <m:t>2</m:t>
                        </m:r>
                      </m:sub>
                    </m:sSub>
                  </m:oMath>
                </a14:m>
                <a:r>
                  <a:rPr lang="pt-BR" dirty="0"/>
                  <a:t> corresponde a um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2</m:t>
                            </m:r>
                          </m:sub>
                        </m:sSub>
                      </m:e>
                    </m:d>
                  </m:oMath>
                </a14:m>
                <a:r>
                  <a:rPr lang="pt-BR" dirty="0"/>
                  <a:t>.</a:t>
                </a:r>
              </a:p>
            </p:txBody>
          </p:sp>
        </mc:Choice>
        <mc:Fallback xmlns="">
          <p:sp>
            <p:nvSpPr>
              <p:cNvPr id="3" name="Espaço Reservado para Conteúdo 2">
                <a:extLst>
                  <a:ext uri="{FF2B5EF4-FFF2-40B4-BE49-F238E27FC236}">
                    <a16:creationId xmlns:a16="http://schemas.microsoft.com/office/drawing/2014/main" id="{FD8F349C-97DE-0D2B-4878-CE50CD2E4808}"/>
                  </a:ext>
                </a:extLst>
              </p:cNvPr>
              <p:cNvSpPr>
                <a:spLocks noGrp="1" noRot="1" noChangeAspect="1" noMove="1" noResize="1" noEditPoints="1" noAdjustHandles="1" noChangeArrowheads="1" noChangeShapeType="1" noTextEdit="1"/>
              </p:cNvSpPr>
              <p:nvPr>
                <p:ph idx="1"/>
              </p:nvPr>
            </p:nvSpPr>
            <p:spPr>
              <a:xfrm>
                <a:off x="5457825" y="1825624"/>
                <a:ext cx="6608051" cy="5032375"/>
              </a:xfrm>
              <a:blipFill>
                <a:blip r:embed="rId3"/>
                <a:stretch>
                  <a:fillRect l="-1661" t="-1937" r="-1937"/>
                </a:stretch>
              </a:blipFill>
            </p:spPr>
            <p:txBody>
              <a:bodyPr/>
              <a:lstStyle/>
              <a:p>
                <a:r>
                  <a:rPr lang="pt-BR">
                    <a:noFill/>
                  </a:rPr>
                  <a:t> </a:t>
                </a:r>
              </a:p>
            </p:txBody>
          </p:sp>
        </mc:Fallback>
      </mc:AlternateContent>
      <p:sp>
        <p:nvSpPr>
          <p:cNvPr id="5" name="TextBox 6">
            <a:extLst>
              <a:ext uri="{FF2B5EF4-FFF2-40B4-BE49-F238E27FC236}">
                <a16:creationId xmlns:a16="http://schemas.microsoft.com/office/drawing/2014/main" id="{535FE6D4-36E0-C13F-DF79-B89CAF0B5A33}"/>
              </a:ext>
            </a:extLst>
          </p:cNvPr>
          <p:cNvSpPr txBox="1"/>
          <p:nvPr/>
        </p:nvSpPr>
        <p:spPr>
          <a:xfrm>
            <a:off x="1976629" y="4866678"/>
            <a:ext cx="2409442" cy="738664"/>
          </a:xfrm>
          <a:prstGeom prst="rect">
            <a:avLst/>
          </a:prstGeom>
          <a:noFill/>
        </p:spPr>
        <p:txBody>
          <a:bodyPr wrap="none" rtlCol="0">
            <a:spAutoFit/>
          </a:bodyPr>
          <a:lstStyle/>
          <a:p>
            <a:pPr algn="ctr"/>
            <a:r>
              <a:rPr lang="pt-BR" sz="1400" dirty="0"/>
              <a:t>solução ótima</a:t>
            </a:r>
          </a:p>
          <a:p>
            <a:pPr algn="ctr"/>
            <a:r>
              <a:rPr lang="pt-BR" sz="1400" dirty="0"/>
              <a:t>=</a:t>
            </a:r>
          </a:p>
          <a:p>
            <a:pPr algn="ctr"/>
            <a:r>
              <a:rPr lang="pt-BR" sz="1400" dirty="0"/>
              <a:t>ponto mais baixo da superfície</a:t>
            </a:r>
          </a:p>
        </p:txBody>
      </p:sp>
      <p:pic>
        <p:nvPicPr>
          <p:cNvPr id="7" name="Picture 2">
            <a:extLst>
              <a:ext uri="{FF2B5EF4-FFF2-40B4-BE49-F238E27FC236}">
                <a16:creationId xmlns:a16="http://schemas.microsoft.com/office/drawing/2014/main" id="{D7A03FBA-733A-FD46-8C0D-09A38773F42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333" t="27872" r="10139" b="18750"/>
          <a:stretch/>
        </p:blipFill>
        <p:spPr bwMode="auto">
          <a:xfrm>
            <a:off x="104394" y="2133599"/>
            <a:ext cx="4430367" cy="273307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8">
            <a:extLst>
              <a:ext uri="{FF2B5EF4-FFF2-40B4-BE49-F238E27FC236}">
                <a16:creationId xmlns:a16="http://schemas.microsoft.com/office/drawing/2014/main" id="{4D680ECA-918A-731A-C075-143172A9504C}"/>
              </a:ext>
            </a:extLst>
          </p:cNvPr>
          <p:cNvCxnSpPr>
            <a:cxnSpLocks/>
          </p:cNvCxnSpPr>
          <p:nvPr/>
        </p:nvCxnSpPr>
        <p:spPr>
          <a:xfrm flipH="1" flipV="1">
            <a:off x="2609850" y="4208196"/>
            <a:ext cx="571500" cy="6584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00867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E3B9D4-DED6-762A-9E06-AB0DC48A04B6}"/>
              </a:ext>
            </a:extLst>
          </p:cNvPr>
          <p:cNvSpPr>
            <a:spLocks noGrp="1"/>
          </p:cNvSpPr>
          <p:nvPr>
            <p:ph type="title"/>
          </p:nvPr>
        </p:nvSpPr>
        <p:spPr/>
        <p:txBody>
          <a:bodyPr/>
          <a:lstStyle/>
          <a:p>
            <a:r>
              <a:rPr lang="pt-BR" dirty="0"/>
              <a:t>Plotando a superfície de erro</a:t>
            </a:r>
          </a:p>
        </p:txBody>
      </p:sp>
      <p:sp>
        <p:nvSpPr>
          <p:cNvPr id="3" name="Espaço Reservado para Conteúdo 2">
            <a:extLst>
              <a:ext uri="{FF2B5EF4-FFF2-40B4-BE49-F238E27FC236}">
                <a16:creationId xmlns:a16="http://schemas.microsoft.com/office/drawing/2014/main" id="{FD8F349C-97DE-0D2B-4878-CE50CD2E4808}"/>
              </a:ext>
            </a:extLst>
          </p:cNvPr>
          <p:cNvSpPr>
            <a:spLocks noGrp="1"/>
          </p:cNvSpPr>
          <p:nvPr>
            <p:ph idx="1"/>
          </p:nvPr>
        </p:nvSpPr>
        <p:spPr>
          <a:xfrm>
            <a:off x="5686806" y="1835149"/>
            <a:ext cx="6379070" cy="5032375"/>
          </a:xfrm>
        </p:spPr>
        <p:txBody>
          <a:bodyPr>
            <a:normAutofit lnSpcReduction="10000"/>
          </a:bodyPr>
          <a:lstStyle/>
          <a:p>
            <a:r>
              <a:rPr lang="pt-BR" dirty="0"/>
              <a:t>Devido a superfície ser </a:t>
            </a:r>
            <a:r>
              <a:rPr lang="pt-BR" b="1" i="1" dirty="0"/>
              <a:t>convexa</a:t>
            </a:r>
            <a:r>
              <a:rPr lang="pt-BR" dirty="0"/>
              <a:t>, temos apenas </a:t>
            </a:r>
            <a:r>
              <a:rPr lang="pt-BR" b="1" i="1" dirty="0"/>
              <a:t>um ponto de mínimo</a:t>
            </a:r>
            <a:r>
              <a:rPr lang="pt-BR" dirty="0"/>
              <a:t>, o </a:t>
            </a:r>
            <a:r>
              <a:rPr lang="pt-BR" b="1" i="1" dirty="0"/>
              <a:t>mínimo global</a:t>
            </a:r>
            <a:r>
              <a:rPr lang="pt-BR" dirty="0"/>
              <a:t>.</a:t>
            </a:r>
          </a:p>
          <a:p>
            <a:r>
              <a:rPr lang="pt-BR" dirty="0"/>
              <a:t>O </a:t>
            </a:r>
            <a:r>
              <a:rPr lang="pt-BR" b="1" i="1" dirty="0"/>
              <a:t>mínimo global </a:t>
            </a:r>
            <a:r>
              <a:rPr lang="pt-BR" dirty="0"/>
              <a:t>é ponto mais baixo da superfície e nos dá a solução ótima.</a:t>
            </a:r>
          </a:p>
          <a:p>
            <a:r>
              <a:rPr lang="pt-BR" b="1" i="1" dirty="0">
                <a:solidFill>
                  <a:srgbClr val="7030A0"/>
                </a:solidFill>
              </a:rPr>
              <a:t>Observações</a:t>
            </a:r>
            <a:r>
              <a:rPr lang="pt-BR" dirty="0"/>
              <a:t> </a:t>
            </a:r>
          </a:p>
          <a:p>
            <a:pPr lvl="1">
              <a:buFont typeface="Wingdings" panose="05000000000000000000" pitchFamily="2" charset="2"/>
              <a:buChar char="§"/>
            </a:pPr>
            <a:r>
              <a:rPr lang="pt-BR" dirty="0"/>
              <a:t>Só conseguimos encontrar o ponto de mínimo de </a:t>
            </a:r>
            <a:r>
              <a:rPr lang="pt-BR" b="1" i="1" dirty="0">
                <a:solidFill>
                  <a:srgbClr val="7030A0"/>
                </a:solidFill>
              </a:rPr>
              <a:t>forma visual </a:t>
            </a:r>
            <a:r>
              <a:rPr lang="pt-BR" dirty="0"/>
              <a:t>se tivermos funções hipóteses com até 2 atributos.</a:t>
            </a:r>
          </a:p>
          <a:p>
            <a:pPr lvl="1">
              <a:buFont typeface="Wingdings" panose="05000000000000000000" pitchFamily="2" charset="2"/>
              <a:buChar char="§"/>
            </a:pPr>
            <a:r>
              <a:rPr lang="pt-BR" dirty="0"/>
              <a:t>Além disso, é uma </a:t>
            </a:r>
            <a:r>
              <a:rPr lang="pt-BR" b="1" i="1" dirty="0">
                <a:solidFill>
                  <a:srgbClr val="7030A0"/>
                </a:solidFill>
              </a:rPr>
              <a:t>solução com altíssima complexidade computacional</a:t>
            </a:r>
            <a:r>
              <a:rPr lang="pt-BR" dirty="0"/>
              <a:t>, pois usa a força bruta para encontrar o ponto ótimo.</a:t>
            </a:r>
          </a:p>
          <a:p>
            <a:pPr lvl="1">
              <a:buFont typeface="Wingdings" panose="05000000000000000000" pitchFamily="2" charset="2"/>
              <a:buChar char="§"/>
            </a:pPr>
            <a:r>
              <a:rPr lang="pt-BR" dirty="0"/>
              <a:t>Assim, em geral, usamos a forma fechada.</a:t>
            </a:r>
          </a:p>
        </p:txBody>
      </p:sp>
      <p:sp>
        <p:nvSpPr>
          <p:cNvPr id="5" name="TextBox 6">
            <a:extLst>
              <a:ext uri="{FF2B5EF4-FFF2-40B4-BE49-F238E27FC236}">
                <a16:creationId xmlns:a16="http://schemas.microsoft.com/office/drawing/2014/main" id="{535FE6D4-36E0-C13F-DF79-B89CAF0B5A33}"/>
              </a:ext>
            </a:extLst>
          </p:cNvPr>
          <p:cNvSpPr txBox="1"/>
          <p:nvPr/>
        </p:nvSpPr>
        <p:spPr>
          <a:xfrm>
            <a:off x="1976629" y="4866678"/>
            <a:ext cx="2409442" cy="738664"/>
          </a:xfrm>
          <a:prstGeom prst="rect">
            <a:avLst/>
          </a:prstGeom>
          <a:noFill/>
        </p:spPr>
        <p:txBody>
          <a:bodyPr wrap="none" rtlCol="0">
            <a:spAutoFit/>
          </a:bodyPr>
          <a:lstStyle/>
          <a:p>
            <a:pPr algn="ctr"/>
            <a:r>
              <a:rPr lang="pt-BR" sz="1400" dirty="0"/>
              <a:t>solução ótima</a:t>
            </a:r>
          </a:p>
          <a:p>
            <a:pPr algn="ctr"/>
            <a:r>
              <a:rPr lang="pt-BR" sz="1400" dirty="0"/>
              <a:t>=</a:t>
            </a:r>
          </a:p>
          <a:p>
            <a:pPr algn="ctr"/>
            <a:r>
              <a:rPr lang="pt-BR" sz="1400" dirty="0"/>
              <a:t>ponto mais baixo da superfície</a:t>
            </a:r>
          </a:p>
        </p:txBody>
      </p:sp>
      <p:pic>
        <p:nvPicPr>
          <p:cNvPr id="7" name="Picture 2">
            <a:extLst>
              <a:ext uri="{FF2B5EF4-FFF2-40B4-BE49-F238E27FC236}">
                <a16:creationId xmlns:a16="http://schemas.microsoft.com/office/drawing/2014/main" id="{D7A03FBA-733A-FD46-8C0D-09A38773F42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33" t="27872" r="10139" b="18750"/>
          <a:stretch/>
        </p:blipFill>
        <p:spPr bwMode="auto">
          <a:xfrm>
            <a:off x="104394" y="2133599"/>
            <a:ext cx="4430367" cy="273307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8">
            <a:extLst>
              <a:ext uri="{FF2B5EF4-FFF2-40B4-BE49-F238E27FC236}">
                <a16:creationId xmlns:a16="http://schemas.microsoft.com/office/drawing/2014/main" id="{4D680ECA-918A-731A-C075-143172A9504C}"/>
              </a:ext>
            </a:extLst>
          </p:cNvPr>
          <p:cNvCxnSpPr>
            <a:cxnSpLocks/>
          </p:cNvCxnSpPr>
          <p:nvPr/>
        </p:nvCxnSpPr>
        <p:spPr>
          <a:xfrm flipH="1" flipV="1">
            <a:off x="2609850" y="4208196"/>
            <a:ext cx="571500" cy="6584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70009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Plotando a superfície de contorno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7857546" cy="5032375"/>
              </a:xfrm>
            </p:spPr>
            <p:txBody>
              <a:bodyPr>
                <a:normAutofit/>
              </a:bodyPr>
              <a:lstStyle/>
              <a:p>
                <a:pPr marL="285750" indent="-285750"/>
                <a:r>
                  <a:rPr lang="pt-BR" dirty="0"/>
                  <a:t>Outra figura importante que plotamos a partir dos resultados obtidos para plotar a superfície de erro é chamada de </a:t>
                </a:r>
                <a:r>
                  <a:rPr lang="pt-BR" b="1" i="1" dirty="0">
                    <a:solidFill>
                      <a:srgbClr val="00B050"/>
                    </a:solidFill>
                  </a:rPr>
                  <a:t>superfície de contorno</a:t>
                </a:r>
                <a:r>
                  <a:rPr lang="pt-BR" dirty="0"/>
                  <a:t>.</a:t>
                </a:r>
              </a:p>
              <a:p>
                <a:pPr marL="285750" indent="-285750"/>
                <a:r>
                  <a:rPr lang="pt-BR" dirty="0"/>
                  <a:t>Uma superfície de contorno contém várias </a:t>
                </a:r>
                <a:r>
                  <a:rPr lang="pt-BR" b="1" i="1" dirty="0">
                    <a:solidFill>
                      <a:srgbClr val="7030A0"/>
                    </a:solidFill>
                  </a:rPr>
                  <a:t>linhas de contorno</a:t>
                </a:r>
                <a:r>
                  <a:rPr lang="pt-BR" dirty="0"/>
                  <a:t>.</a:t>
                </a:r>
              </a:p>
              <a:p>
                <a:pPr lvl="1">
                  <a:buFont typeface="Wingdings" panose="05000000000000000000" pitchFamily="2" charset="2"/>
                  <a:buChar char="§"/>
                </a:pPr>
                <a:r>
                  <a:rPr lang="pt-BR" dirty="0"/>
                  <a:t>Uma </a:t>
                </a:r>
                <a:r>
                  <a:rPr lang="pt-BR" b="1" i="1" dirty="0"/>
                  <a:t>linha de contorno </a:t>
                </a:r>
                <a:r>
                  <a:rPr lang="pt-BR" dirty="0"/>
                  <a:t>é uma </a:t>
                </a:r>
                <a:r>
                  <a:rPr lang="pt-BR" b="1" i="1" dirty="0"/>
                  <a:t>curva ao longo da qual uma função tem um valor constante</a:t>
                </a:r>
                <a:r>
                  <a:rPr lang="pt-BR" dirty="0"/>
                  <a:t>. </a:t>
                </a:r>
              </a:p>
              <a:p>
                <a:r>
                  <a:rPr lang="pt-BR" dirty="0"/>
                  <a:t>Na superfície de erro, cada linha indica uma curva ao longo da qual o </a:t>
                </a:r>
                <a:r>
                  <a:rPr lang="pt-BR" b="1" i="1" dirty="0"/>
                  <a:t>erro</a:t>
                </a:r>
                <a:r>
                  <a:rPr lang="pt-BR" dirty="0"/>
                  <a:t> é </a:t>
                </a:r>
                <a:r>
                  <a:rPr lang="pt-BR" b="1" i="1" dirty="0"/>
                  <a:t>constante</a:t>
                </a:r>
                <a:r>
                  <a:rPr lang="pt-BR" dirty="0"/>
                  <a:t>.</a:t>
                </a:r>
              </a:p>
              <a:p>
                <a:r>
                  <a:rPr lang="pt-BR" dirty="0"/>
                  <a:t>Ou seja, </a:t>
                </a:r>
                <a:r>
                  <a:rPr lang="pt-BR" b="1" i="1" dirty="0"/>
                  <a:t>qualquer par de valores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b="0" i="1" smtClean="0">
                            <a:latin typeface="Cambria Math" panose="02040503050406030204" pitchFamily="18" charset="0"/>
                          </a:rPr>
                          <m:t>2</m:t>
                        </m:r>
                      </m:sub>
                    </m:sSub>
                  </m:oMath>
                </a14:m>
                <a:r>
                  <a:rPr lang="pt-BR" dirty="0"/>
                  <a:t> ao longo de uma mesma curva </a:t>
                </a:r>
                <a:r>
                  <a:rPr lang="pt-BR" b="1" i="1" dirty="0"/>
                  <a:t>terá o mesmo valor de erro</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7857546" cy="5032375"/>
              </a:xfrm>
              <a:blipFill>
                <a:blip r:embed="rId3"/>
                <a:stretch>
                  <a:fillRect l="-1398" t="-1937" r="-776"/>
                </a:stretch>
              </a:blipFill>
            </p:spPr>
            <p:txBody>
              <a:bodyPr/>
              <a:lstStyle/>
              <a:p>
                <a:r>
                  <a:rPr lang="pt-BR">
                    <a:noFill/>
                  </a:rPr>
                  <a:t> </a:t>
                </a:r>
              </a:p>
            </p:txBody>
          </p:sp>
        </mc:Fallback>
      </mc:AlternateContent>
      <p:grpSp>
        <p:nvGrpSpPr>
          <p:cNvPr id="8" name="Grupo 7"/>
          <p:cNvGrpSpPr/>
          <p:nvPr/>
        </p:nvGrpSpPr>
        <p:grpSpPr>
          <a:xfrm>
            <a:off x="8743354" y="52955"/>
            <a:ext cx="3266009" cy="6766944"/>
            <a:chOff x="8743354" y="52955"/>
            <a:chExt cx="3266009" cy="6766944"/>
          </a:xfrm>
        </p:grpSpPr>
        <p:grpSp>
          <p:nvGrpSpPr>
            <p:cNvPr id="5" name="Grupo 4"/>
            <p:cNvGrpSpPr/>
            <p:nvPr/>
          </p:nvGrpSpPr>
          <p:grpSpPr>
            <a:xfrm>
              <a:off x="8743354" y="52955"/>
              <a:ext cx="3266009" cy="6766944"/>
              <a:chOff x="8743354" y="52955"/>
              <a:chExt cx="3266009" cy="6766944"/>
            </a:xfrm>
          </p:grpSpPr>
          <p:grpSp>
            <p:nvGrpSpPr>
              <p:cNvPr id="15" name="Grupo 14"/>
              <p:cNvGrpSpPr/>
              <p:nvPr/>
            </p:nvGrpSpPr>
            <p:grpSpPr>
              <a:xfrm>
                <a:off x="8784375" y="3494131"/>
                <a:ext cx="3224988" cy="3325768"/>
                <a:chOff x="12393519" y="3506831"/>
                <a:chExt cx="3224988" cy="3325768"/>
              </a:xfrm>
            </p:grpSpPr>
            <p:pic>
              <p:nvPicPr>
                <p:cNvPr id="14" name="Imagem 13"/>
                <p:cNvPicPr>
                  <a:picLocks noChangeAspect="1"/>
                </p:cNvPicPr>
                <p:nvPr/>
              </p:nvPicPr>
              <p:blipFill rotWithShape="1">
                <a:blip r:embed="rId4" cstate="print">
                  <a:extLst>
                    <a:ext uri="{28A0092B-C50C-407E-A947-70E740481C1C}">
                      <a14:useLocalDpi xmlns:a14="http://schemas.microsoft.com/office/drawing/2010/main" val="0"/>
                    </a:ext>
                  </a:extLst>
                </a:blip>
                <a:srcRect l="1783" t="7013" r="9328" b="1320"/>
                <a:stretch/>
              </p:blipFill>
              <p:spPr>
                <a:xfrm>
                  <a:off x="12393519" y="3506831"/>
                  <a:ext cx="3224988" cy="3325768"/>
                </a:xfrm>
                <a:prstGeom prst="rect">
                  <a:avLst/>
                </a:prstGeom>
              </p:spPr>
            </p:pic>
            <p:sp>
              <p:nvSpPr>
                <p:cNvPr id="6" name="TextBox 6"/>
                <p:cNvSpPr txBox="1"/>
                <p:nvPr/>
              </p:nvSpPr>
              <p:spPr>
                <a:xfrm>
                  <a:off x="13580950" y="4356497"/>
                  <a:ext cx="1207510" cy="307777"/>
                </a:xfrm>
                <a:prstGeom prst="rect">
                  <a:avLst/>
                </a:prstGeom>
                <a:noFill/>
              </p:spPr>
              <p:txBody>
                <a:bodyPr wrap="none" rtlCol="0">
                  <a:spAutoFit/>
                </a:bodyPr>
                <a:lstStyle/>
                <a:p>
                  <a:r>
                    <a:rPr lang="pt-BR" sz="1400" dirty="0"/>
                    <a:t>solução ótima</a:t>
                  </a:r>
                </a:p>
              </p:txBody>
            </p:sp>
            <p:cxnSp>
              <p:nvCxnSpPr>
                <p:cNvPr id="7" name="Straight Arrow Connector 8"/>
                <p:cNvCxnSpPr/>
                <p:nvPr/>
              </p:nvCxnSpPr>
              <p:spPr>
                <a:xfrm>
                  <a:off x="14214477" y="4587004"/>
                  <a:ext cx="4923" cy="4282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2" name="Grupo 11"/>
              <p:cNvGrpSpPr/>
              <p:nvPr/>
            </p:nvGrpSpPr>
            <p:grpSpPr>
              <a:xfrm>
                <a:off x="8743354" y="52955"/>
                <a:ext cx="3266009" cy="3027742"/>
                <a:chOff x="8860011" y="138306"/>
                <a:chExt cx="3266009" cy="3027742"/>
              </a:xfrm>
            </p:grpSpPr>
            <p:pic>
              <p:nvPicPr>
                <p:cNvPr id="11" name="Imagem 10"/>
                <p:cNvPicPr>
                  <a:picLocks noChangeAspect="1"/>
                </p:cNvPicPr>
                <p:nvPr/>
              </p:nvPicPr>
              <p:blipFill rotWithShape="1">
                <a:blip r:embed="rId5">
                  <a:extLst>
                    <a:ext uri="{28A0092B-C50C-407E-A947-70E740481C1C}">
                      <a14:useLocalDpi xmlns:a14="http://schemas.microsoft.com/office/drawing/2010/main" val="0"/>
                    </a:ext>
                  </a:extLst>
                </a:blip>
                <a:srcRect l="2950" t="7356" r="10919" b="12797"/>
                <a:stretch/>
              </p:blipFill>
              <p:spPr>
                <a:xfrm>
                  <a:off x="8860011" y="138306"/>
                  <a:ext cx="3266009" cy="3027742"/>
                </a:xfrm>
                <a:prstGeom prst="rect">
                  <a:avLst/>
                </a:prstGeom>
              </p:spPr>
            </p:pic>
            <p:sp>
              <p:nvSpPr>
                <p:cNvPr id="10" name="Elipse 9"/>
                <p:cNvSpPr/>
                <p:nvPr/>
              </p:nvSpPr>
              <p:spPr>
                <a:xfrm>
                  <a:off x="10353006" y="1388315"/>
                  <a:ext cx="720000" cy="72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Elipse 15"/>
                <p:cNvSpPr/>
                <p:nvPr/>
              </p:nvSpPr>
              <p:spPr>
                <a:xfrm>
                  <a:off x="10533006" y="1568315"/>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p:cNvSpPr/>
                <p:nvPr/>
              </p:nvSpPr>
              <p:spPr>
                <a:xfrm>
                  <a:off x="10169100" y="1208315"/>
                  <a:ext cx="1080000" cy="108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Elipse 17"/>
                <p:cNvSpPr/>
                <p:nvPr/>
              </p:nvSpPr>
              <p:spPr>
                <a:xfrm>
                  <a:off x="9995932" y="1027906"/>
                  <a:ext cx="1440000" cy="144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9" name="Seta para a direita 18"/>
              <p:cNvSpPr/>
              <p:nvPr/>
            </p:nvSpPr>
            <p:spPr>
              <a:xfrm rot="5400000">
                <a:off x="10402140" y="3055898"/>
                <a:ext cx="346842" cy="462456"/>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4" name="Estrela de 5 pontas 3"/>
            <p:cNvSpPr/>
            <p:nvPr/>
          </p:nvSpPr>
          <p:spPr>
            <a:xfrm>
              <a:off x="10545275" y="1603843"/>
              <a:ext cx="108000" cy="108000"/>
            </a:xfrm>
            <a:prstGeom prst="star5">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090702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392516"/>
            <a:ext cx="10687665" cy="2072968"/>
          </a:xfrm>
        </p:spPr>
        <p:txBody>
          <a:bodyPr>
            <a:normAutofit/>
          </a:bodyPr>
          <a:lstStyle/>
          <a:p>
            <a:pPr marL="0" indent="0" algn="ctr">
              <a:buNone/>
            </a:pPr>
            <a:r>
              <a:rPr lang="pt-BR" sz="4800" b="1" i="1" dirty="0"/>
              <a:t>Porém, nem tudo são flores com a equação normal...</a:t>
            </a:r>
            <a:endParaRPr lang="pt-BR" sz="4800" i="1" dirty="0"/>
          </a:p>
        </p:txBody>
      </p:sp>
    </p:spTree>
    <p:extLst>
      <p:ext uri="{BB962C8B-B14F-4D97-AF65-F5344CB8AC3E}">
        <p14:creationId xmlns:p14="http://schemas.microsoft.com/office/powerpoint/2010/main" val="22789993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8D746-3DEA-439B-1595-9139BE769DFA}"/>
              </a:ext>
            </a:extLst>
          </p:cNvPr>
          <p:cNvSpPr>
            <a:spLocks noGrp="1"/>
          </p:cNvSpPr>
          <p:nvPr>
            <p:ph type="title"/>
          </p:nvPr>
        </p:nvSpPr>
        <p:spPr/>
        <p:txBody>
          <a:bodyPr/>
          <a:lstStyle/>
          <a:p>
            <a:r>
              <a:rPr lang="pt-BR" dirty="0"/>
              <a:t>Desvantagens da 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E1BAF9-B052-2AD9-381D-36E00A1277E9}"/>
                  </a:ext>
                </a:extLst>
              </p:cNvPr>
              <p:cNvSpPr>
                <a:spLocks noGrp="1"/>
              </p:cNvSpPr>
              <p:nvPr>
                <p:ph idx="1"/>
              </p:nvPr>
            </p:nvSpPr>
            <p:spPr>
              <a:xfrm>
                <a:off x="838199" y="1825624"/>
                <a:ext cx="11143594" cy="5032375"/>
              </a:xfrm>
            </p:spPr>
            <p:txBody>
              <a:bodyPr>
                <a:normAutofit lnSpcReduction="10000"/>
              </a:bodyPr>
              <a:lstStyle/>
              <a:p>
                <a:r>
                  <a:rPr lang="pt-BR" b="1" dirty="0"/>
                  <a:t>Alta complexidade computacional</a:t>
                </a:r>
                <a:r>
                  <a:rPr lang="pt-BR" dirty="0"/>
                  <a:t>: a solução da </a:t>
                </a:r>
                <a:r>
                  <a:rPr lang="pt-BR" b="1" i="1" dirty="0"/>
                  <a:t>equação normal</a:t>
                </a:r>
                <a:r>
                  <a:rPr lang="pt-BR" dirty="0"/>
                  <a:t> envolve o </a:t>
                </a:r>
                <a:r>
                  <a:rPr lang="pt-BR" b="1" i="1" dirty="0">
                    <a:solidFill>
                      <a:srgbClr val="7030A0"/>
                    </a:solidFill>
                  </a:rPr>
                  <a:t>cálculo da inversa </a:t>
                </a:r>
                <a:r>
                  <a:rPr lang="pt-BR" dirty="0"/>
                  <a:t>de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a:t>
                </a:r>
              </a:p>
              <a:p>
                <a:r>
                  <a:rPr lang="pt-BR" dirty="0"/>
                  <a:t>Esse cálculo tem complexidade computacional aproximadamente cúbica, </a:t>
                </a:r>
                <a14:m>
                  <m:oMath xmlns:m="http://schemas.openxmlformats.org/officeDocument/2006/math">
                    <m:r>
                      <a:rPr lang="pt-BR" i="1">
                        <a:latin typeface="Cambria Math" panose="02040503050406030204" pitchFamily="18" charset="0"/>
                      </a:rPr>
                      <m:t>𝑂</m:t>
                    </m:r>
                    <m:r>
                      <a:rPr lang="pt-BR" i="1">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𝐾</m:t>
                        </m:r>
                      </m:e>
                      <m:sup>
                        <m:r>
                          <a:rPr lang="pt-BR" b="0" i="1" smtClean="0">
                            <a:latin typeface="Cambria Math" panose="02040503050406030204" pitchFamily="18" charset="0"/>
                          </a:rPr>
                          <m:t>3</m:t>
                        </m:r>
                      </m:sup>
                    </m:sSup>
                    <m:r>
                      <a:rPr lang="pt-BR" i="1">
                        <a:latin typeface="Cambria Math" panose="02040503050406030204" pitchFamily="18" charset="0"/>
                      </a:rPr>
                      <m:t>)</m:t>
                    </m:r>
                  </m:oMath>
                </a14:m>
                <a:r>
                  <a:rPr lang="pt-BR" dirty="0"/>
                  <a:t>, onde </a:t>
                </a:r>
                <a14:m>
                  <m:oMath xmlns:m="http://schemas.openxmlformats.org/officeDocument/2006/math">
                    <m:r>
                      <a:rPr lang="pt-BR" i="1">
                        <a:latin typeface="Cambria Math" panose="02040503050406030204" pitchFamily="18" charset="0"/>
                      </a:rPr>
                      <m:t>𝐾</m:t>
                    </m:r>
                  </m:oMath>
                </a14:m>
                <a:r>
                  <a:rPr lang="pt-BR" dirty="0"/>
                  <a:t> é o número de atributos.</a:t>
                </a:r>
              </a:p>
              <a:p>
                <a:pPr lvl="1">
                  <a:buFont typeface="Wingdings" panose="05000000000000000000" pitchFamily="2" charset="2"/>
                  <a:buChar char="§"/>
                </a:pPr>
                <a:r>
                  <a:rPr lang="pt-BR" dirty="0"/>
                  <a:t>“</a:t>
                </a:r>
                <a:r>
                  <a:rPr lang="pt-BR" i="1" dirty="0"/>
                  <a:t>Big O</a:t>
                </a:r>
                <a:r>
                  <a:rPr lang="pt-BR" dirty="0"/>
                  <a:t>”</a:t>
                </a:r>
                <a:r>
                  <a:rPr lang="pt-BR" b="0" i="0" dirty="0">
                    <a:effectLst/>
                  </a:rPr>
                  <a:t> </a:t>
                </a:r>
                <a:r>
                  <a:rPr lang="pt-BR" dirty="0"/>
                  <a:t>é </a:t>
                </a:r>
                <a:r>
                  <a:rPr lang="pt-BR" b="0" i="0" dirty="0">
                    <a:effectLst/>
                  </a:rPr>
                  <a:t>uma notação usada para analisar como o </a:t>
                </a:r>
                <a:r>
                  <a:rPr lang="pt-BR" b="1" i="1" dirty="0">
                    <a:solidFill>
                      <a:srgbClr val="00B050"/>
                    </a:solidFill>
                    <a:effectLst/>
                  </a:rPr>
                  <a:t>tempo de execução de um algoritmo cresce à medida que o número de entradas aumenta</a:t>
                </a:r>
                <a:r>
                  <a:rPr lang="pt-BR" b="0" i="0" dirty="0">
                    <a:effectLst/>
                  </a:rPr>
                  <a:t>.</a:t>
                </a:r>
                <a:endParaRPr lang="pt-BR" dirty="0"/>
              </a:p>
              <a:p>
                <a:pPr lvl="1">
                  <a:buFont typeface="Wingdings" panose="05000000000000000000" pitchFamily="2" charset="2"/>
                  <a:buChar char="§"/>
                </a:pPr>
                <a:r>
                  <a:rPr lang="pt-BR" b="1" dirty="0"/>
                  <a:t>Exemplo</a:t>
                </a:r>
                <a:r>
                  <a:rPr lang="pt-BR" dirty="0"/>
                  <a:t>: Se o número de </a:t>
                </a:r>
                <a:r>
                  <a:rPr lang="pt-BR" b="1" i="1" dirty="0"/>
                  <a:t>atributos</a:t>
                </a:r>
                <a:r>
                  <a:rPr lang="pt-BR" dirty="0"/>
                  <a:t>, </a:t>
                </a:r>
                <a14:m>
                  <m:oMath xmlns:m="http://schemas.openxmlformats.org/officeDocument/2006/math">
                    <m:r>
                      <a:rPr lang="pt-BR" b="0" i="1" smtClean="0">
                        <a:latin typeface="Cambria Math" panose="02040503050406030204" pitchFamily="18" charset="0"/>
                      </a:rPr>
                      <m:t>𝐾</m:t>
                    </m:r>
                  </m:oMath>
                </a14:m>
                <a:r>
                  <a:rPr lang="pt-BR" dirty="0"/>
                  <a:t>,</a:t>
                </a:r>
                <a:r>
                  <a:rPr lang="pt-BR" b="1" i="1" dirty="0"/>
                  <a:t> </a:t>
                </a:r>
                <a:r>
                  <a:rPr lang="pt-BR" dirty="0"/>
                  <a:t>passar de 1 para 2, o tempo para cálculo aumenta em aproximadamente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2</m:t>
                        </m:r>
                      </m:e>
                      <m:sup>
                        <m:r>
                          <a:rPr lang="pt-BR" b="0" i="1" smtClean="0">
                            <a:latin typeface="Cambria Math" panose="02040503050406030204" pitchFamily="18" charset="0"/>
                          </a:rPr>
                          <m:t>3</m:t>
                        </m:r>
                      </m:sup>
                    </m:sSup>
                    <m:r>
                      <a:rPr lang="pt-BR" i="1">
                        <a:latin typeface="Cambria Math" panose="02040503050406030204" pitchFamily="18" charset="0"/>
                      </a:rPr>
                      <m:t>=</m:t>
                    </m:r>
                    <m:r>
                      <a:rPr lang="pt-BR" b="0" i="1" smtClean="0">
                        <a:latin typeface="Cambria Math" panose="02040503050406030204" pitchFamily="18" charset="0"/>
                      </a:rPr>
                      <m:t>8</m:t>
                    </m:r>
                  </m:oMath>
                </a14:m>
                <a:r>
                  <a:rPr lang="pt-BR" dirty="0"/>
                  <a:t> vezes.</a:t>
                </a:r>
              </a:p>
              <a:p>
                <a:r>
                  <a:rPr lang="pt-BR" dirty="0"/>
                  <a:t>Alguns conjuntos de dados podem ter centenas ou até milhares de atributos!</a:t>
                </a:r>
              </a:p>
              <a:p>
                <a:pPr lvl="1">
                  <a:buFont typeface="Wingdings" panose="05000000000000000000" pitchFamily="2" charset="2"/>
                  <a:buChar char="§"/>
                </a:pPr>
                <a:r>
                  <a:rPr lang="pt-BR" b="1" i="1" dirty="0" err="1">
                    <a:effectLst/>
                  </a:rPr>
                  <a:t>House</a:t>
                </a:r>
                <a:r>
                  <a:rPr lang="pt-BR" b="1" i="1" dirty="0">
                    <a:effectLst/>
                  </a:rPr>
                  <a:t> </a:t>
                </a:r>
                <a:r>
                  <a:rPr lang="pt-BR" b="1" i="1" dirty="0" err="1">
                    <a:effectLst/>
                  </a:rPr>
                  <a:t>Prices</a:t>
                </a:r>
                <a:r>
                  <a:rPr lang="pt-BR" b="1" i="1" dirty="0">
                    <a:effectLst/>
                  </a:rPr>
                  <a:t> </a:t>
                </a:r>
                <a:r>
                  <a:rPr lang="pt-BR" b="0" i="0" dirty="0">
                    <a:effectLst/>
                  </a:rPr>
                  <a:t>é um dataset </a:t>
                </a:r>
                <a:r>
                  <a:rPr lang="pt-BR" dirty="0"/>
                  <a:t>com</a:t>
                </a:r>
                <a:r>
                  <a:rPr lang="pt-BR" b="0" i="0" dirty="0">
                    <a:effectLst/>
                  </a:rPr>
                  <a:t> informações de casas que possui 79 atributos.</a:t>
                </a:r>
              </a:p>
              <a:p>
                <a:pPr lvl="1">
                  <a:buFont typeface="Wingdings" panose="05000000000000000000" pitchFamily="2" charset="2"/>
                  <a:buChar char="§"/>
                </a:pPr>
                <a:r>
                  <a:rPr lang="pt-BR" b="1" i="1" dirty="0" err="1">
                    <a:effectLst/>
                  </a:rPr>
                  <a:t>ImageNet</a:t>
                </a:r>
                <a:r>
                  <a:rPr lang="pt-BR" b="0" i="0" dirty="0">
                    <a:effectLst/>
                  </a:rPr>
                  <a:t> é um dataset </a:t>
                </a:r>
                <a:r>
                  <a:rPr lang="pt-BR" dirty="0"/>
                  <a:t>com imagens, onde cada imagem tem em média 256x256= 65536 </a:t>
                </a:r>
                <a:r>
                  <a:rPr lang="pt-BR" i="1" dirty="0"/>
                  <a:t>pixels</a:t>
                </a:r>
                <a:r>
                  <a:rPr lang="pt-BR" dirty="0"/>
                  <a:t> e cada </a:t>
                </a:r>
                <a:r>
                  <a:rPr lang="pt-BR" i="1" dirty="0"/>
                  <a:t>pixel</a:t>
                </a:r>
                <a:r>
                  <a:rPr lang="pt-BR" dirty="0"/>
                  <a:t> é considerado um atributo.</a:t>
                </a:r>
              </a:p>
            </p:txBody>
          </p:sp>
        </mc:Choice>
        <mc:Fallback xmlns="">
          <p:sp>
            <p:nvSpPr>
              <p:cNvPr id="3" name="Espaço Reservado para Conteúdo 2">
                <a:extLst>
                  <a:ext uri="{FF2B5EF4-FFF2-40B4-BE49-F238E27FC236}">
                    <a16:creationId xmlns:a16="http://schemas.microsoft.com/office/drawing/2014/main" id="{07E1BAF9-B052-2AD9-381D-36E00A1277E9}"/>
                  </a:ext>
                </a:extLst>
              </p:cNvPr>
              <p:cNvSpPr>
                <a:spLocks noGrp="1" noRot="1" noChangeAspect="1" noMove="1" noResize="1" noEditPoints="1" noAdjustHandles="1" noChangeArrowheads="1" noChangeShapeType="1" noTextEdit="1"/>
              </p:cNvSpPr>
              <p:nvPr>
                <p:ph idx="1"/>
              </p:nvPr>
            </p:nvSpPr>
            <p:spPr>
              <a:xfrm>
                <a:off x="838199" y="1825624"/>
                <a:ext cx="11143594" cy="5032375"/>
              </a:xfrm>
              <a:blipFill>
                <a:blip r:embed="rId3"/>
                <a:stretch>
                  <a:fillRect l="-929" t="-2663" r="-1258"/>
                </a:stretch>
              </a:blipFill>
            </p:spPr>
            <p:txBody>
              <a:bodyPr/>
              <a:lstStyle/>
              <a:p>
                <a:r>
                  <a:rPr lang="en-US">
                    <a:noFill/>
                  </a:rPr>
                  <a:t> </a:t>
                </a:r>
              </a:p>
            </p:txBody>
          </p:sp>
        </mc:Fallback>
      </mc:AlternateContent>
    </p:spTree>
    <p:extLst>
      <p:ext uri="{BB962C8B-B14F-4D97-AF65-F5344CB8AC3E}">
        <p14:creationId xmlns:p14="http://schemas.microsoft.com/office/powerpoint/2010/main" val="24393926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3C4A73-947B-C02C-F7F4-6C1C84840D9B}"/>
              </a:ext>
            </a:extLst>
          </p:cNvPr>
          <p:cNvSpPr>
            <a:spLocks noGrp="1"/>
          </p:cNvSpPr>
          <p:nvPr>
            <p:ph type="title"/>
          </p:nvPr>
        </p:nvSpPr>
        <p:spPr/>
        <p:txBody>
          <a:bodyPr/>
          <a:lstStyle/>
          <a:p>
            <a:r>
              <a:rPr lang="pt-BR" dirty="0"/>
              <a:t>Desvantagens da 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902E5C9-69A0-4836-2C53-127E2F8BDE8E}"/>
                  </a:ext>
                </a:extLst>
              </p:cNvPr>
              <p:cNvSpPr>
                <a:spLocks noGrp="1"/>
              </p:cNvSpPr>
              <p:nvPr>
                <p:ph idx="1"/>
              </p:nvPr>
            </p:nvSpPr>
            <p:spPr>
              <a:xfrm>
                <a:off x="838200" y="1825624"/>
                <a:ext cx="11163300" cy="5032375"/>
              </a:xfrm>
            </p:spPr>
            <p:txBody>
              <a:bodyPr/>
              <a:lstStyle/>
              <a:p>
                <a:r>
                  <a:rPr lang="pt-BR" dirty="0"/>
                  <a:t>Além disso, dependendo do número de </a:t>
                </a:r>
                <a:r>
                  <a:rPr lang="pt-BR" b="1" i="1" dirty="0"/>
                  <a:t>exemplos do conjunto de treinamento</a:t>
                </a:r>
                <a:r>
                  <a:rPr lang="pt-BR" dirty="0"/>
                  <a:t>, </a:t>
                </a:r>
                <a14:m>
                  <m:oMath xmlns:m="http://schemas.openxmlformats.org/officeDocument/2006/math">
                    <m:r>
                      <a:rPr lang="pt-BR" b="0" i="1" smtClean="0">
                        <a:latin typeface="Cambria Math" panose="02040503050406030204" pitchFamily="18" charset="0"/>
                      </a:rPr>
                      <m:t>𝑁</m:t>
                    </m:r>
                  </m:oMath>
                </a14:m>
                <a:r>
                  <a:rPr lang="pt-BR" dirty="0"/>
                  <a:t>, e de </a:t>
                </a:r>
                <a:r>
                  <a:rPr lang="pt-BR" b="1" i="1" dirty="0"/>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a matriz de atributos, </a:t>
                </a:r>
                <a14:m>
                  <m:oMath xmlns:m="http://schemas.openxmlformats.org/officeDocument/2006/math">
                    <m:r>
                      <a:rPr lang="pt-BR" b="1" i="1" smtClean="0">
                        <a:latin typeface="Cambria Math" panose="02040503050406030204" pitchFamily="18" charset="0"/>
                      </a:rPr>
                      <m:t>𝑿</m:t>
                    </m:r>
                  </m:oMath>
                </a14:m>
                <a:r>
                  <a:rPr lang="pt-BR" dirty="0"/>
                  <a:t>, pode se tornar </a:t>
                </a:r>
                <a:r>
                  <a:rPr lang="pt-BR" b="1" i="1" dirty="0">
                    <a:solidFill>
                      <a:srgbClr val="7030A0"/>
                    </a:solidFill>
                  </a:rPr>
                  <a:t>muito grande</a:t>
                </a:r>
                <a:r>
                  <a:rPr lang="pt-BR" dirty="0"/>
                  <a:t>.</a:t>
                </a:r>
              </a:p>
              <a:p>
                <a:r>
                  <a:rPr lang="pt-BR" b="0" i="0" dirty="0">
                    <a:effectLst/>
                  </a:rPr>
                  <a:t>Consequentemente, a inversão de matrizes e os cálculos associados à equação normal </a:t>
                </a:r>
                <a:r>
                  <a:rPr lang="pt-BR" dirty="0"/>
                  <a:t>podem </a:t>
                </a:r>
                <a:r>
                  <a:rPr lang="pt-BR" b="1" i="1" dirty="0">
                    <a:solidFill>
                      <a:srgbClr val="7030A0"/>
                    </a:solidFill>
                  </a:rPr>
                  <a:t>consumir muita CPU e memória</a:t>
                </a:r>
                <a:r>
                  <a:rPr lang="pt-BR" dirty="0"/>
                  <a:t>.</a:t>
                </a:r>
              </a:p>
              <a:p>
                <a:pPr lvl="1">
                  <a:buFont typeface="Wingdings" panose="05000000000000000000" pitchFamily="2" charset="2"/>
                  <a:buChar char="§"/>
                </a:pPr>
                <a:r>
                  <a:rPr lang="pt-BR" b="0" i="0" dirty="0">
                    <a:effectLst/>
                  </a:rPr>
                  <a:t>O que pode ser um limitante </a:t>
                </a:r>
                <a:r>
                  <a:rPr lang="pt-BR" dirty="0"/>
                  <a:t>para dispositivos </a:t>
                </a:r>
                <a:r>
                  <a:rPr lang="pt-BR" b="0" i="0" dirty="0">
                    <a:effectLst/>
                  </a:rPr>
                  <a:t>com recursos restritos (e.g., </a:t>
                </a:r>
                <a:r>
                  <a:rPr lang="pt-BR" b="0" i="0" dirty="0" err="1">
                    <a:effectLst/>
                  </a:rPr>
                  <a:t>IoT</a:t>
                </a:r>
                <a:r>
                  <a:rPr lang="pt-BR" b="0" i="0" dirty="0">
                    <a:effectLst/>
                  </a:rPr>
                  <a:t>).</a:t>
                </a:r>
                <a:endParaRPr lang="pt-BR" dirty="0"/>
              </a:p>
              <a:p>
                <a:r>
                  <a:rPr lang="pt-BR" dirty="0"/>
                  <a:t>Adicionalmente, para irmos </a:t>
                </a:r>
                <a:r>
                  <a:rPr lang="pt-BR" b="1" i="1" dirty="0">
                    <a:solidFill>
                      <a:srgbClr val="00B050"/>
                    </a:solidFill>
                  </a:rPr>
                  <a:t>além dos modelos lineares </a:t>
                </a:r>
                <a:r>
                  <a:rPr lang="pt-BR" dirty="0"/>
                  <a:t>(i.e., modelos não-lineares como classificadores e redes neurais) precisamos lidar com o fato de que </a:t>
                </a:r>
                <a:r>
                  <a:rPr lang="pt-BR" b="1" i="1" dirty="0">
                    <a:solidFill>
                      <a:srgbClr val="00B050"/>
                    </a:solidFill>
                  </a:rPr>
                  <a:t>nem sempre existem formas fechadas </a:t>
                </a:r>
                <a:r>
                  <a:rPr lang="pt-BR" dirty="0"/>
                  <a:t>como a </a:t>
                </a:r>
                <a:r>
                  <a:rPr lang="pt-BR" b="1" i="1" dirty="0"/>
                  <a:t>equação normal</a:t>
                </a:r>
                <a:r>
                  <a:rPr lang="pt-BR" dirty="0"/>
                  <a:t>.</a:t>
                </a:r>
              </a:p>
              <a:p>
                <a:r>
                  <a:rPr lang="pt-BR" b="1" dirty="0">
                    <a:solidFill>
                      <a:srgbClr val="FF0000"/>
                    </a:solidFill>
                  </a:rPr>
                  <a:t>Portanto, a equação normal não é escalonável e muito menos flexível!</a:t>
                </a:r>
                <a:endParaRPr lang="pt-BR" dirty="0"/>
              </a:p>
            </p:txBody>
          </p:sp>
        </mc:Choice>
        <mc:Fallback xmlns="">
          <p:sp>
            <p:nvSpPr>
              <p:cNvPr id="3" name="Espaço Reservado para Conteúdo 2">
                <a:extLst>
                  <a:ext uri="{FF2B5EF4-FFF2-40B4-BE49-F238E27FC236}">
                    <a16:creationId xmlns:a16="http://schemas.microsoft.com/office/drawing/2014/main" id="{8902E5C9-69A0-4836-2C53-127E2F8BDE8E}"/>
                  </a:ext>
                </a:extLst>
              </p:cNvPr>
              <p:cNvSpPr>
                <a:spLocks noGrp="1" noRot="1" noChangeAspect="1" noMove="1" noResize="1" noEditPoints="1" noAdjustHandles="1" noChangeArrowheads="1" noChangeShapeType="1" noTextEdit="1"/>
              </p:cNvSpPr>
              <p:nvPr>
                <p:ph idx="1"/>
              </p:nvPr>
            </p:nvSpPr>
            <p:spPr>
              <a:xfrm>
                <a:off x="838200" y="1825624"/>
                <a:ext cx="11163300" cy="5032375"/>
              </a:xfrm>
              <a:blipFill>
                <a:blip r:embed="rId3"/>
                <a:stretch>
                  <a:fillRect l="-983" t="-1937" r="-1802"/>
                </a:stretch>
              </a:blipFill>
            </p:spPr>
            <p:txBody>
              <a:bodyPr/>
              <a:lstStyle/>
              <a:p>
                <a:r>
                  <a:rPr lang="en-US">
                    <a:noFill/>
                  </a:rPr>
                  <a:t> </a:t>
                </a:r>
              </a:p>
            </p:txBody>
          </p:sp>
        </mc:Fallback>
      </mc:AlternateContent>
    </p:spTree>
    <p:extLst>
      <p:ext uri="{BB962C8B-B14F-4D97-AF65-F5344CB8AC3E}">
        <p14:creationId xmlns:p14="http://schemas.microsoft.com/office/powerpoint/2010/main" val="40683765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643188"/>
            <a:ext cx="10687665" cy="1571624"/>
          </a:xfrm>
        </p:spPr>
        <p:txBody>
          <a:bodyPr>
            <a:normAutofit/>
          </a:bodyPr>
          <a:lstStyle/>
          <a:p>
            <a:pPr marL="0" indent="0" algn="ctr">
              <a:buNone/>
            </a:pPr>
            <a:r>
              <a:rPr lang="pt-BR" sz="4800" b="1" i="1" dirty="0"/>
              <a:t>Então o que pode ser feito para encontramos a solução ótima?</a:t>
            </a:r>
            <a:endParaRPr lang="pt-BR" sz="4800" i="1" dirty="0"/>
          </a:p>
        </p:txBody>
      </p:sp>
    </p:spTree>
    <p:extLst>
      <p:ext uri="{BB962C8B-B14F-4D97-AF65-F5344CB8AC3E}">
        <p14:creationId xmlns:p14="http://schemas.microsoft.com/office/powerpoint/2010/main" val="10510816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21E8B8-B974-C982-0B69-CEE1DF37A7B3}"/>
              </a:ext>
            </a:extLst>
          </p:cNvPr>
          <p:cNvSpPr>
            <a:spLocks noGrp="1"/>
          </p:cNvSpPr>
          <p:nvPr>
            <p:ph type="title"/>
          </p:nvPr>
        </p:nvSpPr>
        <p:spPr/>
        <p:txBody>
          <a:bodyPr/>
          <a:lstStyle/>
          <a:p>
            <a:r>
              <a:rPr lang="pt-BR" dirty="0"/>
              <a:t>Abordagens iterativas de otimização</a:t>
            </a:r>
          </a:p>
        </p:txBody>
      </p:sp>
      <p:sp>
        <p:nvSpPr>
          <p:cNvPr id="3" name="Espaço Reservado para Conteúdo 2">
            <a:extLst>
              <a:ext uri="{FF2B5EF4-FFF2-40B4-BE49-F238E27FC236}">
                <a16:creationId xmlns:a16="http://schemas.microsoft.com/office/drawing/2014/main" id="{5BBBE412-7CD0-95CB-6019-63D1F8C810A1}"/>
              </a:ext>
            </a:extLst>
          </p:cNvPr>
          <p:cNvSpPr>
            <a:spLocks noGrp="1"/>
          </p:cNvSpPr>
          <p:nvPr>
            <p:ph idx="1"/>
          </p:nvPr>
        </p:nvSpPr>
        <p:spPr>
          <a:xfrm>
            <a:off x="5450382" y="1825624"/>
            <a:ext cx="6576517" cy="5032375"/>
          </a:xfrm>
        </p:spPr>
        <p:txBody>
          <a:bodyPr>
            <a:normAutofit/>
          </a:bodyPr>
          <a:lstStyle/>
          <a:p>
            <a:r>
              <a:rPr lang="pt-BR" dirty="0"/>
              <a:t>Podemos um </a:t>
            </a:r>
            <a:r>
              <a:rPr lang="pt-BR" b="1" i="1" dirty="0">
                <a:solidFill>
                  <a:srgbClr val="7030A0"/>
                </a:solidFill>
              </a:rPr>
              <a:t>algoritmo de otimização </a:t>
            </a:r>
            <a:r>
              <a:rPr lang="pt-BR" b="1" i="1" dirty="0">
                <a:solidFill>
                  <a:srgbClr val="FF0000"/>
                </a:solidFill>
              </a:rPr>
              <a:t>iterativo</a:t>
            </a:r>
            <a:r>
              <a:rPr lang="pt-BR" dirty="0"/>
              <a:t>,</a:t>
            </a:r>
            <a:r>
              <a:rPr lang="pt-BR" b="1" i="1" dirty="0">
                <a:solidFill>
                  <a:schemeClr val="accent5"/>
                </a:solidFill>
              </a:rPr>
              <a:t> chamado de gradiente descendente (GD)</a:t>
            </a:r>
            <a:r>
              <a:rPr lang="pt-BR" dirty="0">
                <a:solidFill>
                  <a:schemeClr val="accent5"/>
                </a:solidFill>
              </a:rPr>
              <a:t>.</a:t>
            </a:r>
          </a:p>
          <a:p>
            <a:r>
              <a:rPr lang="pt-BR" dirty="0"/>
              <a:t>Ele tem </a:t>
            </a:r>
            <a:r>
              <a:rPr lang="pt-BR" b="1" i="1" dirty="0">
                <a:solidFill>
                  <a:srgbClr val="00B050"/>
                </a:solidFill>
              </a:rPr>
              <a:t>complexidade menor e ajustável</a:t>
            </a:r>
            <a:r>
              <a:rPr lang="pt-BR" dirty="0"/>
              <a:t> e é </a:t>
            </a:r>
            <a:r>
              <a:rPr lang="pt-BR" b="1" i="1" dirty="0">
                <a:solidFill>
                  <a:srgbClr val="00B050"/>
                </a:solidFill>
              </a:rPr>
              <a:t>flexível</a:t>
            </a:r>
            <a:r>
              <a:rPr lang="pt-BR" dirty="0"/>
              <a:t> o suficiente para trabalhar com modelos lineares e não lineares.</a:t>
            </a:r>
          </a:p>
        </p:txBody>
      </p:sp>
      <p:grpSp>
        <p:nvGrpSpPr>
          <p:cNvPr id="4" name="Agrupar 3">
            <a:extLst>
              <a:ext uri="{FF2B5EF4-FFF2-40B4-BE49-F238E27FC236}">
                <a16:creationId xmlns:a16="http://schemas.microsoft.com/office/drawing/2014/main" id="{CFB2D7EF-7184-FAB6-F33B-8286476EAD97}"/>
              </a:ext>
            </a:extLst>
          </p:cNvPr>
          <p:cNvGrpSpPr/>
          <p:nvPr/>
        </p:nvGrpSpPr>
        <p:grpSpPr>
          <a:xfrm>
            <a:off x="838200" y="2091304"/>
            <a:ext cx="4381189" cy="4083507"/>
            <a:chOff x="55618" y="2251324"/>
            <a:chExt cx="4381189" cy="4083507"/>
          </a:xfrm>
        </p:grpSpPr>
        <p:grpSp>
          <p:nvGrpSpPr>
            <p:cNvPr id="18" name="Agrupar 17">
              <a:extLst>
                <a:ext uri="{FF2B5EF4-FFF2-40B4-BE49-F238E27FC236}">
                  <a16:creationId xmlns:a16="http://schemas.microsoft.com/office/drawing/2014/main" id="{615687FD-B2C4-1AEF-0A10-AE6F5410BD0C}"/>
                </a:ext>
              </a:extLst>
            </p:cNvPr>
            <p:cNvGrpSpPr/>
            <p:nvPr/>
          </p:nvGrpSpPr>
          <p:grpSpPr>
            <a:xfrm>
              <a:off x="55618" y="2251324"/>
              <a:ext cx="4381189" cy="4083507"/>
              <a:chOff x="930667" y="1938641"/>
              <a:chExt cx="4381189" cy="4083507"/>
            </a:xfrm>
          </p:grpSpPr>
          <p:grpSp>
            <p:nvGrpSpPr>
              <p:cNvPr id="19" name="Agrupar 18">
                <a:extLst>
                  <a:ext uri="{FF2B5EF4-FFF2-40B4-BE49-F238E27FC236}">
                    <a16:creationId xmlns:a16="http://schemas.microsoft.com/office/drawing/2014/main" id="{7320438B-03D1-0C44-1EDC-977C1C03E831}"/>
                  </a:ext>
                </a:extLst>
              </p:cNvPr>
              <p:cNvGrpSpPr/>
              <p:nvPr/>
            </p:nvGrpSpPr>
            <p:grpSpPr>
              <a:xfrm>
                <a:off x="930667" y="1938641"/>
                <a:ext cx="4381189" cy="4083507"/>
                <a:chOff x="447782" y="1825625"/>
                <a:chExt cx="4381189" cy="4083507"/>
              </a:xfrm>
            </p:grpSpPr>
            <p:grpSp>
              <p:nvGrpSpPr>
                <p:cNvPr id="29" name="Agrupar 28">
                  <a:extLst>
                    <a:ext uri="{FF2B5EF4-FFF2-40B4-BE49-F238E27FC236}">
                      <a16:creationId xmlns:a16="http://schemas.microsoft.com/office/drawing/2014/main" id="{A181C88A-FF73-A6F9-43F9-53C3A631D797}"/>
                    </a:ext>
                  </a:extLst>
                </p:cNvPr>
                <p:cNvGrpSpPr/>
                <p:nvPr/>
              </p:nvGrpSpPr>
              <p:grpSpPr>
                <a:xfrm>
                  <a:off x="447782" y="1825625"/>
                  <a:ext cx="4381189" cy="3859236"/>
                  <a:chOff x="1592492" y="1393380"/>
                  <a:chExt cx="3155387" cy="2846768"/>
                </a:xfrm>
              </p:grpSpPr>
              <p:pic>
                <p:nvPicPr>
                  <p:cNvPr id="38" name="Picture 2" descr="Visualization for Function Optimization in Python -  MachineLearningMastery.com">
                    <a:extLst>
                      <a:ext uri="{FF2B5EF4-FFF2-40B4-BE49-F238E27FC236}">
                        <a16:creationId xmlns:a16="http://schemas.microsoft.com/office/drawing/2014/main" id="{67730EB4-C906-446B-56D4-4A1B08424BA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E143FD81-E2A5-A70F-62DB-69FD6EC3D596}"/>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E0D545BA-C0B3-75C9-665E-112E9E001D2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B86ACC41-6A24-7A4D-DE0B-040FA766A60D}"/>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30" name="Elipse 29">
                  <a:extLst>
                    <a:ext uri="{FF2B5EF4-FFF2-40B4-BE49-F238E27FC236}">
                      <a16:creationId xmlns:a16="http://schemas.microsoft.com/office/drawing/2014/main" id="{085553FB-6CE2-1A6E-0BAF-B6E35C94957F}"/>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1" name="Conector reto 30">
                  <a:extLst>
                    <a:ext uri="{FF2B5EF4-FFF2-40B4-BE49-F238E27FC236}">
                      <a16:creationId xmlns:a16="http://schemas.microsoft.com/office/drawing/2014/main" id="{E7031931-A0B8-457E-86A8-B64963FD019E}"/>
                    </a:ext>
                  </a:extLst>
                </p:cNvPr>
                <p:cNvCxnSpPr>
                  <a:cxnSpLocks/>
                  <a:endCxn id="30"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2" name="Conector reto 31">
                  <a:extLst>
                    <a:ext uri="{FF2B5EF4-FFF2-40B4-BE49-F238E27FC236}">
                      <a16:creationId xmlns:a16="http://schemas.microsoft.com/office/drawing/2014/main" id="{11350F7C-5365-C6C1-722F-68AF01DE71E5}"/>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C209FAFB-C44B-134F-A4B8-5C2FA56EC6F4}"/>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C4144FC0-7D7A-EFBD-D77C-8DDA80918E38}"/>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5" name="Conector reto 34">
                  <a:extLst>
                    <a:ext uri="{FF2B5EF4-FFF2-40B4-BE49-F238E27FC236}">
                      <a16:creationId xmlns:a16="http://schemas.microsoft.com/office/drawing/2014/main" id="{1892699D-9253-C7E0-8DCE-3BA02FB57089}"/>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6" name="Conector de Seta Reta 35">
                  <a:extLst>
                    <a:ext uri="{FF2B5EF4-FFF2-40B4-BE49-F238E27FC236}">
                      <a16:creationId xmlns:a16="http://schemas.microsoft.com/office/drawing/2014/main" id="{31088883-C765-0979-2AAC-B2189E135477}"/>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CaixaDeTexto 36">
                  <a:extLst>
                    <a:ext uri="{FF2B5EF4-FFF2-40B4-BE49-F238E27FC236}">
                      <a16:creationId xmlns:a16="http://schemas.microsoft.com/office/drawing/2014/main" id="{13F1BCB4-B371-362D-A140-2B73EA333F39}"/>
                    </a:ext>
                  </a:extLst>
                </p:cNvPr>
                <p:cNvSpPr txBox="1"/>
                <p:nvPr/>
              </p:nvSpPr>
              <p:spPr>
                <a:xfrm>
                  <a:off x="2426116" y="5601355"/>
                  <a:ext cx="1483596" cy="307777"/>
                </a:xfrm>
                <a:prstGeom prst="rect">
                  <a:avLst/>
                </a:prstGeom>
                <a:noFill/>
              </p:spPr>
              <p:txBody>
                <a:bodyPr wrap="square" rtlCol="0">
                  <a:spAutoFit/>
                </a:bodyPr>
                <a:lstStyle/>
                <a:p>
                  <a:r>
                    <a:rPr lang="pt-BR" sz="1400" b="1" dirty="0">
                      <a:solidFill>
                        <a:srgbClr val="00B0F0"/>
                      </a:solidFill>
                    </a:rPr>
                    <a:t>ponto de mínimo</a:t>
                  </a:r>
                </a:p>
              </p:txBody>
            </p:sp>
          </p:grpSp>
          <p:sp>
            <p:nvSpPr>
              <p:cNvPr id="20" name="Elipse 19">
                <a:extLst>
                  <a:ext uri="{FF2B5EF4-FFF2-40B4-BE49-F238E27FC236}">
                    <a16:creationId xmlns:a16="http://schemas.microsoft.com/office/drawing/2014/main" id="{5AC41660-316D-9EEB-C39A-8BC64876515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EFE23533-55A1-1705-3077-2C6E895EF09D}"/>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E062136A-5DD2-3F56-5CEE-1180FC050698}"/>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018C073E-2AAA-97A0-B4F1-29B9D5E81FD3}"/>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4" name="Conector: Curvo 23">
                <a:extLst>
                  <a:ext uri="{FF2B5EF4-FFF2-40B4-BE49-F238E27FC236}">
                    <a16:creationId xmlns:a16="http://schemas.microsoft.com/office/drawing/2014/main" id="{CF503885-C4D4-C63E-7E5B-06516612A224}"/>
                  </a:ext>
                </a:extLst>
              </p:cNvPr>
              <p:cNvCxnSpPr>
                <a:cxnSpLocks/>
                <a:stCxn id="30" idx="0"/>
                <a:endCxn id="20"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Conector: Curvo 24">
                <a:extLst>
                  <a:ext uri="{FF2B5EF4-FFF2-40B4-BE49-F238E27FC236}">
                    <a16:creationId xmlns:a16="http://schemas.microsoft.com/office/drawing/2014/main" id="{01689E51-7CCE-95F9-0DDB-2AB639B7B8F6}"/>
                  </a:ext>
                </a:extLst>
              </p:cNvPr>
              <p:cNvCxnSpPr>
                <a:cxnSpLocks/>
                <a:stCxn id="20" idx="0"/>
                <a:endCxn id="21"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33A0A9-1860-D518-8BD2-F8EF0811F100}"/>
                  </a:ext>
                </a:extLst>
              </p:cNvPr>
              <p:cNvCxnSpPr>
                <a:cxnSpLocks/>
                <a:stCxn id="21" idx="0"/>
                <a:endCxn id="22"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 name="Conector: Curvo 26">
                <a:extLst>
                  <a:ext uri="{FF2B5EF4-FFF2-40B4-BE49-F238E27FC236}">
                    <a16:creationId xmlns:a16="http://schemas.microsoft.com/office/drawing/2014/main" id="{29AE036B-08F7-13BF-6144-14742389580C}"/>
                  </a:ext>
                </a:extLst>
              </p:cNvPr>
              <p:cNvCxnSpPr>
                <a:cxnSpLocks/>
                <a:stCxn id="22" idx="0"/>
                <a:endCxn id="23"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7F173045-313B-BA2C-0C6D-727A8228319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42" name="CaixaDeTexto 41">
              <a:extLst>
                <a:ext uri="{FF2B5EF4-FFF2-40B4-BE49-F238E27FC236}">
                  <a16:creationId xmlns:a16="http://schemas.microsoft.com/office/drawing/2014/main" id="{4E2368DD-4D60-5DD0-9133-93B5A036E97F}"/>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44" name="Conector de Seta Reta 43">
              <a:extLst>
                <a:ext uri="{FF2B5EF4-FFF2-40B4-BE49-F238E27FC236}">
                  <a16:creationId xmlns:a16="http://schemas.microsoft.com/office/drawing/2014/main" id="{E1938A45-D55E-3F33-1FF6-8BE0C0D8DB38}"/>
                </a:ext>
              </a:extLst>
            </p:cNvPr>
            <p:cNvCxnSpPr>
              <a:cxnSpLocks/>
              <a:stCxn id="42"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8979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21E8B8-B974-C982-0B69-CEE1DF37A7B3}"/>
              </a:ext>
            </a:extLst>
          </p:cNvPr>
          <p:cNvSpPr>
            <a:spLocks noGrp="1"/>
          </p:cNvSpPr>
          <p:nvPr>
            <p:ph type="title"/>
          </p:nvPr>
        </p:nvSpPr>
        <p:spPr/>
        <p:txBody>
          <a:bodyPr/>
          <a:lstStyle/>
          <a:p>
            <a:r>
              <a:rPr lang="pt-BR" dirty="0"/>
              <a:t>Abordagens iterativas de otimização</a:t>
            </a:r>
          </a:p>
        </p:txBody>
      </p:sp>
      <p:sp>
        <p:nvSpPr>
          <p:cNvPr id="3" name="Espaço Reservado para Conteúdo 2">
            <a:extLst>
              <a:ext uri="{FF2B5EF4-FFF2-40B4-BE49-F238E27FC236}">
                <a16:creationId xmlns:a16="http://schemas.microsoft.com/office/drawing/2014/main" id="{5BBBE412-7CD0-95CB-6019-63D1F8C810A1}"/>
              </a:ext>
            </a:extLst>
          </p:cNvPr>
          <p:cNvSpPr>
            <a:spLocks noGrp="1"/>
          </p:cNvSpPr>
          <p:nvPr>
            <p:ph idx="1"/>
          </p:nvPr>
        </p:nvSpPr>
        <p:spPr>
          <a:xfrm>
            <a:off x="5671632" y="1825624"/>
            <a:ext cx="6355267" cy="5032375"/>
          </a:xfrm>
        </p:spPr>
        <p:txBody>
          <a:bodyPr>
            <a:normAutofit/>
          </a:bodyPr>
          <a:lstStyle/>
          <a:p>
            <a:r>
              <a:rPr lang="pt-BR" dirty="0"/>
              <a:t>Ele é </a:t>
            </a:r>
            <a:r>
              <a:rPr lang="pt-BR" b="1" i="1" dirty="0">
                <a:solidFill>
                  <a:schemeClr val="accent4"/>
                </a:solidFill>
              </a:rPr>
              <a:t>inicializado com pesos aleatórios</a:t>
            </a:r>
            <a:r>
              <a:rPr lang="pt-BR" dirty="0"/>
              <a:t>,</a:t>
            </a:r>
            <a:r>
              <a:rPr lang="pt-BR" b="1" i="1" dirty="0">
                <a:solidFill>
                  <a:schemeClr val="accent4"/>
                </a:solidFill>
              </a:rPr>
              <a:t> </a:t>
            </a:r>
            <a:r>
              <a:rPr lang="pt-BR" dirty="0"/>
              <a:t>i.e., em um ponto qualquer da superfície de erro.</a:t>
            </a:r>
          </a:p>
          <a:p>
            <a:r>
              <a:rPr lang="pt-BR" dirty="0"/>
              <a:t>E, a </a:t>
            </a:r>
            <a:r>
              <a:rPr lang="pt-BR" b="1" i="1" dirty="0">
                <a:solidFill>
                  <a:schemeClr val="accent2"/>
                </a:solidFill>
              </a:rPr>
              <a:t>cada iteração</a:t>
            </a:r>
            <a:r>
              <a:rPr lang="pt-BR" dirty="0"/>
              <a:t>, </a:t>
            </a:r>
            <a:r>
              <a:rPr lang="pt-BR" b="1" i="1" dirty="0">
                <a:solidFill>
                  <a:schemeClr val="accent1"/>
                </a:solidFill>
              </a:rPr>
              <a:t>refina</a:t>
            </a:r>
            <a:r>
              <a:rPr lang="pt-BR" dirty="0"/>
              <a:t> os valores dos pesos, ficando mais e mais próximo do </a:t>
            </a:r>
            <a:r>
              <a:rPr lang="pt-BR" b="1" i="1" dirty="0">
                <a:solidFill>
                  <a:srgbClr val="00B050"/>
                </a:solidFill>
              </a:rPr>
              <a:t>ponto de mínimo</a:t>
            </a:r>
            <a:r>
              <a:rPr lang="pt-BR" dirty="0"/>
              <a:t>.</a:t>
            </a:r>
          </a:p>
          <a:p>
            <a:r>
              <a:rPr lang="pt-BR" dirty="0"/>
              <a:t>Em resumo, o GD “</a:t>
            </a:r>
            <a:r>
              <a:rPr lang="pt-BR" b="1" i="1" dirty="0">
                <a:solidFill>
                  <a:srgbClr val="00B050"/>
                </a:solidFill>
              </a:rPr>
              <a:t>procura</a:t>
            </a:r>
            <a:r>
              <a:rPr lang="pt-BR" dirty="0"/>
              <a:t>” </a:t>
            </a:r>
            <a:r>
              <a:rPr lang="pt-BR" b="1" i="1" dirty="0">
                <a:solidFill>
                  <a:srgbClr val="7030A0"/>
                </a:solidFill>
              </a:rPr>
              <a:t>iterativamente</a:t>
            </a:r>
            <a:r>
              <a:rPr lang="pt-BR" dirty="0"/>
              <a:t>, a partir de um ponto inicial, o </a:t>
            </a:r>
            <a:r>
              <a:rPr lang="pt-BR" b="1" i="1" dirty="0">
                <a:solidFill>
                  <a:srgbClr val="00B050"/>
                </a:solidFill>
              </a:rPr>
              <a:t>ponto mais baixo da superfície de erro</a:t>
            </a:r>
            <a:r>
              <a:rPr lang="pt-BR" dirty="0"/>
              <a:t>, i.e., o ponto de mínimo.</a:t>
            </a:r>
          </a:p>
          <a:p>
            <a:pPr lvl="1">
              <a:buFont typeface="Wingdings" panose="05000000000000000000" pitchFamily="2" charset="2"/>
              <a:buChar char="§"/>
            </a:pPr>
            <a:r>
              <a:rPr lang="pt-BR" dirty="0"/>
              <a:t>No caso do EQM, ele busca o mínimo global.</a:t>
            </a:r>
          </a:p>
        </p:txBody>
      </p:sp>
      <p:grpSp>
        <p:nvGrpSpPr>
          <p:cNvPr id="5" name="Agrupar 4">
            <a:extLst>
              <a:ext uri="{FF2B5EF4-FFF2-40B4-BE49-F238E27FC236}">
                <a16:creationId xmlns:a16="http://schemas.microsoft.com/office/drawing/2014/main" id="{84412B71-A2C7-E89B-BE04-C2E70AB63FB6}"/>
              </a:ext>
            </a:extLst>
          </p:cNvPr>
          <p:cNvGrpSpPr/>
          <p:nvPr/>
        </p:nvGrpSpPr>
        <p:grpSpPr>
          <a:xfrm>
            <a:off x="838200" y="2091304"/>
            <a:ext cx="4381189" cy="4083507"/>
            <a:chOff x="55618" y="2251324"/>
            <a:chExt cx="4381189" cy="4083507"/>
          </a:xfrm>
        </p:grpSpPr>
        <p:grpSp>
          <p:nvGrpSpPr>
            <p:cNvPr id="6" name="Agrupar 5">
              <a:extLst>
                <a:ext uri="{FF2B5EF4-FFF2-40B4-BE49-F238E27FC236}">
                  <a16:creationId xmlns:a16="http://schemas.microsoft.com/office/drawing/2014/main" id="{FB0DCC50-E74B-B0C7-FD19-2CD268B79A24}"/>
                </a:ext>
              </a:extLst>
            </p:cNvPr>
            <p:cNvGrpSpPr/>
            <p:nvPr/>
          </p:nvGrpSpPr>
          <p:grpSpPr>
            <a:xfrm>
              <a:off x="55618" y="2251324"/>
              <a:ext cx="4381189" cy="4083507"/>
              <a:chOff x="930667" y="1938641"/>
              <a:chExt cx="4381189" cy="4083507"/>
            </a:xfrm>
          </p:grpSpPr>
          <p:grpSp>
            <p:nvGrpSpPr>
              <p:cNvPr id="9" name="Agrupar 8">
                <a:extLst>
                  <a:ext uri="{FF2B5EF4-FFF2-40B4-BE49-F238E27FC236}">
                    <a16:creationId xmlns:a16="http://schemas.microsoft.com/office/drawing/2014/main" id="{7FD92229-0631-3DCD-1FF9-A49AE18B66EF}"/>
                  </a:ext>
                </a:extLst>
              </p:cNvPr>
              <p:cNvGrpSpPr/>
              <p:nvPr/>
            </p:nvGrpSpPr>
            <p:grpSpPr>
              <a:xfrm>
                <a:off x="930667" y="1938641"/>
                <a:ext cx="4381189" cy="4083507"/>
                <a:chOff x="447782" y="1825625"/>
                <a:chExt cx="4381189" cy="4083507"/>
              </a:xfrm>
            </p:grpSpPr>
            <p:grpSp>
              <p:nvGrpSpPr>
                <p:cNvPr id="45"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54"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5" name="CaixaDeTexto 54">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6" name="CaixaDeTexto 55">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7" name="CaixaDeTexto 56">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46" name="Elipse 45">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7" name="Conector reto 46">
                  <a:extLst>
                    <a:ext uri="{FF2B5EF4-FFF2-40B4-BE49-F238E27FC236}">
                      <a16:creationId xmlns:a16="http://schemas.microsoft.com/office/drawing/2014/main" id="{F03C6EA3-09F9-5AF4-2C93-055E20E87D18}"/>
                    </a:ext>
                  </a:extLst>
                </p:cNvPr>
                <p:cNvCxnSpPr>
                  <a:cxnSpLocks/>
                  <a:endCxn id="46"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8" name="Conector reto 47">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9" name="Conector reto 48">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0" name="Conector reto 49">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1" name="Conector reto 50">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2"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3" name="CaixaDeTexto 52">
                  <a:extLst>
                    <a:ext uri="{FF2B5EF4-FFF2-40B4-BE49-F238E27FC236}">
                      <a16:creationId xmlns:a16="http://schemas.microsoft.com/office/drawing/2014/main" id="{FB4BC05E-298F-2552-BE8C-2BBFA977ECA2}"/>
                    </a:ext>
                  </a:extLst>
                </p:cNvPr>
                <p:cNvSpPr txBox="1"/>
                <p:nvPr/>
              </p:nvSpPr>
              <p:spPr>
                <a:xfrm>
                  <a:off x="2426116" y="5601355"/>
                  <a:ext cx="1483596" cy="307777"/>
                </a:xfrm>
                <a:prstGeom prst="rect">
                  <a:avLst/>
                </a:prstGeom>
                <a:noFill/>
              </p:spPr>
              <p:txBody>
                <a:bodyPr wrap="square" rtlCol="0">
                  <a:spAutoFit/>
                </a:bodyPr>
                <a:lstStyle/>
                <a:p>
                  <a:r>
                    <a:rPr lang="pt-BR" sz="1400" b="1" dirty="0">
                      <a:solidFill>
                        <a:srgbClr val="00B0F0"/>
                      </a:solidFill>
                    </a:rPr>
                    <a:t>ponto de mínimo</a:t>
                  </a:r>
                </a:p>
              </p:txBody>
            </p:sp>
          </p:grpSp>
          <p:sp>
            <p:nvSpPr>
              <p:cNvPr id="10" name="Elipse 9">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Curvo 13">
                <a:extLst>
                  <a:ext uri="{FF2B5EF4-FFF2-40B4-BE49-F238E27FC236}">
                    <a16:creationId xmlns:a16="http://schemas.microsoft.com/office/drawing/2014/main" id="{23FC64BF-9399-8DED-CE7B-6F37E3B76D0A}"/>
                  </a:ext>
                </a:extLst>
              </p:cNvPr>
              <p:cNvCxnSpPr>
                <a:cxnSpLocks/>
                <a:stCxn id="46" idx="0"/>
                <a:endCxn id="10"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4">
                <a:extLst>
                  <a:ext uri="{FF2B5EF4-FFF2-40B4-BE49-F238E27FC236}">
                    <a16:creationId xmlns:a16="http://schemas.microsoft.com/office/drawing/2014/main" id="{6CFC6E21-F686-D9AD-1678-277756D9D6E1}"/>
                  </a:ext>
                </a:extLst>
              </p:cNvPr>
              <p:cNvCxnSpPr>
                <a:cxnSpLocks/>
                <a:stCxn id="10" idx="0"/>
                <a:endCxn id="11"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5">
                <a:extLst>
                  <a:ext uri="{FF2B5EF4-FFF2-40B4-BE49-F238E27FC236}">
                    <a16:creationId xmlns:a16="http://schemas.microsoft.com/office/drawing/2014/main" id="{EA4C6F73-7F27-70C2-998B-E17C2EF4CE32}"/>
                  </a:ext>
                </a:extLst>
              </p:cNvPr>
              <p:cNvCxnSpPr>
                <a:cxnSpLocks/>
                <a:stCxn id="11" idx="0"/>
                <a:endCxn id="12"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7" name="Conector: Curvo 16">
                <a:extLst>
                  <a:ext uri="{FF2B5EF4-FFF2-40B4-BE49-F238E27FC236}">
                    <a16:creationId xmlns:a16="http://schemas.microsoft.com/office/drawing/2014/main" id="{A4A39634-3F5F-74B0-1F5F-3C4537D68CCD}"/>
                  </a:ext>
                </a:extLst>
              </p:cNvPr>
              <p:cNvCxnSpPr>
                <a:cxnSpLocks/>
                <a:stCxn id="12" idx="0"/>
                <a:endCxn id="13"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3" name="CaixaDeTexto 42">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7" name="CaixaDeTexto 6">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8" name="Conector de Seta Reta 7">
              <a:extLst>
                <a:ext uri="{FF2B5EF4-FFF2-40B4-BE49-F238E27FC236}">
                  <a16:creationId xmlns:a16="http://schemas.microsoft.com/office/drawing/2014/main" id="{E63CF6F2-828D-404E-FB76-EDD94F5EE7C4}"/>
                </a:ext>
              </a:extLst>
            </p:cNvPr>
            <p:cNvCxnSpPr>
              <a:cxnSpLocks/>
              <a:stCxn id="7"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1299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59511" cy="5032376"/>
          </a:xfrm>
        </p:spPr>
        <p:txBody>
          <a:bodyPr/>
          <a:lstStyle/>
          <a:p>
            <a:r>
              <a:rPr lang="pt-BR" b="1" dirty="0"/>
              <a:t>Quiz</a:t>
            </a:r>
            <a:r>
              <a:rPr lang="pt-BR" dirty="0"/>
              <a:t>: “</a:t>
            </a:r>
            <a:r>
              <a:rPr lang="pt-BR" i="1" dirty="0"/>
              <a:t>T319 - Quiz - Regressão: Parte I</a:t>
            </a:r>
            <a:r>
              <a:rPr lang="pt-BR" dirty="0"/>
              <a:t>” que se encontra no MS Teams.</a:t>
            </a:r>
          </a:p>
          <a:p>
            <a:r>
              <a:rPr lang="pt-BR" b="1" dirty="0"/>
              <a:t>Exercício Prático</a:t>
            </a:r>
            <a:r>
              <a:rPr lang="pt-BR" dirty="0"/>
              <a:t>: </a:t>
            </a:r>
            <a:r>
              <a:rPr lang="pt-BR" b="1" dirty="0">
                <a:hlinkClick r:id="rId3"/>
              </a:rPr>
              <a:t>Laboratório #2</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#2</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9948466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result for machine learning error surface meme funn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06472" y="271661"/>
            <a:ext cx="3615408" cy="346221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achine learning error surface meme funn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5839" y="271661"/>
            <a:ext cx="2070957" cy="378212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machine learning error surface meme funny"/>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3963" y="4376937"/>
            <a:ext cx="3657918" cy="205466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achine learning error surface meme funny"/>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10206" y="271661"/>
            <a:ext cx="3455035" cy="344351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machine learning error surface meme funny"/>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873730" y="3733874"/>
            <a:ext cx="3727988" cy="299481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machine learning error surface meme funny"/>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6138" y="4163576"/>
            <a:ext cx="2450658" cy="2450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5795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Agrupar 33">
            <a:extLst>
              <a:ext uri="{FF2B5EF4-FFF2-40B4-BE49-F238E27FC236}">
                <a16:creationId xmlns:a16="http://schemas.microsoft.com/office/drawing/2014/main" id="{3527E90A-A149-0922-9FF0-4568A6F6E59A}"/>
              </a:ext>
            </a:extLst>
          </p:cNvPr>
          <p:cNvGrpSpPr/>
          <p:nvPr/>
        </p:nvGrpSpPr>
        <p:grpSpPr>
          <a:xfrm>
            <a:off x="0" y="1193800"/>
            <a:ext cx="5537200" cy="4064000"/>
            <a:chOff x="1228725" y="1397000"/>
            <a:chExt cx="5537200" cy="4064000"/>
          </a:xfrm>
        </p:grpSpPr>
        <p:pic>
          <p:nvPicPr>
            <p:cNvPr id="22" name="Imagem 21">
              <a:extLst>
                <a:ext uri="{FF2B5EF4-FFF2-40B4-BE49-F238E27FC236}">
                  <a16:creationId xmlns:a16="http://schemas.microsoft.com/office/drawing/2014/main" id="{F4EF999F-5F07-AE71-B73A-8D8D199ECCC4}"/>
                </a:ext>
              </a:extLst>
            </p:cNvPr>
            <p:cNvPicPr>
              <a:picLocks noChangeAspect="1"/>
            </p:cNvPicPr>
            <p:nvPr/>
          </p:nvPicPr>
          <p:blipFill rotWithShape="1">
            <a:blip r:embed="rId2"/>
            <a:srcRect t="11111" r="9167"/>
            <a:stretch/>
          </p:blipFill>
          <p:spPr>
            <a:xfrm>
              <a:off x="1228725" y="1397000"/>
              <a:ext cx="5537200" cy="4064000"/>
            </a:xfrm>
            <a:prstGeom prst="rect">
              <a:avLst/>
            </a:prstGeom>
          </p:spPr>
        </p:pic>
        <p:cxnSp>
          <p:nvCxnSpPr>
            <p:cNvPr id="25" name="Conector reto 24">
              <a:extLst>
                <a:ext uri="{FF2B5EF4-FFF2-40B4-BE49-F238E27FC236}">
                  <a16:creationId xmlns:a16="http://schemas.microsoft.com/office/drawing/2014/main" id="{378D0515-2E72-4151-3090-D20C5202B374}"/>
                </a:ext>
              </a:extLst>
            </p:cNvPr>
            <p:cNvCxnSpPr>
              <a:cxnSpLocks/>
            </p:cNvCxnSpPr>
            <p:nvPr/>
          </p:nvCxnSpPr>
          <p:spPr>
            <a:xfrm>
              <a:off x="3390900" y="1444625"/>
              <a:ext cx="990600" cy="144462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3" name="Elipse 22">
              <a:extLst>
                <a:ext uri="{FF2B5EF4-FFF2-40B4-BE49-F238E27FC236}">
                  <a16:creationId xmlns:a16="http://schemas.microsoft.com/office/drawing/2014/main" id="{ACD34A61-67D9-8791-AB32-C229CA708CF7}"/>
                </a:ext>
              </a:extLst>
            </p:cNvPr>
            <p:cNvSpPr>
              <a:spLocks noChangeAspect="1"/>
            </p:cNvSpPr>
            <p:nvPr/>
          </p:nvSpPr>
          <p:spPr>
            <a:xfrm>
              <a:off x="3715545" y="1940719"/>
              <a:ext cx="108000" cy="108000"/>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3" name="CaixaDeTexto 32">
              <a:extLst>
                <a:ext uri="{FF2B5EF4-FFF2-40B4-BE49-F238E27FC236}">
                  <a16:creationId xmlns:a16="http://schemas.microsoft.com/office/drawing/2014/main" id="{005D59AF-4E59-577A-C20F-A5D548E79DB8}"/>
                </a:ext>
              </a:extLst>
            </p:cNvPr>
            <p:cNvSpPr txBox="1"/>
            <p:nvPr/>
          </p:nvSpPr>
          <p:spPr>
            <a:xfrm>
              <a:off x="3715545" y="1628386"/>
              <a:ext cx="236469" cy="624665"/>
            </a:xfrm>
            <a:prstGeom prst="rect">
              <a:avLst/>
            </a:prstGeom>
            <a:noFill/>
          </p:spPr>
          <p:txBody>
            <a:bodyPr wrap="square" rtlCol="0">
              <a:spAutoFit/>
            </a:bodyPr>
            <a:lstStyle/>
            <a:p>
              <a:r>
                <a:rPr lang="pt-BR" b="1" dirty="0"/>
                <a:t>P</a:t>
              </a:r>
              <a:endParaRPr lang="en-US" b="1" dirty="0"/>
            </a:p>
          </p:txBody>
        </p:sp>
      </p:grpSp>
      <p:grpSp>
        <p:nvGrpSpPr>
          <p:cNvPr id="13" name="Agrupar 12">
            <a:extLst>
              <a:ext uri="{FF2B5EF4-FFF2-40B4-BE49-F238E27FC236}">
                <a16:creationId xmlns:a16="http://schemas.microsoft.com/office/drawing/2014/main" id="{DB4DF1AA-3198-2F97-EB1D-692596BF942F}"/>
              </a:ext>
            </a:extLst>
          </p:cNvPr>
          <p:cNvGrpSpPr/>
          <p:nvPr/>
        </p:nvGrpSpPr>
        <p:grpSpPr>
          <a:xfrm>
            <a:off x="6007100" y="1241425"/>
            <a:ext cx="5537200" cy="4064000"/>
            <a:chOff x="6007100" y="1241425"/>
            <a:chExt cx="5537200" cy="4064000"/>
          </a:xfrm>
        </p:grpSpPr>
        <p:pic>
          <p:nvPicPr>
            <p:cNvPr id="3" name="Imagem 2">
              <a:extLst>
                <a:ext uri="{FF2B5EF4-FFF2-40B4-BE49-F238E27FC236}">
                  <a16:creationId xmlns:a16="http://schemas.microsoft.com/office/drawing/2014/main" id="{2F0A50B7-2BB5-9BE9-B4FE-8C0C53BCF292}"/>
                </a:ext>
              </a:extLst>
            </p:cNvPr>
            <p:cNvPicPr>
              <a:picLocks noChangeAspect="1"/>
            </p:cNvPicPr>
            <p:nvPr/>
          </p:nvPicPr>
          <p:blipFill rotWithShape="1">
            <a:blip r:embed="rId2"/>
            <a:srcRect t="11111" r="9167"/>
            <a:stretch/>
          </p:blipFill>
          <p:spPr>
            <a:xfrm>
              <a:off x="6007100" y="1241425"/>
              <a:ext cx="5537200" cy="4064000"/>
            </a:xfrm>
            <a:prstGeom prst="rect">
              <a:avLst/>
            </a:prstGeom>
          </p:spPr>
        </p:pic>
        <p:cxnSp>
          <p:nvCxnSpPr>
            <p:cNvPr id="4" name="Conector reto 3">
              <a:extLst>
                <a:ext uri="{FF2B5EF4-FFF2-40B4-BE49-F238E27FC236}">
                  <a16:creationId xmlns:a16="http://schemas.microsoft.com/office/drawing/2014/main" id="{B1A4C9B5-8CA4-DEDD-A5D6-A35A22637F53}"/>
                </a:ext>
              </a:extLst>
            </p:cNvPr>
            <p:cNvCxnSpPr>
              <a:cxnSpLocks/>
            </p:cNvCxnSpPr>
            <p:nvPr/>
          </p:nvCxnSpPr>
          <p:spPr>
            <a:xfrm>
              <a:off x="7150880" y="1441856"/>
              <a:ext cx="1836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 name="Elipse 4">
              <a:extLst>
                <a:ext uri="{FF2B5EF4-FFF2-40B4-BE49-F238E27FC236}">
                  <a16:creationId xmlns:a16="http://schemas.microsoft.com/office/drawing/2014/main" id="{E7B121CB-711E-4B43-73CD-490E0CD3CB62}"/>
                </a:ext>
              </a:extLst>
            </p:cNvPr>
            <p:cNvSpPr>
              <a:spLocks noChangeAspect="1"/>
            </p:cNvSpPr>
            <p:nvPr/>
          </p:nvSpPr>
          <p:spPr>
            <a:xfrm>
              <a:off x="8010526" y="1387856"/>
              <a:ext cx="108000" cy="108000"/>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DF42BF55-ED6C-9129-6CDF-18666E51AB98}"/>
                    </a:ext>
                  </a:extLst>
                </p:cNvPr>
                <p:cNvSpPr txBox="1"/>
                <p:nvPr/>
              </p:nvSpPr>
              <p:spPr>
                <a:xfrm>
                  <a:off x="8010526" y="1552852"/>
                  <a:ext cx="236469" cy="369332"/>
                </a:xfrm>
                <a:prstGeom prst="rect">
                  <a:avLst/>
                </a:prstGeom>
                <a:noFill/>
              </p:spPr>
              <p:txBody>
                <a:bodyPr wrap="square" rtlCol="0">
                  <a:spAutoFit/>
                </a:bodyPr>
                <a:lstStyle/>
                <a:p>
                  <a:pPr algn="ctr"/>
                  <a14:m>
                    <m:oMathPara xmlns:m="http://schemas.openxmlformats.org/officeDocument/2006/math">
                      <m:oMath>
                        <m:sSub>
                          <m:sSubPr>
                            <m:ctrlPr>
                              <a:rPr lang="pt-BR" b="1" i="0" smtClean="0">
                                <a:latin typeface="Cambria Math" panose="02040503050406030204" pitchFamily="18" charset="0"/>
                              </a:rPr>
                            </m:ctrlPr>
                          </m:sSubPr>
                          <m:e>
                            <m:r>
                              <a:rPr lang="pt-BR" b="1" i="0" smtClean="0">
                                <a:latin typeface="Cambria Math" panose="02040503050406030204" pitchFamily="18" charset="0"/>
                              </a:rPr>
                              <m:t>𝐏</m:t>
                            </m:r>
                          </m:e>
                          <m:sub>
                            <m:r>
                              <m:rPr>
                                <m:sty m:val="p"/>
                              </m:rPr>
                              <a:rPr lang="pt-BR" b="0" i="0" smtClean="0">
                                <a:latin typeface="Cambria Math" panose="02040503050406030204" pitchFamily="18" charset="0"/>
                              </a:rPr>
                              <m:t>m</m:t>
                            </m:r>
                            <m:r>
                              <a:rPr lang="pt-BR" b="0" i="0" smtClean="0">
                                <a:latin typeface="Cambria Math" panose="02040503050406030204" pitchFamily="18" charset="0"/>
                              </a:rPr>
                              <m:t>á</m:t>
                            </m:r>
                            <m:r>
                              <m:rPr>
                                <m:sty m:val="p"/>
                              </m:rPr>
                              <a:rPr lang="pt-BR" b="0" i="0" smtClean="0">
                                <a:latin typeface="Cambria Math" panose="02040503050406030204" pitchFamily="18" charset="0"/>
                              </a:rPr>
                              <m:t>ximo</m:t>
                            </m:r>
                          </m:sub>
                        </m:sSub>
                      </m:oMath>
                    </m:oMathPara>
                  </a14:m>
                  <a:endParaRPr lang="en-US" b="1" dirty="0"/>
                </a:p>
              </p:txBody>
            </p:sp>
          </mc:Choice>
          <mc:Fallback xmlns="">
            <p:sp>
              <p:nvSpPr>
                <p:cNvPr id="6" name="CaixaDeTexto 5">
                  <a:extLst>
                    <a:ext uri="{FF2B5EF4-FFF2-40B4-BE49-F238E27FC236}">
                      <a16:creationId xmlns:a16="http://schemas.microsoft.com/office/drawing/2014/main" id="{DF42BF55-ED6C-9129-6CDF-18666E51AB98}"/>
                    </a:ext>
                  </a:extLst>
                </p:cNvPr>
                <p:cNvSpPr txBox="1">
                  <a:spLocks noRot="1" noChangeAspect="1" noMove="1" noResize="1" noEditPoints="1" noAdjustHandles="1" noChangeArrowheads="1" noChangeShapeType="1" noTextEdit="1"/>
                </p:cNvSpPr>
                <p:nvPr/>
              </p:nvSpPr>
              <p:spPr>
                <a:xfrm>
                  <a:off x="8010526" y="1552852"/>
                  <a:ext cx="236469" cy="369332"/>
                </a:xfrm>
                <a:prstGeom prst="rect">
                  <a:avLst/>
                </a:prstGeom>
                <a:blipFill>
                  <a:blip r:embed="rId3"/>
                  <a:stretch>
                    <a:fillRect l="-158974" r="-125641" b="-1667"/>
                  </a:stretch>
                </a:blipFill>
              </p:spPr>
              <p:txBody>
                <a:bodyPr/>
                <a:lstStyle/>
                <a:p>
                  <a:r>
                    <a:rPr lang="pt-BR">
                      <a:noFill/>
                    </a:rPr>
                    <a:t> </a:t>
                  </a:r>
                </a:p>
              </p:txBody>
            </p:sp>
          </mc:Fallback>
        </mc:AlternateContent>
        <p:cxnSp>
          <p:nvCxnSpPr>
            <p:cNvPr id="11" name="Conector reto 10">
              <a:extLst>
                <a:ext uri="{FF2B5EF4-FFF2-40B4-BE49-F238E27FC236}">
                  <a16:creationId xmlns:a16="http://schemas.microsoft.com/office/drawing/2014/main" id="{47E45EF8-38EA-D3F1-99FA-843F1446EA63}"/>
                </a:ext>
              </a:extLst>
            </p:cNvPr>
            <p:cNvCxnSpPr>
              <a:cxnSpLocks/>
            </p:cNvCxnSpPr>
            <p:nvPr/>
          </p:nvCxnSpPr>
          <p:spPr>
            <a:xfrm>
              <a:off x="9319359" y="4642787"/>
              <a:ext cx="1836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82928187-4548-6BFD-C052-E35C59CC76EA}"/>
                </a:ext>
              </a:extLst>
            </p:cNvPr>
            <p:cNvSpPr>
              <a:spLocks noChangeAspect="1"/>
            </p:cNvSpPr>
            <p:nvPr/>
          </p:nvSpPr>
          <p:spPr>
            <a:xfrm>
              <a:off x="10148884" y="4588256"/>
              <a:ext cx="108000" cy="108000"/>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DC4F1731-1A4B-21C6-8886-9C9671797F63}"/>
                    </a:ext>
                  </a:extLst>
                </p:cNvPr>
                <p:cNvSpPr txBox="1"/>
                <p:nvPr/>
              </p:nvSpPr>
              <p:spPr>
                <a:xfrm>
                  <a:off x="10119124" y="4080474"/>
                  <a:ext cx="236469" cy="369332"/>
                </a:xfrm>
                <a:prstGeom prst="rect">
                  <a:avLst/>
                </a:prstGeom>
                <a:noFill/>
              </p:spPr>
              <p:txBody>
                <a:bodyPr wrap="square" rtlCol="0">
                  <a:spAutoFit/>
                </a:bodyPr>
                <a:lstStyle/>
                <a:p>
                  <a:pPr algn="ctr"/>
                  <a14:m>
                    <m:oMathPara xmlns:m="http://schemas.openxmlformats.org/officeDocument/2006/math">
                      <m:oMath>
                        <m:sSub>
                          <m:sSubPr>
                            <m:ctrlPr>
                              <a:rPr lang="pt-BR" b="1" i="0" smtClean="0">
                                <a:latin typeface="Cambria Math" panose="02040503050406030204" pitchFamily="18" charset="0"/>
                              </a:rPr>
                            </m:ctrlPr>
                          </m:sSubPr>
                          <m:e>
                            <m:r>
                              <a:rPr lang="pt-BR" b="1" i="0" smtClean="0">
                                <a:latin typeface="Cambria Math" panose="02040503050406030204" pitchFamily="18" charset="0"/>
                              </a:rPr>
                              <m:t>𝐏</m:t>
                            </m:r>
                          </m:e>
                          <m:sub>
                            <m:r>
                              <m:rPr>
                                <m:sty m:val="p"/>
                              </m:rPr>
                              <a:rPr lang="pt-BR" b="0" i="0" smtClean="0">
                                <a:latin typeface="Cambria Math" panose="02040503050406030204" pitchFamily="18" charset="0"/>
                              </a:rPr>
                              <m:t>m</m:t>
                            </m:r>
                            <m:r>
                              <a:rPr lang="pt-BR" b="0" i="0" smtClean="0">
                                <a:latin typeface="Cambria Math" panose="02040503050406030204" pitchFamily="18" charset="0"/>
                              </a:rPr>
                              <m:t>í</m:t>
                            </m:r>
                            <m:r>
                              <m:rPr>
                                <m:sty m:val="p"/>
                              </m:rPr>
                              <a:rPr lang="pt-BR" b="0" i="0" smtClean="0">
                                <a:latin typeface="Cambria Math" panose="02040503050406030204" pitchFamily="18" charset="0"/>
                              </a:rPr>
                              <m:t>nimo</m:t>
                            </m:r>
                          </m:sub>
                        </m:sSub>
                      </m:oMath>
                    </m:oMathPara>
                  </a14:m>
                  <a:endParaRPr lang="en-US" b="1" dirty="0"/>
                </a:p>
              </p:txBody>
            </p:sp>
          </mc:Choice>
          <mc:Fallback xmlns="">
            <p:sp>
              <p:nvSpPr>
                <p:cNvPr id="12" name="CaixaDeTexto 11">
                  <a:extLst>
                    <a:ext uri="{FF2B5EF4-FFF2-40B4-BE49-F238E27FC236}">
                      <a16:creationId xmlns:a16="http://schemas.microsoft.com/office/drawing/2014/main" id="{DC4F1731-1A4B-21C6-8886-9C9671797F63}"/>
                    </a:ext>
                  </a:extLst>
                </p:cNvPr>
                <p:cNvSpPr txBox="1">
                  <a:spLocks noRot="1" noChangeAspect="1" noMove="1" noResize="1" noEditPoints="1" noAdjustHandles="1" noChangeArrowheads="1" noChangeShapeType="1" noTextEdit="1"/>
                </p:cNvSpPr>
                <p:nvPr/>
              </p:nvSpPr>
              <p:spPr>
                <a:xfrm>
                  <a:off x="10119124" y="4080474"/>
                  <a:ext cx="236469" cy="369332"/>
                </a:xfrm>
                <a:prstGeom prst="rect">
                  <a:avLst/>
                </a:prstGeom>
                <a:blipFill>
                  <a:blip r:embed="rId4"/>
                  <a:stretch>
                    <a:fillRect l="-153846" r="-120513"/>
                  </a:stretch>
                </a:blipFill>
              </p:spPr>
              <p:txBody>
                <a:bodyPr/>
                <a:lstStyle/>
                <a:p>
                  <a:r>
                    <a:rPr lang="pt-BR">
                      <a:noFill/>
                    </a:rPr>
                    <a:t> </a:t>
                  </a:r>
                </a:p>
              </p:txBody>
            </p:sp>
          </mc:Fallback>
        </mc:AlternateContent>
      </p:grpSp>
    </p:spTree>
    <p:extLst>
      <p:ext uri="{BB962C8B-B14F-4D97-AF65-F5344CB8AC3E}">
        <p14:creationId xmlns:p14="http://schemas.microsoft.com/office/powerpoint/2010/main" val="27300283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8">
            <a:extLst>
              <a:ext uri="{FF2B5EF4-FFF2-40B4-BE49-F238E27FC236}">
                <a16:creationId xmlns:a16="http://schemas.microsoft.com/office/drawing/2014/main" id="{F91357BE-D3BB-6C32-7851-8521DB29C36E}"/>
              </a:ext>
            </a:extLst>
          </p:cNvPr>
          <p:cNvGrpSpPr/>
          <p:nvPr/>
        </p:nvGrpSpPr>
        <p:grpSpPr>
          <a:xfrm>
            <a:off x="645922" y="2295221"/>
            <a:ext cx="2286464" cy="2267558"/>
            <a:chOff x="7430184" y="2684259"/>
            <a:chExt cx="2286464" cy="2267558"/>
          </a:xfrm>
        </p:grpSpPr>
        <p:sp>
          <p:nvSpPr>
            <p:cNvPr id="5" name="Forma livre 9">
              <a:extLst>
                <a:ext uri="{FF2B5EF4-FFF2-40B4-BE49-F238E27FC236}">
                  <a16:creationId xmlns:a16="http://schemas.microsoft.com/office/drawing/2014/main" id="{9739824D-5CB0-A280-F4A2-D3C805D390A4}"/>
                </a:ext>
              </a:extLst>
            </p:cNvPr>
            <p:cNvSpPr/>
            <p:nvPr/>
          </p:nvSpPr>
          <p:spPr>
            <a:xfrm>
              <a:off x="7788166" y="3153104"/>
              <a:ext cx="1355834" cy="1471451"/>
            </a:xfrm>
            <a:custGeom>
              <a:avLst/>
              <a:gdLst>
                <a:gd name="connsiteX0" fmla="*/ 0 w 1355834"/>
                <a:gd name="connsiteY0" fmla="*/ 0 h 1471451"/>
                <a:gd name="connsiteX1" fmla="*/ 735724 w 1355834"/>
                <a:gd name="connsiteY1" fmla="*/ 1471448 h 1471451"/>
                <a:gd name="connsiteX2" fmla="*/ 1355834 w 1355834"/>
                <a:gd name="connsiteY2" fmla="*/ 10510 h 1471451"/>
              </a:gdLst>
              <a:ahLst/>
              <a:cxnLst>
                <a:cxn ang="0">
                  <a:pos x="connsiteX0" y="connsiteY0"/>
                </a:cxn>
                <a:cxn ang="0">
                  <a:pos x="connsiteX1" y="connsiteY1"/>
                </a:cxn>
                <a:cxn ang="0">
                  <a:pos x="connsiteX2" y="connsiteY2"/>
                </a:cxn>
              </a:cxnLst>
              <a:rect l="l" t="t" r="r" b="b"/>
              <a:pathLst>
                <a:path w="1355834" h="1471451">
                  <a:moveTo>
                    <a:pt x="0" y="0"/>
                  </a:moveTo>
                  <a:cubicBezTo>
                    <a:pt x="254876" y="734848"/>
                    <a:pt x="509752" y="1469696"/>
                    <a:pt x="735724" y="1471448"/>
                  </a:cubicBezTo>
                  <a:cubicBezTo>
                    <a:pt x="961696" y="1473200"/>
                    <a:pt x="1158765" y="741855"/>
                    <a:pt x="1355834" y="1051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10">
              <a:extLst>
                <a:ext uri="{FF2B5EF4-FFF2-40B4-BE49-F238E27FC236}">
                  <a16:creationId xmlns:a16="http://schemas.microsoft.com/office/drawing/2014/main" id="{6261AD53-9C2C-A4B8-167B-8967F849EEDF}"/>
                </a:ext>
              </a:extLst>
            </p:cNvPr>
            <p:cNvCxnSpPr/>
            <p:nvPr/>
          </p:nvCxnSpPr>
          <p:spPr>
            <a:xfrm flipV="1">
              <a:off x="7716975" y="2811018"/>
              <a:ext cx="0" cy="1944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11">
              <a:extLst>
                <a:ext uri="{FF2B5EF4-FFF2-40B4-BE49-F238E27FC236}">
                  <a16:creationId xmlns:a16="http://schemas.microsoft.com/office/drawing/2014/main" id="{18A99B5D-1380-F317-F15E-C6B09E887110}"/>
                </a:ext>
              </a:extLst>
            </p:cNvPr>
            <p:cNvCxnSpPr/>
            <p:nvPr/>
          </p:nvCxnSpPr>
          <p:spPr>
            <a:xfrm>
              <a:off x="7714594" y="4750676"/>
              <a:ext cx="1692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5B4643F3-0BA3-D6D0-305C-1A1ECF91D2D3}"/>
                    </a:ext>
                  </a:extLst>
                </p:cNvPr>
                <p:cNvSpPr txBox="1"/>
                <p:nvPr/>
              </p:nvSpPr>
              <p:spPr>
                <a:xfrm>
                  <a:off x="9338276" y="4565590"/>
                  <a:ext cx="378372"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pt-BR" dirty="0"/>
                </a:p>
              </p:txBody>
            </p:sp>
          </mc:Choice>
          <mc:Fallback xmlns="">
            <p:sp>
              <p:nvSpPr>
                <p:cNvPr id="13" name="CaixaDeTexto 12"/>
                <p:cNvSpPr txBox="1">
                  <a:spLocks noRot="1" noChangeAspect="1" noMove="1" noResize="1" noEditPoints="1" noAdjustHandles="1" noChangeArrowheads="1" noChangeShapeType="1" noTextEdit="1"/>
                </p:cNvSpPr>
                <p:nvPr/>
              </p:nvSpPr>
              <p:spPr>
                <a:xfrm>
                  <a:off x="9338276" y="4565590"/>
                  <a:ext cx="378372" cy="369332"/>
                </a:xfrm>
                <a:prstGeom prst="rect">
                  <a:avLst/>
                </a:prstGeom>
                <a:blipFill rotWithShape="0">
                  <a:blip r:embed="rId5"/>
                  <a:stretch>
                    <a:fillRect/>
                  </a:stretch>
                </a:blipFill>
              </p:spPr>
              <p:txBody>
                <a:bodyPr/>
                <a:lstStyle/>
                <a:p>
                  <a:r>
                    <a:rPr lang="pt-BR">
                      <a:noFill/>
                    </a:rPr>
                    <a:t> </a:t>
                  </a:r>
                </a:p>
              </p:txBody>
            </p:sp>
          </mc:Fallback>
        </mc:AlternateContent>
        <p:cxnSp>
          <p:nvCxnSpPr>
            <p:cNvPr id="9" name="Conector reto 8">
              <a:extLst>
                <a:ext uri="{FF2B5EF4-FFF2-40B4-BE49-F238E27FC236}">
                  <a16:creationId xmlns:a16="http://schemas.microsoft.com/office/drawing/2014/main" id="{D2C65832-466C-3B68-5095-A1C040564D2D}"/>
                </a:ext>
              </a:extLst>
            </p:cNvPr>
            <p:cNvCxnSpPr>
              <a:stCxn id="5" idx="1"/>
            </p:cNvCxnSpPr>
            <p:nvPr/>
          </p:nvCxnSpPr>
          <p:spPr>
            <a:xfrm>
              <a:off x="8523890" y="4624552"/>
              <a:ext cx="0" cy="125704"/>
            </a:xfrm>
            <a:prstGeom prst="line">
              <a:avLst/>
            </a:prstGeom>
            <a:ln>
              <a:solidFill>
                <a:srgbClr val="FF0000"/>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86F3559F-16CD-2233-1539-7096E265D309}"/>
                    </a:ext>
                  </a:extLst>
                </p:cNvPr>
                <p:cNvSpPr txBox="1"/>
                <p:nvPr/>
              </p:nvSpPr>
              <p:spPr>
                <a:xfrm>
                  <a:off x="7740870" y="2684259"/>
                  <a:ext cx="37837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7740870" y="2684259"/>
                  <a:ext cx="378372" cy="369332"/>
                </a:xfrm>
                <a:prstGeom prst="rect">
                  <a:avLst/>
                </a:prstGeom>
                <a:blipFill rotWithShape="0">
                  <a:blip r:embed="rId6"/>
                  <a:stretch>
                    <a:fillRect l="-3226" r="-87097" b="-11475"/>
                  </a:stretch>
                </a:blipFill>
              </p:spPr>
              <p:txBody>
                <a:bodyPr/>
                <a:lstStyle/>
                <a:p>
                  <a:r>
                    <a:rPr lang="pt-BR">
                      <a:noFill/>
                    </a:rPr>
                    <a:t> </a:t>
                  </a:r>
                </a:p>
              </p:txBody>
            </p:sp>
          </mc:Fallback>
        </mc:AlternateContent>
        <p:cxnSp>
          <p:nvCxnSpPr>
            <p:cNvPr id="11" name="Conector de seta reta 15">
              <a:extLst>
                <a:ext uri="{FF2B5EF4-FFF2-40B4-BE49-F238E27FC236}">
                  <a16:creationId xmlns:a16="http://schemas.microsoft.com/office/drawing/2014/main" id="{D2BF67FF-0518-FBE9-806A-313F14340941}"/>
                </a:ext>
              </a:extLst>
            </p:cNvPr>
            <p:cNvCxnSpPr>
              <a:endCxn id="5" idx="1"/>
            </p:cNvCxnSpPr>
            <p:nvPr/>
          </p:nvCxnSpPr>
          <p:spPr>
            <a:xfrm>
              <a:off x="7715339" y="4624552"/>
              <a:ext cx="808551" cy="0"/>
            </a:xfrm>
            <a:prstGeom prst="straightConnector1">
              <a:avLst/>
            </a:prstGeom>
            <a:ln>
              <a:solidFill>
                <a:srgbClr val="FF0000"/>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15A6DCD-FA58-48D2-DE9A-DB8437CE02FE}"/>
                    </a:ext>
                  </a:extLst>
                </p:cNvPr>
                <p:cNvSpPr txBox="1"/>
                <p:nvPr/>
              </p:nvSpPr>
              <p:spPr>
                <a:xfrm>
                  <a:off x="8334704" y="4674818"/>
                  <a:ext cx="378372" cy="276999"/>
                </a:xfrm>
                <a:prstGeom prst="rect">
                  <a:avLst/>
                </a:prstGeom>
                <a:noFill/>
              </p:spPr>
              <p:txBody>
                <a:bodyPr wrap="square" rtlCol="0">
                  <a:spAutoFit/>
                </a:bodyPr>
                <a:lstStyle/>
                <a:p>
                  <a:pPr/>
                  <a14:m>
                    <m:oMathPara xmlns:m="http://schemas.openxmlformats.org/officeDocument/2006/math">
                      <m:oMath>
                        <m:sSub>
                          <m:sSubPr>
                            <m:ctrlPr>
                              <a:rPr lang="pt-BR" sz="1200" b="0" i="1" smtClean="0">
                                <a:latin typeface="Cambria Math" panose="02040503050406030204" pitchFamily="18" charset="0"/>
                              </a:rPr>
                            </m:ctrlPr>
                          </m:sSubPr>
                          <m:e>
                            <m:r>
                              <a:rPr lang="pt-BR" sz="1200" b="0" i="1" smtClean="0">
                                <a:latin typeface="Cambria Math" panose="02040503050406030204" pitchFamily="18" charset="0"/>
                              </a:rPr>
                              <m:t>𝑎</m:t>
                            </m:r>
                          </m:e>
                          <m:sub>
                            <m:r>
                              <a:rPr lang="pt-BR" sz="1200" b="0" i="1" smtClean="0">
                                <a:latin typeface="Cambria Math" panose="02040503050406030204" pitchFamily="18" charset="0"/>
                              </a:rPr>
                              <m:t>ó</m:t>
                            </m:r>
                            <m:r>
                              <a:rPr lang="pt-BR" sz="1200" b="0" i="1" smtClean="0">
                                <a:latin typeface="Cambria Math" panose="02040503050406030204" pitchFamily="18" charset="0"/>
                              </a:rPr>
                              <m:t>𝑡𝑖𝑚𝑜</m:t>
                            </m:r>
                          </m:sub>
                        </m:sSub>
                      </m:oMath>
                    </m:oMathPara>
                  </a14:m>
                  <a:endParaRPr lang="pt-BR" sz="1200"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8334704" y="4674818"/>
                  <a:ext cx="378372" cy="276999"/>
                </a:xfrm>
                <a:prstGeom prst="rect">
                  <a:avLst/>
                </a:prstGeom>
                <a:blipFill rotWithShape="0">
                  <a:blip r:embed="rId7"/>
                  <a:stretch>
                    <a:fillRect r="-4193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ADEDE46B-5572-3C14-B315-8B8AC0367F97}"/>
                    </a:ext>
                  </a:extLst>
                </p:cNvPr>
                <p:cNvSpPr txBox="1"/>
                <p:nvPr/>
              </p:nvSpPr>
              <p:spPr>
                <a:xfrm rot="16200000">
                  <a:off x="7382608" y="4557459"/>
                  <a:ext cx="378372" cy="283219"/>
                </a:xfrm>
                <a:prstGeom prst="rect">
                  <a:avLst/>
                </a:prstGeom>
                <a:noFill/>
              </p:spPr>
              <p:txBody>
                <a:bodyPr wrap="square" rtlCol="0">
                  <a:spAutoFit/>
                </a:bodyPr>
                <a:lstStyle/>
                <a:p>
                  <a:pPr/>
                  <a14:m>
                    <m:oMathPara xmlns:m="http://schemas.openxmlformats.org/officeDocument/2006/math">
                      <m:oMath>
                        <m:sSub>
                          <m:sSubPr>
                            <m:ctrlPr>
                              <a:rPr lang="pt-BR" sz="1200" b="0" i="1" smtClean="0">
                                <a:latin typeface="Cambria Math" panose="02040503050406030204" pitchFamily="18" charset="0"/>
                              </a:rPr>
                            </m:ctrlPr>
                          </m:sSubPr>
                          <m:e>
                            <m:r>
                              <a:rPr lang="pt-BR" sz="1200" b="0" i="1" smtClean="0">
                                <a:latin typeface="Cambria Math" panose="02040503050406030204" pitchFamily="18" charset="0"/>
                              </a:rPr>
                              <m:t>𝐽</m:t>
                            </m:r>
                          </m:e>
                          <m:sub>
                            <m:r>
                              <a:rPr lang="pt-BR" sz="1200" b="0" i="1" smtClean="0">
                                <a:latin typeface="Cambria Math" panose="02040503050406030204" pitchFamily="18" charset="0"/>
                              </a:rPr>
                              <m:t>𝑒</m:t>
                            </m:r>
                            <m:r>
                              <a:rPr lang="pt-BR" sz="1200" b="0" i="1" smtClean="0">
                                <a:latin typeface="Cambria Math" panose="02040503050406030204" pitchFamily="18" charset="0"/>
                              </a:rPr>
                              <m:t>_</m:t>
                            </m:r>
                            <m:r>
                              <a:rPr lang="pt-BR" sz="1200" b="0" i="1" smtClean="0">
                                <a:latin typeface="Cambria Math" panose="02040503050406030204" pitchFamily="18" charset="0"/>
                              </a:rPr>
                              <m:t>𝑚</m:t>
                            </m:r>
                            <m:r>
                              <a:rPr lang="pt-BR" sz="1200" b="0" i="1" smtClean="0">
                                <a:latin typeface="Cambria Math" panose="02040503050406030204" pitchFamily="18" charset="0"/>
                              </a:rPr>
                              <m:t>í</m:t>
                            </m:r>
                            <m:r>
                              <a:rPr lang="pt-BR" sz="1200" b="0" i="1" smtClean="0">
                                <a:latin typeface="Cambria Math" panose="02040503050406030204" pitchFamily="18" charset="0"/>
                              </a:rPr>
                              <m:t>𝑛𝑖𝑚𝑜</m:t>
                            </m:r>
                          </m:sub>
                        </m:sSub>
                      </m:oMath>
                    </m:oMathPara>
                  </a14:m>
                  <a:endParaRPr lang="pt-BR" sz="1200" dirty="0"/>
                </a:p>
              </p:txBody>
            </p:sp>
          </mc:Choice>
          <mc:Fallback xmlns="">
            <p:sp>
              <p:nvSpPr>
                <p:cNvPr id="18" name="CaixaDeTexto 17"/>
                <p:cNvSpPr txBox="1">
                  <a:spLocks noRot="1" noChangeAspect="1" noMove="1" noResize="1" noEditPoints="1" noAdjustHandles="1" noChangeArrowheads="1" noChangeShapeType="1" noTextEdit="1"/>
                </p:cNvSpPr>
                <p:nvPr/>
              </p:nvSpPr>
              <p:spPr>
                <a:xfrm rot="16200000">
                  <a:off x="7382608" y="4557459"/>
                  <a:ext cx="378372" cy="283219"/>
                </a:xfrm>
                <a:prstGeom prst="rect">
                  <a:avLst/>
                </a:prstGeom>
                <a:blipFill rotWithShape="0">
                  <a:blip r:embed="rId8"/>
                  <a:stretch>
                    <a:fillRect t="-84127"/>
                  </a:stretch>
                </a:blipFill>
              </p:spPr>
              <p:txBody>
                <a:bodyPr/>
                <a:lstStyle/>
                <a:p>
                  <a:r>
                    <a:rPr lang="pt-BR">
                      <a:noFill/>
                    </a:rPr>
                    <a:t> </a:t>
                  </a:r>
                </a:p>
              </p:txBody>
            </p:sp>
          </mc:Fallback>
        </mc:AlternateContent>
      </p:grpSp>
    </p:spTree>
    <p:extLst>
      <p:ext uri="{BB962C8B-B14F-4D97-AF65-F5344CB8AC3E}">
        <p14:creationId xmlns:p14="http://schemas.microsoft.com/office/powerpoint/2010/main" val="7521881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20030</TotalTime>
  <Words>10439</Words>
  <Application>Microsoft Office PowerPoint</Application>
  <PresentationFormat>Widescreen</PresentationFormat>
  <Paragraphs>692</Paragraphs>
  <Slides>57</Slides>
  <Notes>37</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57</vt:i4>
      </vt:variant>
    </vt:vector>
  </HeadingPairs>
  <TitlesOfParts>
    <vt:vector size="63" baseType="lpstr">
      <vt:lpstr>Arial</vt:lpstr>
      <vt:lpstr>Calibri</vt:lpstr>
      <vt:lpstr>Calibri Light</vt:lpstr>
      <vt:lpstr>Cambria Math</vt:lpstr>
      <vt:lpstr>Wingdings</vt:lpstr>
      <vt:lpstr>Office Theme</vt:lpstr>
      <vt:lpstr>T319 - Introdução ao Aprendizado de Máquina: Regressão Linear (Parte I)</vt:lpstr>
      <vt:lpstr>Motivação</vt:lpstr>
      <vt:lpstr>Motivação</vt:lpstr>
      <vt:lpstr>Apresentação do PowerPoint</vt:lpstr>
      <vt:lpstr>Regressão linear</vt:lpstr>
      <vt:lpstr>Qual o objetivo da regressão linear?</vt:lpstr>
      <vt:lpstr>Relação matemática real entre x e y</vt:lpstr>
      <vt:lpstr>Dados ruidosos</vt:lpstr>
      <vt:lpstr>O objetivo geral da regressão linear</vt:lpstr>
      <vt:lpstr>Qual é o paradigma de aprendizado?</vt:lpstr>
      <vt:lpstr>Qual é o paradigma de aprendizado?</vt:lpstr>
      <vt:lpstr>Por que linear?</vt:lpstr>
      <vt:lpstr>Por que linear?</vt:lpstr>
      <vt:lpstr>Por que linear?</vt:lpstr>
      <vt:lpstr>Função hipótese</vt:lpstr>
      <vt:lpstr>Espaço de hipóteses</vt:lpstr>
      <vt:lpstr>Refinando o objetivo da regressão linear</vt:lpstr>
      <vt:lpstr>Definição formal do problema</vt:lpstr>
      <vt:lpstr>Definição formal do problema</vt:lpstr>
      <vt:lpstr>Definição formal do problema</vt:lpstr>
      <vt:lpstr>Função de erro</vt:lpstr>
      <vt:lpstr>Função de erro</vt:lpstr>
      <vt:lpstr>Função de erro</vt:lpstr>
      <vt:lpstr>Resumo do problema da regressão</vt:lpstr>
      <vt:lpstr>Apresentação do PowerPoint</vt:lpstr>
      <vt:lpstr>Como minimizar a função de erro?</vt:lpstr>
      <vt:lpstr>Como minimizar a função de erro?</vt:lpstr>
      <vt:lpstr>Como minimizar a função de erro?</vt:lpstr>
      <vt:lpstr>Apresentação do PowerPoint</vt:lpstr>
      <vt:lpstr>Como minimizar a função de erro?</vt:lpstr>
      <vt:lpstr>Equação normal</vt:lpstr>
      <vt:lpstr>Equação normal</vt:lpstr>
      <vt:lpstr>Observações quanto a equação normal</vt:lpstr>
      <vt:lpstr>Superfície de erro</vt:lpstr>
      <vt:lpstr>Apresentação do PowerPoint</vt:lpstr>
      <vt:lpstr>Superfície de erro</vt:lpstr>
      <vt:lpstr>Superfície de erro</vt:lpstr>
      <vt:lpstr>Superfície de erro</vt:lpstr>
      <vt:lpstr>Superfície de erro</vt:lpstr>
      <vt:lpstr>Superfície de erro</vt:lpstr>
      <vt:lpstr>Superfície de erro</vt:lpstr>
      <vt:lpstr>Plotando a superfície de erro</vt:lpstr>
      <vt:lpstr>Plotando a superfície de erro</vt:lpstr>
      <vt:lpstr>Plotando a superfície de erro</vt:lpstr>
      <vt:lpstr>Plotando a superfície de erro</vt:lpstr>
      <vt:lpstr>Plotando a superfície de contorno</vt:lpstr>
      <vt:lpstr>Apresentação do PowerPoint</vt:lpstr>
      <vt:lpstr>Desvantagens da equação normal</vt:lpstr>
      <vt:lpstr>Desvantagens da equação normal</vt:lpstr>
      <vt:lpstr>Apresentação do PowerPoint</vt:lpstr>
      <vt:lpstr>Abordagens iterativas de otimização</vt:lpstr>
      <vt:lpstr>Abordagens iterativas de otimização</vt:lpstr>
      <vt:lpstr>Tarefas</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2630</cp:revision>
  <dcterms:created xsi:type="dcterms:W3CDTF">2020-02-17T11:18:32Z</dcterms:created>
  <dcterms:modified xsi:type="dcterms:W3CDTF">2026-08-14T19:36:59Z</dcterms:modified>
</cp:coreProperties>
</file>