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4"/>
  </p:notesMasterIdLst>
  <p:sldIdLst>
    <p:sldId id="259" r:id="rId5"/>
    <p:sldId id="486" r:id="rId6"/>
    <p:sldId id="514" r:id="rId7"/>
    <p:sldId id="516" r:id="rId8"/>
    <p:sldId id="543" r:id="rId9"/>
    <p:sldId id="519" r:id="rId10"/>
    <p:sldId id="334" r:id="rId11"/>
    <p:sldId id="544" r:id="rId12"/>
    <p:sldId id="469" r:id="rId13"/>
    <p:sldId id="520" r:id="rId14"/>
    <p:sldId id="521" r:id="rId15"/>
    <p:sldId id="523" r:id="rId16"/>
    <p:sldId id="524" r:id="rId17"/>
    <p:sldId id="542" r:id="rId18"/>
    <p:sldId id="547" r:id="rId19"/>
    <p:sldId id="525" r:id="rId20"/>
    <p:sldId id="471" r:id="rId21"/>
    <p:sldId id="550" r:id="rId22"/>
    <p:sldId id="551" r:id="rId23"/>
    <p:sldId id="552" r:id="rId24"/>
    <p:sldId id="528" r:id="rId25"/>
    <p:sldId id="529" r:id="rId26"/>
    <p:sldId id="472" r:id="rId27"/>
    <p:sldId id="545" r:id="rId28"/>
    <p:sldId id="546" r:id="rId29"/>
    <p:sldId id="534" r:id="rId30"/>
    <p:sldId id="536" r:id="rId31"/>
    <p:sldId id="535" r:id="rId32"/>
    <p:sldId id="532" r:id="rId33"/>
    <p:sldId id="533" r:id="rId34"/>
    <p:sldId id="441" r:id="rId35"/>
    <p:sldId id="317" r:id="rId36"/>
    <p:sldId id="256" r:id="rId37"/>
    <p:sldId id="538" r:id="rId38"/>
    <p:sldId id="541" r:id="rId39"/>
    <p:sldId id="539" r:id="rId40"/>
    <p:sldId id="332" r:id="rId41"/>
    <p:sldId id="522" r:id="rId42"/>
    <p:sldId id="475" r:id="rId4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6340" autoAdjust="0"/>
  </p:normalViewPr>
  <p:slideViewPr>
    <p:cSldViewPr snapToGrid="0">
      <p:cViewPr varScale="1">
        <p:scale>
          <a:sx n="109" d="100"/>
          <a:sy n="109" d="100"/>
        </p:scale>
        <p:origin x="6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1292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6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9073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400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8293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padronização_de_atributos_com_scikit_learn.ipynb</a:t>
            </a:r>
            <a:endParaRPr lang="pt-BR" dirty="0"/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https://colab.research.google.com/github/zz4fap/t319_aprendizado_de_maquina/blob/main/notebooks/regression/escalonamento_de_atributos_com_scikit_learn.ipynb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9439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9049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425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 se seus dados forem mais complexos do que uma simples linha reta? </a:t>
            </a:r>
          </a:p>
          <a:p>
            <a:endParaRPr lang="pt-BR" dirty="0"/>
          </a:p>
          <a:p>
            <a:r>
              <a:rPr lang="pt-BR" dirty="0"/>
              <a:t>Você pode usar um modelo linear para ajustar dados não lineares. Uma maneira simples de fazer isso é adicionar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expoentes </a:t>
            </a:r>
            <a:r>
              <a:rPr lang="pt-BR" dirty="0"/>
              <a:t>a cada feature como novos atributos e treinar um modelo linear nesse conjunto estendido de atributos. Essa técnica é chamada de regressão polinomial.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9211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77378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7333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são </a:t>
            </a:r>
            <a:r>
              <a:rPr lang="pt-BR" b="1" i="1" dirty="0">
                <a:solidFill>
                  <a:srgbClr val="0070C0"/>
                </a:solidFill>
              </a:rPr>
              <a:t>compostos pelos atributos originais e pelos atributos formados através de suas combinações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9088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0392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69770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397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dirty="0"/>
              <a:t>https://mybinder.org/v2/gh/zz4fap/t319_aprendizado_de_maquina/main?filepath=notebooks%2Fregression%2Fpolynomial_regression.ipynb</a:t>
            </a:r>
            <a:endParaRPr lang="pt-BR" u="none" dirty="0"/>
          </a:p>
          <a:p>
            <a:endParaRPr lang="pt-BR" dirty="0"/>
          </a:p>
          <a:p>
            <a:r>
              <a:rPr lang="pt-BR" dirty="0"/>
              <a:t>O modelo com polinômio de grau 1 não captura a curvatura dos pontos de treinamento. Ele erra muito tanto para exemplos de treinamento quanto para exemplos não vistos durante o treinamento (validação). </a:t>
            </a:r>
          </a:p>
          <a:p>
            <a:r>
              <a:rPr lang="pt-BR" dirty="0"/>
              <a:t>O modelo com polinômio de grau 30 acerta a predição de todos os exemplos de treinamento, mas erraria muito para exemplos não vistos durante treinamento. </a:t>
            </a:r>
          </a:p>
          <a:p>
            <a:pPr lvl="1"/>
            <a:r>
              <a:rPr lang="pt-BR" b="1" dirty="0"/>
              <a:t>A flexibilidade do modelo é tão alta que ele aprende também o ruído presente no conjunto de treinamento.</a:t>
            </a:r>
          </a:p>
          <a:p>
            <a:r>
              <a:rPr lang="pt-BR" dirty="0"/>
              <a:t>O modelo com polinômio de grau 2 se ajusta bem aos exemplos, mas sem acertá-los perfeitamente. Este é provavelmente o modelo ótimo em termos da </a:t>
            </a:r>
            <a:r>
              <a:rPr lang="pt-BR" b="1" i="1" dirty="0"/>
              <a:t>relação de compromisso</a:t>
            </a:r>
            <a:r>
              <a:rPr lang="pt-BR" dirty="0"/>
              <a:t> entre os erros de </a:t>
            </a:r>
            <a:r>
              <a:rPr lang="pt-BR" b="1" dirty="0"/>
              <a:t>flexibilidade </a:t>
            </a:r>
            <a:r>
              <a:rPr lang="pt-BR" dirty="0"/>
              <a:t>e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01995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579422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82523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5171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19_aprendizado_de_maquina/blob/main/notebooks/regression/escalonamento_de_atributos_com_scikit_learn.ipynb" TargetMode="External"/><Relationship Id="rId4" Type="http://schemas.openxmlformats.org/officeDocument/2006/relationships/hyperlink" Target="https://colab.research.google.com/github/zz4fap/t319_aprendizado_de_maquina/blob/main/notebooks/regression/padroniza&#231;&#227;o_de_atributos_com_scikit_learn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19_aprendizado_de_maquina/blob/main/notebooks/regression/polynomial_regression.ipynb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IV)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CFE43-F7D9-E130-2EB1-809C87CF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C0F30D-21E1-FEB6-D8CC-F291F7C68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67155"/>
            <a:ext cx="11254483" cy="5090844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Vimos que 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valor do passo de aprendizagem </a:t>
            </a:r>
            <a:r>
              <a:rPr lang="pt-BR" b="1" i="1" dirty="0"/>
              <a:t>influencia no processo aprendizagem</a:t>
            </a:r>
            <a:r>
              <a:rPr lang="pt-BR" dirty="0"/>
              <a:t>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pequenos fazem com que o algoritmo tenha convergência muito lenta.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muito grandes fazem com que o algoritmo divirja.</a:t>
            </a:r>
          </a:p>
          <a:p>
            <a:r>
              <a:rPr lang="pt-BR" dirty="0"/>
              <a:t>O gráfico do erro versus iterações nos ajuda a </a:t>
            </a:r>
            <a:r>
              <a:rPr lang="pt-BR" b="1" i="1" dirty="0">
                <a:solidFill>
                  <a:srgbClr val="00B050"/>
                </a:solidFill>
              </a:rPr>
              <a:t>depurar as versões do GD</a:t>
            </a:r>
            <a:r>
              <a:rPr lang="pt-BR" dirty="0"/>
              <a:t>.</a:t>
            </a:r>
          </a:p>
          <a:p>
            <a:r>
              <a:rPr lang="pt-BR" dirty="0"/>
              <a:t>Quando usamos as versões estocásticas do GD, podemos </a:t>
            </a:r>
            <a:r>
              <a:rPr lang="pt-BR" b="1" i="1" dirty="0">
                <a:solidFill>
                  <a:srgbClr val="00B050"/>
                </a:solidFill>
              </a:rPr>
              <a:t>reduzir o valor do passo de aprendizagem ao longo do treinamento </a:t>
            </a:r>
            <a:r>
              <a:rPr lang="pt-BR" dirty="0"/>
              <a:t>para “</a:t>
            </a:r>
            <a:r>
              <a:rPr lang="pt-BR" b="1" i="1" dirty="0">
                <a:solidFill>
                  <a:srgbClr val="7030A0"/>
                </a:solidFill>
              </a:rPr>
              <a:t>forçar</a:t>
            </a:r>
            <a:r>
              <a:rPr lang="pt-BR" dirty="0"/>
              <a:t>” a </a:t>
            </a:r>
            <a:r>
              <a:rPr lang="pt-BR" b="1" i="1" dirty="0">
                <a:solidFill>
                  <a:srgbClr val="7030A0"/>
                </a:solidFill>
              </a:rPr>
              <a:t>convergência</a:t>
            </a:r>
            <a:r>
              <a:rPr lang="pt-BR" dirty="0"/>
              <a:t> do algoritmo.</a:t>
            </a:r>
          </a:p>
          <a:p>
            <a:r>
              <a:rPr lang="pt-BR" dirty="0"/>
              <a:t>Nesse tópico, veremos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Técnicas de </a:t>
            </a:r>
            <a:r>
              <a:rPr lang="pt-BR" b="1" i="1" dirty="0">
                <a:solidFill>
                  <a:srgbClr val="0070C0"/>
                </a:solidFill>
              </a:rPr>
              <a:t>pré-processamento</a:t>
            </a:r>
            <a:r>
              <a:rPr lang="pt-BR" dirty="0"/>
              <a:t> importantes para algoritmos de ML que usam </a:t>
            </a:r>
            <a:r>
              <a:rPr lang="pt-BR" b="1" i="1" dirty="0">
                <a:solidFill>
                  <a:srgbClr val="0070C0"/>
                </a:solidFill>
              </a:rPr>
              <a:t>métricas de distância como função de erro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</a:t>
            </a:r>
            <a:r>
              <a:rPr lang="pt-BR" b="1" i="1" dirty="0">
                <a:solidFill>
                  <a:srgbClr val="0070C0"/>
                </a:solidFill>
              </a:rPr>
              <a:t>polinômios</a:t>
            </a:r>
            <a:r>
              <a:rPr lang="pt-BR" dirty="0"/>
              <a:t> podem ser usados para </a:t>
            </a:r>
            <a:r>
              <a:rPr lang="pt-BR" b="1" i="1" dirty="0">
                <a:solidFill>
                  <a:srgbClr val="0070C0"/>
                </a:solidFill>
              </a:rPr>
              <a:t>se ajustar a dados que apresentam mapeamento não-linear </a:t>
            </a:r>
            <a:r>
              <a:rPr lang="pt-BR" dirty="0"/>
              <a:t>entre os atributos e o valor esperado.</a:t>
            </a:r>
          </a:p>
        </p:txBody>
      </p:sp>
    </p:spTree>
    <p:extLst>
      <p:ext uri="{BB962C8B-B14F-4D97-AF65-F5344CB8AC3E}">
        <p14:creationId xmlns:p14="http://schemas.microsoft.com/office/powerpoint/2010/main" val="141248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0079F-058F-3C88-9CB8-7B432ABB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Variações do formato da superfície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</p:spPr>
            <p:txBody>
              <a:bodyPr/>
              <a:lstStyle/>
              <a:p>
                <a:r>
                  <a:rPr lang="pt-BR" dirty="0"/>
                  <a:t>Como vimos no laboratório #3, nem toda superfície de erro criada a partir da função do EQM tem formato de tigela (i.e., com curvas de erro circulares).</a:t>
                </a:r>
              </a:p>
              <a:p>
                <a:r>
                  <a:rPr lang="pt-BR" dirty="0"/>
                  <a:t>Dependendo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intervalos de variação dos atributos</a:t>
                </a:r>
                <a:r>
                  <a:rPr lang="pt-BR" dirty="0"/>
                  <a:t>, podemos ter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superfícies com formato de vale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ele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dominará o erro </a:t>
                </a:r>
                <a:r>
                  <a:rPr lang="pt-BR" dirty="0"/>
                  <a:t>e fará com que a superfície de erro tenha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  <a:blipFill>
                <a:blip r:embed="rId3"/>
                <a:stretch>
                  <a:fillRect l="-985" t="-1937" r="-10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/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2400">
                                              <a:latin typeface="Cambria Math" panose="02040503050406030204" pitchFamily="18" charset="0"/>
                                            </a:rPr>
                                            <m:t>noisy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/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68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47952" y="1825624"/>
                <a:ext cx="54652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Superfícies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 </a:t>
                </a:r>
                <a:r>
                  <a:rPr lang="pt-BR" dirty="0">
                    <a:solidFill>
                      <a:schemeClr val="tx1"/>
                    </a:solidFill>
                  </a:rPr>
                  <a:t>fazem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convergência do GD se torne muito lenta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>
                    <a:solidFill>
                      <a:schemeClr val="tx1"/>
                    </a:solidFill>
                  </a:rPr>
                  <a:t> se torna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lenta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devido à superfície ser </a:t>
                </a:r>
                <a:r>
                  <a:rPr lang="pt-BR" b="1" i="1" dirty="0">
                    <a:solidFill>
                      <a:schemeClr val="accent2"/>
                    </a:solidFill>
                    <a:effectLst/>
                  </a:rPr>
                  <a:t>plana ou quase plana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em algumas direções (i.e.,).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inclinação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pt-BR" dirty="0"/>
                  <a:t>, o vetor gradiente tende a zero.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47952" y="1825624"/>
                <a:ext cx="5465280" cy="5032375"/>
              </a:xfrm>
              <a:blipFill>
                <a:blip r:embed="rId3"/>
                <a:stretch>
                  <a:fillRect l="-2009" t="-1937" r="-1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171237" y="2524795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3843298" y="2608089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7217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Nessas direções, 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gradiente da função de erro é muito pequeno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tornando as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atualizações dos pesos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consequentemente,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b="0" i="0" dirty="0">
                  <a:solidFill>
                    <a:schemeClr val="tx1"/>
                  </a:solidFill>
                  <a:effectLst/>
                </a:endParaRPr>
              </a:p>
              <a:p>
                <a:r>
                  <a:rPr lang="pt-BR" dirty="0"/>
                  <a:t>Na figura ao lado, as derivadas parciais do EQM em relação ao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serão muito pequenas devido à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pequena inclinação da superfície nessa direção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  <a:blipFill>
                <a:blip r:embed="rId3"/>
                <a:stretch>
                  <a:fillRect l="-1496" t="-1937" r="-2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641410" y="1546852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1193125" y="4268960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712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3815D1-C8F3-EF3A-ED4F-61591CFF2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17812"/>
            <a:ext cx="10515600" cy="122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b="1" i="1" dirty="0"/>
              <a:t>O que pode ser feito? </a:t>
            </a:r>
          </a:p>
        </p:txBody>
      </p:sp>
    </p:spTree>
    <p:extLst>
      <p:ext uri="{BB962C8B-B14F-4D97-AF65-F5344CB8AC3E}">
        <p14:creationId xmlns:p14="http://schemas.microsoft.com/office/powerpoint/2010/main" val="118353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evitar esse problema,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intervalo de variação de todos os atributos </a:t>
                </a:r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escalonado</a:t>
                </a:r>
                <a:r>
                  <a:rPr lang="pt-BR" dirty="0"/>
                  <a:t>, trazendo-os para uma escala similar.</a:t>
                </a:r>
              </a:p>
              <a:p>
                <a:r>
                  <a:rPr lang="pt-BR" dirty="0"/>
                  <a:t>Assim,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atributo influenciará da mesma forma o cálculo do erro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Consequentemente, a superfície se tornará mais circular, facilitando o aprendizado.</a:t>
                </a:r>
              </a:p>
              <a:p>
                <a:r>
                  <a:rPr lang="pt-BR" dirty="0"/>
                  <a:t>As duas formas mais comuns de escalonamento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Normalização </a:t>
                </a:r>
                <a:r>
                  <a:rPr lang="pt-BR" b="1" dirty="0" err="1"/>
                  <a:t>Mín</a:t>
                </a:r>
                <a:r>
                  <a:rPr lang="pt-BR" b="1" dirty="0"/>
                  <a:t>-Max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Padronização</a:t>
                </a: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4110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13119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Observações</a:t>
            </a:r>
            <a:r>
              <a:rPr lang="pt-BR" dirty="0"/>
              <a:t>: </a:t>
            </a:r>
          </a:p>
          <a:p>
            <a:r>
              <a:rPr lang="pt-BR" dirty="0"/>
              <a:t>Em geral, aplicamos o escalonamento </a:t>
            </a:r>
            <a:r>
              <a:rPr lang="pt-BR" b="1" i="1" dirty="0">
                <a:solidFill>
                  <a:srgbClr val="00B050"/>
                </a:solidFill>
              </a:rPr>
              <a:t>apenas aos atributos </a:t>
            </a:r>
            <a:r>
              <a:rPr lang="pt-BR" dirty="0"/>
              <a:t>e não aos rótulos, pois </a:t>
            </a:r>
            <a:r>
              <a:rPr lang="pt-BR" b="1" i="1" dirty="0">
                <a:solidFill>
                  <a:schemeClr val="accent2"/>
                </a:solidFill>
              </a:rPr>
              <a:t>são os atributos que influenciam o formato da superfície</a:t>
            </a:r>
            <a:r>
              <a:rPr lang="pt-BR" i="1" dirty="0">
                <a:solidFill>
                  <a:schemeClr val="accent2"/>
                </a:solidFill>
              </a:rPr>
              <a:t> </a:t>
            </a:r>
            <a:r>
              <a:rPr lang="pt-BR" dirty="0"/>
              <a:t>de erro.</a:t>
            </a:r>
          </a:p>
          <a:p>
            <a:r>
              <a:rPr lang="pt-BR" dirty="0"/>
              <a:t>Além disso, ao escalonar os rótulos, perde-se seu significado. </a:t>
            </a:r>
          </a:p>
          <a:p>
            <a:r>
              <a:rPr lang="pt-BR" dirty="0"/>
              <a:t>Por exemplo, a predição do preço de casas deixa de ser em reais.</a:t>
            </a:r>
          </a:p>
          <a:p>
            <a:r>
              <a:rPr lang="pt-BR" dirty="0"/>
              <a:t>O escalonamento (qualquer tipo) altera os valores dos pesos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escala dos atributos é alterada, para que o modelo ainda prediga os mesmos valores de saída (i.e., rótulos), os pesos precisam ter seus valores alterados (ver anexo I).</a:t>
            </a:r>
          </a:p>
          <a:p>
            <a:r>
              <a:rPr lang="pt-BR" dirty="0"/>
              <a:t>O escalonamento pode ser usado com qualquer versão do GD.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5138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geral, a </a:t>
                </a:r>
                <a:r>
                  <a:rPr lang="pt-BR" b="1" i="1" dirty="0"/>
                  <a:t>normalização mín-max </a:t>
                </a:r>
                <a:r>
                  <a:rPr lang="pt-BR" dirty="0"/>
                  <a:t>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variem entre 0 e 1</a:t>
                </a:r>
                <a:r>
                  <a:rPr lang="pt-BR" dirty="0"/>
                  <a:t>, mas pode-se definir outros intervalos.</a:t>
                </a:r>
              </a:p>
              <a:p>
                <a:r>
                  <a:rPr lang="pt-BR" dirty="0"/>
                  <a:t>A equação usada para normalizar os atributos é apresentada abaixo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são os valores mínimo e máximo,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  <a:blipFill>
                <a:blip r:embed="rId3"/>
                <a:stretch>
                  <a:fillRect l="-1087" t="-1937" r="-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14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Padronização</a:t>
                </a:r>
                <a:r>
                  <a:rPr lang="pt-BR" dirty="0"/>
                  <a:t> 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passem a ter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média zero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desvio padrão unitário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Notem que, neste caso,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valores não ficam restritos a um intervalo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equação usada para padronizar os atributos é apresentada abaixo.</a:t>
                </a:r>
              </a:p>
              <a:p>
                <a:pPr marL="0" indent="0">
                  <a:buNone/>
                </a:pPr>
                <a:endParaRPr lang="en-US" sz="8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são as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estimativas</a:t>
                </a:r>
                <a:r>
                  <a:rPr lang="pt-BR" dirty="0"/>
                  <a:t> da média e do desvio padrão,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  <a:blipFill>
                <a:blip r:embed="rId3"/>
                <a:stretch>
                  <a:fillRect l="-1086" t="-1937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AE74D087-87A3-14C3-0A41-BAEF04B7FBDA}"/>
              </a:ext>
            </a:extLst>
          </p:cNvPr>
          <p:cNvSpPr txBox="1"/>
          <p:nvPr/>
        </p:nvSpPr>
        <p:spPr>
          <a:xfrm>
            <a:off x="8172237" y="6581001"/>
            <a:ext cx="40197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padronização_de_atributos_com_scikit_learn.ipynb</a:t>
            </a:r>
            <a:endParaRPr lang="pt-BR" sz="1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2BD949C-005C-CCAD-F958-4D571B97A190}"/>
              </a:ext>
            </a:extLst>
          </p:cNvPr>
          <p:cNvSpPr txBox="1"/>
          <p:nvPr/>
        </p:nvSpPr>
        <p:spPr>
          <a:xfrm>
            <a:off x="1705509" y="6581000"/>
            <a:ext cx="41944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Exemplo: </a:t>
            </a:r>
            <a:r>
              <a:rPr lang="pt-BR" sz="1200" dirty="0" err="1">
                <a:hlinkClick r:id="rId5"/>
              </a:rPr>
              <a:t>escalonamento_de_atributos_com_scikit_learn.ipynb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94250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2931859"/>
          </a:xfrm>
        </p:spPr>
        <p:txBody>
          <a:bodyPr>
            <a:normAutofit/>
          </a:bodyPr>
          <a:lstStyle/>
          <a:p>
            <a:r>
              <a:rPr lang="pt-BR" dirty="0"/>
              <a:t>Ajuda a </a:t>
            </a:r>
            <a:r>
              <a:rPr lang="pt-BR" b="1" i="1" dirty="0">
                <a:solidFill>
                  <a:srgbClr val="00B050"/>
                </a:solidFill>
              </a:rPr>
              <a:t>acelerar a convergência </a:t>
            </a:r>
            <a:r>
              <a:rPr lang="pt-BR" dirty="0"/>
              <a:t>do gradiente descendente, pois deixa a superfície de erro mais circular.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Faz com que a inclinação da superfície se torne similar em todas as direções.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Reduz problemas numéricos</a:t>
            </a:r>
            <a:r>
              <a:rPr lang="pt-BR" dirty="0"/>
              <a:t> decorrentes de </a:t>
            </a:r>
            <a:r>
              <a:rPr lang="pt-BR" b="1" i="1" dirty="0">
                <a:solidFill>
                  <a:srgbClr val="7030A0"/>
                </a:solidFill>
              </a:rPr>
              <a:t>diferenças de escala entre atributos</a:t>
            </a:r>
            <a:r>
              <a:rPr lang="pt-BR" dirty="0"/>
              <a:t>, mantendo a estabilidade do algoritmo durante o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escalonamento, os </a:t>
            </a:r>
            <a:r>
              <a:rPr lang="pt-BR" b="1" i="1" dirty="0">
                <a:solidFill>
                  <a:srgbClr val="7030A0"/>
                </a:solidFill>
              </a:rPr>
              <a:t>gradientes</a:t>
            </a:r>
            <a:r>
              <a:rPr lang="pt-BR" dirty="0"/>
              <a:t> podem se tornar </a:t>
            </a:r>
            <a:r>
              <a:rPr lang="pt-BR" b="1" i="1" dirty="0">
                <a:solidFill>
                  <a:srgbClr val="7030A0"/>
                </a:solidFill>
              </a:rPr>
              <a:t>extremamente grandes ou pequenos</a:t>
            </a:r>
            <a:r>
              <a:rPr lang="pt-BR" dirty="0"/>
              <a:t> e podem não ser representados pelas variáveis.</a:t>
            </a:r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420413" y="4672897"/>
            <a:ext cx="4940773" cy="2180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96671" y="4697942"/>
            <a:ext cx="4940773" cy="215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6981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2931859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Possibilita a </a:t>
            </a:r>
            <a:r>
              <a:rPr lang="pt-BR" b="1" i="1" dirty="0">
                <a:solidFill>
                  <a:srgbClr val="00B050"/>
                </a:solidFill>
              </a:rPr>
              <a:t>comparação justa do peso (influência)</a:t>
            </a:r>
            <a:r>
              <a:rPr lang="pt-BR" dirty="0"/>
              <a:t> de cada </a:t>
            </a:r>
            <a:r>
              <a:rPr lang="pt-BR" b="1" i="1" dirty="0"/>
              <a:t>atributo</a:t>
            </a:r>
            <a:r>
              <a:rPr lang="pt-BR" dirty="0"/>
              <a:t> no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b="0" i="0" dirty="0">
                <a:effectLst/>
              </a:rPr>
              <a:t>ois os pesos representam o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impacto dos atributos</a:t>
            </a:r>
            <a:r>
              <a:rPr lang="pt-BR" b="0" i="0" dirty="0">
                <a:effectLst/>
              </a:rPr>
              <a:t> nas predições (importância para o modelo).</a:t>
            </a:r>
          </a:p>
          <a:p>
            <a:r>
              <a:rPr lang="pt-BR" dirty="0"/>
              <a:t>Evita que </a:t>
            </a:r>
            <a:r>
              <a:rPr lang="pt-BR" b="1" i="1" dirty="0">
                <a:solidFill>
                  <a:srgbClr val="00B050"/>
                </a:solidFill>
              </a:rPr>
              <a:t>atributos com escalas muito diferentes dominem o processo de treinamento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0" dirty="0">
                <a:effectLst/>
              </a:rPr>
              <a:t>Sem escalonamento, o modelo </a:t>
            </a:r>
            <a:r>
              <a:rPr lang="pt-BR" dirty="0"/>
              <a:t>pode</a:t>
            </a:r>
            <a:r>
              <a:rPr lang="pt-BR" i="0" dirty="0">
                <a:effectLst/>
              </a:rPr>
              <a:t> dar mais importância a </a:t>
            </a:r>
            <a:r>
              <a:rPr lang="pt-BR" dirty="0"/>
              <a:t>atributos com intervalos maiores </a:t>
            </a:r>
            <a:r>
              <a:rPr lang="pt-BR" i="0" dirty="0">
                <a:effectLst/>
              </a:rPr>
              <a:t>e menos importância </a:t>
            </a:r>
            <a:r>
              <a:rPr lang="pt-BR" dirty="0"/>
              <a:t>a</a:t>
            </a:r>
            <a:r>
              <a:rPr lang="pt-BR" i="0" dirty="0">
                <a:effectLst/>
              </a:rPr>
              <a:t> atributos com intervalos menores.</a:t>
            </a:r>
            <a:endParaRPr lang="pt-BR" dirty="0"/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353579" y="4666591"/>
            <a:ext cx="4955058" cy="218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29837" y="4691710"/>
            <a:ext cx="4955058" cy="216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305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Avisos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 (</a:t>
            </a:r>
            <a:r>
              <a:rPr lang="pt-BR" b="1" dirty="0">
                <a:solidFill>
                  <a:srgbClr val="FF0000"/>
                </a:solidFill>
              </a:rPr>
              <a:t>Apenas o exercício #1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Material de Aula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  <a:endParaRPr lang="pt-BR" b="1" dirty="0">
              <a:solidFill>
                <a:srgbClr val="00B050"/>
              </a:solidFill>
            </a:endParaRPr>
          </a:p>
          <a:p>
            <a:r>
              <a:rPr lang="pt-BR" b="1" dirty="0">
                <a:solidFill>
                  <a:srgbClr val="00B050"/>
                </a:solidFill>
              </a:rPr>
              <a:t>Avaliação Presencial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05/06/2026 – Sala 1.1 (Prédio VI)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Avaliação e projeto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F0"/>
                </a:solidFill>
              </a:rPr>
              <a:t>Presencialmente, faremos apenas o exercício 1 do projeto final</a:t>
            </a:r>
            <a:r>
              <a:rPr lang="pt-BR" dirty="0">
                <a:solidFill>
                  <a:srgbClr val="00B0F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outros dois exercícios devem ser entregues até </a:t>
            </a:r>
            <a:r>
              <a:rPr lang="pt-BR" b="1" dirty="0">
                <a:solidFill>
                  <a:srgbClr val="0070C0"/>
                </a:solidFill>
              </a:rPr>
              <a:t>27/06/2026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5617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1350205"/>
            <a:ext cx="11630345" cy="23793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Até agora, usamos</a:t>
            </a:r>
            <a:r>
              <a:rPr lang="pt-BR" sz="4000" b="1" dirty="0"/>
              <a:t> </a:t>
            </a:r>
            <a:r>
              <a:rPr lang="pt-BR" sz="4000" b="1" i="1" dirty="0">
                <a:solidFill>
                  <a:srgbClr val="00B050"/>
                </a:solidFill>
              </a:rPr>
              <a:t>funções hipóteses com formato de hiperplanos</a:t>
            </a:r>
            <a:r>
              <a:rPr lang="pt-BR" sz="4000" dirty="0"/>
              <a:t>, e.g., retas e planos, para aproximar </a:t>
            </a:r>
            <a:r>
              <a:rPr lang="pt-BR" sz="4000" b="1" i="1" dirty="0">
                <a:solidFill>
                  <a:srgbClr val="FF0000"/>
                </a:solidFill>
              </a:rPr>
              <a:t>mapeamentos lineares</a:t>
            </a:r>
            <a:r>
              <a:rPr lang="pt-BR" sz="4000" b="1" i="1" dirty="0">
                <a:solidFill>
                  <a:srgbClr val="00B050"/>
                </a:solidFill>
              </a:rPr>
              <a:t> </a:t>
            </a:r>
            <a:r>
              <a:rPr lang="pt-BR" sz="4000" dirty="0"/>
              <a:t>entre os atributos e o valor esperado.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A0EDD01-051D-1D55-5C33-D5B1DBBCA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16" y="3908253"/>
            <a:ext cx="3696586" cy="273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FE2D2F-727C-9614-2FD2-0B600A1485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45" t="13249" r="12959" b="9213"/>
          <a:stretch/>
        </p:blipFill>
        <p:spPr bwMode="auto">
          <a:xfrm>
            <a:off x="8310491" y="3729519"/>
            <a:ext cx="3278757" cy="304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8122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E614571-C3F6-1DEE-D1AE-A9AA95590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487" y="3318552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14F13C-8B4F-09BE-313A-DE112E8D9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122" y="3318553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D5991A4A-C482-DB0A-4E72-AAC10221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274" y="3318552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AACFAE1E-BCF8-9ADC-1628-35C757FAEBC1}"/>
              </a:ext>
            </a:extLst>
          </p:cNvPr>
          <p:cNvSpPr txBox="1"/>
          <p:nvPr/>
        </p:nvSpPr>
        <p:spPr>
          <a:xfrm>
            <a:off x="465761" y="1551666"/>
            <a:ext cx="112604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i="1" dirty="0">
                <a:solidFill>
                  <a:srgbClr val="7030A0"/>
                </a:solidFill>
              </a:rPr>
              <a:t>Mas e se o mapeamento entre os atributos e o valor esperado for </a:t>
            </a:r>
            <a:r>
              <a:rPr lang="pt-BR" sz="4000" b="1" i="1" dirty="0">
                <a:solidFill>
                  <a:srgbClr val="FF0000"/>
                </a:solidFill>
              </a:rPr>
              <a:t>não linear</a:t>
            </a:r>
            <a:r>
              <a:rPr lang="pt-BR" sz="4000" b="1" i="1" dirty="0">
                <a:solidFill>
                  <a:srgbClr val="7030A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16912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2644952"/>
            <a:ext cx="11630345" cy="15680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O que podemos fazer quando </a:t>
            </a:r>
            <a:r>
              <a:rPr lang="pt-BR" sz="4800" b="1" i="1" dirty="0">
                <a:solidFill>
                  <a:srgbClr val="7030A0"/>
                </a:solidFill>
              </a:rPr>
              <a:t>hiperplanos não se ajustam bem aos dados</a:t>
            </a:r>
            <a:r>
              <a:rPr lang="pt-BR" sz="4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8867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Mapeamentos não lineares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3"/>
            <a:ext cx="11069549" cy="2633361"/>
          </a:xfrm>
        </p:spPr>
        <p:txBody>
          <a:bodyPr>
            <a:normAutofit/>
          </a:bodyPr>
          <a:lstStyle/>
          <a:p>
            <a:r>
              <a:rPr lang="pt-BR" dirty="0"/>
              <a:t>Observem as figuras abaixo, uma </a:t>
            </a:r>
            <a:r>
              <a:rPr lang="pt-BR" b="1" i="1" dirty="0">
                <a:solidFill>
                  <a:srgbClr val="7030A0"/>
                </a:solidFill>
              </a:rPr>
              <a:t>reta</a:t>
            </a:r>
            <a:r>
              <a:rPr lang="pt-BR" dirty="0"/>
              <a:t> claramente </a:t>
            </a:r>
            <a:r>
              <a:rPr lang="pt-BR" b="1" i="1" dirty="0">
                <a:solidFill>
                  <a:srgbClr val="7030A0"/>
                </a:solidFill>
              </a:rPr>
              <a:t>não seria uma boa escolha para aproximar esses mapeamentos não lineares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Retas não capturariam o comportamento das funções abaixo</a:t>
            </a:r>
            <a:r>
              <a:rPr lang="pt-BR" dirty="0"/>
              <a:t>, pois elas não têm </a:t>
            </a:r>
            <a:r>
              <a:rPr lang="pt-BR" b="1" i="1" dirty="0">
                <a:solidFill>
                  <a:schemeClr val="accent5"/>
                </a:solidFill>
              </a:rPr>
              <a:t>flexibilidade</a:t>
            </a:r>
            <a:r>
              <a:rPr lang="pt-BR" dirty="0"/>
              <a:t> (i.e., graus de liberdade ou complexidade) o suficiente para isso.</a:t>
            </a:r>
          </a:p>
          <a:p>
            <a:r>
              <a:rPr lang="pt-BR" dirty="0"/>
              <a:t>Portanto, qual tipo de função hipótese seria mais apropriado para aproximar esses comportamentos não lineares?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6837711-F344-71F7-05F7-6D7544B9B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61" y="4345968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D394B0-10D0-D352-0C0A-DA9D937B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27" y="4345968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E8EF3A6-1C86-F66B-A540-C6751A783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565" y="4345968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77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00CBD0-9559-9C3D-3D01-45F852EF7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733" y="1825624"/>
            <a:ext cx="6914128" cy="5032375"/>
          </a:xfrm>
        </p:spPr>
        <p:txBody>
          <a:bodyPr>
            <a:normAutofit/>
          </a:bodyPr>
          <a:lstStyle/>
          <a:p>
            <a:r>
              <a:rPr lang="pt-BR" dirty="0"/>
              <a:t>O teorema da aproximação de </a:t>
            </a:r>
            <a:r>
              <a:rPr lang="pt-BR" b="1" i="1" dirty="0">
                <a:solidFill>
                  <a:srgbClr val="00B050"/>
                </a:solidFill>
              </a:rPr>
              <a:t>Stone-</a:t>
            </a:r>
            <a:r>
              <a:rPr lang="pt-BR" b="1" i="1" dirty="0" err="1">
                <a:solidFill>
                  <a:srgbClr val="00B050"/>
                </a:solidFill>
              </a:rPr>
              <a:t>Weierstrass</a:t>
            </a:r>
            <a:r>
              <a:rPr lang="pt-BR" dirty="0"/>
              <a:t> diz que </a:t>
            </a:r>
            <a:r>
              <a:rPr lang="pt-BR" i="1" dirty="0"/>
              <a:t>“qualquer função contínua no intervalo fechado [a, b] pode ser uniformemente aproximada por um </a:t>
            </a:r>
            <a:r>
              <a:rPr lang="pt-BR" b="1" i="1" dirty="0">
                <a:solidFill>
                  <a:schemeClr val="accent2"/>
                </a:solidFill>
              </a:rPr>
              <a:t>polinômio</a:t>
            </a:r>
            <a:r>
              <a:rPr lang="pt-BR" i="1" dirty="0"/>
              <a:t>”.</a:t>
            </a:r>
            <a:endParaRPr lang="pt-BR" dirty="0"/>
          </a:p>
          <a:p>
            <a:r>
              <a:rPr lang="pt-BR" dirty="0"/>
              <a:t>Portanto, podemos aproximar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70C0"/>
                </a:solidFill>
              </a:rPr>
              <a:t>qualquer tipo de mapeamento (linear ou não linear) </a:t>
            </a:r>
            <a:r>
              <a:rPr lang="pt-BR" dirty="0"/>
              <a:t>com</a:t>
            </a:r>
            <a:r>
              <a:rPr lang="pt-BR" b="1" i="1" dirty="0">
                <a:solidFill>
                  <a:srgbClr val="00B050"/>
                </a:solidFill>
              </a:rPr>
              <a:t> polinômios</a:t>
            </a:r>
            <a:r>
              <a:rPr lang="pt-BR" dirty="0"/>
              <a:t>, bastando apenas </a:t>
            </a:r>
            <a:r>
              <a:rPr lang="pt-BR" b="1" i="1" dirty="0">
                <a:solidFill>
                  <a:srgbClr val="7030A0"/>
                </a:solidFill>
              </a:rPr>
              <a:t>encontrar o grau ideal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e, claro, os pesos do polinômio.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BD0681C-6E18-197E-FF4D-05FC89AA18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760" y="2426856"/>
            <a:ext cx="4162129" cy="314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494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 de um polinômio de grau 4* com três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sz="500" dirty="0"/>
              </a:p>
              <a:p>
                <a:r>
                  <a:rPr lang="pt-BR" dirty="0"/>
                  <a:t>*O </a:t>
                </a:r>
                <a:r>
                  <a:rPr lang="pt-BR" sz="2800" dirty="0"/>
                  <a:t>grau do polinômio é o </a:t>
                </a:r>
                <a:r>
                  <a:rPr lang="pt-BR" sz="2800" b="1" i="1" dirty="0">
                    <a:solidFill>
                      <a:schemeClr val="accent2"/>
                    </a:solidFill>
                  </a:rPr>
                  <a:t>maior valor</a:t>
                </a:r>
                <a:r>
                  <a:rPr lang="pt-BR" sz="2800" dirty="0"/>
                  <a:t> resultante da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soma dos expoentes dos atributos</a:t>
                </a:r>
                <a:r>
                  <a:rPr lang="pt-BR" sz="2800" dirty="0"/>
                  <a:t> de um monômio.</a:t>
                </a:r>
                <a:endParaRPr lang="pt-BR" dirty="0"/>
              </a:p>
              <a:p>
                <a:r>
                  <a:rPr lang="pt-BR" dirty="0"/>
                  <a:t>Percebam que alguns monômios são formandos pela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combinação dos atributos originais</a:t>
                </a:r>
                <a:r>
                  <a:rPr lang="pt-BR" dirty="0"/>
                  <a:t>, formando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novos 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 problema com polinômios é que a presença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 nos dados de treinamento impacta o desempenho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um </a:t>
                </a:r>
                <a:r>
                  <a:rPr lang="pt-BR" i="1" dirty="0"/>
                  <a:t>outlier</a:t>
                </a:r>
                <a:r>
                  <a:rPr lang="pt-BR" dirty="0"/>
                  <a:t> do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 valor igual a 100, no sexto monômio,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dirty="0"/>
                  <a:t>, se torna 1.000.000.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98410D9F-6DA2-5D2B-64D2-3968F703B466}"/>
              </a:ext>
            </a:extLst>
          </p:cNvPr>
          <p:cNvSpPr/>
          <p:nvPr/>
        </p:nvSpPr>
        <p:spPr>
          <a:xfrm>
            <a:off x="10687150" y="2374503"/>
            <a:ext cx="1232899" cy="4286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098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533856-0BF8-BD87-5B10-56217211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simplicidade didática, inicialmente, nós consideraremos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 hipóteses polinomiais em uma variável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(i.e., com um atributo):</a:t>
                </a:r>
              </a:p>
              <a:p>
                <a:pPr marL="0" indent="0">
                  <a:buNone/>
                </a:pPr>
                <a:endParaRPr lang="pt-BR" sz="800" b="1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da amostra,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 é o grau do polinômio,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)…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atributo de </a:t>
                </a:r>
                <a:r>
                  <a:rPr lang="pt-BR" i="1" dirty="0"/>
                  <a:t>bias,</a:t>
                </a:r>
                <a:r>
                  <a:rPr lang="pt-BR" dirty="0"/>
                  <a:t> associado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Todos resultados encontrados anteriormente </a:t>
                </a:r>
                <a:r>
                  <a:rPr lang="pt-BR" dirty="0"/>
                  <a:t>(equação normal, vetor gradiente para implementação de qualquer versão do algoritmo do gradiente descendente, escalonamento)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diretamente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estendidos 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funções hipótese polinomiais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  <a:blipFill>
                <a:blip r:embed="rId2"/>
                <a:stretch>
                  <a:fillRect l="-1137" t="-1937" r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5718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E1700-1035-D231-E381-8EEF54EB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Só precisamos nos lembrar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consequentemente,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usados na regressão devem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conter os atributos dos monômios</a:t>
                </a:r>
                <a:r>
                  <a:rPr lang="pt-BR" dirty="0"/>
                  <a:t>, sejam eles os originais ou suas combinações.</a:t>
                </a:r>
              </a:p>
              <a:p>
                <a:r>
                  <a:rPr lang="pt-BR" dirty="0"/>
                  <a:t>Por exemplo, para a seguinte função hipótese polinomial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 polinomial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fica da seguinte forma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⋱        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cada coluna contém um atributo dos monômios.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  <a:blipFill>
                <a:blip r:embed="rId3"/>
                <a:stretch>
                  <a:fillRect l="-1087" t="-1937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C03990FB-DFD6-B54B-2947-E7351CEAABCB}"/>
              </a:ext>
            </a:extLst>
          </p:cNvPr>
          <p:cNvSpPr txBox="1"/>
          <p:nvPr/>
        </p:nvSpPr>
        <p:spPr>
          <a:xfrm>
            <a:off x="-1" y="6581000"/>
            <a:ext cx="76439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 A biblioteca </a:t>
            </a:r>
            <a:r>
              <a:rPr lang="pt-BR" sz="1200" dirty="0" err="1"/>
              <a:t>SciKit-Learn</a:t>
            </a:r>
            <a:r>
              <a:rPr lang="pt-BR" sz="1200" dirty="0"/>
              <a:t> possui uma função que cria essas matrizes automaticamente a partir dos atributos originais.</a:t>
            </a:r>
          </a:p>
        </p:txBody>
      </p:sp>
    </p:spTree>
    <p:extLst>
      <p:ext uri="{BB962C8B-B14F-4D97-AF65-F5344CB8AC3E}">
        <p14:creationId xmlns:p14="http://schemas.microsoft.com/office/powerpoint/2010/main" val="1825555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5B2C4D-3FEC-F7B1-1411-0CBBB1D67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60" y="2775003"/>
            <a:ext cx="11537879" cy="13079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Porém, o desafio agora é </a:t>
            </a:r>
            <a:r>
              <a:rPr lang="pt-BR" sz="4000" b="1" i="1" dirty="0">
                <a:solidFill>
                  <a:srgbClr val="0070C0"/>
                </a:solidFill>
              </a:rPr>
              <a:t>encontrar o grau do polinômio</a:t>
            </a:r>
            <a:r>
              <a:rPr lang="pt-BR" sz="4000" b="1" i="1" dirty="0"/>
              <a:t> </a:t>
            </a:r>
            <a:r>
              <a:rPr lang="pt-BR" sz="4000" dirty="0"/>
              <a:t>que melhor aproxime os dados.</a:t>
            </a:r>
          </a:p>
          <a:p>
            <a:pPr algn="ctr"/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412317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7312"/>
            <a:ext cx="11254485" cy="16906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800" dirty="0"/>
              <a:t>Usando apenas os </a:t>
            </a:r>
            <a:r>
              <a:rPr lang="pt-BR" sz="2800" b="1" i="1" dirty="0">
                <a:solidFill>
                  <a:srgbClr val="FF0000"/>
                </a:solidFill>
              </a:rPr>
              <a:t>dados ruidosos </a:t>
            </a:r>
            <a:r>
              <a:rPr lang="pt-BR" sz="2800" dirty="0"/>
              <a:t>mostrados na figura acima, </a:t>
            </a:r>
            <a:r>
              <a:rPr lang="pt-BR" sz="2800" b="1" i="1" dirty="0">
                <a:solidFill>
                  <a:srgbClr val="00B050"/>
                </a:solidFill>
              </a:rPr>
              <a:t>qual </a:t>
            </a:r>
            <a:r>
              <a:rPr lang="pt-BR" b="1" i="1" dirty="0">
                <a:solidFill>
                  <a:srgbClr val="00B050"/>
                </a:solidFill>
              </a:rPr>
              <a:t>o grau </a:t>
            </a:r>
            <a:r>
              <a:rPr lang="pt-BR" sz="2800" b="1" i="1" dirty="0">
                <a:solidFill>
                  <a:srgbClr val="00B050"/>
                </a:solidFill>
              </a:rPr>
              <a:t>e os pesos de um polinômio </a:t>
            </a:r>
            <a:r>
              <a:rPr lang="pt-BR" sz="2800" dirty="0"/>
              <a:t>para que ele se aproxime da </a:t>
            </a:r>
            <a:r>
              <a:rPr lang="pt-BR" sz="2800" b="1" i="1" dirty="0">
                <a:solidFill>
                  <a:srgbClr val="7030A0"/>
                </a:solidFill>
              </a:rPr>
              <a:t>função objetivo </a:t>
            </a:r>
            <a:r>
              <a:rPr lang="pt-BR" sz="2800" dirty="0"/>
              <a:t>da melhor forma possível?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3874168" y="1867970"/>
            <a:ext cx="4443663" cy="312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1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exemplificar essa questão da busca pela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melhor ordem</a:t>
                </a:r>
                <a:r>
                  <a:rPr lang="pt-BR" dirty="0"/>
                  <a:t> do polinômio </a:t>
                </a:r>
                <a:r>
                  <a:rPr lang="pt-BR" dirty="0" err="1"/>
                  <a:t>aproximador</a:t>
                </a:r>
                <a:r>
                  <a:rPr lang="pt-BR" dirty="0"/>
                  <a:t>, geramos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30 exemplos </a:t>
                </a:r>
                <a:r>
                  <a:rPr lang="pt-BR" dirty="0"/>
                  <a:t>da seguinte função objetivo (polinômio de grau 2)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=2+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+0.5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e adicionamos ruído Gaussiano branco,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noisy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valores linearmente espaçados entre -3 e 3 e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  <a:blipFill>
                <a:blip r:embed="rId3"/>
                <a:stretch>
                  <a:fillRect l="-1849" t="-1937" r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</p:spTree>
    <p:extLst>
      <p:ext uri="{BB962C8B-B14F-4D97-AF65-F5344CB8AC3E}">
        <p14:creationId xmlns:p14="http://schemas.microsoft.com/office/powerpoint/2010/main" val="2008848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1883" y="1825625"/>
            <a:ext cx="6500117" cy="5032375"/>
          </a:xfrm>
        </p:spPr>
        <p:txBody>
          <a:bodyPr>
            <a:normAutofit/>
          </a:bodyPr>
          <a:lstStyle/>
          <a:p>
            <a:r>
              <a:rPr lang="pt-BR" dirty="0"/>
              <a:t>Vamos usar uma </a:t>
            </a:r>
            <a:r>
              <a:rPr lang="pt-BR" b="1" i="1" dirty="0">
                <a:solidFill>
                  <a:srgbClr val="00B050"/>
                </a:solidFill>
              </a:rPr>
              <a:t>função hipótese polinomial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para </a:t>
            </a:r>
            <a:r>
              <a:rPr lang="pt-BR" b="1" i="1" dirty="0">
                <a:solidFill>
                  <a:srgbClr val="0070C0"/>
                </a:solidFill>
              </a:rPr>
              <a:t>aproximar a função objetivo </a:t>
            </a:r>
            <a:r>
              <a:rPr lang="pt-BR" b="1" i="1" dirty="0">
                <a:solidFill>
                  <a:schemeClr val="accent2"/>
                </a:solidFill>
              </a:rPr>
              <a:t>a partir dos dados ruidosos</a:t>
            </a:r>
            <a:r>
              <a:rPr lang="pt-BR" dirty="0"/>
              <a:t>. </a:t>
            </a:r>
          </a:p>
          <a:p>
            <a:r>
              <a:rPr lang="pt-BR" dirty="0"/>
              <a:t>Porém, surge uma dúvida, </a:t>
            </a:r>
            <a:r>
              <a:rPr lang="pt-BR" b="1" i="1" dirty="0">
                <a:solidFill>
                  <a:srgbClr val="7030A0"/>
                </a:solidFill>
              </a:rPr>
              <a:t>e se não soubéssemos o </a:t>
            </a:r>
            <a:r>
              <a:rPr lang="pt-BR" b="1" i="1" dirty="0">
                <a:solidFill>
                  <a:schemeClr val="accent2"/>
                </a:solidFill>
              </a:rPr>
              <a:t>grau</a:t>
            </a:r>
            <a:r>
              <a:rPr lang="pt-BR" b="1" i="1" dirty="0">
                <a:solidFill>
                  <a:srgbClr val="7030A0"/>
                </a:solidFill>
              </a:rPr>
              <a:t> por trás do modelo gerador, qual grau deveríamos utilizar</a:t>
            </a:r>
            <a:r>
              <a:rPr lang="pt-BR" dirty="0"/>
              <a:t>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grau) que melhor se aproxime da função objetivo.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8860D6-1DCD-8BBB-4C2B-1DA9B54D81F7}"/>
              </a:ext>
            </a:extLst>
          </p:cNvPr>
          <p:cNvSpPr txBox="1"/>
          <p:nvPr/>
        </p:nvSpPr>
        <p:spPr>
          <a:xfrm>
            <a:off x="9585958" y="6581001"/>
            <a:ext cx="2606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00B0F0"/>
                </a:solidFill>
                <a:hlinkClick r:id="rId4"/>
              </a:rPr>
              <a:t>Exemplo: polynomial_regression.ipynb</a:t>
            </a:r>
            <a:endParaRPr lang="pt-BR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114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EE20E-C2CA-1D41-604C-AA0081D6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DA6684-E210-0E4A-BDB4-331FAEBDE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5852" y="1825624"/>
            <a:ext cx="6534364" cy="5032375"/>
          </a:xfrm>
        </p:spPr>
        <p:txBody>
          <a:bodyPr>
            <a:normAutofit/>
          </a:bodyPr>
          <a:lstStyle/>
          <a:p>
            <a:r>
              <a:rPr lang="pt-BR" dirty="0"/>
              <a:t>Polinômio de ordem 1 (i.e., reta) </a:t>
            </a:r>
            <a:r>
              <a:rPr lang="pt-BR" b="1" i="1" dirty="0">
                <a:solidFill>
                  <a:srgbClr val="00B050"/>
                </a:solidFill>
              </a:rPr>
              <a:t>não tem flexibilidade o suficiente</a:t>
            </a:r>
            <a:r>
              <a:rPr lang="pt-BR" dirty="0"/>
              <a:t> para aproximar o comportamento por trás das amostras ruidosas, i.e., a função objetivo.</a:t>
            </a:r>
          </a:p>
          <a:p>
            <a:r>
              <a:rPr lang="pt-BR" dirty="0"/>
              <a:t>O erro (MSE) é alto para exemplos dos conjuntos de treinamento e de validação (i.e., exemplos não vistos durante o treinamento).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subajuste</a:t>
            </a:r>
            <a:r>
              <a:rPr lang="pt-BR" dirty="0"/>
              <a:t> ou </a:t>
            </a:r>
            <a:r>
              <a:rPr lang="pt-BR" b="1" i="1" dirty="0"/>
              <a:t>underfitting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 muito baixos.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4B47E99-C3FF-F680-1481-32D81E5154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4" t="11205" r="9086" b="3664"/>
          <a:stretch/>
        </p:blipFill>
        <p:spPr>
          <a:xfrm>
            <a:off x="308365" y="2833242"/>
            <a:ext cx="2775469" cy="278500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E00C4409-6F95-86ED-2C62-0A54530E8387}"/>
              </a:ext>
            </a:extLst>
          </p:cNvPr>
          <p:cNvSpPr txBox="1"/>
          <p:nvPr/>
        </p:nvSpPr>
        <p:spPr>
          <a:xfrm>
            <a:off x="3083834" y="2817089"/>
            <a:ext cx="2382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Reta não é flexível o suficiente para se contorcer e aproximar o comportamento da função objetivo.</a:t>
            </a:r>
          </a:p>
        </p:txBody>
      </p:sp>
      <p:cxnSp>
        <p:nvCxnSpPr>
          <p:cNvPr id="6" name="Straight Arrow Connector 7">
            <a:extLst>
              <a:ext uri="{FF2B5EF4-FFF2-40B4-BE49-F238E27FC236}">
                <a16:creationId xmlns:a16="http://schemas.microsoft.com/office/drawing/2014/main" id="{D1840F50-38E1-D02F-F2C7-B39CE2D56437}"/>
              </a:ext>
            </a:extLst>
          </p:cNvPr>
          <p:cNvCxnSpPr>
            <a:stCxn id="5" idx="2"/>
          </p:cNvCxnSpPr>
          <p:nvPr/>
        </p:nvCxnSpPr>
        <p:spPr>
          <a:xfrm flipH="1">
            <a:off x="2643411" y="3771196"/>
            <a:ext cx="1631432" cy="17058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5">
            <a:extLst>
              <a:ext uri="{FF2B5EF4-FFF2-40B4-BE49-F238E27FC236}">
                <a16:creationId xmlns:a16="http://schemas.microsoft.com/office/drawing/2014/main" id="{268CC806-853F-CD82-ACC2-8374178A8EDC}"/>
              </a:ext>
            </a:extLst>
          </p:cNvPr>
          <p:cNvSpPr txBox="1"/>
          <p:nvPr/>
        </p:nvSpPr>
        <p:spPr>
          <a:xfrm>
            <a:off x="503325" y="2562960"/>
            <a:ext cx="2549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1.</a:t>
            </a: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6F6299EA-56C9-1B0F-17CF-8BF460C786E5}"/>
              </a:ext>
            </a:extLst>
          </p:cNvPr>
          <p:cNvSpPr txBox="1"/>
          <p:nvPr/>
        </p:nvSpPr>
        <p:spPr>
          <a:xfrm>
            <a:off x="3053248" y="4265922"/>
            <a:ext cx="1852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muito baixos.</a:t>
            </a:r>
          </a:p>
        </p:txBody>
      </p:sp>
    </p:spTree>
    <p:extLst>
      <p:ext uri="{BB962C8B-B14F-4D97-AF65-F5344CB8AC3E}">
        <p14:creationId xmlns:p14="http://schemas.microsoft.com/office/powerpoint/2010/main" val="3437429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CB6-F4F2-5219-54F7-A9AAFDA9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12AB7B-92E3-1D5B-5751-963C899F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6413" y="1825624"/>
            <a:ext cx="5815174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esperado, o polinômio de </a:t>
            </a:r>
            <a:r>
              <a:rPr lang="pt-BR" b="1" i="1" dirty="0">
                <a:solidFill>
                  <a:srgbClr val="00B050"/>
                </a:solidFill>
              </a:rPr>
              <a:t>ordem 2</a:t>
            </a:r>
            <a:r>
              <a:rPr lang="pt-BR" dirty="0"/>
              <a:t> produz a </a:t>
            </a:r>
            <a:r>
              <a:rPr lang="pt-BR" b="1" i="1" dirty="0">
                <a:solidFill>
                  <a:srgbClr val="00B050"/>
                </a:solidFill>
              </a:rPr>
              <a:t>melhor aproximação</a:t>
            </a:r>
            <a:r>
              <a:rPr lang="pt-BR" dirty="0"/>
              <a:t> da função objetivo, </a:t>
            </a:r>
            <a:r>
              <a:rPr lang="pt-BR" b="1" i="1" dirty="0">
                <a:solidFill>
                  <a:schemeClr val="accent2"/>
                </a:solidFill>
              </a:rPr>
              <a:t>errando pouco para exemplos dos conjuntos de treinamento e validação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modelo encontra uma </a:t>
            </a:r>
            <a:r>
              <a:rPr lang="pt-BR" b="1" i="1" dirty="0">
                <a:solidFill>
                  <a:srgbClr val="7030A0"/>
                </a:solidFill>
              </a:rPr>
              <a:t>relação de compromisso</a:t>
            </a:r>
            <a:r>
              <a:rPr lang="pt-BR" dirty="0"/>
              <a:t> entre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aproximação será melhor quanto maior for o conjunto de treinamento e/ou menor o ruído.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9D0D98C1-1BA5-EAB7-B280-C9A915CF1FA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11298" r="9378" b="3571"/>
          <a:stretch/>
        </p:blipFill>
        <p:spPr>
          <a:xfrm>
            <a:off x="3221122" y="2625481"/>
            <a:ext cx="2713277" cy="2722601"/>
          </a:xfrm>
          <a:prstGeom prst="rect">
            <a:avLst/>
          </a:prstGeom>
        </p:spPr>
      </p:pic>
      <p:sp>
        <p:nvSpPr>
          <p:cNvPr id="5" name="TextBox 10">
            <a:extLst>
              <a:ext uri="{FF2B5EF4-FFF2-40B4-BE49-F238E27FC236}">
                <a16:creationId xmlns:a16="http://schemas.microsoft.com/office/drawing/2014/main" id="{B8D5A352-1EC6-D770-F2CA-0D29D82D2D1F}"/>
              </a:ext>
            </a:extLst>
          </p:cNvPr>
          <p:cNvSpPr txBox="1"/>
          <p:nvPr/>
        </p:nvSpPr>
        <p:spPr>
          <a:xfrm>
            <a:off x="1495458" y="2660961"/>
            <a:ext cx="15793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Ordem ótima pois é a mesma do modelo gerador.</a:t>
            </a:r>
          </a:p>
        </p:txBody>
      </p:sp>
      <p:cxnSp>
        <p:nvCxnSpPr>
          <p:cNvPr id="6" name="Straight Arrow Connector 11">
            <a:extLst>
              <a:ext uri="{FF2B5EF4-FFF2-40B4-BE49-F238E27FC236}">
                <a16:creationId xmlns:a16="http://schemas.microsoft.com/office/drawing/2014/main" id="{F1580188-0958-A270-DA4E-706411FA28A4}"/>
              </a:ext>
            </a:extLst>
          </p:cNvPr>
          <p:cNvCxnSpPr>
            <a:stCxn id="5" idx="2"/>
          </p:cNvCxnSpPr>
          <p:nvPr/>
        </p:nvCxnSpPr>
        <p:spPr>
          <a:xfrm>
            <a:off x="2285125" y="3399625"/>
            <a:ext cx="2842458" cy="68443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6">
            <a:extLst>
              <a:ext uri="{FF2B5EF4-FFF2-40B4-BE49-F238E27FC236}">
                <a16:creationId xmlns:a16="http://schemas.microsoft.com/office/drawing/2014/main" id="{78216476-FF52-174B-4F04-F9F5C396F83A}"/>
              </a:ext>
            </a:extLst>
          </p:cNvPr>
          <p:cNvSpPr txBox="1"/>
          <p:nvPr/>
        </p:nvSpPr>
        <p:spPr>
          <a:xfrm>
            <a:off x="3417896" y="2283403"/>
            <a:ext cx="25165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2.</a:t>
            </a:r>
          </a:p>
        </p:txBody>
      </p:sp>
      <p:sp>
        <p:nvSpPr>
          <p:cNvPr id="8" name="TextBox 21">
            <a:extLst>
              <a:ext uri="{FF2B5EF4-FFF2-40B4-BE49-F238E27FC236}">
                <a16:creationId xmlns:a16="http://schemas.microsoft.com/office/drawing/2014/main" id="{8240FF74-19CE-C68B-DD15-50ED4D004192}"/>
              </a:ext>
            </a:extLst>
          </p:cNvPr>
          <p:cNvSpPr txBox="1"/>
          <p:nvPr/>
        </p:nvSpPr>
        <p:spPr>
          <a:xfrm>
            <a:off x="140413" y="4037309"/>
            <a:ext cx="31498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Encontra relação de compromisso entre </a:t>
            </a:r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generalização</a:t>
            </a:r>
            <a:r>
              <a:rPr lang="pt-BR" sz="1600" dirty="0"/>
              <a:t>:</a:t>
            </a:r>
            <a:r>
              <a:rPr lang="pt-BR" sz="1600" b="1" dirty="0"/>
              <a:t> </a:t>
            </a:r>
            <a:endParaRPr lang="pt-BR" sz="1600" dirty="0"/>
          </a:p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médios.</a:t>
            </a:r>
          </a:p>
        </p:txBody>
      </p:sp>
    </p:spTree>
    <p:extLst>
      <p:ext uri="{BB962C8B-B14F-4D97-AF65-F5344CB8AC3E}">
        <p14:creationId xmlns:p14="http://schemas.microsoft.com/office/powerpoint/2010/main" val="3473885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1F1AB-C643-8CA8-B494-3A221518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94803-E095-0DF4-A4B8-28EFA09F8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2731" y="1825624"/>
            <a:ext cx="6583100" cy="5032375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Polinômios com ordem </a:t>
            </a:r>
            <a:r>
              <a:rPr lang="pt-BR" b="1" i="1" dirty="0">
                <a:solidFill>
                  <a:srgbClr val="7030A0"/>
                </a:solidFill>
              </a:rPr>
              <a:t>maior do que 2</a:t>
            </a:r>
            <a:r>
              <a:rPr lang="pt-BR" dirty="0"/>
              <a:t> tendem a produzir </a:t>
            </a:r>
            <a:r>
              <a:rPr lang="pt-BR" b="1" i="1" dirty="0">
                <a:solidFill>
                  <a:srgbClr val="7030A0"/>
                </a:solidFill>
              </a:rPr>
              <a:t>aproximações perfeitas</a:t>
            </a:r>
            <a:r>
              <a:rPr lang="pt-BR" b="1" i="1" dirty="0"/>
              <a:t> </a:t>
            </a:r>
            <a:r>
              <a:rPr lang="pt-BR" dirty="0"/>
              <a:t>dos exemplos disponíveis, i.e., o modelo </a:t>
            </a:r>
            <a:r>
              <a:rPr lang="pt-BR" b="1" i="1" dirty="0">
                <a:solidFill>
                  <a:srgbClr val="7030A0"/>
                </a:solidFill>
              </a:rPr>
              <a:t>memoriza o conjunto de treinamento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erro</a:t>
            </a:r>
            <a:r>
              <a:rPr lang="pt-BR" dirty="0"/>
              <a:t> no </a:t>
            </a:r>
            <a:r>
              <a:rPr lang="pt-BR" b="1" i="1" dirty="0">
                <a:solidFill>
                  <a:schemeClr val="accent2"/>
                </a:solidFill>
              </a:rPr>
              <a:t>conjunto de treinamento é muito baixo</a:t>
            </a:r>
            <a:r>
              <a:rPr lang="pt-BR" dirty="0"/>
              <a:t>.</a:t>
            </a:r>
          </a:p>
          <a:p>
            <a:r>
              <a:rPr lang="pt-BR" dirty="0"/>
              <a:t>Porém, essa </a:t>
            </a:r>
            <a:r>
              <a:rPr lang="pt-BR" b="1" i="1" dirty="0">
                <a:solidFill>
                  <a:schemeClr val="accent5"/>
                </a:solidFill>
              </a:rPr>
              <a:t>aproximação se distancia bastante do modelo gerador</a:t>
            </a:r>
            <a:r>
              <a:rPr lang="pt-BR" dirty="0"/>
              <a:t>.</a:t>
            </a:r>
          </a:p>
          <a:p>
            <a:r>
              <a:rPr lang="pt-BR" dirty="0"/>
              <a:t>Portanto, esses modelos apresentarão </a:t>
            </a:r>
            <a:r>
              <a:rPr lang="pt-BR" b="1" i="1" dirty="0">
                <a:solidFill>
                  <a:srgbClr val="00B050"/>
                </a:solidFill>
              </a:rPr>
              <a:t>erros significativamente maiores</a:t>
            </a:r>
            <a:r>
              <a:rPr lang="pt-BR" b="1" i="1" dirty="0"/>
              <a:t> </a:t>
            </a:r>
            <a:r>
              <a:rPr lang="pt-BR" dirty="0"/>
              <a:t>quando forem apresentados a </a:t>
            </a:r>
            <a:r>
              <a:rPr lang="pt-BR" b="1" i="1" dirty="0">
                <a:solidFill>
                  <a:srgbClr val="00B050"/>
                </a:solidFill>
              </a:rPr>
              <a:t>exemplos de validação</a:t>
            </a:r>
            <a:r>
              <a:rPr lang="pt-BR" dirty="0"/>
              <a:t>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sobreajuste</a:t>
            </a:r>
            <a:r>
              <a:rPr lang="pt-BR" dirty="0"/>
              <a:t> ou </a:t>
            </a:r>
            <a:r>
              <a:rPr lang="pt-BR" b="1" i="1" dirty="0" err="1"/>
              <a:t>overfitting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muito alta e </a:t>
            </a:r>
            <a:r>
              <a:rPr lang="pt-BR" b="1" i="1" dirty="0"/>
              <a:t>grau de generalização</a:t>
            </a:r>
            <a:r>
              <a:rPr lang="pt-BR" dirty="0"/>
              <a:t> muito baixo.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686CFFCF-B4C0-6031-A3F9-BDD3671AA9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2806555" y="1775642"/>
            <a:ext cx="2376076" cy="2434643"/>
          </a:xfrm>
          <a:prstGeom prst="rect">
            <a:avLst/>
          </a:prstGeom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62E64144-AD82-0AED-F7C8-8A5D6FB092B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4" t="11327" r="8639"/>
          <a:stretch/>
        </p:blipFill>
        <p:spPr>
          <a:xfrm>
            <a:off x="1688886" y="4423356"/>
            <a:ext cx="2398219" cy="2434643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60B6D3DA-583A-65BA-3348-A244C353A168}"/>
              </a:ext>
            </a:extLst>
          </p:cNvPr>
          <p:cNvSpPr txBox="1"/>
          <p:nvPr/>
        </p:nvSpPr>
        <p:spPr>
          <a:xfrm>
            <a:off x="2597840" y="1467336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20.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C50CFD9A-3DA6-D8AE-AE1B-FEB254C94178}"/>
              </a:ext>
            </a:extLst>
          </p:cNvPr>
          <p:cNvSpPr txBox="1"/>
          <p:nvPr/>
        </p:nvSpPr>
        <p:spPr>
          <a:xfrm>
            <a:off x="1468348" y="4102135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30.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EE78AF17-C30B-47AD-76C3-DC9A949D6734}"/>
              </a:ext>
            </a:extLst>
          </p:cNvPr>
          <p:cNvSpPr txBox="1"/>
          <p:nvPr/>
        </p:nvSpPr>
        <p:spPr>
          <a:xfrm>
            <a:off x="2192191" y="4902172"/>
            <a:ext cx="14236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F0000"/>
                </a:solidFill>
              </a:rPr>
              <a:t>O modelo aprende perfeitamente até o ruído presente nos dados!</a:t>
            </a: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7F48D377-FC39-DA3C-AC16-1449B52E6A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86169" y="1756037"/>
            <a:ext cx="2373803" cy="2432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786EF8-F5D3-25D8-4749-140E3D2BCE3B}"/>
              </a:ext>
            </a:extLst>
          </p:cNvPr>
          <p:cNvSpPr txBox="1"/>
          <p:nvPr/>
        </p:nvSpPr>
        <p:spPr>
          <a:xfrm>
            <a:off x="-85209" y="1426150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10.</a:t>
            </a:r>
          </a:p>
        </p:txBody>
      </p:sp>
    </p:spTree>
    <p:extLst>
      <p:ext uri="{BB962C8B-B14F-4D97-AF65-F5344CB8AC3E}">
        <p14:creationId xmlns:p14="http://schemas.microsoft.com/office/powerpoint/2010/main" val="2210665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A561-C103-476F-5F15-EAC4785B2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8CD074-A973-0614-EEBE-59869854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1193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Subajuste</a:t>
            </a:r>
            <a:r>
              <a:rPr lang="pt-BR" dirty="0"/>
              <a:t>: situação em que o modelo </a:t>
            </a:r>
            <a:r>
              <a:rPr lang="pt-BR" b="1" i="1" dirty="0">
                <a:solidFill>
                  <a:srgbClr val="FF0000"/>
                </a:solidFill>
              </a:rPr>
              <a:t>falha em aproximar o comportamento geral</a:t>
            </a:r>
            <a:r>
              <a:rPr lang="pt-BR" b="1" i="1" dirty="0"/>
              <a:t> </a:t>
            </a:r>
            <a:r>
              <a:rPr lang="pt-BR" dirty="0"/>
              <a:t>por trás das amostras </a:t>
            </a:r>
            <a:r>
              <a:rPr lang="pt-BR" b="1" i="1" dirty="0">
                <a:solidFill>
                  <a:schemeClr val="accent2"/>
                </a:solidFill>
              </a:rPr>
              <a:t>devido à falta de flexibilidade</a:t>
            </a:r>
            <a:r>
              <a:rPr lang="pt-BR" b="1" i="1" dirty="0"/>
              <a:t> (ou capacidade)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modelo não ter graus de liberdade suficientes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produz </a:t>
            </a:r>
            <a:r>
              <a:rPr lang="pt-BR" b="1" i="1" dirty="0">
                <a:solidFill>
                  <a:srgbClr val="7030A0"/>
                </a:solidFill>
              </a:rPr>
              <a:t>erros significativos</a:t>
            </a:r>
            <a:r>
              <a:rPr lang="pt-BR" dirty="0"/>
              <a:t> tanto quando apresentado ao próprio </a:t>
            </a:r>
            <a:r>
              <a:rPr lang="pt-BR" b="1" i="1" dirty="0">
                <a:solidFill>
                  <a:srgbClr val="7030A0"/>
                </a:solidFill>
              </a:rPr>
              <a:t>conjunto de treinamento quanto a dados inéditos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subajustando, mesmo que o número de </a:t>
            </a:r>
            <a:r>
              <a:rPr lang="pt-BR" b="1" i="1" dirty="0">
                <a:solidFill>
                  <a:schemeClr val="accent5"/>
                </a:solidFill>
              </a:rPr>
              <a:t>exemplos aumente indefinidamente</a:t>
            </a:r>
            <a:r>
              <a:rPr lang="pt-BR" dirty="0"/>
              <a:t>, </a:t>
            </a:r>
            <a:r>
              <a:rPr lang="pt-BR" b="1" i="1" dirty="0">
                <a:solidFill>
                  <a:schemeClr val="accent5"/>
                </a:solidFill>
              </a:rPr>
              <a:t>esta situação não vai desaparecer</a:t>
            </a:r>
            <a:r>
              <a:rPr lang="pt-BR" dirty="0"/>
              <a:t>, é necessário </a:t>
            </a:r>
            <a:r>
              <a:rPr lang="pt-BR" b="1" i="1" dirty="0"/>
              <a:t>aumentar a flexibilidade do modelo</a:t>
            </a:r>
            <a:r>
              <a:rPr lang="pt-BR" dirty="0"/>
              <a:t>, ou seja, no caso da regressão polinomial, sua ordem.</a:t>
            </a:r>
            <a:endParaRPr lang="pt-BR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822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43A85-BE08-CCCE-F2FF-3993CA1F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5A8250-029F-88A1-6088-A9E25EC51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2016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: situação em que o </a:t>
            </a:r>
            <a:r>
              <a:rPr lang="pt-BR" b="1" i="1" dirty="0">
                <a:solidFill>
                  <a:schemeClr val="accent2"/>
                </a:solidFill>
              </a:rPr>
              <a:t>modelo se ajusta tão bem aos exemplos de treinamento que ele aprende até o ruído</a:t>
            </a:r>
            <a:r>
              <a:rPr lang="pt-BR" dirty="0"/>
              <a:t> presente nos mesmos (baixo </a:t>
            </a:r>
            <a:r>
              <a:rPr lang="pt-BR" b="1" i="1" dirty="0"/>
              <a:t>erro de treinamento</a:t>
            </a:r>
            <a:r>
              <a:rPr lang="pt-BR" dirty="0"/>
              <a:t>). </a:t>
            </a:r>
          </a:p>
          <a:p>
            <a:r>
              <a:rPr lang="pt-BR" dirty="0"/>
              <a:t>Porém, o modelo produz </a:t>
            </a:r>
            <a:r>
              <a:rPr lang="pt-BR" b="1" i="1" dirty="0">
                <a:solidFill>
                  <a:srgbClr val="FF0000"/>
                </a:solidFill>
              </a:rPr>
              <a:t>erros significativos quando apresentado a dados inéditos</a:t>
            </a:r>
            <a:r>
              <a:rPr lang="pt-BR" dirty="0"/>
              <a:t> (alto erro de </a:t>
            </a:r>
            <a:r>
              <a:rPr lang="pt-BR" b="1" i="1" dirty="0"/>
              <a:t>erro de validação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alto grau de flexibilidade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sobreajustando, então é necessário </a:t>
            </a:r>
            <a:r>
              <a:rPr lang="pt-BR" b="1" i="1" dirty="0"/>
              <a:t>diminuir sua flexibilidade</a:t>
            </a:r>
            <a:r>
              <a:rPr lang="pt-BR" dirty="0"/>
              <a:t> ou </a:t>
            </a:r>
            <a:r>
              <a:rPr lang="pt-BR" b="1" i="1" dirty="0"/>
              <a:t>aumentar o conjunto de treinamento</a:t>
            </a:r>
            <a:r>
              <a:rPr lang="pt-BR" dirty="0"/>
              <a:t> até que o erro de validação atinja o erro de treinamento.</a:t>
            </a:r>
          </a:p>
          <a:p>
            <a:r>
              <a:rPr lang="pt-BR" dirty="0"/>
              <a:t>Nosso </a:t>
            </a:r>
            <a:r>
              <a:rPr lang="pt-BR" b="1" i="1" dirty="0">
                <a:solidFill>
                  <a:schemeClr val="accent5"/>
                </a:solidFill>
              </a:rPr>
              <a:t>objetivo</a:t>
            </a:r>
            <a:r>
              <a:rPr lang="pt-BR" dirty="0"/>
              <a:t> será encontrar um modelo que apresente uma boa relação de compromisso entre </a:t>
            </a:r>
            <a:r>
              <a:rPr lang="pt-BR" b="1" i="1" dirty="0">
                <a:solidFill>
                  <a:srgbClr val="0070C0"/>
                </a:solidFill>
              </a:rPr>
              <a:t>flexibilidade</a:t>
            </a:r>
            <a:r>
              <a:rPr lang="pt-BR" dirty="0"/>
              <a:t> e </a:t>
            </a:r>
            <a:r>
              <a:rPr lang="pt-BR" b="1" i="1" dirty="0">
                <a:solidFill>
                  <a:srgbClr val="0070C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Flexibilidade suficiente para capturar o comportamento geral e generalizar bem.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3803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IV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Recordings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Entrega do projeto final: 27/06/2026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Projeto final já se encontra no </a:t>
            </a:r>
            <a:r>
              <a:rPr lang="pt-BR" b="1" dirty="0" err="1">
                <a:solidFill>
                  <a:srgbClr val="00B050"/>
                </a:solidFill>
              </a:rPr>
              <a:t>github</a:t>
            </a:r>
            <a:r>
              <a:rPr lang="pt-BR" b="1" dirty="0">
                <a:solidFill>
                  <a:srgbClr val="00B05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Pode ser feito em grupos de no máximo 3 alunos.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>
            <a:off x="6380252" y="5075434"/>
            <a:ext cx="3195263" cy="390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1270FBDD-7D1D-3556-882F-BD79F60C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515" y="3864195"/>
            <a:ext cx="1907714" cy="265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17133" y="2433646"/>
            <a:ext cx="11157734" cy="1990707"/>
          </a:xfrm>
        </p:spPr>
        <p:txBody>
          <a:bodyPr>
            <a:normAutofit/>
          </a:bodyPr>
          <a:lstStyle/>
          <a:p>
            <a:r>
              <a:rPr lang="pt-BR" b="1" dirty="0"/>
              <a:t>Anexo I</a:t>
            </a:r>
            <a:r>
              <a:rPr lang="pt-BR" dirty="0"/>
              <a:t>: O escalonamento altera o valor dos pesos originais</a:t>
            </a:r>
          </a:p>
        </p:txBody>
      </p:sp>
    </p:spTree>
    <p:extLst>
      <p:ext uri="{BB962C8B-B14F-4D97-AF65-F5344CB8AC3E}">
        <p14:creationId xmlns:p14="http://schemas.microsoft.com/office/powerpoint/2010/main" val="4039607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Considerando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Se padronizarmos 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teremos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as estimativas da média e do desvio padrão, respectivamente, calculados ao longo de todas as amostras do vetor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109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7774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Isolando-se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equação da padronização,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Na sequência, substituindo-se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função hipótese, tem-se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Perceba que na equação acima há o surgimento de um termo de bias,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, além da alteração do peso original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93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184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D6B25-6150-7B86-1B7A-9E7B6FAE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</p:spPr>
            <p:txBody>
              <a:bodyPr/>
              <a:lstStyle/>
              <a:p>
                <a:r>
                  <a:rPr lang="pt-BR" dirty="0"/>
                  <a:t>Assim, podemos reescrever a equação acima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Note que a padronização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fez com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fosse modificado de forma que a função hipótese ainda produza em sua saídas predições condizentes com os valores esperados,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mesmo com a padronização dos atributos, a função hipótese ainda fará predições alinhadas aos valores dos rótulos,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mesmo procedimento pode ser diretamente aplicado à normalização e também resultará em mudança dos pesos originais.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  <a:blipFill>
                <a:blip r:embed="rId2"/>
                <a:stretch>
                  <a:fillRect l="-114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2893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iro.medium.com/max/302/1*MpLkcugbeMrJvFlz69LTNQ.jpeg">
            <a:extLst>
              <a:ext uri="{FF2B5EF4-FFF2-40B4-BE49-F238E27FC236}">
                <a16:creationId xmlns:a16="http://schemas.microsoft.com/office/drawing/2014/main" id="{DE195D4C-7D53-46C2-BDD9-033809B4E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872" y="4006136"/>
            <a:ext cx="3467100" cy="23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miro.medium.com/max/426/1*iRv8pCP7v8FzVJNe2vAjdw.png">
            <a:extLst>
              <a:ext uri="{FF2B5EF4-FFF2-40B4-BE49-F238E27FC236}">
                <a16:creationId xmlns:a16="http://schemas.microsoft.com/office/drawing/2014/main" id="{76F9F526-3C2B-485C-9E25-3D10B3E3B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322" y="981611"/>
            <a:ext cx="4057650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miro.medium.com/max/194/1*JugKARhlrp9HLTF5_lN7EQ.jpeg">
            <a:extLst>
              <a:ext uri="{FF2B5EF4-FFF2-40B4-BE49-F238E27FC236}">
                <a16:creationId xmlns:a16="http://schemas.microsoft.com/office/drawing/2014/main" id="{50D99301-1821-4F05-A553-E371FA672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5998" y="3094903"/>
            <a:ext cx="2569757" cy="3430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31" y="4292217"/>
            <a:ext cx="3696053" cy="2410800"/>
          </a:xfrm>
          <a:prstGeom prst="rect">
            <a:avLst/>
          </a:prstGeom>
        </p:spPr>
      </p:pic>
      <p:pic>
        <p:nvPicPr>
          <p:cNvPr id="3" name="Picture 3" descr="A close up of text on a black background&#10;&#10;Description generated with very high confidence">
            <a:extLst>
              <a:ext uri="{FF2B5EF4-FFF2-40B4-BE49-F238E27FC236}">
                <a16:creationId xmlns:a16="http://schemas.microsoft.com/office/drawing/2014/main" id="{2A0DF154-7178-4F01-A59C-CD7D1EB3A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4204" y="271661"/>
            <a:ext cx="3515360" cy="2253250"/>
          </a:xfrm>
          <a:prstGeom prst="rect">
            <a:avLst/>
          </a:prstGeom>
        </p:spPr>
      </p:pic>
      <p:pic>
        <p:nvPicPr>
          <p:cNvPr id="4" name="Picture 2" descr="Popular Applications of Linear Regression for Businesses | Jigsaw Academy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41" y="271661"/>
            <a:ext cx="2800855" cy="373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3018577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5096D0-F588-135D-F792-88270DDED768}"/>
              </a:ext>
            </a:extLst>
          </p:cNvPr>
          <p:cNvGrpSpPr/>
          <p:nvPr/>
        </p:nvGrpSpPr>
        <p:grpSpPr>
          <a:xfrm>
            <a:off x="6853637" y="2129689"/>
            <a:ext cx="3549478" cy="3157828"/>
            <a:chOff x="6818898" y="2134388"/>
            <a:chExt cx="3549478" cy="3157828"/>
          </a:xfrm>
        </p:grpSpPr>
        <p:cxnSp>
          <p:nvCxnSpPr>
            <p:cNvPr id="115" name="Straight Connector 114"/>
            <p:cNvCxnSpPr>
              <a:cxnSpLocks/>
              <a:stCxn id="114" idx="3"/>
              <a:endCxn id="131" idx="3"/>
            </p:cNvCxnSpPr>
            <p:nvPr/>
          </p:nvCxnSpPr>
          <p:spPr>
            <a:xfrm flipH="1">
              <a:off x="7750840" y="3871435"/>
              <a:ext cx="636793" cy="8264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55329" y="434525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49919" y="409988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Multiply 134">
              <a:extLst>
                <a:ext uri="{FF2B5EF4-FFF2-40B4-BE49-F238E27FC236}">
                  <a16:creationId xmlns:a16="http://schemas.microsoft.com/office/drawing/2014/main" id="{FA9070BF-71F6-1E79-9102-A7B4206F9C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7633" y="378166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0B221044-5B56-2889-43EF-6B1CDF9732B4}"/>
              </a:ext>
            </a:extLst>
          </p:cNvPr>
          <p:cNvGrpSpPr/>
          <p:nvPr/>
        </p:nvGrpSpPr>
        <p:grpSpPr>
          <a:xfrm>
            <a:off x="976001" y="982970"/>
            <a:ext cx="3692189" cy="5459335"/>
            <a:chOff x="976001" y="982970"/>
            <a:chExt cx="3692189" cy="5459335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1968885" y="1770983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2328885" y="2129689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Oval 6"/>
            <p:cNvSpPr/>
            <p:nvPr/>
          </p:nvSpPr>
          <p:spPr>
            <a:xfrm>
              <a:off x="2688885" y="2489689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2508885" y="2309689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148885" y="1949689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1788885" y="1589689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2779419" y="3432212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>
              <a:cxnSpLocks/>
            </p:cNvCxnSpPr>
            <p:nvPr/>
          </p:nvCxnSpPr>
          <p:spPr>
            <a:xfrm>
              <a:off x="1189015" y="1390645"/>
              <a:ext cx="0" cy="4860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2751655" y="4684645"/>
              <a:ext cx="0" cy="313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0">
              <a:extLst>
                <a:ext uri="{FF2B5EF4-FFF2-40B4-BE49-F238E27FC236}">
                  <a16:creationId xmlns:a16="http://schemas.microsoft.com/office/drawing/2014/main" id="{C5B5E787-9046-A8D9-E7D1-5D4F0F774A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5553" y="1400275"/>
              <a:ext cx="2474176" cy="434859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10">
              <a:extLst>
                <a:ext uri="{FF2B5EF4-FFF2-40B4-BE49-F238E27FC236}">
                  <a16:creationId xmlns:a16="http://schemas.microsoft.com/office/drawing/2014/main" id="{42CB43F5-FB51-80EF-5C81-6F708F799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6268" y="1220465"/>
              <a:ext cx="2785894" cy="4716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0">
              <a:extLst>
                <a:ext uri="{FF2B5EF4-FFF2-40B4-BE49-F238E27FC236}">
                  <a16:creationId xmlns:a16="http://schemas.microsoft.com/office/drawing/2014/main" id="{AAE2207E-9F50-E819-1233-3BBA843ECB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78467" y="1016839"/>
              <a:ext cx="3124194" cy="512996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Connector 114">
              <a:extLst>
                <a:ext uri="{FF2B5EF4-FFF2-40B4-BE49-F238E27FC236}">
                  <a16:creationId xmlns:a16="http://schemas.microsoft.com/office/drawing/2014/main" id="{28160BF7-2A1F-941C-9948-66C13C80463E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 flipH="1">
              <a:off x="1624092" y="5009689"/>
              <a:ext cx="1188000" cy="1367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114">
              <a:extLst>
                <a:ext uri="{FF2B5EF4-FFF2-40B4-BE49-F238E27FC236}">
                  <a16:creationId xmlns:a16="http://schemas.microsoft.com/office/drawing/2014/main" id="{6DF0FBB6-1590-8715-705A-370667702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50" y="3568981"/>
              <a:ext cx="30813" cy="144070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ultiply 135">
              <a:extLst>
                <a:ext uri="{FF2B5EF4-FFF2-40B4-BE49-F238E27FC236}">
                  <a16:creationId xmlns:a16="http://schemas.microsoft.com/office/drawing/2014/main" id="{6A8BAF8A-C188-F13D-2BA2-DD7FF36B717E}"/>
                </a:ext>
              </a:extLst>
            </p:cNvPr>
            <p:cNvSpPr>
              <a:spLocks/>
            </p:cNvSpPr>
            <p:nvPr/>
          </p:nvSpPr>
          <p:spPr>
            <a:xfrm>
              <a:off x="1561634" y="510372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Multiply 135">
              <a:extLst>
                <a:ext uri="{FF2B5EF4-FFF2-40B4-BE49-F238E27FC236}">
                  <a16:creationId xmlns:a16="http://schemas.microsoft.com/office/drawing/2014/main" id="{2FFEA082-476F-F47F-9403-C82507E32603}"/>
                </a:ext>
              </a:extLst>
            </p:cNvPr>
            <p:cNvSpPr>
              <a:spLocks/>
            </p:cNvSpPr>
            <p:nvPr/>
          </p:nvSpPr>
          <p:spPr>
            <a:xfrm>
              <a:off x="2147785" y="50392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Multiply 135">
              <a:extLst>
                <a:ext uri="{FF2B5EF4-FFF2-40B4-BE49-F238E27FC236}">
                  <a16:creationId xmlns:a16="http://schemas.microsoft.com/office/drawing/2014/main" id="{75C82D09-9C51-CAEE-3DF6-CF1BE01CBB77}"/>
                </a:ext>
              </a:extLst>
            </p:cNvPr>
            <p:cNvSpPr>
              <a:spLocks/>
            </p:cNvSpPr>
            <p:nvPr/>
          </p:nvSpPr>
          <p:spPr>
            <a:xfrm>
              <a:off x="2786700" y="4963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135">
              <a:extLst>
                <a:ext uri="{FF2B5EF4-FFF2-40B4-BE49-F238E27FC236}">
                  <a16:creationId xmlns:a16="http://schemas.microsoft.com/office/drawing/2014/main" id="{DA70EC8E-34FF-8186-C9A7-9F45CB21EEDA}"/>
                </a:ext>
              </a:extLst>
            </p:cNvPr>
            <p:cNvSpPr>
              <a:spLocks/>
            </p:cNvSpPr>
            <p:nvPr/>
          </p:nvSpPr>
          <p:spPr>
            <a:xfrm>
              <a:off x="2798413" y="426977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135">
              <a:extLst>
                <a:ext uri="{FF2B5EF4-FFF2-40B4-BE49-F238E27FC236}">
                  <a16:creationId xmlns:a16="http://schemas.microsoft.com/office/drawing/2014/main" id="{AF59EBE3-2E1C-ACE0-D900-8C24AFDD2370}"/>
                </a:ext>
              </a:extLst>
            </p:cNvPr>
            <p:cNvSpPr>
              <a:spLocks/>
            </p:cNvSpPr>
            <p:nvPr/>
          </p:nvSpPr>
          <p:spPr>
            <a:xfrm>
              <a:off x="2798407" y="439447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135">
              <a:extLst>
                <a:ext uri="{FF2B5EF4-FFF2-40B4-BE49-F238E27FC236}">
                  <a16:creationId xmlns:a16="http://schemas.microsoft.com/office/drawing/2014/main" id="{C24E26BB-1207-A4B7-A858-9CC5EDFCDFC7}"/>
                </a:ext>
              </a:extLst>
            </p:cNvPr>
            <p:cNvSpPr>
              <a:spLocks/>
            </p:cNvSpPr>
            <p:nvPr/>
          </p:nvSpPr>
          <p:spPr>
            <a:xfrm>
              <a:off x="2815999" y="38317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135">
              <a:extLst>
                <a:ext uri="{FF2B5EF4-FFF2-40B4-BE49-F238E27FC236}">
                  <a16:creationId xmlns:a16="http://schemas.microsoft.com/office/drawing/2014/main" id="{A878CEF6-6CC0-D0A3-D355-9FB6DCEE97BD}"/>
                </a:ext>
              </a:extLst>
            </p:cNvPr>
            <p:cNvSpPr>
              <a:spLocks/>
            </p:cNvSpPr>
            <p:nvPr/>
          </p:nvSpPr>
          <p:spPr>
            <a:xfrm>
              <a:off x="2810130" y="400493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135">
              <a:extLst>
                <a:ext uri="{FF2B5EF4-FFF2-40B4-BE49-F238E27FC236}">
                  <a16:creationId xmlns:a16="http://schemas.microsoft.com/office/drawing/2014/main" id="{347597C1-C0AC-D75D-1EE7-5D0FD4098D02}"/>
                </a:ext>
              </a:extLst>
            </p:cNvPr>
            <p:cNvSpPr>
              <a:spLocks/>
            </p:cNvSpPr>
            <p:nvPr/>
          </p:nvSpPr>
          <p:spPr>
            <a:xfrm>
              <a:off x="2804264" y="412696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135">
              <a:extLst>
                <a:ext uri="{FF2B5EF4-FFF2-40B4-BE49-F238E27FC236}">
                  <a16:creationId xmlns:a16="http://schemas.microsoft.com/office/drawing/2014/main" id="{C8C0A364-859B-42D1-5A25-67DDD9877AAB}"/>
                </a:ext>
              </a:extLst>
            </p:cNvPr>
            <p:cNvSpPr>
              <a:spLocks/>
            </p:cNvSpPr>
            <p:nvPr/>
          </p:nvSpPr>
          <p:spPr>
            <a:xfrm>
              <a:off x="2798395" y="433318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135">
              <a:extLst>
                <a:ext uri="{FF2B5EF4-FFF2-40B4-BE49-F238E27FC236}">
                  <a16:creationId xmlns:a16="http://schemas.microsoft.com/office/drawing/2014/main" id="{262621E6-6AAE-739B-F2E5-89D6F70F2210}"/>
                </a:ext>
              </a:extLst>
            </p:cNvPr>
            <p:cNvSpPr>
              <a:spLocks/>
            </p:cNvSpPr>
            <p:nvPr/>
          </p:nvSpPr>
          <p:spPr>
            <a:xfrm>
              <a:off x="2798391" y="44648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135">
              <a:extLst>
                <a:ext uri="{FF2B5EF4-FFF2-40B4-BE49-F238E27FC236}">
                  <a16:creationId xmlns:a16="http://schemas.microsoft.com/office/drawing/2014/main" id="{E8C410E5-7DF1-D2A7-C773-23921FCA8531}"/>
                </a:ext>
              </a:extLst>
            </p:cNvPr>
            <p:cNvSpPr>
              <a:spLocks/>
            </p:cNvSpPr>
            <p:nvPr/>
          </p:nvSpPr>
          <p:spPr>
            <a:xfrm>
              <a:off x="2792523" y="46172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135">
              <a:extLst>
                <a:ext uri="{FF2B5EF4-FFF2-40B4-BE49-F238E27FC236}">
                  <a16:creationId xmlns:a16="http://schemas.microsoft.com/office/drawing/2014/main" id="{4CF17149-DBC3-C1F8-21C0-108F063E1A31}"/>
                </a:ext>
              </a:extLst>
            </p:cNvPr>
            <p:cNvSpPr>
              <a:spLocks/>
            </p:cNvSpPr>
            <p:nvPr/>
          </p:nvSpPr>
          <p:spPr>
            <a:xfrm>
              <a:off x="2792516" y="47696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135">
              <a:extLst>
                <a:ext uri="{FF2B5EF4-FFF2-40B4-BE49-F238E27FC236}">
                  <a16:creationId xmlns:a16="http://schemas.microsoft.com/office/drawing/2014/main" id="{D0A86F5B-7999-5C8B-AF52-B66951CA417D}"/>
                </a:ext>
              </a:extLst>
            </p:cNvPr>
            <p:cNvSpPr>
              <a:spLocks/>
            </p:cNvSpPr>
            <p:nvPr/>
          </p:nvSpPr>
          <p:spPr>
            <a:xfrm>
              <a:off x="2792510" y="492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135">
              <a:extLst>
                <a:ext uri="{FF2B5EF4-FFF2-40B4-BE49-F238E27FC236}">
                  <a16:creationId xmlns:a16="http://schemas.microsoft.com/office/drawing/2014/main" id="{9C348C03-32B9-153B-0090-6E8C5B85F3B1}"/>
                </a:ext>
              </a:extLst>
            </p:cNvPr>
            <p:cNvSpPr>
              <a:spLocks/>
            </p:cNvSpPr>
            <p:nvPr/>
          </p:nvSpPr>
          <p:spPr>
            <a:xfrm>
              <a:off x="2792506" y="485165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135">
              <a:extLst>
                <a:ext uri="{FF2B5EF4-FFF2-40B4-BE49-F238E27FC236}">
                  <a16:creationId xmlns:a16="http://schemas.microsoft.com/office/drawing/2014/main" id="{760E6EAE-C7F7-57D7-08D8-B29FFDE03B81}"/>
                </a:ext>
              </a:extLst>
            </p:cNvPr>
            <p:cNvSpPr>
              <a:spLocks/>
            </p:cNvSpPr>
            <p:nvPr/>
          </p:nvSpPr>
          <p:spPr>
            <a:xfrm>
              <a:off x="2798361" y="469924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Multiply 135">
              <a:extLst>
                <a:ext uri="{FF2B5EF4-FFF2-40B4-BE49-F238E27FC236}">
                  <a16:creationId xmlns:a16="http://schemas.microsoft.com/office/drawing/2014/main" id="{821C69AD-CBE0-650C-F7F9-C28FE7BA8D14}"/>
                </a:ext>
              </a:extLst>
            </p:cNvPr>
            <p:cNvSpPr>
              <a:spLocks/>
            </p:cNvSpPr>
            <p:nvPr/>
          </p:nvSpPr>
          <p:spPr>
            <a:xfrm>
              <a:off x="2798355" y="454683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Multiply 135">
              <a:extLst>
                <a:ext uri="{FF2B5EF4-FFF2-40B4-BE49-F238E27FC236}">
                  <a16:creationId xmlns:a16="http://schemas.microsoft.com/office/drawing/2014/main" id="{863ED875-1F1C-8E0C-61C7-DF4AED278AA4}"/>
                </a:ext>
              </a:extLst>
            </p:cNvPr>
            <p:cNvSpPr>
              <a:spLocks/>
            </p:cNvSpPr>
            <p:nvPr/>
          </p:nvSpPr>
          <p:spPr>
            <a:xfrm>
              <a:off x="2804208" y="40752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Multiply 135">
              <a:extLst>
                <a:ext uri="{FF2B5EF4-FFF2-40B4-BE49-F238E27FC236}">
                  <a16:creationId xmlns:a16="http://schemas.microsoft.com/office/drawing/2014/main" id="{1C02F9EC-4878-3243-15C2-C875204E4EC5}"/>
                </a:ext>
              </a:extLst>
            </p:cNvPr>
            <p:cNvSpPr>
              <a:spLocks/>
            </p:cNvSpPr>
            <p:nvPr/>
          </p:nvSpPr>
          <p:spPr>
            <a:xfrm>
              <a:off x="2810063" y="389619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Multiply 135">
              <a:extLst>
                <a:ext uri="{FF2B5EF4-FFF2-40B4-BE49-F238E27FC236}">
                  <a16:creationId xmlns:a16="http://schemas.microsoft.com/office/drawing/2014/main" id="{9B21C56A-8935-EFF6-AD59-C9BEAA8A86AE}"/>
                </a:ext>
              </a:extLst>
            </p:cNvPr>
            <p:cNvSpPr>
              <a:spLocks/>
            </p:cNvSpPr>
            <p:nvPr/>
          </p:nvSpPr>
          <p:spPr>
            <a:xfrm>
              <a:off x="2798332" y="419727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Multiply 135">
              <a:extLst>
                <a:ext uri="{FF2B5EF4-FFF2-40B4-BE49-F238E27FC236}">
                  <a16:creationId xmlns:a16="http://schemas.microsoft.com/office/drawing/2014/main" id="{72AFD4D7-205C-95E1-43F2-7CA5465865BB}"/>
                </a:ext>
              </a:extLst>
            </p:cNvPr>
            <p:cNvSpPr>
              <a:spLocks/>
            </p:cNvSpPr>
            <p:nvPr/>
          </p:nvSpPr>
          <p:spPr>
            <a:xfrm>
              <a:off x="2815911" y="37496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Multiply 135">
              <a:extLst>
                <a:ext uri="{FF2B5EF4-FFF2-40B4-BE49-F238E27FC236}">
                  <a16:creationId xmlns:a16="http://schemas.microsoft.com/office/drawing/2014/main" id="{9B64FA35-5DCA-C4A1-9BF8-1D567B0DC27F}"/>
                </a:ext>
              </a:extLst>
            </p:cNvPr>
            <p:cNvSpPr>
              <a:spLocks/>
            </p:cNvSpPr>
            <p:nvPr/>
          </p:nvSpPr>
          <p:spPr>
            <a:xfrm>
              <a:off x="2815907" y="368517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Multiply 135">
              <a:extLst>
                <a:ext uri="{FF2B5EF4-FFF2-40B4-BE49-F238E27FC236}">
                  <a16:creationId xmlns:a16="http://schemas.microsoft.com/office/drawing/2014/main" id="{8E8A939F-B2F2-48A5-E644-323CAFE61140}"/>
                </a:ext>
              </a:extLst>
            </p:cNvPr>
            <p:cNvSpPr>
              <a:spLocks/>
            </p:cNvSpPr>
            <p:nvPr/>
          </p:nvSpPr>
          <p:spPr>
            <a:xfrm>
              <a:off x="2821761" y="36441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Multiply 135">
              <a:extLst>
                <a:ext uri="{FF2B5EF4-FFF2-40B4-BE49-F238E27FC236}">
                  <a16:creationId xmlns:a16="http://schemas.microsoft.com/office/drawing/2014/main" id="{BA24BE91-984D-64B3-B60F-21C293E7000E}"/>
                </a:ext>
              </a:extLst>
            </p:cNvPr>
            <p:cNvSpPr>
              <a:spLocks/>
            </p:cNvSpPr>
            <p:nvPr/>
          </p:nvSpPr>
          <p:spPr>
            <a:xfrm>
              <a:off x="2821755" y="356793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Multiply 135">
              <a:extLst>
                <a:ext uri="{FF2B5EF4-FFF2-40B4-BE49-F238E27FC236}">
                  <a16:creationId xmlns:a16="http://schemas.microsoft.com/office/drawing/2014/main" id="{0019A74A-118A-B8CF-D346-7EC03E3987DD}"/>
                </a:ext>
              </a:extLst>
            </p:cNvPr>
            <p:cNvSpPr>
              <a:spLocks/>
            </p:cNvSpPr>
            <p:nvPr/>
          </p:nvSpPr>
          <p:spPr>
            <a:xfrm>
              <a:off x="2815887" y="36089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Multiply 135">
              <a:extLst>
                <a:ext uri="{FF2B5EF4-FFF2-40B4-BE49-F238E27FC236}">
                  <a16:creationId xmlns:a16="http://schemas.microsoft.com/office/drawing/2014/main" id="{2A5512CC-0B51-FABF-F91A-B6123A14B48A}"/>
                </a:ext>
              </a:extLst>
            </p:cNvPr>
            <p:cNvSpPr>
              <a:spLocks/>
            </p:cNvSpPr>
            <p:nvPr/>
          </p:nvSpPr>
          <p:spPr>
            <a:xfrm>
              <a:off x="2821755" y="347094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Multiply 135">
              <a:extLst>
                <a:ext uri="{FF2B5EF4-FFF2-40B4-BE49-F238E27FC236}">
                  <a16:creationId xmlns:a16="http://schemas.microsoft.com/office/drawing/2014/main" id="{F626310B-7E68-50DB-ED66-A1A7C8DF3086}"/>
                </a:ext>
              </a:extLst>
            </p:cNvPr>
            <p:cNvSpPr>
              <a:spLocks/>
            </p:cNvSpPr>
            <p:nvPr/>
          </p:nvSpPr>
          <p:spPr>
            <a:xfrm>
              <a:off x="2814831" y="35194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Multiply 135">
              <a:extLst>
                <a:ext uri="{FF2B5EF4-FFF2-40B4-BE49-F238E27FC236}">
                  <a16:creationId xmlns:a16="http://schemas.microsoft.com/office/drawing/2014/main" id="{1FF4313A-7729-DF85-5956-8175C40249C7}"/>
                </a:ext>
              </a:extLst>
            </p:cNvPr>
            <p:cNvSpPr>
              <a:spLocks/>
            </p:cNvSpPr>
            <p:nvPr/>
          </p:nvSpPr>
          <p:spPr>
            <a:xfrm>
              <a:off x="2807901" y="394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90120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43BF8E7A-7F85-4B5C-91EE-1390147153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67F36EB-496F-4262-A9FD-0843EF3B6D8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377E4F8-F73A-4838-818D-26069B242819}">
  <ds:schemaRefs>
    <ds:schemaRef ds:uri="http://schemas.microsoft.com/office/2006/metadata/properties"/>
    <ds:schemaRef ds:uri="http://schemas.microsoft.com/office/infopath/2007/PartnerControls"/>
    <ds:schemaRef ds:uri="10322600-47b9-44f6-86ef-c87c87ba6e8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22344</TotalTime>
  <Words>6914</Words>
  <Application>Microsoft Office PowerPoint</Application>
  <PresentationFormat>Widescreen</PresentationFormat>
  <Paragraphs>434</Paragraphs>
  <Slides>39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IV)</vt:lpstr>
      <vt:lpstr>Recapitulando</vt:lpstr>
      <vt:lpstr>Variações do formato da superfície de erro</vt:lpstr>
      <vt:lpstr>Superfícies com formato de vale</vt:lpstr>
      <vt:lpstr>Superfícies com formato de vale</vt:lpstr>
      <vt:lpstr>Apresentação do PowerPoint</vt:lpstr>
      <vt:lpstr>Escalonamento de atributos</vt:lpstr>
      <vt:lpstr>Escalonamento de atributos</vt:lpstr>
      <vt:lpstr>Escalonamento de atributos</vt:lpstr>
      <vt:lpstr>Escalonamento de atributos</vt:lpstr>
      <vt:lpstr>Vantagens do escalonamento de atributos</vt:lpstr>
      <vt:lpstr>Vantagens do escalonamento de atributos</vt:lpstr>
      <vt:lpstr>Avisos</vt:lpstr>
      <vt:lpstr>Apresentação do PowerPoint</vt:lpstr>
      <vt:lpstr>Apresentação do PowerPoint</vt:lpstr>
      <vt:lpstr>Apresentação do PowerPoint</vt:lpstr>
      <vt:lpstr>Mapeamentos não lineares</vt:lpstr>
      <vt:lpstr>Regressão polinomial</vt:lpstr>
      <vt:lpstr>Regressão polinomial</vt:lpstr>
      <vt:lpstr>Regressão polinomial</vt:lpstr>
      <vt:lpstr>Regressão polinomial</vt:lpstr>
      <vt:lpstr>Apresentação do PowerPoint</vt:lpstr>
      <vt:lpstr>Exemplo de regressão usando polinômio</vt:lpstr>
      <vt:lpstr>Exemplo de regressão usando polinômio</vt:lpstr>
      <vt:lpstr>Exemplo de regressão usando polinômio</vt:lpstr>
      <vt:lpstr>Regressão polinomial: Qual ordem usar?</vt:lpstr>
      <vt:lpstr>Regressão polinomial: Qual ordem usar?</vt:lpstr>
      <vt:lpstr>Regressão polinomial: Qual ordem usar?</vt:lpstr>
      <vt:lpstr>Resumo sobre subajuste e sobreajuste</vt:lpstr>
      <vt:lpstr>Resumo sobre subajuste e sobreajuste</vt:lpstr>
      <vt:lpstr>Tarefas</vt:lpstr>
      <vt:lpstr>Apresentação do PowerPoint</vt:lpstr>
      <vt:lpstr>Anexo I: O escalonamento altera o valor dos pesos originais</vt:lpstr>
      <vt:lpstr>Mudança dos pesos originais após a padronização</vt:lpstr>
      <vt:lpstr>Mudança dos pesos originais após a padronização</vt:lpstr>
      <vt:lpstr>Mudança dos pesos originais após a padronização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2533</cp:revision>
  <dcterms:created xsi:type="dcterms:W3CDTF">2020-02-17T11:18:32Z</dcterms:created>
  <dcterms:modified xsi:type="dcterms:W3CDTF">2026-05-08T22:11:14Z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