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8499" autoAdjust="0"/>
  </p:normalViewPr>
  <p:slideViewPr>
    <p:cSldViewPr snapToGrid="0">
      <p:cViewPr varScale="1">
        <p:scale>
          <a:sx n="98" d="100"/>
          <a:sy n="98" d="100"/>
        </p:scale>
        <p:origin x="101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27/03/2026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27/03/2026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27/03/2026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27/03/2026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27/03/2026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hyperlink" Target="https://colab.research.google.com/github/zz4fap/t319_aprendizado_de_maquina/blob/main/notebooks/regression/gd_versions/stocastic_gradient_descent_with_figures.ipynb"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0.png"/><Relationship Id="rId7"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jpeg"/><Relationship Id="rId7" Type="http://schemas.openxmlformats.org/officeDocument/2006/relationships/image" Target="../media/image49.png"/><Relationship Id="rId2" Type="http://schemas.openxmlformats.org/officeDocument/2006/relationships/image" Target="../media/image44.jpe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dirty="0">
                    <a:ea typeface="Cambria Math" panose="02040503050406030204" pitchFamily="18" charset="0"/>
                  </a:rPr>
                  <a:t>Vocês se lembram das aulas de cálculo, onde vocês aprenderam sobre o </a:t>
                </a:r>
                <a:r>
                  <a:rPr lang="pt-BR" b="1" i="1" dirty="0">
                    <a:solidFill>
                      <a:srgbClr val="00B050"/>
                    </a:solidFill>
                    <a:ea typeface="Cambria Math" panose="02040503050406030204" pitchFamily="18" charset="0"/>
                  </a:rPr>
                  <a:t>vetor gradiente</a:t>
                </a:r>
                <a:r>
                  <a:rPr lang="pt-BR"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f>
                        <m:fPr>
                          <m:ctrlPr>
                            <a:rPr lang="pt-BR" i="1" smtClean="0">
                              <a:latin typeface="Cambria Math" panose="02040503050406030204" pitchFamily="18" charset="0"/>
                              <a:ea typeface="Cambria Math" panose="02040503050406030204" pitchFamily="18" charset="0"/>
                            </a:rPr>
                          </m:ctrlPr>
                        </m:fPr>
                        <m:num>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num>
                        <m:den>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𝒙</m:t>
                          </m:r>
                        </m:den>
                      </m:f>
                    </m:oMath>
                  </m:oMathPara>
                </a14:m>
                <a:endParaRPr lang="pt-BR" dirty="0">
                  <a:ea typeface="Cambria Math" panose="02040503050406030204" pitchFamily="18" charset="0"/>
                </a:endParaRPr>
              </a:p>
              <a:p>
                <a:r>
                  <a:rPr lang="pt-BR" dirty="0"/>
                  <a:t>É o vetor composto pelas derivadas  parciais de uma função </a:t>
                </a:r>
                <a:r>
                  <a:rPr lang="en-US" dirty="0" err="1"/>
                  <a:t>multivariável</a:t>
                </a:r>
                <a:r>
                  <a:rPr lang="en-US" dirty="0"/>
                  <a:t>,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en-US" dirty="0"/>
                  <a:t>.</a:t>
                </a:r>
                <a:endParaRPr lang="pt-BR" dirty="0"/>
              </a:p>
              <a:p>
                <a:r>
                  <a:rPr lang="pt-BR" dirty="0"/>
                  <a:t>Qual </a:t>
                </a:r>
                <a:r>
                  <a:rPr lang="pt-BR" b="1" i="1" dirty="0">
                    <a:solidFill>
                      <a:srgbClr val="00B050"/>
                    </a:solidFill>
                  </a:rPr>
                  <a:t>informação</a:t>
                </a:r>
                <a:r>
                  <a:rPr lang="pt-BR" dirty="0"/>
                  <a:t> ele nos dá sobre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D3A640A-7D9A-826E-E3F2-DA5ECFA0AA7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ea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smtClean="0">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r="-600"/>
                </a:stretch>
              </a:blipFill>
            </p:spPr>
            <p:txBody>
              <a:bodyPr/>
              <a:lstStyle/>
              <a:p>
                <a:r>
                  <a:rPr lang="en-US">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r>
                  <a:rPr lang="pt-BR" b="1" i="1" dirty="0">
                    <a:solidFill>
                      <a:srgbClr val="00B050"/>
                    </a:solidFill>
                    <a:effectLst/>
                  </a:rPr>
                  <a:t>em que é avaliado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41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430945" cy="5032376"/>
              </a:xfrm>
            </p:spPr>
            <p:txBody>
              <a:bodyPr>
                <a:normAutofit/>
              </a:bodyPr>
              <a:lstStyle/>
              <a:p>
                <a:r>
                  <a:rPr lang="pt-BR" b="0" i="0" dirty="0">
                    <a:solidFill>
                      <a:schemeClr val="tx1"/>
                    </a:solidFill>
                    <a:effectLst/>
                  </a:rPr>
                  <a:t>As </a:t>
                </a:r>
                <a:r>
                  <a:rPr lang="pt-BR" b="1" i="1" dirty="0">
                    <a:solidFill>
                      <a:srgbClr val="00B050"/>
                    </a:solidFill>
                    <a:effectLst/>
                  </a:rPr>
                  <a:t>magnitudes</a:t>
                </a:r>
                <a:r>
                  <a:rPr lang="pt-BR" b="0" i="0" dirty="0">
                    <a:solidFill>
                      <a:schemeClr val="tx1"/>
                    </a:solidFill>
                    <a:effectLst/>
                  </a:rPr>
                  <a:t> dos elementos do vetor gradiente indicam a </a:t>
                </a:r>
                <a:r>
                  <a:rPr lang="pt-BR" b="1" i="1" dirty="0">
                    <a:solidFill>
                      <a:srgbClr val="00B050"/>
                    </a:solidFill>
                    <a:effectLst/>
                  </a:rPr>
                  <a:t>taxa de crescimento da função </a:t>
                </a:r>
                <a:r>
                  <a:rPr lang="pt-BR" b="0" i="0" dirty="0">
                    <a:solidFill>
                      <a:schemeClr val="tx1"/>
                    </a:solidFill>
                    <a:effectLst/>
                  </a:rPr>
                  <a:t>na direção apontada por ele.</a:t>
                </a:r>
              </a:p>
              <a:p>
                <a:pPr lvl="1">
                  <a:buFont typeface="Wingdings" panose="05000000000000000000" pitchFamily="2" charset="2"/>
                  <a:buChar char="§"/>
                </a:pPr>
                <a:r>
                  <a:rPr lang="pt-BR" dirty="0"/>
                  <a:t>Quanto maior a magnitude, maior a taxa de crescimento naquela direção.</a:t>
                </a:r>
                <a:endParaRPr lang="pt-BR" dirty="0">
                  <a:solidFill>
                    <a:schemeClr val="tx1"/>
                  </a:solidFill>
                </a:endParaRPr>
              </a:p>
              <a:p>
                <a:r>
                  <a:rPr lang="pt-BR" dirty="0"/>
                  <a:t>Os </a:t>
                </a:r>
                <a:r>
                  <a:rPr lang="pt-BR" b="1" i="1" dirty="0">
                    <a:solidFill>
                      <a:srgbClr val="00B050"/>
                    </a:solidFill>
                  </a:rPr>
                  <a:t>sinais</a:t>
                </a:r>
                <a:r>
                  <a:rPr lang="pt-BR" dirty="0"/>
                  <a:t> dos elementos do vetor dizem para qual “</a:t>
                </a:r>
                <a:r>
                  <a:rPr lang="pt-BR" b="1" i="1" dirty="0"/>
                  <a:t>lado</a:t>
                </a:r>
                <a:r>
                  <a:rPr lang="pt-BR" dirty="0"/>
                  <a:t>” (</a:t>
                </a:r>
                <a:r>
                  <a:rPr lang="pt-BR" b="1" i="1" dirty="0">
                    <a:solidFill>
                      <a:srgbClr val="00B050"/>
                    </a:solidFill>
                  </a:rPr>
                  <a:t>aumentar ou diminuir</a:t>
                </a:r>
                <a:r>
                  <a:rPr lang="pt-BR" dirty="0"/>
                  <a:t>) os valores dos argumentos, </a:t>
                </a:r>
                <a14:m>
                  <m:oMath xmlns:m="http://schemas.openxmlformats.org/officeDocument/2006/math">
                    <m:r>
                      <a:rPr lang="pt-BR" b="1" i="1" smtClean="0">
                        <a:solidFill>
                          <a:schemeClr val="tx1"/>
                        </a:solidFill>
                        <a:latin typeface="Cambria Math" panose="02040503050406030204" pitchFamily="18" charset="0"/>
                      </a:rPr>
                      <m:t>𝒙</m:t>
                    </m:r>
                  </m:oMath>
                </a14:m>
                <a:r>
                  <a:rPr lang="pt-BR" dirty="0">
                    <a:solidFill>
                      <a:schemeClr val="tx1"/>
                    </a:solidFill>
                  </a:rPr>
                  <a:t>,</a:t>
                </a:r>
                <a:r>
                  <a:rPr lang="pt-BR" dirty="0"/>
                  <a:t> devem ir para que o </a:t>
                </a:r>
                <a:r>
                  <a:rPr lang="pt-BR" b="1" i="1" dirty="0">
                    <a:solidFill>
                      <a:srgbClr val="00B050"/>
                    </a:solidFill>
                  </a:rPr>
                  <a:t>valor de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 </a:t>
                </a:r>
                <a:r>
                  <a:rPr lang="pt-BR" b="1" i="1" dirty="0">
                    <a:solidFill>
                      <a:srgbClr val="00B050"/>
                    </a:solidFill>
                  </a:rPr>
                  <a:t>seja maior do que o atual</a:t>
                </a:r>
                <a:r>
                  <a:rPr lang="pt-BR" dirty="0"/>
                  <a:t>.</a:t>
                </a:r>
                <a:endParaRPr lang="pt-BR" dirty="0">
                  <a:solidFill>
                    <a:schemeClr val="tx1"/>
                  </a:solidFill>
                </a:endParaRPr>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430945" cy="5032376"/>
              </a:xfrm>
              <a:blipFill>
                <a:blip r:embed="rId3"/>
                <a:stretch>
                  <a:fillRect l="-1706" t="-1937" r="-1422"/>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682154" cy="5032376"/>
          </a:xfrm>
        </p:spPr>
        <p:txBody>
          <a:bodyPr>
            <a:normAutofit/>
          </a:bodyPr>
          <a:lstStyle/>
          <a:p>
            <a:r>
              <a:rPr lang="pt-BR" b="0" i="0" dirty="0">
                <a:solidFill>
                  <a:schemeClr val="tx1"/>
                </a:solidFill>
                <a:effectLst/>
              </a:rPr>
              <a:t>O vetor gradiente pode ser também interpretado como a </a:t>
            </a:r>
            <a:r>
              <a:rPr lang="pt-BR" b="1" i="1" dirty="0">
                <a:solidFill>
                  <a:srgbClr val="FF0000"/>
                </a:solidFill>
                <a:effectLst/>
              </a:rPr>
              <a:t>inclinação</a:t>
            </a:r>
            <a:r>
              <a:rPr lang="pt-BR" b="1" i="1" dirty="0">
                <a:solidFill>
                  <a:srgbClr val="00B050"/>
                </a:solidFill>
                <a:effectLst/>
              </a:rPr>
              <a:t> de um </a:t>
            </a:r>
            <a:r>
              <a:rPr lang="pt-BR" b="1" i="1" dirty="0">
                <a:solidFill>
                  <a:srgbClr val="7030A0"/>
                </a:solidFill>
                <a:effectLst/>
              </a:rPr>
              <a:t>hiperplano</a:t>
            </a:r>
            <a:r>
              <a:rPr lang="pt-BR" b="1" i="1" dirty="0">
                <a:solidFill>
                  <a:srgbClr val="00B050"/>
                </a:solidFill>
                <a:effectLst/>
              </a:rPr>
              <a:t> tangente à função </a:t>
            </a:r>
            <a:r>
              <a:rPr lang="pt-BR" b="1" i="1" dirty="0">
                <a:solidFill>
                  <a:schemeClr val="accent2"/>
                </a:solidFill>
                <a:effectLst/>
              </a:rPr>
              <a:t>no ponto onde ele é calculado</a:t>
            </a:r>
            <a:r>
              <a:rPr lang="pt-BR" b="0" i="0" dirty="0">
                <a:solidFill>
                  <a:schemeClr val="tx1"/>
                </a:solidFill>
                <a:effectLst/>
              </a:rPr>
              <a:t>.</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a:t>
            </a:r>
            <a:r>
              <a:rPr lang="pt-BR" b="1" i="1" dirty="0"/>
              <a:t>a magnitude </a:t>
            </a:r>
            <a:r>
              <a:rPr lang="pt-BR" dirty="0">
                <a:solidFill>
                  <a:schemeClr val="tx1"/>
                </a:solidFill>
                <a:effectLst/>
              </a:rPr>
              <a:t>do vetor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b="0" i="0" dirty="0">
                <a:solidFill>
                  <a:schemeClr val="tx1"/>
                </a:solidFill>
                <a:effectLst/>
              </a:rPr>
              <a:t>naquele ponto.</a:t>
            </a:r>
          </a:p>
          <a:p>
            <a:pPr lvl="1">
              <a:buFont typeface="Wingdings" panose="05000000000000000000" pitchFamily="2" charset="2"/>
              <a:buChar char="§"/>
            </a:pPr>
            <a:r>
              <a:rPr lang="pt-BR" dirty="0"/>
              <a:t>Portanto, </a:t>
            </a:r>
            <a:r>
              <a:rPr lang="pt-BR" b="1" i="1" dirty="0"/>
              <a:t>um vetor gradiente com magnitude </a:t>
            </a:r>
            <a:r>
              <a:rPr lang="pt-BR" b="1" i="1" dirty="0">
                <a:solidFill>
                  <a:srgbClr val="7030A0"/>
                </a:solidFill>
              </a:rPr>
              <a:t>igual a 0 </a:t>
            </a:r>
            <a:r>
              <a:rPr lang="pt-BR" b="1" i="1" dirty="0"/>
              <a:t>indica </a:t>
            </a:r>
            <a:r>
              <a:rPr lang="pt-BR" b="1" i="1" dirty="0">
                <a:solidFill>
                  <a:srgbClr val="7030A0"/>
                </a:solidFill>
              </a:rPr>
              <a:t>inclinação nula</a:t>
            </a:r>
            <a:r>
              <a:rPr lang="pt-BR" dirty="0"/>
              <a:t>.</a:t>
            </a:r>
          </a:p>
          <a:p>
            <a:pPr lvl="1">
              <a:buFont typeface="Wingdings" panose="05000000000000000000" pitchFamily="2" charset="2"/>
              <a:buChar char="§"/>
            </a:pPr>
            <a:r>
              <a:rPr lang="pt-BR" dirty="0"/>
              <a:t>Ou seja, </a:t>
            </a:r>
            <a:r>
              <a:rPr lang="pt-BR" b="1" i="1" dirty="0"/>
              <a:t>a função não tem taxa de variação em nenhuma direção</a:t>
            </a:r>
            <a:r>
              <a:rPr lang="pt-BR" dirty="0"/>
              <a:t>.</a:t>
            </a:r>
          </a:p>
          <a:p>
            <a:pPr lvl="1">
              <a:buFont typeface="Wingdings" panose="05000000000000000000" pitchFamily="2" charset="2"/>
              <a:buChar char="§"/>
            </a:pPr>
            <a:r>
              <a:rPr lang="pt-BR" b="0" i="0" dirty="0">
                <a:solidFill>
                  <a:schemeClr val="tx1"/>
                </a:solidFill>
                <a:effectLst/>
              </a:rPr>
              <a:t>Onde isso ocorre? Nos </a:t>
            </a:r>
            <a:r>
              <a:rPr lang="pt-BR" b="1" i="1" dirty="0">
                <a:solidFill>
                  <a:srgbClr val="00B050"/>
                </a:solidFill>
                <a:effectLst/>
              </a:rPr>
              <a:t>extremos da função</a:t>
            </a:r>
            <a:r>
              <a:rPr lang="pt-BR" b="0" i="0" dirty="0">
                <a:solidFill>
                  <a:schemeClr val="tx1"/>
                </a:solidFill>
                <a:effectLst/>
              </a:rPr>
              <a:t>, ou seja, em seus </a:t>
            </a:r>
            <a:r>
              <a:rPr lang="pt-BR" b="1" i="1" dirty="0">
                <a:solidFill>
                  <a:srgbClr val="00B050"/>
                </a:solidFill>
                <a:effectLst/>
              </a:rPr>
              <a:t>pontos de máximo e de mínimo</a:t>
            </a:r>
            <a:r>
              <a:rPr lang="pt-BR" b="0" i="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1406769" y="5260487"/>
                <a:ext cx="3135086"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o vetor é calculado.</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1406769" y="5260487"/>
                <a:ext cx="3135086" cy="954107"/>
              </a:xfrm>
              <a:prstGeom prst="rect">
                <a:avLst/>
              </a:prstGeom>
              <a:blipFill>
                <a:blip r:embed="rId4"/>
                <a:stretch>
                  <a:fillRect l="-389" t="-1282" r="-1362"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007219"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r>
                      <a:rPr lang="pt-BR" sz="1200" b="0" i="0" smtClean="0">
                        <a:latin typeface="Cambria Math" panose="02040503050406030204" pitchFamily="18" charset="0"/>
                      </a:rPr>
                      <m:t>.</m:t>
                    </m:r>
                  </m:oMath>
                </a14:m>
                <a:endParaRPr lang="pt-BR" sz="1200" dirty="0"/>
              </a:p>
            </p:txBody>
          </p:sp>
        </mc:Choice>
        <mc:Fallback>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007219" cy="646331"/>
              </a:xfrm>
              <a:prstGeom prst="rect">
                <a:avLst/>
              </a:prstGeom>
              <a:blipFill>
                <a:blip r:embed="rId5"/>
                <a:stretch>
                  <a:fillRect l="-203"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5" y="1825624"/>
                <a:ext cx="6330462"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de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r>
                      <a:rPr lang="pt-BR" sz="2800" i="1">
                        <a:latin typeface="Cambria Math" panose="02040503050406030204" pitchFamily="18" charset="0"/>
                      </a:rPr>
                      <m:t>)</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sz="2800" i="1" smtClean="0">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5" y="1825624"/>
                <a:ext cx="6330462" cy="5032375"/>
              </a:xfrm>
              <a:blipFill>
                <a:blip r:embed="rId3"/>
                <a:stretch>
                  <a:fillRect l="-1734" t="-1937" r="-202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lstStyle/>
              <a:p>
                <a:r>
                  <a:rPr lang="pt-BR" dirty="0"/>
                  <a:t>Se o vetor gradiente de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em um </a:t>
                </a:r>
                <a:r>
                  <a:rPr lang="pt-BR" b="1" i="1" dirty="0">
                    <a:solidFill>
                      <a:srgbClr val="00B050"/>
                    </a:solidFill>
                  </a:rPr>
                  <a:t>ponto</a:t>
                </a:r>
                <a:r>
                  <a:rPr lang="pt-BR" dirty="0"/>
                  <a:t> </a:t>
                </a:r>
                <a14:m>
                  <m:oMath xmlns:m="http://schemas.openxmlformats.org/officeDocument/2006/math">
                    <m:r>
                      <a:rPr lang="pt-BR" b="0" i="1" smtClean="0">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oMath>
                </a14:m>
                <a:r>
                  <a:rPr lang="pt-BR" dirty="0"/>
                  <a:t> qualquer dá a </a:t>
                </a:r>
                <a:r>
                  <a:rPr lang="pt-BR" b="1" i="1" dirty="0">
                    <a:solidFill>
                      <a:srgbClr val="7030A0"/>
                    </a:solidFill>
                  </a:rPr>
                  <a:t>inclinação da reta tangente à função naquele </a:t>
                </a:r>
                <a:r>
                  <a:rPr lang="pt-BR" b="1" i="1" dirty="0">
                    <a:solidFill>
                      <a:srgbClr val="00B050"/>
                    </a:solidFill>
                  </a:rPr>
                  <a:t>ponto</a:t>
                </a:r>
                <a:r>
                  <a:rPr lang="pt-BR" dirty="0"/>
                  <a:t>, então, nesse </a:t>
                </a:r>
                <a:r>
                  <a:rPr lang="pt-BR" b="1" i="1" dirty="0">
                    <a:solidFill>
                      <a:srgbClr val="00B050"/>
                    </a:solidFill>
                  </a:rPr>
                  <a:t>ponto</a:t>
                </a:r>
                <a:r>
                  <a:rPr lang="pt-BR" dirty="0"/>
                  <a:t>, um valor de gradiente com </a:t>
                </a:r>
                <a:r>
                  <a:rPr lang="pt-BR" b="1" i="1" dirty="0">
                    <a:solidFill>
                      <a:schemeClr val="accent2"/>
                    </a:solidFill>
                  </a:rPr>
                  <a:t>sinal</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máximo esta à frente do ponto atual</a:t>
                </a:r>
                <a:r>
                  <a:rPr lang="pt-BR" dirty="0"/>
                  <a:t>. </a:t>
                </a:r>
              </a:p>
              <a:p>
                <a:pPr lvl="1">
                  <a:buFont typeface="Wingdings" panose="05000000000000000000" pitchFamily="2" charset="2"/>
                  <a:buChar char="§"/>
                </a:pPr>
                <a:r>
                  <a:rPr lang="pt-BR" dirty="0"/>
                  <a:t>- (reta com inclinação negativa) indica que o </a:t>
                </a:r>
                <a:r>
                  <a:rPr lang="pt-BR" b="1" i="1" dirty="0">
                    <a:solidFill>
                      <a:srgbClr val="00B050"/>
                    </a:solidFill>
                  </a:rPr>
                  <a:t>ponto de máximo está atrás do ponto atual</a:t>
                </a:r>
                <a:r>
                  <a:rPr lang="pt-BR" dirty="0"/>
                  <a:t>.</a:t>
                </a:r>
              </a:p>
              <a:p>
                <a:pPr lvl="1">
                  <a:buFont typeface="Wingdings" panose="05000000000000000000" pitchFamily="2" charset="2"/>
                  <a:buChar char="§"/>
                </a:pPr>
                <a:r>
                  <a:rPr lang="pt-BR" dirty="0"/>
                  <a:t>0 (reta com inclinação nula) indica que </a:t>
                </a:r>
                <a:r>
                  <a:rPr lang="pt-BR" b="1" i="1" dirty="0">
                    <a:solidFill>
                      <a:srgbClr val="00B050"/>
                    </a:solidFill>
                  </a:rPr>
                  <a:t>ponto de máximo foi encontrado</a:t>
                </a:r>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3" y="1825624"/>
                <a:ext cx="6672106" cy="5032375"/>
              </a:xfrm>
              <a:blipFill>
                <a:blip r:embed="rId3"/>
                <a:stretch>
                  <a:fillRect l="-1645" t="-1937" r="-5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i="1" smtClean="0">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lnSpcReduction="10000"/>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144026" y="2824948"/>
            <a:ext cx="5673479" cy="2032538"/>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a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com um único argumento,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a:t>
                </a:r>
              </a:p>
              <a:p>
                <a:r>
                  <a:rPr lang="pt-BR" dirty="0"/>
                  <a:t>Porém todos eles são válidos para funções com vários argumentos,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que tem como </a:t>
                </a:r>
                <a:r>
                  <a:rPr lang="pt-BR" b="1" i="1" dirty="0"/>
                  <a:t>argumentos</a:t>
                </a:r>
                <a:r>
                  <a:rPr lang="pt-BR" dirty="0"/>
                  <a:t> os </a:t>
                </a:r>
                <a:r>
                  <a:rPr lang="pt-BR" b="1" i="1" dirty="0">
                    <a:solidFill>
                      <a:schemeClr val="accent2"/>
                    </a:solidFill>
                  </a:rPr>
                  <a:t>pesos da função hipótese</a:t>
                </a:r>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884"/>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1998496"/>
            <a:ext cx="10515600" cy="2861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quase </a:t>
            </a:r>
            <a:r>
              <a:rPr lang="pt-BR" b="1" i="1" dirty="0"/>
              <a:t>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937490"/>
            <a:ext cx="10679349" cy="4983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O </a:t>
                </a:r>
                <a:r>
                  <a:rPr lang="pt-BR" b="1" i="1" dirty="0">
                    <a:solidFill>
                      <a:srgbClr val="00B050"/>
                    </a:solidFill>
                  </a:rPr>
                  <a:t>passo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Ele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474378"/>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474378"/>
              </a:xfrm>
              <a:prstGeom prst="rect">
                <a:avLst/>
              </a:prstGeom>
              <a:blipFill>
                <a:blip r:embed="rId4"/>
                <a:stretch>
                  <a:fillRect l="-666" b="-5328"/>
                </a:stretch>
              </a:blipFill>
              <a:ln>
                <a:solidFill>
                  <a:schemeClr val="tx1"/>
                </a:solidFill>
              </a:ln>
            </p:spPr>
            <p:txBody>
              <a:bodyPr/>
              <a:lstStyle/>
              <a:p>
                <a:r>
                  <a:rPr lang="pt-BR">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(i.e.,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exemplos coletados, respectivamente.</a:t>
                </a:r>
              </a:p>
              <a:p>
                <a:r>
                  <a:rPr lang="nl-BE" b="1" dirty="0"/>
                  <a:t>OBS</a:t>
                </a:r>
                <a:r>
                  <a:rPr lang="nl-BE" dirty="0"/>
                  <a:t>.: Esse cálculo pode ser diretamente estendido para polinômios.</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1086"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676941"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229223" y="3856050"/>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058400" y="413992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26282"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nary>
                      <m:r>
                        <a:rPr lang="pt-BR" b="1"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r>
                                <a:rPr lang="pt-BR" i="1">
                                  <a:latin typeface="Cambria Math" panose="02040503050406030204" pitchFamily="18" charset="0"/>
                                  <a:ea typeface="Cambria Math" panose="02040503050406030204" pitchFamily="18" charset="0"/>
                                </a:rPr>
                                <m:t>𝛼</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Quantos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26282" cy="5167311"/>
              </a:xfrm>
              <a:blipFill>
                <a:blip r:embed="rId3"/>
                <a:stretch>
                  <a:fillRect l="-978" t="-1887" r="-380" b="-5778"/>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359809" y="2836289"/>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424677" y="2856421"/>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517031" y="2480553"/>
            <a:ext cx="286966"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1772872" y="3480591"/>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para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99625"/>
                <a:ext cx="9850878" cy="1353319"/>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99625"/>
                <a:ext cx="9850878" cy="1353319"/>
              </a:xfrm>
              <a:prstGeom prst="rect">
                <a:avLst/>
              </a:prstGeom>
              <a:blipFill>
                <a:blip r:embed="rId3"/>
                <a:stretch>
                  <a:fillRect l="-865"/>
                </a:stretch>
              </a:blipFill>
              <a:ln>
                <a:solidFill>
                  <a:schemeClr val="tx1"/>
                </a:solidFill>
              </a:ln>
            </p:spPr>
            <p:txBody>
              <a:bodyPr/>
              <a:lstStyle/>
              <a:p>
                <a:r>
                  <a:rPr lang="en-US">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74332" y="2914650"/>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233826"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o passo de aprendizagem,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não for muito grande.</a:t>
                </a:r>
              </a:p>
              <a:p>
                <a:r>
                  <a:rPr lang="pt-BR" dirty="0"/>
                  <a:t>Dentre as três versões, é a que </a:t>
                </a:r>
                <a:r>
                  <a:rPr lang="pt-BR" b="1" i="1" dirty="0">
                    <a:solidFill>
                      <a:srgbClr val="00B050"/>
                    </a:solidFill>
                  </a:rPr>
                  <a:t>obtém os melhores resultados</a:t>
                </a:r>
                <a:r>
                  <a:rPr lang="pt-BR" dirty="0"/>
                  <a:t>.</a:t>
                </a:r>
              </a:p>
            </p:txBody>
          </p:sp>
        </mc:Choice>
        <mc:Fallback>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233826" cy="5032375"/>
              </a:xfrm>
              <a:blipFill>
                <a:blip r:embed="rId3"/>
                <a:stretch>
                  <a:fillRect l="-977" r="-86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652312"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o </a:t>
                </a:r>
                <a:r>
                  <a:rPr lang="pt-BR" b="1" i="1" dirty="0">
                    <a:solidFill>
                      <a:srgbClr val="00B050"/>
                    </a:solidFill>
                  </a:rPr>
                  <a:t>passo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pt-BR">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838200" y="1690688"/>
                <a:ext cx="111633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do conjunto de treinamento para calcular a estimativa do vetor gradiente.</a:t>
                </a:r>
              </a:p>
              <a:p>
                <a:r>
                  <a:rPr lang="pt-BR" dirty="0"/>
                  <a:t>Por usar uma estimativa,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838200" y="1690688"/>
                <a:ext cx="11163300" cy="5167311"/>
              </a:xfrm>
              <a:blipFill>
                <a:blip r:embed="rId3"/>
                <a:stretch>
                  <a:fillRect l="-983" t="-1533"/>
                </a:stretch>
              </a:blipFill>
            </p:spPr>
            <p:txBody>
              <a:bodyPr/>
              <a:lstStyle/>
              <a:p>
                <a:r>
                  <a:rPr lang="pt-BR">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3375498" y="1690688"/>
                <a:ext cx="8626001"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 ou </a:t>
                </a:r>
                <a:r>
                  <a:rPr lang="pt-BR" b="1" i="1" dirty="0">
                    <a:solidFill>
                      <a:srgbClr val="FF0000"/>
                    </a:solidFill>
                  </a:rPr>
                  <a:t>não seja garantida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3375498" y="1690688"/>
                <a:ext cx="8626001" cy="5167311"/>
              </a:xfrm>
              <a:blipFill>
                <a:blip r:embed="rId3"/>
                <a:stretch>
                  <a:fillRect l="-1272" t="-1533" r="-2049"/>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4"/>
              </a:rPr>
              <a:t>Exemplo</a:t>
            </a:r>
            <a:r>
              <a:rPr lang="pt-BR" sz="1200" u="sng" dirty="0">
                <a:hlinkClick r:id="rId4"/>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913" r="9292" b="2280"/>
          <a:stretch/>
        </p:blipFill>
        <p:spPr>
          <a:xfrm>
            <a:off x="190501" y="2746264"/>
            <a:ext cx="2619013" cy="2477490"/>
          </a:xfrm>
          <a:prstGeom prst="rect">
            <a:avLst/>
          </a:prstGeom>
        </p:spPr>
      </p:pic>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179629"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err="1"/>
              <a:t>early</a:t>
            </a:r>
            <a:r>
              <a:rPr lang="pt-BR" i="1" dirty="0"/>
              <a:t>-stop</a:t>
            </a:r>
            <a:r>
              <a:rPr lang="pt-BR" dirty="0"/>
              <a:t>,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mais rápido que o GDB e mais preciso e estável do que o GDE. </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pt-BR">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a:stretch>
              </a:blipFill>
            </p:spPr>
            <p:txBody>
              <a:bodyPr/>
              <a:lstStyle/>
              <a:p>
                <a:r>
                  <a:rPr lang="pt-BR">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73686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Tem comportamento mais próximo do GD em batelada para mini-lotes maiores.</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736862" cy="5032375"/>
              </a:xfrm>
              <a:blipFill>
                <a:blip r:embed="rId3"/>
                <a:stretch>
                  <a:fillRect l="-1913" t="-1937"/>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en-US" i="1">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pt-BR" b="1" i="1" smtClean="0">
                              <a:latin typeface="Cambria Math" panose="02040503050406030204" pitchFamily="18" charset="0"/>
                            </a:rPr>
                            <m:t>𝒙</m:t>
                          </m:r>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nl-BE"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en-US" b="0" i="1" smtClean="0">
                              <a:latin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pt-BR" i="1">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22119</TotalTime>
  <Words>10957</Words>
  <Application>Microsoft Office PowerPoint</Application>
  <PresentationFormat>Widescreen</PresentationFormat>
  <Paragraphs>783</Paragraphs>
  <Slides>59</Slides>
  <Notes>31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Arial</vt:lpstr>
      <vt:lpstr>Calibri</vt:lpstr>
      <vt:lpstr>Calibri Light</vt:lpstr>
      <vt:lpstr>Cambria Math</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PowerPoint Presentation</vt:lpstr>
      <vt:lpstr>Algoritmo do gradiente descendente</vt:lpstr>
      <vt:lpstr>Algoritmo do gradiente descendente</vt:lpstr>
      <vt:lpstr>Algoritmo do gradiente descendente</vt:lpstr>
      <vt:lpstr>Algoritmo do gradiente descendente</vt:lpstr>
      <vt:lpstr>Observação</vt:lpstr>
      <vt:lpstr>PowerPoint Presentation</vt:lpstr>
      <vt:lpstr>Características do gradiente descendente</vt:lpstr>
      <vt:lpstr>PowerPoint Presentation</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Cálculo do vetor gradiente</vt:lpstr>
      <vt:lpstr>Cálculo do vetor gradiente</vt:lpstr>
      <vt:lpstr>FIGURAS</vt:lpstr>
      <vt:lpstr>PowerPoint Presentation</vt:lpstr>
      <vt:lpstr>PowerPoint Presentation</vt:lpstr>
      <vt:lpstr>PowerPoint Presentation</vt:lpstr>
      <vt:lpstr>PowerPoint Presentation</vt:lpstr>
      <vt:lpstr>PowerPoint Presentation</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2507</cp:revision>
  <dcterms:created xsi:type="dcterms:W3CDTF">2020-02-17T11:18:32Z</dcterms:created>
  <dcterms:modified xsi:type="dcterms:W3CDTF">2026-03-27T20:01:16Z</dcterms:modified>
</cp:coreProperties>
</file>