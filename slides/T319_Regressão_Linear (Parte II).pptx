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BAE3137E-5ED2-488F-90AA-67C3B75162E2}" v="4" dt="2020-04-06T18:41:56.776"/>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87" autoAdjust="0"/>
    <p:restoredTop sz="91027" autoAdjust="0"/>
  </p:normalViewPr>
  <p:slideViewPr>
    <p:cSldViewPr snapToGrid="0">
      <p:cViewPr varScale="1">
        <p:scale>
          <a:sx n="103" d="100"/>
          <a:sy n="103" d="100"/>
        </p:scale>
        <p:origin x="105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11/09/2026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 Normal não é escalável nem flexível.</a:t>
            </a:r>
            <a:endParaRPr lang="en-US"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974411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Propriedade distributiva</a:t>
            </a:r>
          </a:p>
          <a:p>
            <a:endParaRPr lang="pt-BR" dirty="0"/>
          </a:p>
          <a:p>
            <a:r>
              <a:rPr lang="pt-BR" dirty="0"/>
              <a:t>A matriz de atributos é criada seguindo o formato da função hipótese.</a:t>
            </a:r>
          </a:p>
          <a:p>
            <a:r>
              <a:rPr lang="pt-BR" dirty="0"/>
              <a:t>No caso de polinômios, cada coluna deve representar um atributo do monômio do polinômio.</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18913549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b="1"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b="1"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11/09/2026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11/09/2026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11/09/2026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11/09/2026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11/09/2026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11/09/2026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11/09/2026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11/09/2026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11/09/2026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11/09/2026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11/09/2026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11/09/2026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20.png"/></Relationships>
</file>

<file path=ppt/slides/_rels/slide3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6.jpeg"/><Relationship Id="rId7" Type="http://schemas.openxmlformats.org/officeDocument/2006/relationships/image" Target="../media/image50.png"/><Relationship Id="rId2" Type="http://schemas.openxmlformats.org/officeDocument/2006/relationships/image" Target="../media/image45.jpe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47.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noProof="0" dirty="0">
                    <a:ea typeface="Cambria Math" panose="02040503050406030204" pitchFamily="18" charset="0"/>
                  </a:rPr>
                  <a:t>Vocês se lembram das aulas de cálculo, onde vocês aprenderam sobre o </a:t>
                </a:r>
                <a:r>
                  <a:rPr lang="pt-BR" b="1" i="1" noProof="0" dirty="0">
                    <a:solidFill>
                      <a:srgbClr val="00B050"/>
                    </a:solidFill>
                    <a:ea typeface="Cambria Math" panose="02040503050406030204" pitchFamily="18" charset="0"/>
                  </a:rPr>
                  <a:t>vetor gradiente</a:t>
                </a:r>
                <a:r>
                  <a:rPr lang="pt-BR" noProof="0"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noProof="0" smtClean="0">
                          <a:latin typeface="Cambria Math" panose="02040503050406030204" pitchFamily="18" charset="0"/>
                          <a:ea typeface="Cambria Math" panose="02040503050406030204" pitchFamily="18" charset="0"/>
                        </a:rPr>
                        <m:t>∇</m:t>
                      </m:r>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m:t>
                      </m:r>
                      <m:f>
                        <m:fPr>
                          <m:ctrlPr>
                            <a:rPr lang="pt-BR" i="1" noProof="0" smtClean="0">
                              <a:latin typeface="Cambria Math" panose="02040503050406030204" pitchFamily="18" charset="0"/>
                              <a:ea typeface="Cambria Math" panose="02040503050406030204" pitchFamily="18" charset="0"/>
                            </a:rPr>
                          </m:ctrlPr>
                        </m:fPr>
                        <m:num>
                          <m:r>
                            <a:rPr lang="pt-BR" i="1" noProof="0" smtClean="0">
                              <a:latin typeface="Cambria Math" panose="02040503050406030204" pitchFamily="18" charset="0"/>
                              <a:ea typeface="Cambria Math" panose="02040503050406030204" pitchFamily="18" charset="0"/>
                            </a:rPr>
                            <m:t>𝜕</m:t>
                          </m:r>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num>
                        <m:den>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𝒙</m:t>
                          </m:r>
                        </m:den>
                      </m:f>
                    </m:oMath>
                  </m:oMathPara>
                </a14:m>
                <a:endParaRPr lang="pt-BR" noProof="0" dirty="0">
                  <a:ea typeface="Cambria Math" panose="02040503050406030204" pitchFamily="18" charset="0"/>
                </a:endParaRPr>
              </a:p>
              <a:p>
                <a:r>
                  <a:rPr lang="pt-BR" noProof="0" dirty="0"/>
                  <a:t>É o vetor composto pelas derivadas  parciais de uma função multivariável (ou </a:t>
                </a:r>
                <a:r>
                  <a:rPr lang="pt-BR" noProof="0" dirty="0" err="1"/>
                  <a:t>multi-argumento</a:t>
                </a:r>
                <a:r>
                  <a:rPr lang="pt-BR" noProof="0" dirty="0"/>
                  <a:t>), </a:t>
                </a:r>
                <a14:m>
                  <m:oMath xmlns:m="http://schemas.openxmlformats.org/officeDocument/2006/math">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oMath>
                </a14:m>
                <a:r>
                  <a:rPr lang="pt-BR" noProof="0"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r="-1533"/>
                </a:stretch>
              </a:blipFill>
            </p:spPr>
            <p:txBody>
              <a:bodyPr/>
              <a:lstStyle/>
              <a:p>
                <a:r>
                  <a:rPr lang="en-US">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da função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o vetor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a:stretch>
              </a:blipFill>
            </p:spPr>
            <p:txBody>
              <a:bodyPr/>
              <a:lstStyle/>
              <a:p>
                <a:r>
                  <a:rPr lang="en-US">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14:m>
                  <m:oMath xmlns:m="http://schemas.openxmlformats.org/officeDocument/2006/math">
                    <m:r>
                      <a:rPr lang="pt-BR" b="1" i="1">
                        <a:latin typeface="Cambria Math" panose="02040503050406030204" pitchFamily="18" charset="0"/>
                      </a:rPr>
                      <m:t>𝒙</m:t>
                    </m:r>
                    <m:r>
                      <a:rPr lang="pt-BR" b="1" i="1" smtClean="0">
                        <a:latin typeface="Cambria Math" panose="02040503050406030204" pitchFamily="18" charset="0"/>
                      </a:rPr>
                      <m:t>,</m:t>
                    </m:r>
                  </m:oMath>
                </a14:m>
                <a:r>
                  <a:rPr lang="pt-BR" b="1" i="1" dirty="0">
                    <a:solidFill>
                      <a:srgbClr val="7030A0"/>
                    </a:solidFill>
                    <a:effectLst/>
                  </a:rPr>
                  <a:t> </a:t>
                </a:r>
                <a:r>
                  <a:rPr lang="pt-BR" b="1" i="1" dirty="0">
                    <a:solidFill>
                      <a:srgbClr val="00B050"/>
                    </a:solidFill>
                  </a:rPr>
                  <a:t>onde</a:t>
                </a:r>
                <a:r>
                  <a:rPr lang="pt-BR" b="1" i="1" dirty="0">
                    <a:solidFill>
                      <a:srgbClr val="00B050"/>
                    </a:solidFill>
                    <a:effectLst/>
                  </a:rPr>
                  <a:t> é calculado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83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504277" cy="5032376"/>
              </a:xfrm>
            </p:spPr>
            <p:txBody>
              <a:bodyPr>
                <a:normAutofit/>
              </a:bodyPr>
              <a:lstStyle/>
              <a:p>
                <a:r>
                  <a:rPr lang="pt-BR" noProof="0" dirty="0"/>
                  <a:t>A</a:t>
                </a:r>
                <a:r>
                  <a:rPr lang="pt-BR" b="1" noProof="0" dirty="0"/>
                  <a:t> norma do vetor gradiente</a:t>
                </a:r>
                <a:r>
                  <a:rPr lang="pt-BR" noProof="0" dirty="0"/>
                  <a:t>,</a:t>
                </a:r>
                <a:r>
                  <a:rPr lang="pt-BR" b="1" noProof="0" dirty="0"/>
                  <a:t> </a:t>
                </a:r>
                <a14:m>
                  <m:oMath xmlns:m="http://schemas.openxmlformats.org/officeDocument/2006/math">
                    <m:d>
                      <m:dPr>
                        <m:begChr m:val="‖"/>
                        <m:endChr m:val="‖"/>
                        <m:ctrlPr>
                          <a:rPr lang="pt-BR" i="1" noProof="0">
                            <a:latin typeface="Cambria Math" panose="02040503050406030204" pitchFamily="18" charset="0"/>
                            <a:ea typeface="Cambria Math" panose="02040503050406030204" pitchFamily="18" charset="0"/>
                          </a:rPr>
                        </m:ctrlPr>
                      </m:dPr>
                      <m:e>
                        <m:r>
                          <a:rPr lang="pt-BR" i="1" noProof="0">
                            <a:latin typeface="Cambria Math" panose="02040503050406030204" pitchFamily="18" charset="0"/>
                            <a:ea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e>
                    </m:d>
                  </m:oMath>
                </a14:m>
                <a:r>
                  <a:rPr lang="pt-BR" noProof="0" dirty="0"/>
                  <a:t>, mede o quão íngreme é a subida.</a:t>
                </a:r>
              </a:p>
              <a:p>
                <a:r>
                  <a:rPr lang="pt-BR" noProof="0" dirty="0"/>
                  <a:t>Quanto maior o valor da norma, maior a taxa de crescimento naquela direção.</a:t>
                </a:r>
                <a:endParaRPr lang="pt-BR" noProof="0" dirty="0">
                  <a:solidFill>
                    <a:schemeClr val="tx1"/>
                  </a:solidFill>
                </a:endParaRPr>
              </a:p>
              <a:p>
                <a:r>
                  <a:rPr lang="pt-BR" noProof="0" dirty="0"/>
                  <a:t>Os </a:t>
                </a:r>
                <a:r>
                  <a:rPr lang="pt-BR" b="1" i="1" noProof="0" dirty="0">
                    <a:solidFill>
                      <a:srgbClr val="00B050"/>
                    </a:solidFill>
                  </a:rPr>
                  <a:t>sinais</a:t>
                </a:r>
                <a:r>
                  <a:rPr lang="pt-BR" noProof="0" dirty="0"/>
                  <a:t> dos elementos do vetor dizem para qual “</a:t>
                </a:r>
                <a:r>
                  <a:rPr lang="pt-BR" b="1" i="1" noProof="0" dirty="0"/>
                  <a:t>lado</a:t>
                </a:r>
                <a:r>
                  <a:rPr lang="pt-BR" noProof="0" dirty="0"/>
                  <a:t>” (</a:t>
                </a:r>
                <a:r>
                  <a:rPr lang="pt-BR" b="1" i="1" noProof="0" dirty="0">
                    <a:solidFill>
                      <a:srgbClr val="00B050"/>
                    </a:solidFill>
                  </a:rPr>
                  <a:t>aumentar ou diminuir</a:t>
                </a:r>
                <a:r>
                  <a:rPr lang="pt-BR" noProof="0" dirty="0"/>
                  <a:t>) os valores dos argumentos, </a:t>
                </a:r>
                <a14:m>
                  <m:oMath xmlns:m="http://schemas.openxmlformats.org/officeDocument/2006/math">
                    <m:r>
                      <a:rPr lang="pt-BR" b="1" i="1" noProof="0" smtClean="0">
                        <a:solidFill>
                          <a:schemeClr val="tx1"/>
                        </a:solidFill>
                        <a:latin typeface="Cambria Math" panose="02040503050406030204" pitchFamily="18" charset="0"/>
                      </a:rPr>
                      <m:t>𝒙</m:t>
                    </m:r>
                  </m:oMath>
                </a14:m>
                <a:r>
                  <a:rPr lang="pt-BR" noProof="0" dirty="0">
                    <a:solidFill>
                      <a:schemeClr val="tx1"/>
                    </a:solidFill>
                  </a:rPr>
                  <a:t>,</a:t>
                </a:r>
                <a:r>
                  <a:rPr lang="pt-BR" noProof="0" dirty="0"/>
                  <a:t> devem ir para que o </a:t>
                </a:r>
                <a:r>
                  <a:rPr lang="pt-BR" b="1" i="1" noProof="0" dirty="0">
                    <a:solidFill>
                      <a:srgbClr val="00B050"/>
                    </a:solidFill>
                  </a:rPr>
                  <a:t>valor de </a:t>
                </a:r>
                <a14:m>
                  <m:oMath xmlns:m="http://schemas.openxmlformats.org/officeDocument/2006/math">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oMath>
                </a14:m>
                <a:r>
                  <a:rPr lang="pt-BR" noProof="0" dirty="0"/>
                  <a:t> </a:t>
                </a:r>
                <a:r>
                  <a:rPr lang="pt-BR" b="1" i="1" noProof="0" dirty="0">
                    <a:solidFill>
                      <a:srgbClr val="00B050"/>
                    </a:solidFill>
                  </a:rPr>
                  <a:t>seja maior do que o atual</a:t>
                </a:r>
                <a:r>
                  <a:rPr lang="pt-BR" noProof="0" dirty="0"/>
                  <a:t>.</a:t>
                </a:r>
                <a:endParaRPr lang="pt-BR" noProof="0"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504277" cy="5032376"/>
              </a:xfrm>
              <a:blipFill>
                <a:blip r:embed="rId3"/>
                <a:stretch>
                  <a:fillRect l="-1687" t="-1937" r="-28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440243F-53B5-49E7-A7C7-3FF511A40D7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C56BD79F-25A1-1B25-FE76-D4C199D0BDB2}"/>
                  </a:ext>
                </a:extLst>
              </p:cNvPr>
              <p:cNvSpPr txBox="1"/>
              <p:nvPr/>
            </p:nvSpPr>
            <p:spPr>
              <a:xfrm>
                <a:off x="1564756" y="5223754"/>
                <a:ext cx="2802963" cy="738664"/>
              </a:xfrm>
              <a:prstGeom prst="rect">
                <a:avLst/>
              </a:prstGeom>
              <a:noFill/>
            </p:spPr>
            <p:txBody>
              <a:bodyPr wrap="square" rtlCol="0">
                <a:spAutoFit/>
              </a:bodyPr>
              <a:lstStyle/>
              <a:p>
                <a:pPr algn="ctr"/>
                <a:r>
                  <a:rPr lang="pt-BR" sz="1400" dirty="0"/>
                  <a:t>Por exemplo, temos que somar um valor à </a:t>
                </a:r>
                <a14:m>
                  <m:oMath xmlns:m="http://schemas.openxmlformats.org/officeDocument/2006/math">
                    <m:r>
                      <a:rPr lang="pt-BR" sz="1400" b="0" i="1" smtClean="0">
                        <a:latin typeface="Cambria Math" panose="02040503050406030204" pitchFamily="18" charset="0"/>
                      </a:rPr>
                      <m:t>𝑥</m:t>
                    </m:r>
                    <m:r>
                      <a:rPr lang="pt-BR" sz="1400" b="0" i="1" smtClean="0">
                        <a:latin typeface="Cambria Math" panose="02040503050406030204" pitchFamily="18" charset="0"/>
                      </a:rPr>
                      <m:t>(0)</m:t>
                    </m:r>
                  </m:oMath>
                </a14:m>
                <a:r>
                  <a:rPr lang="en-US" sz="1400" dirty="0"/>
                  <a:t> para </a:t>
                </a:r>
                <a:r>
                  <a:rPr lang="en-US" sz="1400" dirty="0" err="1"/>
                  <a:t>que</a:t>
                </a:r>
                <a:r>
                  <a:rPr lang="en-US" sz="1400" dirty="0"/>
                  <a:t> o valor de </a:t>
                </a:r>
                <a14:m>
                  <m:oMath xmlns:m="http://schemas.openxmlformats.org/officeDocument/2006/math">
                    <m:r>
                      <a:rPr lang="pt-BR" sz="1400" i="1">
                        <a:latin typeface="Cambria Math" panose="02040503050406030204" pitchFamily="18" charset="0"/>
                      </a:rPr>
                      <m:t>𝑓</m:t>
                    </m:r>
                    <m:d>
                      <m:dPr>
                        <m:ctrlPr>
                          <a:rPr lang="pt-BR" sz="1400" b="0" i="1">
                            <a:latin typeface="Cambria Math" panose="02040503050406030204" pitchFamily="18" charset="0"/>
                          </a:rPr>
                        </m:ctrlPr>
                      </m:dPr>
                      <m:e>
                        <m:r>
                          <a:rPr lang="pt-BR" sz="1400" b="0" i="1">
                            <a:latin typeface="Cambria Math" panose="02040503050406030204" pitchFamily="18" charset="0"/>
                          </a:rPr>
                          <m:t>𝑥</m:t>
                        </m:r>
                      </m:e>
                    </m:d>
                  </m:oMath>
                </a14:m>
                <a:r>
                  <a:rPr lang="en-US" sz="1400" dirty="0"/>
                  <a:t> aumente. </a:t>
                </a:r>
              </a:p>
            </p:txBody>
          </p:sp>
        </mc:Choice>
        <mc:Fallback>
          <p:sp>
            <p:nvSpPr>
              <p:cNvPr id="4" name="CaixaDeTexto 3">
                <a:extLst>
                  <a:ext uri="{FF2B5EF4-FFF2-40B4-BE49-F238E27FC236}">
                    <a16:creationId xmlns:a16="http://schemas.microsoft.com/office/drawing/2014/main" id="{C56BD79F-25A1-1B25-FE76-D4C199D0BDB2}"/>
                  </a:ext>
                </a:extLst>
              </p:cNvPr>
              <p:cNvSpPr txBox="1">
                <a:spLocks noRot="1" noChangeAspect="1" noMove="1" noResize="1" noEditPoints="1" noAdjustHandles="1" noChangeArrowheads="1" noChangeShapeType="1" noTextEdit="1"/>
              </p:cNvSpPr>
              <p:nvPr/>
            </p:nvSpPr>
            <p:spPr>
              <a:xfrm>
                <a:off x="1564756" y="5223754"/>
                <a:ext cx="2802963" cy="738664"/>
              </a:xfrm>
              <a:prstGeom prst="rect">
                <a:avLst/>
              </a:prstGeom>
              <a:blipFill>
                <a:blip r:embed="rId5"/>
                <a:stretch>
                  <a:fillRect t="-1653" r="-436" b="-7438"/>
                </a:stretch>
              </a:blipFill>
            </p:spPr>
            <p:txBody>
              <a:bodyPr/>
              <a:lstStyle/>
              <a:p>
                <a:r>
                  <a:rPr lang="pt-BR">
                    <a:noFill/>
                  </a:rPr>
                  <a:t> </a:t>
                </a:r>
              </a:p>
            </p:txBody>
          </p:sp>
        </mc:Fallback>
      </mc:AlternateContent>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774940" cy="5032376"/>
          </a:xfrm>
        </p:spPr>
        <p:txBody>
          <a:bodyPr>
            <a:normAutofit/>
          </a:bodyPr>
          <a:lstStyle/>
          <a:p>
            <a:r>
              <a:rPr lang="pt-BR" b="0" i="0" noProof="0" dirty="0">
                <a:solidFill>
                  <a:schemeClr val="tx1"/>
                </a:solidFill>
                <a:effectLst/>
              </a:rPr>
              <a:t>O vetor gradiente pode ser também interpretado como a </a:t>
            </a:r>
            <a:r>
              <a:rPr lang="pt-BR" b="1" i="1" noProof="0" dirty="0">
                <a:solidFill>
                  <a:srgbClr val="FF0000"/>
                </a:solidFill>
                <a:effectLst/>
              </a:rPr>
              <a:t>inclinação</a:t>
            </a:r>
            <a:r>
              <a:rPr lang="pt-BR" b="1" i="1" noProof="0" dirty="0">
                <a:solidFill>
                  <a:srgbClr val="00B050"/>
                </a:solidFill>
                <a:effectLst/>
              </a:rPr>
              <a:t> de um </a:t>
            </a:r>
            <a:r>
              <a:rPr lang="pt-BR" b="1" i="1" noProof="0" dirty="0">
                <a:solidFill>
                  <a:srgbClr val="7030A0"/>
                </a:solidFill>
                <a:effectLst/>
              </a:rPr>
              <a:t>hiperplano</a:t>
            </a:r>
            <a:r>
              <a:rPr lang="pt-BR" b="1" i="1" noProof="0" dirty="0">
                <a:solidFill>
                  <a:srgbClr val="00B050"/>
                </a:solidFill>
                <a:effectLst/>
              </a:rPr>
              <a:t> tangente à função </a:t>
            </a:r>
            <a:r>
              <a:rPr lang="pt-BR" b="1" i="1" noProof="0" dirty="0">
                <a:solidFill>
                  <a:schemeClr val="accent2"/>
                </a:solidFill>
                <a:effectLst/>
              </a:rPr>
              <a:t>no ponto onde ele é calculado</a:t>
            </a:r>
            <a:r>
              <a:rPr lang="pt-BR" b="0" i="0" noProof="0" dirty="0">
                <a:solidFill>
                  <a:schemeClr val="tx1"/>
                </a:solidFill>
                <a:effectLst/>
              </a:rPr>
              <a:t>.</a:t>
            </a:r>
          </a:p>
          <a:p>
            <a:pPr lvl="1">
              <a:buFont typeface="Wingdings" panose="05000000000000000000" pitchFamily="2" charset="2"/>
              <a:buChar char="§"/>
            </a:pPr>
            <a:r>
              <a:rPr lang="pt-BR" noProof="0" dirty="0"/>
              <a:t>Quanto </a:t>
            </a:r>
            <a:r>
              <a:rPr lang="pt-BR" b="1" noProof="0" dirty="0"/>
              <a:t>maior o valor da norma </a:t>
            </a:r>
            <a:r>
              <a:rPr lang="pt-BR" noProof="0" dirty="0"/>
              <a:t>do vetor gradiente,</a:t>
            </a:r>
            <a:r>
              <a:rPr lang="pt-BR" b="1" noProof="0" dirty="0"/>
              <a:t> mais inclinado é o hiperplano tangente </a:t>
            </a:r>
            <a:r>
              <a:rPr lang="pt-BR" noProof="0" dirty="0"/>
              <a:t>àquele ponto.</a:t>
            </a:r>
          </a:p>
          <a:p>
            <a:pPr lvl="1">
              <a:buFont typeface="Wingdings" panose="05000000000000000000" pitchFamily="2" charset="2"/>
              <a:buChar char="§"/>
            </a:pPr>
            <a:r>
              <a:rPr lang="pt-BR" noProof="0" dirty="0"/>
              <a:t>Portanto, </a:t>
            </a:r>
            <a:r>
              <a:rPr lang="pt-BR" b="1" i="1" noProof="0" dirty="0"/>
              <a:t>um vetor gradiente com norma </a:t>
            </a:r>
            <a:r>
              <a:rPr lang="pt-BR" b="1" i="1" noProof="0" dirty="0">
                <a:solidFill>
                  <a:srgbClr val="7030A0"/>
                </a:solidFill>
              </a:rPr>
              <a:t>igual a 0 </a:t>
            </a:r>
            <a:r>
              <a:rPr lang="pt-BR" b="1" i="1" noProof="0" dirty="0"/>
              <a:t>indica </a:t>
            </a:r>
            <a:r>
              <a:rPr lang="pt-BR" b="1" i="1" noProof="0" dirty="0">
                <a:solidFill>
                  <a:srgbClr val="7030A0"/>
                </a:solidFill>
              </a:rPr>
              <a:t>inclinação nula</a:t>
            </a:r>
            <a:r>
              <a:rPr lang="pt-BR" noProof="0" dirty="0"/>
              <a:t>.</a:t>
            </a:r>
          </a:p>
          <a:p>
            <a:pPr lvl="1">
              <a:buFont typeface="Wingdings" panose="05000000000000000000" pitchFamily="2" charset="2"/>
              <a:buChar char="§"/>
            </a:pPr>
            <a:r>
              <a:rPr lang="pt-BR" noProof="0" dirty="0"/>
              <a:t>Ou seja, a </a:t>
            </a:r>
            <a:r>
              <a:rPr lang="pt-BR" b="1" i="1" noProof="0" dirty="0">
                <a:solidFill>
                  <a:srgbClr val="00B0F0"/>
                </a:solidFill>
              </a:rPr>
              <a:t>taxa de variação instantânea</a:t>
            </a:r>
            <a:r>
              <a:rPr lang="pt-BR" noProof="0" dirty="0"/>
              <a:t> da função </a:t>
            </a:r>
            <a:r>
              <a:rPr lang="pt-BR" b="1" i="1" noProof="0" dirty="0">
                <a:solidFill>
                  <a:srgbClr val="00B0F0"/>
                </a:solidFill>
              </a:rPr>
              <a:t>é nula em todas as direções</a:t>
            </a:r>
            <a:r>
              <a:rPr lang="pt-BR" noProof="0" dirty="0"/>
              <a:t>.</a:t>
            </a:r>
          </a:p>
          <a:p>
            <a:pPr lvl="1">
              <a:buFont typeface="Wingdings" panose="05000000000000000000" pitchFamily="2" charset="2"/>
              <a:buChar char="§"/>
            </a:pPr>
            <a:r>
              <a:rPr lang="pt-BR" b="0" i="0" noProof="0" dirty="0">
                <a:solidFill>
                  <a:schemeClr val="tx1"/>
                </a:solidFill>
                <a:effectLst/>
              </a:rPr>
              <a:t>Onde isso ocorre? Nos </a:t>
            </a:r>
            <a:r>
              <a:rPr lang="pt-BR" b="1" i="1" noProof="0" dirty="0">
                <a:solidFill>
                  <a:srgbClr val="00B050"/>
                </a:solidFill>
                <a:effectLst/>
              </a:rPr>
              <a:t>extremos da função</a:t>
            </a:r>
            <a:r>
              <a:rPr lang="pt-BR" b="0" i="0" noProof="0" dirty="0">
                <a:solidFill>
                  <a:schemeClr val="tx1"/>
                </a:solidFill>
                <a:effectLst/>
              </a:rPr>
              <a:t>, ou seja, em seus </a:t>
            </a:r>
            <a:r>
              <a:rPr lang="pt-BR" b="1" i="1" noProof="0" dirty="0">
                <a:solidFill>
                  <a:srgbClr val="00B050"/>
                </a:solidFill>
                <a:effectLst/>
              </a:rPr>
              <a:t>pontos de máximo e de mínimo</a:t>
            </a:r>
            <a:r>
              <a:rPr lang="pt-BR" b="0" i="0" noProof="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F5C2464B-C293-A447-4105-DD94AAC038BA}"/>
                  </a:ext>
                </a:extLst>
              </p:cNvPr>
              <p:cNvSpPr txBox="1"/>
              <p:nvPr/>
            </p:nvSpPr>
            <p:spPr>
              <a:xfrm>
                <a:off x="838200" y="5302820"/>
                <a:ext cx="3962400"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a derivada parcial é calculada.</a:t>
                </a:r>
              </a:p>
            </p:txBody>
          </p:sp>
        </mc:Choice>
        <mc:Fallback>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838200" y="5302820"/>
                <a:ext cx="3962400" cy="954107"/>
              </a:xfrm>
              <a:prstGeom prst="rect">
                <a:avLst/>
              </a:prstGeom>
              <a:blipFill>
                <a:blip r:embed="rId4"/>
                <a:stretch>
                  <a:fillRect l="-308" t="-1282" r="-1231"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153134"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oMath>
                </a14:m>
                <a:r>
                  <a:rPr lang="pt-BR" sz="1200" dirty="0"/>
                  <a:t>.</a:t>
                </a:r>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153134" cy="646331"/>
              </a:xfrm>
              <a:prstGeom prst="rect">
                <a:avLst/>
              </a:prstGeom>
              <a:blipFill>
                <a:blip r:embed="rId5"/>
                <a:stretch>
                  <a:fillRect l="-193" r="-1161"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4" y="1825624"/>
                <a:ext cx="6494585"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i="0"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4" y="1825624"/>
                <a:ext cx="6494585" cy="5032375"/>
              </a:xfrm>
              <a:blipFill>
                <a:blip r:embed="rId3"/>
                <a:stretch>
                  <a:fillRect l="-169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i="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2" y="1825624"/>
                <a:ext cx="6846278" cy="5032375"/>
              </a:xfrm>
            </p:spPr>
            <p:txBody>
              <a:bodyPr/>
              <a:lstStyle/>
              <a:p>
                <a:r>
                  <a:rPr lang="pt-BR" noProof="0" dirty="0"/>
                  <a:t>Os </a:t>
                </a:r>
                <a:r>
                  <a:rPr lang="pt-BR" b="1" i="1" noProof="0" dirty="0">
                    <a:solidFill>
                      <a:schemeClr val="accent2"/>
                    </a:solidFill>
                  </a:rPr>
                  <a:t>sinais dos elementos do vetor gradiente </a:t>
                </a:r>
                <a:r>
                  <a:rPr lang="pt-BR" dirty="0"/>
                  <a:t>em um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 indicam se devemos </a:t>
                </a:r>
                <a:r>
                  <a:rPr lang="pt-BR" b="1" i="1" noProof="0" dirty="0">
                    <a:solidFill>
                      <a:srgbClr val="7030A0"/>
                    </a:solidFill>
                  </a:rPr>
                  <a:t>aumentar ou diminuir o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a:t>
                </a:r>
              </a:p>
              <a:p>
                <a:r>
                  <a:rPr lang="pt-BR" dirty="0"/>
                  <a:t>Assim, um elemento com </a:t>
                </a:r>
                <a:r>
                  <a:rPr lang="pt-BR" b="1" i="1" dirty="0">
                    <a:solidFill>
                      <a:schemeClr val="accent2"/>
                    </a:solidFill>
                  </a:rPr>
                  <a:t>sinal</a:t>
                </a:r>
                <a:r>
                  <a:rPr lang="pt-BR" dirty="0"/>
                  <a:t>:</a:t>
                </a:r>
                <a:endParaRPr lang="pt-BR" noProof="0" dirty="0"/>
              </a:p>
              <a:p>
                <a:pPr lvl="1">
                  <a:buFont typeface="Wingdings" panose="05000000000000000000" pitchFamily="2" charset="2"/>
                  <a:buChar char="§"/>
                </a:pPr>
                <a:r>
                  <a:rPr lang="pt-BR" noProof="0" dirty="0"/>
                  <a:t>+ indica que o </a:t>
                </a:r>
                <a:r>
                  <a:rPr lang="pt-BR" b="1" i="1" noProof="0" dirty="0">
                    <a:solidFill>
                      <a:srgbClr val="00B050"/>
                    </a:solidFill>
                  </a:rPr>
                  <a:t>ponto de máximo esta à frente do ponto atual</a:t>
                </a:r>
                <a:r>
                  <a:rPr lang="pt-BR" noProof="0" dirty="0"/>
                  <a:t>.</a:t>
                </a:r>
              </a:p>
              <a:p>
                <a:pPr lvl="2">
                  <a:buFont typeface="Courier New" panose="02070309020205020404" pitchFamily="49" charset="0"/>
                  <a:buChar char="o"/>
                </a:pPr>
                <a:r>
                  <a:rPr lang="pt-BR" dirty="0"/>
                  <a:t>Devemos somar um valor à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a:t>
                </a:r>
              </a:p>
              <a:p>
                <a:pPr lvl="1">
                  <a:buFont typeface="Wingdings" panose="05000000000000000000" pitchFamily="2" charset="2"/>
                  <a:buChar char="§"/>
                </a:pPr>
                <a:r>
                  <a:rPr lang="pt-BR" noProof="0" dirty="0"/>
                  <a:t>- indica que o </a:t>
                </a:r>
                <a:r>
                  <a:rPr lang="pt-BR" b="1" i="1" noProof="0" dirty="0">
                    <a:solidFill>
                      <a:srgbClr val="00B050"/>
                    </a:solidFill>
                  </a:rPr>
                  <a:t>ponto de máximo está atrás do ponto atual</a:t>
                </a:r>
                <a:r>
                  <a:rPr lang="pt-BR" noProof="0" dirty="0"/>
                  <a:t>.</a:t>
                </a:r>
              </a:p>
              <a:p>
                <a:pPr lvl="2">
                  <a:buFont typeface="Courier New" panose="02070309020205020404" pitchFamily="49" charset="0"/>
                  <a:buChar char="o"/>
                </a:pPr>
                <a:r>
                  <a:rPr lang="pt-BR" dirty="0"/>
                  <a:t>Devemos subtrair um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endParaRPr lang="pt-BR" noProof="0" dirty="0"/>
              </a:p>
              <a:p>
                <a:pPr lvl="1">
                  <a:buFont typeface="Wingdings" panose="05000000000000000000" pitchFamily="2" charset="2"/>
                  <a:buChar char="§"/>
                </a:pPr>
                <a:r>
                  <a:rPr lang="pt-BR" noProof="0" dirty="0"/>
                  <a:t>0 indica que </a:t>
                </a:r>
                <a:r>
                  <a:rPr lang="pt-BR" b="1" i="1" noProof="0" dirty="0">
                    <a:solidFill>
                      <a:srgbClr val="00B050"/>
                    </a:solidFill>
                  </a:rPr>
                  <a:t>ponto de máximo foi encontrado</a:t>
                </a:r>
                <a:r>
                  <a:rPr lang="pt-BR" noProof="0" dirty="0"/>
                  <a:t>.</a:t>
                </a:r>
              </a:p>
              <a:p>
                <a:pPr lvl="2">
                  <a:buFont typeface="Courier New" panose="02070309020205020404" pitchFamily="49" charset="0"/>
                  <a:buChar char="o"/>
                </a:pPr>
                <a:r>
                  <a:rPr lang="pt-BR" dirty="0"/>
                  <a:t>Não somamos ou subtraímos nada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2" y="1825624"/>
                <a:ext cx="6846278" cy="5032375"/>
              </a:xfrm>
              <a:blipFill>
                <a:blip r:embed="rId3"/>
                <a:stretch>
                  <a:fillRect l="-1603" t="-1937" r="-115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b="1" i="1" smtClean="0">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408579" y="1825624"/>
                <a:ext cx="6783422" cy="5032375"/>
              </a:xfrm>
            </p:spPr>
            <p:txBody>
              <a:bodyPr>
                <a:normAutofit/>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2">
                  <a:buFont typeface="Courier New" panose="02070309020205020404" pitchFamily="49" charset="0"/>
                  <a:buChar char="o"/>
                </a:pPr>
                <a:r>
                  <a:rPr lang="pt-BR" dirty="0"/>
                  <a:t>Devemos somar um valor à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dirty="0"/>
                  <a:t>+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a:t>
                </a:r>
              </a:p>
              <a:p>
                <a:pPr lvl="2">
                  <a:buFont typeface="Courier New" panose="02070309020205020404" pitchFamily="49" charset="0"/>
                  <a:buChar char="o"/>
                </a:pPr>
                <a:r>
                  <a:rPr lang="pt-BR" dirty="0"/>
                  <a:t>Devemos subtrair um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dirty="0"/>
                  <a:t>0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a:p>
                <a:pPr lvl="2">
                  <a:buFont typeface="Courier New" panose="02070309020205020404" pitchFamily="49" charset="0"/>
                  <a:buChar char="o"/>
                </a:pPr>
                <a:r>
                  <a:rPr lang="pt-BR" dirty="0"/>
                  <a:t>Não somamos ou subtraímos nada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43674EA4-345D-7AF4-5F72-7D54DCA33195}"/>
                  </a:ext>
                </a:extLst>
              </p:cNvPr>
              <p:cNvSpPr>
                <a:spLocks noGrp="1" noRot="1" noChangeAspect="1" noMove="1" noResize="1" noEditPoints="1" noAdjustHandles="1" noChangeArrowheads="1" noChangeShapeType="1" noTextEdit="1"/>
              </p:cNvSpPr>
              <p:nvPr>
                <p:ph idx="1"/>
              </p:nvPr>
            </p:nvSpPr>
            <p:spPr>
              <a:xfrm>
                <a:off x="5408579" y="1825624"/>
                <a:ext cx="6783422" cy="5032375"/>
              </a:xfrm>
              <a:blipFill>
                <a:blip r:embed="rId3"/>
                <a:stretch>
                  <a:fillRect l="-1617" t="-1937" r="-3055"/>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58368" y="2928026"/>
            <a:ext cx="5385752" cy="1929459"/>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à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pt-BR" dirty="0"/>
                  <a:t>, com um único argumento, </a:t>
                </a:r>
                <a14:m>
                  <m:oMath xmlns:m="http://schemas.openxmlformats.org/officeDocument/2006/math">
                    <m:r>
                      <a:rPr lang="pt-BR" b="0" i="1" smtClean="0">
                        <a:latin typeface="Cambria Math" panose="02040503050406030204" pitchFamily="18" charset="0"/>
                      </a:rPr>
                      <m:t>𝑥</m:t>
                    </m:r>
                  </m:oMath>
                </a14:m>
                <a:r>
                  <a:rPr lang="pt-BR" dirty="0"/>
                  <a:t>.</a:t>
                </a:r>
              </a:p>
              <a:p>
                <a:r>
                  <a:rPr lang="pt-BR" dirty="0"/>
                  <a:t>Porém todos eles são válidos para funções com vários argumentos,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oMath>
                </a14:m>
                <a:r>
                  <a:rPr lang="pt-BR" dirty="0"/>
                  <a:t>, que tem como </a:t>
                </a:r>
                <a:r>
                  <a:rPr lang="pt-BR" b="1" i="1" dirty="0"/>
                  <a:t>argumentos</a:t>
                </a:r>
                <a:r>
                  <a:rPr lang="pt-BR" dirty="0"/>
                  <a:t> os </a:t>
                </a:r>
                <a:r>
                  <a:rPr lang="pt-BR" b="1" i="1" dirty="0">
                    <a:solidFill>
                      <a:schemeClr val="accent2"/>
                    </a:solidFill>
                  </a:rPr>
                  <a:t>pesos da função hipótese</a:t>
                </a:r>
                <a:r>
                  <a:rPr lang="pt-BR" dirty="0"/>
                  <a:t>, </a:t>
                </a:r>
                <a14:m>
                  <m:oMath xmlns:m="http://schemas.openxmlformats.org/officeDocument/2006/math">
                    <m:r>
                      <a:rPr lang="pt-BR" b="1" i="1" smtClean="0">
                        <a:latin typeface="Cambria Math" panose="02040503050406030204" pitchFamily="18" charset="0"/>
                      </a:rPr>
                      <m:t>𝒂</m:t>
                    </m:r>
                  </m:oMath>
                </a14:m>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1105"/>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2429214"/>
            <a:ext cx="10515600" cy="19995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a:t>
            </a:r>
            <a:r>
              <a:rPr lang="pt-BR" b="1" i="1" dirty="0"/>
              <a:t>quase 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1149681"/>
            <a:ext cx="10679349" cy="45586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A </a:t>
                </a:r>
                <a:r>
                  <a:rPr lang="pt-BR" b="1" i="1" dirty="0">
                    <a:solidFill>
                      <a:srgbClr val="00B050"/>
                    </a:solidFill>
                  </a:rPr>
                  <a:t>taxa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(i.e., do passo)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Ela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r="-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782155"/>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sz="2000" i="1">
                          <a:latin typeface="Cambria Math" panose="02040503050406030204" pitchFamily="18" charset="0"/>
                          <a:ea typeface="Cambria Math" panose="02040503050406030204" pitchFamily="18" charset="0"/>
                        </a:rPr>
                        <m:t>𝛼</m:t>
                      </m:r>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taxa</m:t>
                      </m:r>
                      <m:r>
                        <a:rPr lang="pt-BR" sz="2000" b="0" i="0" dirty="0" smtClean="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aprendizagem</m:t>
                      </m:r>
                    </m:oMath>
                  </m:oMathPara>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b="1"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782155"/>
              </a:xfrm>
              <a:prstGeom prst="rect">
                <a:avLst/>
              </a:prstGeom>
              <a:blipFill>
                <a:blip r:embed="rId4"/>
                <a:stretch>
                  <a:fillRect l="-666" b="-4068"/>
                </a:stretch>
              </a:blipFill>
              <a:ln>
                <a:solidFill>
                  <a:schemeClr val="tx1"/>
                </a:solidFill>
              </a:ln>
            </p:spPr>
            <p:txBody>
              <a:bodyPr/>
              <a:lstStyle/>
              <a:p>
                <a:r>
                  <a:rPr lang="en-US">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é o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contendo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contendo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vetores de atributos,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1074"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715853"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379947" y="3823223"/>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115341" y="404085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3">
            <a:extLst>
              <a:ext uri="{FF2B5EF4-FFF2-40B4-BE49-F238E27FC236}">
                <a16:creationId xmlns:a16="http://schemas.microsoft.com/office/drawing/2014/main" id="{EB7B7DF7-4620-FAFB-14F2-76188CA2CB96}"/>
              </a:ext>
            </a:extLst>
          </p:cNvPr>
          <p:cNvSpPr txBox="1"/>
          <p:nvPr/>
        </p:nvSpPr>
        <p:spPr>
          <a:xfrm>
            <a:off x="7334655" y="6585626"/>
            <a:ext cx="4857345" cy="276999"/>
          </a:xfrm>
          <a:prstGeom prst="rect">
            <a:avLst/>
          </a:prstGeom>
          <a:noFill/>
        </p:spPr>
        <p:txBody>
          <a:bodyPr wrap="square" rtlCol="0">
            <a:spAutoFit/>
          </a:bodyPr>
          <a:lstStyle/>
          <a:p>
            <a:r>
              <a:rPr lang="pt-BR" sz="1200" b="1" dirty="0"/>
              <a:t>OBS</a:t>
            </a:r>
            <a:r>
              <a:rPr lang="pt-BR" sz="1200" dirty="0"/>
              <a:t>.: detalhes sobre como encontrar o vetor gradiente estão nos anexos.</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lnSpcReduction="10000"/>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sz="2600" b="1" i="1" smtClean="0">
                          <a:latin typeface="Cambria Math" panose="02040503050406030204" pitchFamily="18" charset="0"/>
                        </a:rPr>
                        <m:t>𝒂</m:t>
                      </m:r>
                      <m:r>
                        <a:rPr lang="pt-BR" sz="2600" b="1" i="1" smtClean="0">
                          <a:latin typeface="Cambria Math" panose="02040503050406030204" pitchFamily="18" charset="0"/>
                        </a:rPr>
                        <m:t>=</m:t>
                      </m:r>
                      <m:r>
                        <a:rPr lang="pt-BR" sz="2600" b="1" i="1" smtClean="0">
                          <a:latin typeface="Cambria Math" panose="02040503050406030204" pitchFamily="18" charset="0"/>
                        </a:rPr>
                        <m:t>𝒂</m:t>
                      </m:r>
                      <m:r>
                        <a:rPr lang="pt-BR" sz="2600" b="1" i="1" smtClean="0">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𝛼</m:t>
                      </m:r>
                      <m:f>
                        <m:fPr>
                          <m:ctrlPr>
                            <a:rPr lang="pt-BR" sz="2600" i="1">
                              <a:latin typeface="Cambria Math" panose="02040503050406030204" pitchFamily="18" charset="0"/>
                            </a:rPr>
                          </m:ctrlPr>
                        </m:fPr>
                        <m:num>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𝐽</m:t>
                              </m:r>
                            </m:e>
                            <m:sub>
                              <m:r>
                                <a:rPr lang="pt-BR" sz="2600" i="1">
                                  <a:latin typeface="Cambria Math" panose="02040503050406030204" pitchFamily="18" charset="0"/>
                                </a:rPr>
                                <m:t>𝑒</m:t>
                              </m:r>
                            </m:sub>
                          </m:sSub>
                          <m:d>
                            <m:dPr>
                              <m:ctrlPr>
                                <a:rPr lang="pt-BR" sz="2600" b="1" i="1">
                                  <a:latin typeface="Cambria Math" panose="02040503050406030204" pitchFamily="18" charset="0"/>
                                </a:rPr>
                              </m:ctrlPr>
                            </m:dPr>
                            <m:e>
                              <m:r>
                                <a:rPr lang="pt-BR" sz="2600" b="1" i="1">
                                  <a:latin typeface="Cambria Math" panose="02040503050406030204" pitchFamily="18" charset="0"/>
                                </a:rPr>
                                <m:t>𝒂</m:t>
                              </m:r>
                            </m:e>
                          </m:d>
                        </m:num>
                        <m:den>
                          <m:r>
                            <a:rPr lang="pt-BR" sz="2600" i="1">
                              <a:latin typeface="Cambria Math" panose="02040503050406030204" pitchFamily="18" charset="0"/>
                            </a:rPr>
                            <m:t>𝜕</m:t>
                          </m:r>
                          <m:r>
                            <a:rPr lang="pt-BR" sz="2600" b="1" i="1">
                              <a:latin typeface="Cambria Math" panose="02040503050406030204" pitchFamily="18" charset="0"/>
                            </a:rPr>
                            <m:t>𝒂</m:t>
                          </m:r>
                        </m:den>
                      </m:f>
                      <m:r>
                        <a:rPr lang="pt-BR" sz="2600" b="1" i="1">
                          <a:latin typeface="Cambria Math" panose="02040503050406030204" pitchFamily="18" charset="0"/>
                        </a:rPr>
                        <m:t>=</m:t>
                      </m:r>
                      <m:r>
                        <a:rPr lang="pt-BR" sz="2600" b="1" i="1">
                          <a:latin typeface="Cambria Math" panose="02040503050406030204" pitchFamily="18" charset="0"/>
                        </a:rPr>
                        <m:t>𝒂</m:t>
                      </m:r>
                      <m:r>
                        <a:rPr lang="pt-BR" sz="2600" b="0" i="1" smtClean="0">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𝛼</m:t>
                      </m:r>
                      <m:f>
                        <m:fPr>
                          <m:ctrlPr>
                            <a:rPr lang="pt-BR" sz="2600" i="1">
                              <a:latin typeface="Cambria Math" panose="02040503050406030204" pitchFamily="18" charset="0"/>
                            </a:rPr>
                          </m:ctrlPr>
                        </m:fPr>
                        <m:num>
                          <m:r>
                            <a:rPr lang="pt-BR" sz="2600" i="1">
                              <a:latin typeface="Cambria Math" panose="02040503050406030204" pitchFamily="18" charset="0"/>
                            </a:rPr>
                            <m:t>2</m:t>
                          </m:r>
                        </m:num>
                        <m:den>
                          <m:r>
                            <a:rPr lang="pt-BR" sz="2600" i="1">
                              <a:latin typeface="Cambria Math" panose="02040503050406030204" pitchFamily="18" charset="0"/>
                            </a:rPr>
                            <m:t>𝑁</m:t>
                          </m:r>
                        </m:den>
                      </m:f>
                      <m:nary>
                        <m:naryPr>
                          <m:chr m:val="∑"/>
                          <m:ctrlPr>
                            <a:rPr lang="pt-BR" sz="2600" i="1">
                              <a:latin typeface="Cambria Math" panose="02040503050406030204" pitchFamily="18" charset="0"/>
                            </a:rPr>
                          </m:ctrlPr>
                        </m:naryPr>
                        <m:sub>
                          <m:r>
                            <a:rPr lang="pt-BR" sz="2600" i="1">
                              <a:latin typeface="Cambria Math" panose="02040503050406030204" pitchFamily="18" charset="0"/>
                            </a:rPr>
                            <m:t>𝑛</m:t>
                          </m:r>
                          <m:r>
                            <a:rPr lang="pt-BR" sz="2600" i="1">
                              <a:latin typeface="Cambria Math" panose="02040503050406030204" pitchFamily="18" charset="0"/>
                            </a:rPr>
                            <m:t>=0</m:t>
                          </m:r>
                        </m:sub>
                        <m:sup>
                          <m:r>
                            <a:rPr lang="pt-BR" sz="2600" i="1">
                              <a:latin typeface="Cambria Math" panose="02040503050406030204" pitchFamily="18" charset="0"/>
                            </a:rPr>
                            <m:t>𝑁</m:t>
                          </m:r>
                          <m:r>
                            <a:rPr lang="pt-BR" sz="2600" i="1">
                              <a:latin typeface="Cambria Math" panose="02040503050406030204" pitchFamily="18" charset="0"/>
                            </a:rPr>
                            <m:t>−1</m:t>
                          </m:r>
                        </m:sup>
                        <m:e>
                          <m:d>
                            <m:dPr>
                              <m:begChr m:val="["/>
                              <m:endChr m:val="]"/>
                              <m:ctrlPr>
                                <a:rPr lang="pt-BR" sz="2600" i="1">
                                  <a:latin typeface="Cambria Math" panose="02040503050406030204" pitchFamily="18" charset="0"/>
                                </a:rPr>
                              </m:ctrlPr>
                            </m:dPr>
                            <m:e>
                              <m:r>
                                <a:rPr lang="pt-BR" sz="2600" i="1">
                                  <a:latin typeface="Cambria Math" panose="02040503050406030204" pitchFamily="18" charset="0"/>
                                </a:rPr>
                                <m:t>𝑦</m:t>
                              </m:r>
                              <m:d>
                                <m:dPr>
                                  <m:ctrlPr>
                                    <a:rPr lang="pt-BR" sz="2600" i="1">
                                      <a:latin typeface="Cambria Math" panose="02040503050406030204" pitchFamily="18" charset="0"/>
                                    </a:rPr>
                                  </m:ctrlPr>
                                </m:dPr>
                                <m:e>
                                  <m:r>
                                    <a:rPr lang="pt-BR" sz="2600" i="1">
                                      <a:latin typeface="Cambria Math" panose="02040503050406030204" pitchFamily="18" charset="0"/>
                                    </a:rPr>
                                    <m:t>𝑛</m:t>
                                  </m:r>
                                </m:e>
                              </m:d>
                              <m:r>
                                <a:rPr lang="pt-BR" sz="2600" i="1">
                                  <a:latin typeface="Cambria Math" panose="02040503050406030204" pitchFamily="18" charset="0"/>
                                </a:rPr>
                                <m:t>−</m:t>
                              </m:r>
                              <m:acc>
                                <m:accPr>
                                  <m:chr m:val="̂"/>
                                  <m:ctrlPr>
                                    <a:rPr lang="pt-BR" sz="2600" i="1">
                                      <a:latin typeface="Cambria Math" panose="02040503050406030204" pitchFamily="18" charset="0"/>
                                    </a:rPr>
                                  </m:ctrlPr>
                                </m:accPr>
                                <m:e>
                                  <m:r>
                                    <a:rPr lang="pt-BR" sz="2600" i="1">
                                      <a:latin typeface="Cambria Math" panose="02040503050406030204" pitchFamily="18" charset="0"/>
                                    </a:rPr>
                                    <m:t>𝑦</m:t>
                                  </m:r>
                                </m:e>
                              </m:acc>
                              <m:d>
                                <m:dPr>
                                  <m:ctrlPr>
                                    <a:rPr lang="pt-BR" sz="2600" i="1">
                                      <a:latin typeface="Cambria Math" panose="02040503050406030204" pitchFamily="18" charset="0"/>
                                    </a:rPr>
                                  </m:ctrlPr>
                                </m:dPr>
                                <m:e>
                                  <m:r>
                                    <a:rPr lang="pt-BR" sz="2600" i="1">
                                      <a:latin typeface="Cambria Math" panose="02040503050406030204" pitchFamily="18" charset="0"/>
                                    </a:rPr>
                                    <m:t>𝑛</m:t>
                                  </m:r>
                                </m:e>
                              </m:d>
                            </m:e>
                          </m:d>
                          <m:r>
                            <a:rPr lang="pt-BR" sz="2600" b="1" i="1">
                              <a:latin typeface="Cambria Math" panose="02040503050406030204" pitchFamily="18" charset="0"/>
                            </a:rPr>
                            <m:t>𝒙</m:t>
                          </m:r>
                          <m:d>
                            <m:dPr>
                              <m:ctrlPr>
                                <a:rPr lang="pt-BR" sz="2600" i="1">
                                  <a:latin typeface="Cambria Math" panose="02040503050406030204" pitchFamily="18" charset="0"/>
                                </a:rPr>
                              </m:ctrlPr>
                            </m:dPr>
                            <m:e>
                              <m:r>
                                <a:rPr lang="pt-BR" sz="2600" i="1">
                                  <a:latin typeface="Cambria Math" panose="02040503050406030204" pitchFamily="18" charset="0"/>
                                </a:rPr>
                                <m:t>𝑛</m:t>
                              </m:r>
                            </m:e>
                          </m:d>
                        </m:e>
                      </m:nary>
                      <m:r>
                        <a:rPr lang="pt-BR" sz="2600" b="1" i="1" smtClean="0">
                          <a:latin typeface="Cambria Math" panose="02040503050406030204" pitchFamily="18" charset="0"/>
                        </a:rPr>
                        <m:t>=</m:t>
                      </m:r>
                      <m:sSup>
                        <m:sSupPr>
                          <m:ctrlPr>
                            <a:rPr lang="pt-BR" sz="2600" b="1" i="1">
                              <a:latin typeface="Cambria Math" panose="02040503050406030204" pitchFamily="18" charset="0"/>
                            </a:rPr>
                          </m:ctrlPr>
                        </m:sSupPr>
                        <m:e>
                          <m:r>
                            <a:rPr lang="pt-BR" sz="2600" b="1" i="1">
                              <a:latin typeface="Cambria Math" panose="02040503050406030204" pitchFamily="18" charset="0"/>
                            </a:rPr>
                            <m:t>𝒂</m:t>
                          </m:r>
                          <m:r>
                            <a:rPr lang="pt-BR" sz="2600" b="0" i="1" smtClean="0">
                              <a:latin typeface="Cambria Math" panose="02040503050406030204" pitchFamily="18" charset="0"/>
                            </a:rPr>
                            <m:t>+</m:t>
                          </m:r>
                          <m:f>
                            <m:fPr>
                              <m:ctrlPr>
                                <a:rPr lang="pt-BR" sz="2600" i="1">
                                  <a:latin typeface="Cambria Math" panose="02040503050406030204" pitchFamily="18" charset="0"/>
                                </a:rPr>
                              </m:ctrlPr>
                            </m:fPr>
                            <m:num>
                              <m:r>
                                <a:rPr lang="pt-BR" sz="2600" i="1">
                                  <a:latin typeface="Cambria Math" panose="02040503050406030204" pitchFamily="18" charset="0"/>
                                </a:rPr>
                                <m:t>2</m:t>
                              </m:r>
                              <m:r>
                                <a:rPr lang="pt-BR" sz="2600" i="1">
                                  <a:latin typeface="Cambria Math" panose="02040503050406030204" pitchFamily="18" charset="0"/>
                                  <a:ea typeface="Cambria Math" panose="02040503050406030204" pitchFamily="18" charset="0"/>
                                </a:rPr>
                                <m:t>𝛼</m:t>
                              </m:r>
                            </m:num>
                            <m:den>
                              <m:r>
                                <a:rPr lang="pt-BR" sz="2600" i="1">
                                  <a:latin typeface="Cambria Math" panose="02040503050406030204" pitchFamily="18" charset="0"/>
                                </a:rPr>
                                <m:t>𝑁</m:t>
                              </m:r>
                            </m:den>
                          </m:f>
                          <m:r>
                            <a:rPr lang="pt-BR" sz="2600" b="1" i="1">
                              <a:latin typeface="Cambria Math" panose="02040503050406030204" pitchFamily="18" charset="0"/>
                            </a:rPr>
                            <m:t>𝑿</m:t>
                          </m:r>
                        </m:e>
                        <m:sup>
                          <m:r>
                            <a:rPr lang="pt-BR" sz="2600" i="1">
                              <a:latin typeface="Cambria Math" panose="02040503050406030204" pitchFamily="18" charset="0"/>
                            </a:rPr>
                            <m:t>𝑇</m:t>
                          </m:r>
                        </m:sup>
                      </m:sSup>
                      <m:d>
                        <m:dPr>
                          <m:ctrlPr>
                            <a:rPr lang="pt-BR" sz="2600" b="1" i="1">
                              <a:latin typeface="Cambria Math" panose="02040503050406030204" pitchFamily="18" charset="0"/>
                            </a:rPr>
                          </m:ctrlPr>
                        </m:dPr>
                        <m:e>
                          <m:r>
                            <a:rPr lang="pt-BR" sz="2600" b="1" i="1">
                              <a:latin typeface="Cambria Math" panose="02040503050406030204" pitchFamily="18" charset="0"/>
                            </a:rPr>
                            <m:t>𝒚</m:t>
                          </m:r>
                          <m:r>
                            <a:rPr lang="pt-BR" sz="2600" i="1">
                              <a:latin typeface="Cambria Math" panose="02040503050406030204" pitchFamily="18" charset="0"/>
                            </a:rPr>
                            <m:t>−</m:t>
                          </m:r>
                          <m:acc>
                            <m:accPr>
                              <m:chr m:val="̂"/>
                              <m:ctrlPr>
                                <a:rPr lang="pt-BR" sz="2600" b="1" i="1">
                                  <a:latin typeface="Cambria Math" panose="02040503050406030204" pitchFamily="18" charset="0"/>
                                </a:rPr>
                              </m:ctrlPr>
                            </m:accPr>
                            <m:e>
                              <m:r>
                                <a:rPr lang="pt-BR" sz="2600" b="1" i="1">
                                  <a:latin typeface="Cambria Math" panose="02040503050406030204" pitchFamily="18" charset="0"/>
                                </a:rPr>
                                <m:t>𝒚</m:t>
                              </m:r>
                            </m:e>
                          </m:acc>
                        </m:e>
                      </m:d>
                      <m:r>
                        <a:rPr lang="pt-BR" sz="2600" b="0" i="0" smtClean="0">
                          <a:latin typeface="Cambria Math" panose="02040503050406030204" pitchFamily="18" charset="0"/>
                        </a:rPr>
                        <m:t>.</m:t>
                      </m:r>
                    </m:oMath>
                  </m:oMathPara>
                </a14:m>
                <a:endParaRPr lang="pt-BR" sz="2600"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Assim, quanto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b="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t="-2594" b="-389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564092" y="2758465"/>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269031" y="2749413"/>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900057" y="2379628"/>
            <a:ext cx="143483"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2093881" y="3343796"/>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7B55FC7F-CCAF-A80B-4B1F-3688C9727694}"/>
                  </a:ext>
                </a:extLst>
              </p:cNvPr>
              <p:cNvSpPr/>
              <p:nvPr/>
            </p:nvSpPr>
            <p:spPr>
              <a:xfrm>
                <a:off x="1170561" y="2006315"/>
                <a:ext cx="9850878" cy="1722651"/>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14:m>
                  <m:oMath xmlns:m="http://schemas.openxmlformats.org/officeDocument/2006/math">
                    <m:r>
                      <a:rPr lang="pt-BR" sz="2400" i="1">
                        <a:latin typeface="Cambria Math" panose="02040503050406030204" pitchFamily="18" charset="0"/>
                        <a:ea typeface="Cambria Math" panose="02040503050406030204" pitchFamily="18" charset="0"/>
                      </a:rPr>
                      <m:t>𝛼</m:t>
                    </m:r>
                  </m:oMath>
                </a14:m>
                <a:r>
                  <a:rPr lang="en-US" sz="2400" b="1" dirty="0">
                    <a:ea typeface="Cambria Math" panose="02040503050406030204" pitchFamily="18" charset="0"/>
                  </a:rPr>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a</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taxa</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aprendizagem</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06315"/>
                <a:ext cx="9850878" cy="1722651"/>
              </a:xfrm>
              <a:prstGeom prst="rect">
                <a:avLst/>
              </a:prstGeom>
              <a:blipFill>
                <a:blip r:embed="rId3"/>
                <a:stretch>
                  <a:fillRect l="-865"/>
                </a:stretch>
              </a:blipFill>
              <a:ln>
                <a:solidFill>
                  <a:schemeClr val="tx1"/>
                </a:solidFill>
              </a:ln>
            </p:spPr>
            <p:txBody>
              <a:bodyPr/>
              <a:lstStyle/>
              <a:p>
                <a:r>
                  <a:rPr lang="pt-BR">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65001" y="3190205"/>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353800"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a taxa de aprendizagem, </a:t>
                </a: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pt-BR" dirty="0"/>
                  <a:t>, não for muito grande.</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28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710680"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a </a:t>
                </a:r>
                <a:r>
                  <a:rPr lang="pt-BR" b="1" i="1" dirty="0">
                    <a:solidFill>
                      <a:srgbClr val="00B050"/>
                    </a:solidFill>
                  </a:rPr>
                  <a:t>taxa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en-US">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474724" y="2490281"/>
            <a:ext cx="7717276" cy="4367718"/>
          </a:xfrm>
        </p:spPr>
        <p:txBody>
          <a:bodyPr>
            <a:normAutofit/>
          </a:bodyPr>
          <a:lstStyle/>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a:t>
            </a:r>
            <a:r>
              <a:rPr lang="pt-BR" b="1" i="1" dirty="0">
                <a:solidFill>
                  <a:schemeClr val="accent2"/>
                </a:solidFill>
              </a:rPr>
              <a:t>sem reposição </a:t>
            </a:r>
            <a:r>
              <a:rPr lang="pt-BR" dirty="0"/>
              <a:t>do conjunto de treinamento para calcular a estimativa do vetor gradiente.</a:t>
            </a:r>
          </a:p>
          <a:p>
            <a:r>
              <a:rPr lang="pt-BR" dirty="0"/>
              <a:t>Por usar uma amostra,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p:pic>
        <p:nvPicPr>
          <p:cNvPr id="1026" name="Picture 2">
            <a:extLst>
              <a:ext uri="{FF2B5EF4-FFF2-40B4-BE49-F238E27FC236}">
                <a16:creationId xmlns:a16="http://schemas.microsoft.com/office/drawing/2014/main" id="{1E40FF8E-75E3-2B77-EEF9-A3E0C2F1A1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637" y="2853979"/>
            <a:ext cx="3608252" cy="363889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F398B25-EDB3-EEE9-9834-2E002191F31B}"/>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i="1" smtClean="0">
                                  <a:latin typeface="Cambria Math" panose="02040503050406030204" pitchFamily="18" charset="0"/>
                                </a:rPr>
                              </m:ctrlPr>
                            </m:dPr>
                            <m:e>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xmlns="">
          <p:sp>
            <p:nvSpPr>
              <p:cNvPr id="5" name="TextBox 4">
                <a:extLst>
                  <a:ext uri="{FF2B5EF4-FFF2-40B4-BE49-F238E27FC236}">
                    <a16:creationId xmlns:a16="http://schemas.microsoft.com/office/drawing/2014/main" id="{3F398B25-EDB3-EEE9-9834-2E002191F31B}"/>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513633" y="2568102"/>
            <a:ext cx="7487865" cy="4289897"/>
          </a:xfrm>
        </p:spPr>
        <p:txBody>
          <a:bodyPr>
            <a:normAutofit/>
          </a:bodyPr>
          <a:lstStyle/>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3"/>
              </a:rPr>
              <a:t>Exemplo</a:t>
            </a:r>
            <a:r>
              <a:rPr lang="pt-BR" sz="1200" u="sng" dirty="0">
                <a:hlinkClick r:id="rId3"/>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913" r="9292" b="2280"/>
          <a:stretch/>
        </p:blipFill>
        <p:spPr>
          <a:xfrm>
            <a:off x="326688" y="2830803"/>
            <a:ext cx="3603286" cy="340857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AEAEE0E-EEDB-36B5-3380-9A360CAF3C0E}"/>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i="1" smtClean="0">
                                  <a:latin typeface="Cambria Math" panose="02040503050406030204" pitchFamily="18" charset="0"/>
                                </a:rPr>
                              </m:ctrlPr>
                            </m:dPr>
                            <m:e>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xmlns="">
          <p:sp>
            <p:nvSpPr>
              <p:cNvPr id="6" name="TextBox 5">
                <a:extLst>
                  <a:ext uri="{FF2B5EF4-FFF2-40B4-BE49-F238E27FC236}">
                    <a16:creationId xmlns:a16="http://schemas.microsoft.com/office/drawing/2014/main" id="{6AEAEE0E-EEDB-36B5-3380-9A360CAF3C0E}"/>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353801"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ponto de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a:t>early</a:t>
            </a:r>
            <a:r>
              <a:rPr lang="pt-BR" i="1" dirty="0"/>
              <a:t>-stopping</a:t>
            </a:r>
            <a:r>
              <a:rPr lang="pt-BR" dirty="0"/>
              <a:t>, termo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vetor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a:t>
                </a:r>
                <a:r>
                  <a:rPr lang="pt-BR" b="1" dirty="0">
                    <a:solidFill>
                      <a:schemeClr val="accent2"/>
                    </a:solidFill>
                  </a:rPr>
                  <a:t>mais rápido que o GDB </a:t>
                </a:r>
                <a:r>
                  <a:rPr lang="pt-BR" dirty="0"/>
                  <a:t>e </a:t>
                </a:r>
                <a:r>
                  <a:rPr lang="pt-BR" b="1" dirty="0">
                    <a:solidFill>
                      <a:schemeClr val="accent5"/>
                    </a:solidFill>
                  </a:rPr>
                  <a:t>mais preciso e estável do que o GDE</a:t>
                </a:r>
                <a:r>
                  <a:rPr lang="pt-BR" dirty="0"/>
                  <a:t>.</a:t>
                </a:r>
              </a:p>
              <a:p>
                <a:r>
                  <a:rPr lang="pt-BR" dirty="0"/>
                  <a:t>Podemos escolher </a:t>
                </a:r>
                <a14:m>
                  <m:oMath xmlns:m="http://schemas.openxmlformats.org/officeDocument/2006/math">
                    <m:r>
                      <a:rPr lang="pt-BR" i="1">
                        <a:latin typeface="Cambria Math" panose="02040503050406030204" pitchFamily="18" charset="0"/>
                      </a:rPr>
                      <m:t>𝑀𝐵</m:t>
                    </m:r>
                  </m:oMath>
                </a14:m>
                <a:r>
                  <a:rPr lang="pt-BR" dirty="0"/>
                  <a:t> para que a </a:t>
                </a:r>
                <a:r>
                  <a:rPr lang="pt-BR" b="1" dirty="0">
                    <a:solidFill>
                      <a:schemeClr val="accent6"/>
                    </a:solidFill>
                  </a:rPr>
                  <a:t>complexidade</a:t>
                </a:r>
                <a:r>
                  <a:rPr lang="pt-BR" dirty="0"/>
                  <a:t> computacional do algoritmo se </a:t>
                </a:r>
                <a:r>
                  <a:rPr lang="pt-BR" b="1" dirty="0">
                    <a:solidFill>
                      <a:schemeClr val="accent6"/>
                    </a:solidFill>
                  </a:rPr>
                  <a:t>adeque ao </a:t>
                </a:r>
                <a:r>
                  <a:rPr lang="pt-BR" b="1" i="1" dirty="0">
                    <a:solidFill>
                      <a:schemeClr val="accent6"/>
                    </a:solidFill>
                  </a:rPr>
                  <a:t>hardware</a:t>
                </a:r>
                <a:r>
                  <a:rPr lang="pt-BR" b="1" dirty="0">
                    <a:solidFill>
                      <a:schemeClr val="accent6"/>
                    </a:solidFill>
                  </a:rPr>
                  <a:t> de treinamento</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en-US">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921"/>
                </a:stretch>
              </a:blipFill>
            </p:spPr>
            <p:txBody>
              <a:bodyPr/>
              <a:lstStyle/>
              <a:p>
                <a:r>
                  <a:rPr lang="en-US">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84969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Comportamento se aproxima ao do GDB conforme os mini-lotes aumentam.</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849692" cy="5032375"/>
              </a:xfrm>
              <a:blipFill>
                <a:blip r:embed="rId3"/>
                <a:stretch>
                  <a:fillRect l="-1875" t="-1937" r="-2188"/>
                </a:stretch>
              </a:blipFill>
            </p:spPr>
            <p:txBody>
              <a:bodyPr/>
              <a:lstStyle/>
              <a:p>
                <a:r>
                  <a:rPr lang="en-US">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22330</TotalTime>
  <Words>11108</Words>
  <Application>Microsoft Office PowerPoint</Application>
  <PresentationFormat>Widescreen</PresentationFormat>
  <Paragraphs>800</Paragraphs>
  <Slides>59</Slides>
  <Notes>33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59</vt:i4>
      </vt:variant>
    </vt:vector>
  </HeadingPairs>
  <TitlesOfParts>
    <vt:vector size="68" baseType="lpstr">
      <vt:lpstr>Arial</vt:lpstr>
      <vt:lpstr>Calibri</vt:lpstr>
      <vt:lpstr>Calibri Light</vt:lpstr>
      <vt:lpstr>Cambria Math</vt:lpstr>
      <vt:lpstr>Courier New</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Apresentação do PowerPoint</vt:lpstr>
      <vt:lpstr>Algoritmo do gradiente descendente</vt:lpstr>
      <vt:lpstr>Algoritmo do gradiente descendente</vt:lpstr>
      <vt:lpstr>Algoritmo do gradiente descendente</vt:lpstr>
      <vt:lpstr>Algoritmo do gradiente descendente</vt:lpstr>
      <vt:lpstr>Observação</vt:lpstr>
      <vt:lpstr>Apresentação do PowerPoint</vt:lpstr>
      <vt:lpstr>Características do gradiente descendente</vt:lpstr>
      <vt:lpstr>Apresentação do PowerPoint</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Cálculo do vetor gradiente</vt:lpstr>
      <vt:lpstr>Cálculo do vetor gradiente</vt:lpstr>
      <vt:lpstr>FIGURAS</vt:lpstr>
      <vt:lpstr>Apresentação do PowerPoint</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2554</cp:revision>
  <dcterms:created xsi:type="dcterms:W3CDTF">2020-02-17T11:18:32Z</dcterms:created>
  <dcterms:modified xsi:type="dcterms:W3CDTF">2026-09-11T22:12:59Z</dcterms:modified>
</cp:coreProperties>
</file>