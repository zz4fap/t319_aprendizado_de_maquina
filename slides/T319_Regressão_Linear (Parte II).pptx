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9" r:id="rId2"/>
    <p:sldId id="443" r:id="rId3"/>
    <p:sldId id="492" r:id="rId4"/>
    <p:sldId id="555" r:id="rId5"/>
    <p:sldId id="490" r:id="rId6"/>
    <p:sldId id="586" r:id="rId7"/>
    <p:sldId id="553" r:id="rId8"/>
    <p:sldId id="491" r:id="rId9"/>
    <p:sldId id="559" r:id="rId10"/>
    <p:sldId id="560" r:id="rId11"/>
    <p:sldId id="561" r:id="rId12"/>
    <p:sldId id="562" r:id="rId13"/>
    <p:sldId id="556" r:id="rId14"/>
    <p:sldId id="565" r:id="rId15"/>
    <p:sldId id="564" r:id="rId16"/>
    <p:sldId id="566" r:id="rId17"/>
    <p:sldId id="587" r:id="rId18"/>
    <p:sldId id="567" r:id="rId19"/>
    <p:sldId id="563" r:id="rId20"/>
    <p:sldId id="568" r:id="rId21"/>
    <p:sldId id="569" r:id="rId22"/>
    <p:sldId id="571" r:id="rId23"/>
    <p:sldId id="572" r:id="rId24"/>
    <p:sldId id="573" r:id="rId25"/>
    <p:sldId id="423" r:id="rId26"/>
    <p:sldId id="424" r:id="rId27"/>
    <p:sldId id="588" r:id="rId28"/>
    <p:sldId id="580" r:id="rId29"/>
    <p:sldId id="570" r:id="rId30"/>
    <p:sldId id="582" r:id="rId31"/>
    <p:sldId id="583" r:id="rId32"/>
    <p:sldId id="589" r:id="rId33"/>
    <p:sldId id="581" r:id="rId34"/>
    <p:sldId id="584" r:id="rId35"/>
    <p:sldId id="591" r:id="rId36"/>
    <p:sldId id="585" r:id="rId37"/>
    <p:sldId id="441" r:id="rId38"/>
    <p:sldId id="590" r:id="rId39"/>
    <p:sldId id="317" r:id="rId40"/>
    <p:sldId id="465" r:id="rId41"/>
    <p:sldId id="446" r:id="rId42"/>
    <p:sldId id="438" r:id="rId43"/>
    <p:sldId id="440" r:id="rId44"/>
    <p:sldId id="574" r:id="rId45"/>
    <p:sldId id="437" r:id="rId46"/>
    <p:sldId id="442" r:id="rId47"/>
    <p:sldId id="575" r:id="rId48"/>
    <p:sldId id="444" r:id="rId49"/>
    <p:sldId id="445" r:id="rId50"/>
    <p:sldId id="447" r:id="rId51"/>
    <p:sldId id="577" r:id="rId52"/>
    <p:sldId id="578" r:id="rId53"/>
    <p:sldId id="579" r:id="rId54"/>
    <p:sldId id="299" r:id="rId55"/>
    <p:sldId id="552" r:id="rId56"/>
    <p:sldId id="525" r:id="rId57"/>
    <p:sldId id="558" r:id="rId58"/>
    <p:sldId id="272" r:id="rId59"/>
    <p:sldId id="592" r:id="rId6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AF96C-3A3A-4667-836E-5D2043E55A0D}" v="89" dt="2020-02-17T16:29:36.671"/>
    <p1510:client id="{328F8323-A8B4-4BB5-8B29-141FF986EA24}" v="11" dt="2020-04-06T19:56:50.842"/>
    <p1510:client id="{58D05219-7C7B-4B91-A7AF-DC0AF21441D4}" v="8" dt="2020-03-15T18:19:04.037"/>
    <p1510:client id="{62FC7D01-7DC2-4ECC-8EE4-941CF425DBEE}" v="272" dt="2020-04-04T01:47:57.654"/>
    <p1510:client id="{7B93843C-DFF4-4B6D-9934-AB8C4C568E2D}" v="86" dt="2020-03-14T00:29:41.866"/>
    <p1510:client id="{B7CA8C48-7DAD-40D1-BA98-01463637147D}" v="67" dt="2020-03-14T21:04:21.668"/>
    <p1510:client id="{BAE3137E-5ED2-488F-90AA-67C3B75162E2}" v="4" dt="2020-04-06T18:41:56.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499" autoAdjust="0"/>
  </p:normalViewPr>
  <p:slideViewPr>
    <p:cSldViewPr snapToGrid="0">
      <p:cViewPr varScale="1">
        <p:scale>
          <a:sx n="98" d="100"/>
          <a:sy n="98" d="100"/>
        </p:scale>
        <p:origin x="10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7CA8C48-7DAD-40D1-BA98-01463637147D}"/>
    <pc:docChg chg="modSld">
      <pc:chgData name="Felipe Augusto Pereira de Figueiredo" userId="e1771b70d906f94b" providerId="Windows Live" clId="Web-{B7CA8C48-7DAD-40D1-BA98-01463637147D}" dt="2020-03-14T21:04:21.668" v="66" actId="20577"/>
      <pc:docMkLst>
        <pc:docMk/>
      </pc:docMkLst>
      <pc:sldChg chg="modSp">
        <pc:chgData name="Felipe Augusto Pereira de Figueiredo" userId="e1771b70d906f94b" providerId="Windows Live" clId="Web-{B7CA8C48-7DAD-40D1-BA98-01463637147D}" dt="2020-03-14T21:04:21.668" v="65" actId="20577"/>
        <pc:sldMkLst>
          <pc:docMk/>
          <pc:sldMk cId="63867976" sldId="310"/>
        </pc:sldMkLst>
        <pc:spChg chg="mod">
          <ac:chgData name="Felipe Augusto Pereira de Figueiredo" userId="e1771b70d906f94b" providerId="Windows Live" clId="Web-{B7CA8C48-7DAD-40D1-BA98-01463637147D}" dt="2020-03-14T21:04:21.668" v="65" actId="20577"/>
          <ac:spMkLst>
            <pc:docMk/>
            <pc:sldMk cId="63867976" sldId="310"/>
            <ac:spMk id="3" creationId="{00000000-0000-0000-0000-000000000000}"/>
          </ac:spMkLst>
        </pc:spChg>
      </pc:sldChg>
    </pc:docChg>
  </pc:docChgLst>
  <pc:docChgLst>
    <pc:chgData name="Felipe Augusto Pereira de Figueiredo" userId="e1771b70d906f94b" providerId="Windows Live" clId="Web-{BAE3137E-5ED2-488F-90AA-67C3B75162E2}"/>
    <pc:docChg chg="delSld">
      <pc:chgData name="Felipe Augusto Pereira de Figueiredo" userId="e1771b70d906f94b" providerId="Windows Live" clId="Web-{BAE3137E-5ED2-488F-90AA-67C3B75162E2}" dt="2020-04-06T18:41:56.776" v="3"/>
      <pc:docMkLst>
        <pc:docMk/>
      </pc:docMkLst>
      <pc:sldChg chg="del">
        <pc:chgData name="Felipe Augusto Pereira de Figueiredo" userId="e1771b70d906f94b" providerId="Windows Live" clId="Web-{BAE3137E-5ED2-488F-90AA-67C3B75162E2}" dt="2020-04-06T18:41:36.120" v="0"/>
        <pc:sldMkLst>
          <pc:docMk/>
          <pc:sldMk cId="2987778591" sldId="361"/>
        </pc:sldMkLst>
      </pc:sldChg>
      <pc:sldChg chg="del">
        <pc:chgData name="Felipe Augusto Pereira de Figueiredo" userId="e1771b70d906f94b" providerId="Windows Live" clId="Web-{BAE3137E-5ED2-488F-90AA-67C3B75162E2}" dt="2020-04-06T18:41:56.698" v="2"/>
        <pc:sldMkLst>
          <pc:docMk/>
          <pc:sldMk cId="1383714521" sldId="385"/>
        </pc:sldMkLst>
      </pc:sldChg>
      <pc:sldChg chg="del">
        <pc:chgData name="Felipe Augusto Pereira de Figueiredo" userId="e1771b70d906f94b" providerId="Windows Live" clId="Web-{BAE3137E-5ED2-488F-90AA-67C3B75162E2}" dt="2020-04-06T18:41:56.776" v="3"/>
        <pc:sldMkLst>
          <pc:docMk/>
          <pc:sldMk cId="1326828379" sldId="386"/>
        </pc:sldMkLst>
      </pc:sldChg>
      <pc:sldChg chg="del">
        <pc:chgData name="Felipe Augusto Pereira de Figueiredo" userId="e1771b70d906f94b" providerId="Windows Live" clId="Web-{BAE3137E-5ED2-488F-90AA-67C3B75162E2}" dt="2020-04-06T18:41:48.901" v="1"/>
        <pc:sldMkLst>
          <pc:docMk/>
          <pc:sldMk cId="2260281898" sldId="387"/>
        </pc:sldMkLst>
      </pc:sldChg>
    </pc:docChg>
  </pc:docChgLst>
  <pc:docChgLst>
    <pc:chgData name="Felipe Augusto Pereira de Figueiredo" userId="e1771b70d906f94b" providerId="Windows Live" clId="Web-{20CAF96C-3A3A-4667-836E-5D2043E55A0D}"/>
    <pc:docChg chg="addSld modSld">
      <pc:chgData name="Felipe Augusto Pereira de Figueiredo" userId="e1771b70d906f94b" providerId="Windows Live" clId="Web-{20CAF96C-3A3A-4667-836E-5D2043E55A0D}" dt="2020-02-17T16:29:36.671" v="85"/>
      <pc:docMkLst>
        <pc:docMk/>
      </pc:docMkLst>
      <pc:sldChg chg="delSp modSp">
        <pc:chgData name="Felipe Augusto Pereira de Figueiredo" userId="e1771b70d906f94b" providerId="Windows Live" clId="Web-{20CAF96C-3A3A-4667-836E-5D2043E55A0D}" dt="2020-02-17T16:28:56.981" v="84"/>
        <pc:sldMkLst>
          <pc:docMk/>
          <pc:sldMk cId="2105159769" sldId="256"/>
        </pc:sldMkLst>
        <pc:spChg chg="mod">
          <ac:chgData name="Felipe Augusto Pereira de Figueiredo" userId="e1771b70d906f94b" providerId="Windows Live" clId="Web-{20CAF96C-3A3A-4667-836E-5D2043E55A0D}" dt="2020-02-17T16:28:51.715" v="81" actId="20577"/>
          <ac:spMkLst>
            <pc:docMk/>
            <pc:sldMk cId="2105159769" sldId="256"/>
            <ac:spMk id="2" creationId="{00000000-0000-0000-0000-000000000000}"/>
          </ac:spMkLst>
        </pc:spChg>
        <pc:spChg chg="del mod">
          <ac:chgData name="Felipe Augusto Pereira de Figueiredo" userId="e1771b70d906f94b" providerId="Windows Live" clId="Web-{20CAF96C-3A3A-4667-836E-5D2043E55A0D}" dt="2020-02-17T16:28:56.981" v="84"/>
          <ac:spMkLst>
            <pc:docMk/>
            <pc:sldMk cId="2105159769" sldId="256"/>
            <ac:spMk id="3" creationId="{00000000-0000-0000-0000-000000000000}"/>
          </ac:spMkLst>
        </pc:spChg>
      </pc:sldChg>
      <pc:sldChg chg="new">
        <pc:chgData name="Felipe Augusto Pereira de Figueiredo" userId="e1771b70d906f94b" providerId="Windows Live" clId="Web-{20CAF96C-3A3A-4667-836E-5D2043E55A0D}" dt="2020-02-17T16:29:36.671" v="85"/>
        <pc:sldMkLst>
          <pc:docMk/>
          <pc:sldMk cId="2437199265" sldId="257"/>
        </pc:sldMkLst>
      </pc:sldChg>
    </pc:docChg>
  </pc:docChgLst>
  <pc:docChgLst>
    <pc:chgData name="Felipe Augusto Pereira de Figueiredo" userId="e1771b70d906f94b" providerId="Windows Live" clId="Web-{08E38356-0DC9-4DD7-A6CF-E66A8B5B2F0A}"/>
    <pc:docChg chg="modSld">
      <pc:chgData name="Felipe Augusto Pereira de Figueiredo" userId="e1771b70d906f94b" providerId="Windows Live" clId="Web-{08E38356-0DC9-4DD7-A6CF-E66A8B5B2F0A}" dt="2020-03-18T17:39:02.661" v="87"/>
      <pc:docMkLst>
        <pc:docMk/>
      </pc:docMkLst>
      <pc:sldChg chg="modNotes">
        <pc:chgData name="Felipe Augusto Pereira de Figueiredo" userId="e1771b70d906f94b" providerId="Windows Live" clId="Web-{08E38356-0DC9-4DD7-A6CF-E66A8B5B2F0A}" dt="2020-03-18T17:39:02.661" v="87"/>
        <pc:sldMkLst>
          <pc:docMk/>
          <pc:sldMk cId="1706263506" sldId="312"/>
        </pc:sldMkLst>
      </pc:sldChg>
    </pc:docChg>
  </pc:docChgLst>
  <pc:docChgLst>
    <pc:chgData name="Felipe Augusto Pereira de Figueiredo" userId="e1771b70d906f94b" providerId="Windows Live" clId="Web-{7B93843C-DFF4-4B6D-9934-AB8C4C568E2D}"/>
    <pc:docChg chg="modSld">
      <pc:chgData name="Felipe Augusto Pereira de Figueiredo" userId="e1771b70d906f94b" providerId="Windows Live" clId="Web-{7B93843C-DFF4-4B6D-9934-AB8C4C568E2D}" dt="2020-03-14T00:29:41.866" v="84" actId="20577"/>
      <pc:docMkLst>
        <pc:docMk/>
      </pc:docMkLst>
      <pc:sldChg chg="modSp">
        <pc:chgData name="Felipe Augusto Pereira de Figueiredo" userId="e1771b70d906f94b" providerId="Windows Live" clId="Web-{7B93843C-DFF4-4B6D-9934-AB8C4C568E2D}" dt="2020-03-14T00:29:41.866" v="83" actId="20577"/>
        <pc:sldMkLst>
          <pc:docMk/>
          <pc:sldMk cId="63867976" sldId="310"/>
        </pc:sldMkLst>
        <pc:spChg chg="mod">
          <ac:chgData name="Felipe Augusto Pereira de Figueiredo" userId="e1771b70d906f94b" providerId="Windows Live" clId="Web-{7B93843C-DFF4-4B6D-9934-AB8C4C568E2D}" dt="2020-03-14T00:29:41.866" v="83" actId="20577"/>
          <ac:spMkLst>
            <pc:docMk/>
            <pc:sldMk cId="63867976" sldId="310"/>
            <ac:spMk id="2" creationId="{00000000-0000-0000-0000-000000000000}"/>
          </ac:spMkLst>
        </pc:spChg>
        <pc:spChg chg="mod">
          <ac:chgData name="Felipe Augusto Pereira de Figueiredo" userId="e1771b70d906f94b" providerId="Windows Live" clId="Web-{7B93843C-DFF4-4B6D-9934-AB8C4C568E2D}" dt="2020-03-14T00:29:05.036" v="71" actId="20577"/>
          <ac:spMkLst>
            <pc:docMk/>
            <pc:sldMk cId="63867976" sldId="310"/>
            <ac:spMk id="3" creationId="{00000000-0000-0000-0000-000000000000}"/>
          </ac:spMkLst>
        </pc:spChg>
      </pc:sldChg>
    </pc:docChg>
  </pc:docChgLst>
  <pc:docChgLst>
    <pc:chgData name="Felipe Augusto Pereira de Figueiredo" userId="e1771b70d906f94b" providerId="Windows Live" clId="Web-{62FC7D01-7DC2-4ECC-8EE4-941CF425DBEE}"/>
    <pc:docChg chg="addSld delSld modSld">
      <pc:chgData name="Felipe Augusto Pereira de Figueiredo" userId="e1771b70d906f94b" providerId="Windows Live" clId="Web-{62FC7D01-7DC2-4ECC-8EE4-941CF425DBEE}" dt="2020-04-04T01:47:57.654" v="273" actId="1076"/>
      <pc:docMkLst>
        <pc:docMk/>
      </pc:docMkLst>
      <pc:sldChg chg="del">
        <pc:chgData name="Felipe Augusto Pereira de Figueiredo" userId="e1771b70d906f94b" providerId="Windows Live" clId="Web-{62FC7D01-7DC2-4ECC-8EE4-941CF425DBEE}" dt="2020-04-04T01:13:21.236" v="1"/>
        <pc:sldMkLst>
          <pc:docMk/>
          <pc:sldMk cId="883606865" sldId="300"/>
        </pc:sldMkLst>
      </pc:sldChg>
      <pc:sldChg chg="addSp modSp">
        <pc:chgData name="Felipe Augusto Pereira de Figueiredo" userId="e1771b70d906f94b" providerId="Windows Live" clId="Web-{62FC7D01-7DC2-4ECC-8EE4-941CF425DBEE}" dt="2020-04-04T01:47:57.654" v="273" actId="1076"/>
        <pc:sldMkLst>
          <pc:docMk/>
          <pc:sldMk cId="1037579582" sldId="332"/>
        </pc:sldMkLst>
        <pc:picChg chg="add mod">
          <ac:chgData name="Felipe Augusto Pereira de Figueiredo" userId="e1771b70d906f94b" providerId="Windows Live" clId="Web-{62FC7D01-7DC2-4ECC-8EE4-941CF425DBEE}" dt="2020-04-04T01:47:57.654" v="273" actId="1076"/>
          <ac:picMkLst>
            <pc:docMk/>
            <pc:sldMk cId="1037579582" sldId="332"/>
            <ac:picMk id="3" creationId="{2A0DF154-7178-4F01-A59C-CD7D1EB3AD92}"/>
          </ac:picMkLst>
        </pc:picChg>
      </pc:sldChg>
      <pc:sldChg chg="modSp">
        <pc:chgData name="Felipe Augusto Pereira de Figueiredo" userId="e1771b70d906f94b" providerId="Windows Live" clId="Web-{62FC7D01-7DC2-4ECC-8EE4-941CF425DBEE}" dt="2020-04-04T01:25:24.877" v="195" actId="20577"/>
        <pc:sldMkLst>
          <pc:docMk/>
          <pc:sldMk cId="2987778591" sldId="361"/>
        </pc:sldMkLst>
        <pc:spChg chg="mod">
          <ac:chgData name="Felipe Augusto Pereira de Figueiredo" userId="e1771b70d906f94b" providerId="Windows Live" clId="Web-{62FC7D01-7DC2-4ECC-8EE4-941CF425DBEE}" dt="2020-04-04T01:25:24.877" v="195" actId="20577"/>
          <ac:spMkLst>
            <pc:docMk/>
            <pc:sldMk cId="2987778591" sldId="361"/>
            <ac:spMk id="3" creationId="{00000000-0000-0000-0000-000000000000}"/>
          </ac:spMkLst>
        </pc:spChg>
      </pc:sldChg>
      <pc:sldChg chg="modSp modNotes">
        <pc:chgData name="Felipe Augusto Pereira de Figueiredo" userId="e1771b70d906f94b" providerId="Windows Live" clId="Web-{62FC7D01-7DC2-4ECC-8EE4-941CF425DBEE}" dt="2020-04-04T01:22:38.663" v="142" actId="14100"/>
        <pc:sldMkLst>
          <pc:docMk/>
          <pc:sldMk cId="3813385247" sldId="378"/>
        </pc:sldMkLst>
        <pc:spChg chg="mod">
          <ac:chgData name="Felipe Augusto Pereira de Figueiredo" userId="e1771b70d906f94b" providerId="Windows Live" clId="Web-{62FC7D01-7DC2-4ECC-8EE4-941CF425DBEE}" dt="2020-04-04T01:22:38.663" v="142" actId="14100"/>
          <ac:spMkLst>
            <pc:docMk/>
            <pc:sldMk cId="3813385247" sldId="378"/>
            <ac:spMk id="3" creationId="{00000000-0000-0000-0000-000000000000}"/>
          </ac:spMkLst>
        </pc:spChg>
      </pc:sldChg>
      <pc:sldChg chg="del">
        <pc:chgData name="Felipe Augusto Pereira de Figueiredo" userId="e1771b70d906f94b" providerId="Windows Live" clId="Web-{62FC7D01-7DC2-4ECC-8EE4-941CF425DBEE}" dt="2020-04-04T01:24:50.391" v="175"/>
        <pc:sldMkLst>
          <pc:docMk/>
          <pc:sldMk cId="2636909579" sldId="379"/>
        </pc:sldMkLst>
      </pc:sldChg>
      <pc:sldChg chg="del">
        <pc:chgData name="Felipe Augusto Pereira de Figueiredo" userId="e1771b70d906f94b" providerId="Windows Live" clId="Web-{62FC7D01-7DC2-4ECC-8EE4-941CF425DBEE}" dt="2020-04-04T01:24:50.406" v="176"/>
        <pc:sldMkLst>
          <pc:docMk/>
          <pc:sldMk cId="3307251767" sldId="380"/>
        </pc:sldMkLst>
      </pc:sldChg>
      <pc:sldChg chg="del">
        <pc:chgData name="Felipe Augusto Pereira de Figueiredo" userId="e1771b70d906f94b" providerId="Windows Live" clId="Web-{62FC7D01-7DC2-4ECC-8EE4-941CF425DBEE}" dt="2020-04-04T01:28:01.669" v="197"/>
        <pc:sldMkLst>
          <pc:docMk/>
          <pc:sldMk cId="1498450978" sldId="381"/>
        </pc:sldMkLst>
      </pc:sldChg>
      <pc:sldChg chg="add replId">
        <pc:chgData name="Felipe Augusto Pereira de Figueiredo" userId="e1771b70d906f94b" providerId="Windows Live" clId="Web-{62FC7D01-7DC2-4ECC-8EE4-941CF425DBEE}" dt="2020-04-04T01:13:12.219" v="0"/>
        <pc:sldMkLst>
          <pc:docMk/>
          <pc:sldMk cId="1168747188" sldId="398"/>
        </pc:sldMkLst>
      </pc:sldChg>
      <pc:sldChg chg="modSp new modNotes">
        <pc:chgData name="Felipe Augusto Pereira de Figueiredo" userId="e1771b70d906f94b" providerId="Windows Live" clId="Web-{62FC7D01-7DC2-4ECC-8EE4-941CF425DBEE}" dt="2020-04-04T01:33:54.380" v="268" actId="20577"/>
        <pc:sldMkLst>
          <pc:docMk/>
          <pc:sldMk cId="2414479644" sldId="399"/>
        </pc:sldMkLst>
        <pc:spChg chg="mod">
          <ac:chgData name="Felipe Augusto Pereira de Figueiredo" userId="e1771b70d906f94b" providerId="Windows Live" clId="Web-{62FC7D01-7DC2-4ECC-8EE4-941CF425DBEE}" dt="2020-04-04T01:19:47.214" v="68" actId="20577"/>
          <ac:spMkLst>
            <pc:docMk/>
            <pc:sldMk cId="2414479644" sldId="399"/>
            <ac:spMk id="2" creationId="{F4227E34-0D58-4F7C-A44C-874904CC31AB}"/>
          </ac:spMkLst>
        </pc:spChg>
        <pc:spChg chg="mod">
          <ac:chgData name="Felipe Augusto Pereira de Figueiredo" userId="e1771b70d906f94b" providerId="Windows Live" clId="Web-{62FC7D01-7DC2-4ECC-8EE4-941CF425DBEE}" dt="2020-04-04T01:33:54.380" v="268" actId="20577"/>
          <ac:spMkLst>
            <pc:docMk/>
            <pc:sldMk cId="2414479644" sldId="399"/>
            <ac:spMk id="3" creationId="{96005A71-5862-4C74-B1AF-2AAB990B557F}"/>
          </ac:spMkLst>
        </pc:spChg>
      </pc:sldChg>
    </pc:docChg>
  </pc:docChgLst>
  <pc:docChgLst>
    <pc:chgData name="Felipe Augusto Pereira de Figueiredo" userId="e1771b70d906f94b" providerId="Windows Live" clId="Web-{58D05219-7C7B-4B91-A7AF-DC0AF21441D4}"/>
    <pc:docChg chg="modSld">
      <pc:chgData name="Felipe Augusto Pereira de Figueiredo" userId="e1771b70d906f94b" providerId="Windows Live" clId="Web-{58D05219-7C7B-4B91-A7AF-DC0AF21441D4}" dt="2020-03-15T18:19:02.459" v="6" actId="20577"/>
      <pc:docMkLst>
        <pc:docMk/>
      </pc:docMkLst>
      <pc:sldChg chg="modSp">
        <pc:chgData name="Felipe Augusto Pereira de Figueiredo" userId="e1771b70d906f94b" providerId="Windows Live" clId="Web-{58D05219-7C7B-4B91-A7AF-DC0AF21441D4}" dt="2020-03-15T18:18:57.443" v="4" actId="20577"/>
        <pc:sldMkLst>
          <pc:docMk/>
          <pc:sldMk cId="63867976" sldId="310"/>
        </pc:sldMkLst>
        <pc:spChg chg="mod">
          <ac:chgData name="Felipe Augusto Pereira de Figueiredo" userId="e1771b70d906f94b" providerId="Windows Live" clId="Web-{58D05219-7C7B-4B91-A7AF-DC0AF21441D4}" dt="2020-03-15T18:18:57.443" v="4" actId="20577"/>
          <ac:spMkLst>
            <pc:docMk/>
            <pc:sldMk cId="63867976" sldId="310"/>
            <ac:spMk id="3" creationId="{00000000-0000-0000-0000-000000000000}"/>
          </ac:spMkLst>
        </pc:spChg>
      </pc:sldChg>
    </pc:docChg>
  </pc:docChgLst>
  <pc:docChgLst>
    <pc:chgData name="Felipe Augusto Pereira de Figueiredo" userId="e1771b70d906f94b" providerId="Windows Live" clId="Web-{328F8323-A8B4-4BB5-8B29-141FF986EA24}"/>
    <pc:docChg chg="modSld">
      <pc:chgData name="Felipe Augusto Pereira de Figueiredo" userId="e1771b70d906f94b" providerId="Windows Live" clId="Web-{328F8323-A8B4-4BB5-8B29-141FF986EA24}" dt="2020-04-06T19:56:50.780" v="9" actId="20577"/>
      <pc:docMkLst>
        <pc:docMk/>
      </pc:docMkLst>
      <pc:sldChg chg="modSp">
        <pc:chgData name="Felipe Augusto Pereira de Figueiredo" userId="e1771b70d906f94b" providerId="Windows Live" clId="Web-{328F8323-A8B4-4BB5-8B29-141FF986EA24}" dt="2020-04-06T19:56:50.780" v="8" actId="20577"/>
        <pc:sldMkLst>
          <pc:docMk/>
          <pc:sldMk cId="4289465553" sldId="388"/>
        </pc:sldMkLst>
        <pc:spChg chg="mod">
          <ac:chgData name="Felipe Augusto Pereira de Figueiredo" userId="e1771b70d906f94b" providerId="Windows Live" clId="Web-{328F8323-A8B4-4BB5-8B29-141FF986EA24}" dt="2020-04-06T19:56:50.780" v="8" actId="20577"/>
          <ac:spMkLst>
            <pc:docMk/>
            <pc:sldMk cId="4289465553" sldId="38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F0AF11-6A8A-4E64-94F5-26D4FBA2A01D}" type="datetimeFigureOut">
              <a:rPr lang="nl-BE" smtClean="0"/>
              <a:t>11/09/2026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B99DF-01BC-492A-8CEF-4FD88D18DD9D}" type="slidenum">
              <a:rPr lang="nl-BE" smtClean="0"/>
              <a:t>‹nº›</a:t>
            </a:fld>
            <a:endParaRPr lang="nl-BE"/>
          </a:p>
        </p:txBody>
      </p:sp>
    </p:spTree>
    <p:extLst>
      <p:ext uri="{BB962C8B-B14F-4D97-AF65-F5344CB8AC3E}">
        <p14:creationId xmlns:p14="http://schemas.microsoft.com/office/powerpoint/2010/main" val="1580594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towardsdatascience.com/understanding-the-mathematics-behind-gradient-descent-dde5dc9be06e"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notebooks/regression/gd_versions/stocastic_gradient_descent_with_figures.ipynb"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notebooks/regression/gd_versions/stocastic_gradient_descent_with_figures.ipynb"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notebooks/regression/gd_versions/mini_batch_gradient_descent_with_figures.ipynb"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notebooks/regression/gd_versions/mini_batch_gradient_descent_with_figures.ipynb"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52.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mccormickml.com/2014/03/04/gradient-descent-derivation/" TargetMode="External"/><Relationship Id="rId2" Type="http://schemas.openxmlformats.org/officeDocument/2006/relationships/slide" Target="../slides/slide53.xml"/><Relationship Id="rId1" Type="http://schemas.openxmlformats.org/officeDocument/2006/relationships/notesMaster" Target="../notesMasters/notesMaster1.xml"/><Relationship Id="rId6" Type="http://schemas.openxmlformats.org/officeDocument/2006/relationships/hyperlink" Target="https://towardsdatascience.com/understanding-the-mathematics-behind-gradient-descent-dde5dc9be06e" TargetMode="External"/><Relationship Id="rId5" Type="http://schemas.openxmlformats.org/officeDocument/2006/relationships/hyperlink" Target="https://mccormickml.com/2014/03/04/gradient-descent-derivation/" TargetMode="External"/><Relationship Id="rId4" Type="http://schemas.openxmlformats.org/officeDocument/2006/relationships/hyperlink" Target="https://towardsdatascience.com/understanding-the-mathematics-behind-gradient-descent-dde5dc9be06e"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368260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Eq. Normal não é escalável nem flexível.</a:t>
            </a:r>
            <a:endParaRPr lang="en-US"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a:t>
            </a:fld>
            <a:endParaRPr lang="nl-BE"/>
          </a:p>
        </p:txBody>
      </p:sp>
    </p:spTree>
    <p:extLst>
      <p:ext uri="{BB962C8B-B14F-4D97-AF65-F5344CB8AC3E}">
        <p14:creationId xmlns:p14="http://schemas.microsoft.com/office/powerpoint/2010/main" val="397441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14:m>
                  <m:oMath xmlns:m="http://schemas.openxmlformats.org/officeDocument/2006/math">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oMath>
                </a14:m>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r>
                  <a:rPr lang="pt-BR" sz="1200" i="0">
                    <a:latin typeface="Cambria Math" panose="02040503050406030204" pitchFamily="18" charset="0"/>
                    <a:ea typeface="Cambria Math" panose="02040503050406030204" pitchFamily="18" charset="0"/>
                  </a:rPr>
                  <a:t>𝛻𝑓</a:t>
                </a:r>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3</a:t>
            </a:fld>
            <a:endParaRPr lang="nl-BE"/>
          </a:p>
        </p:txBody>
      </p:sp>
    </p:spTree>
    <p:extLst>
      <p:ext uri="{BB962C8B-B14F-4D97-AF65-F5344CB8AC3E}">
        <p14:creationId xmlns:p14="http://schemas.microsoft.com/office/powerpoint/2010/main" val="2627841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14:m>
                  <m:oMath xmlns:m="http://schemas.openxmlformats.org/officeDocument/2006/math">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oMath>
                </a14:m>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r>
                  <a:rPr lang="pt-BR" sz="1200" i="0">
                    <a:latin typeface="Cambria Math" panose="02040503050406030204" pitchFamily="18" charset="0"/>
                    <a:ea typeface="Cambria Math" panose="02040503050406030204" pitchFamily="18" charset="0"/>
                  </a:rPr>
                  <a:t>𝛻𝑓</a:t>
                </a:r>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4</a:t>
            </a:fld>
            <a:endParaRPr lang="nl-BE"/>
          </a:p>
        </p:txBody>
      </p:sp>
    </p:spTree>
    <p:extLst>
      <p:ext uri="{BB962C8B-B14F-4D97-AF65-F5344CB8AC3E}">
        <p14:creationId xmlns:p14="http://schemas.microsoft.com/office/powerpoint/2010/main" val="354388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14:m>
                  <m:oMath xmlns:m="http://schemas.openxmlformats.org/officeDocument/2006/math">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oMath>
                </a14:m>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r>
                  <a:rPr lang="pt-BR" sz="1200" i="0">
                    <a:latin typeface="Cambria Math" panose="02040503050406030204" pitchFamily="18" charset="0"/>
                    <a:ea typeface="Cambria Math" panose="02040503050406030204" pitchFamily="18" charset="0"/>
                  </a:rPr>
                  <a:t>𝛻𝑓</a:t>
                </a:r>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5</a:t>
            </a:fld>
            <a:endParaRPr lang="nl-BE"/>
          </a:p>
        </p:txBody>
      </p:sp>
    </p:spTree>
    <p:extLst>
      <p:ext uri="{BB962C8B-B14F-4D97-AF65-F5344CB8AC3E}">
        <p14:creationId xmlns:p14="http://schemas.microsoft.com/office/powerpoint/2010/main" val="905409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14:m>
                  <m:oMath xmlns:m="http://schemas.openxmlformats.org/officeDocument/2006/math">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oMath>
                </a14:m>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r>
                  <a:rPr lang="pt-BR" sz="1200" i="0">
                    <a:latin typeface="Cambria Math" panose="02040503050406030204" pitchFamily="18" charset="0"/>
                    <a:ea typeface="Cambria Math" panose="02040503050406030204" pitchFamily="18" charset="0"/>
                  </a:rPr>
                  <a:t>𝛻𝑓</a:t>
                </a:r>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6</a:t>
            </a:fld>
            <a:endParaRPr lang="nl-BE"/>
          </a:p>
        </p:txBody>
      </p:sp>
    </p:spTree>
    <p:extLst>
      <p:ext uri="{BB962C8B-B14F-4D97-AF65-F5344CB8AC3E}">
        <p14:creationId xmlns:p14="http://schemas.microsoft.com/office/powerpoint/2010/main" val="3618629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14:m>
                  <m:oMath xmlns:m="http://schemas.openxmlformats.org/officeDocument/2006/math">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oMath>
                </a14:m>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r>
                  <a:rPr lang="pt-BR" dirty="0"/>
                  <a:t>Referências:</a:t>
                </a:r>
              </a:p>
              <a:p>
                <a:r>
                  <a:rPr lang="pt-BR" dirty="0"/>
                  <a:t>[1] https://math.stackexchange.com/questions/2150196/why-is-the-gradient-the-vector-of-strongest-slope</a:t>
                </a:r>
              </a:p>
              <a:p>
                <a:endParaRPr lang="pt-BR" dirty="0"/>
              </a:p>
              <a:p>
                <a:endParaRPr lang="pt-BR" dirty="0"/>
              </a:p>
              <a:p>
                <a:r>
                  <a:rPr lang="en-US" b="0" i="0" dirty="0">
                    <a:solidFill>
                      <a:srgbClr val="232629"/>
                    </a:solidFill>
                    <a:effectLst/>
                    <a:latin typeface="Georgia" panose="02040502050405020303" pitchFamily="18" charset="0"/>
                  </a:rPr>
                  <a:t>the direction of the gradient is the direction to go </a:t>
                </a:r>
                <a:r>
                  <a:rPr lang="en-US" b="0" i="1" dirty="0">
                    <a:solidFill>
                      <a:srgbClr val="232629"/>
                    </a:solidFill>
                    <a:effectLst/>
                    <a:latin typeface="Georgia" panose="02040502050405020303" pitchFamily="18" charset="0"/>
                  </a:rPr>
                  <a:t>within</a:t>
                </a:r>
                <a:r>
                  <a:rPr lang="en-US" b="0" i="0" dirty="0">
                    <a:solidFill>
                      <a:srgbClr val="232629"/>
                    </a:solidFill>
                    <a:effectLst/>
                    <a:latin typeface="Georgia" panose="02040502050405020303" pitchFamily="18" charset="0"/>
                  </a:rPr>
                  <a:t> the input space in order to get to greater values of the function as quickly as possible, and the magnitude of the gradient represents how quickly the value of the function grows if you go in that direction.</a:t>
                </a:r>
                <a:endParaRPr lang="pt-BR" dirty="0"/>
              </a:p>
              <a:p>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 elemento do vetor gradiente da função f dá a inclinação de uma reta tangente em relação a um argumento específico de f em um determinado ponto. No caso de uma função de várias variáveis, um elemento do vetor gradiente representa a taxa de variação da função em relação a uma variável específica em um determinado ponto, o que pode ser interpretado como a inclinação da reta tangente em relação a essa variável.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O vetor gradiente nos dá a direção em que a função </a:t>
                </a:r>
                <a:r>
                  <a:rPr lang="pt-BR" dirty="0"/>
                  <a:t>f</a:t>
                </a:r>
                <a:r>
                  <a:rPr lang="pt-BR" sz="1200" b="0" i="0" kern="1200" dirty="0">
                    <a:solidFill>
                      <a:schemeClr val="tx1"/>
                    </a:solidFill>
                    <a:effectLst/>
                    <a:latin typeface="+mn-lt"/>
                    <a:ea typeface="+mn-ea"/>
                    <a:cs typeface="+mn-cs"/>
                  </a:rPr>
                  <a:t> cresce mais rapidamente em um determinado ponto, bem como a taxa de crescimento em cada uma das dimensões em que a função varia. </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O vetor gradiente, </a:t>
                </a:r>
                <a:r>
                  <a:rPr lang="pt-BR" sz="1200" i="0">
                    <a:latin typeface="Cambria Math" panose="02040503050406030204" pitchFamily="18" charset="0"/>
                    <a:ea typeface="Cambria Math" panose="02040503050406030204" pitchFamily="18" charset="0"/>
                  </a:rPr>
                  <a:t>𝛻𝑓</a:t>
                </a:r>
                <a:r>
                  <a:rPr lang="pt-BR" sz="1200" dirty="0"/>
                  <a:t>, dá a magnitude e a direção da subida mais íngreme da função.</a:t>
                </a:r>
                <a:r>
                  <a:rPr lang="pt-BR" sz="1200" baseline="0" dirty="0"/>
                  <a:t> A magnitude ou taxa de variação é dada pela norma do vetor gradiente.</a:t>
                </a: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No caso multivariado, o vetor gradiente é perpendicular ao hiperplano tangente às superfícies de contorno.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Se o gradiente de uma função é diferente de zero em um ponto p, a direção do gradiente é a direção na qual a função aumenta mais rapidamente a</a:t>
                </a:r>
                <a:r>
                  <a:rPr lang="pt-BR" baseline="0" dirty="0"/>
                  <a:t> partir de</a:t>
                </a:r>
                <a:r>
                  <a:rPr lang="pt-BR" dirty="0"/>
                  <a:t> p, e a magnitude do gradiente é a taxa de aumento nessa direção.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coisa mais importante para nos lembrarmos sobre o vetor gradiente é que ele sempre apontará para a direção onde a subida da função é mais íngreme.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gradiente mostra a taxa de mudança dependendo de todas as variáveis fornecidas da função e também é um vetor que aponta na mesma direção que o vetor normal para a função em um determinado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tangente aponta ao longo da superfície de uma função e pode representar um plano paralelo ao ponto dessa superfície (um plano, se a superfície for 3D). </a:t>
                </a:r>
                <a:r>
                  <a:rPr lang="pt-BR" b="1" i="1" dirty="0"/>
                  <a:t>O vetor tangente é, portanto, perpendicular ao gradiente.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plano tangente é o plano que melhor se aproxima da forma da função</a:t>
                </a:r>
                <a:r>
                  <a:rPr lang="pt-BR" baseline="0" dirty="0"/>
                  <a:t> no ponto </a:t>
                </a:r>
                <a:r>
                  <a:rPr lang="pt-BR" dirty="0"/>
                  <a:t>onde você está.</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derivada parcial é a inclinação da reta tangente ao ponto.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magnitude e a "direção em</a:t>
                </a:r>
                <a:r>
                  <a:rPr lang="pt-BR" b="0" i="0" baseline="0" dirty="0"/>
                  <a:t> que uma função tem</a:t>
                </a:r>
                <a:r>
                  <a:rPr lang="pt-BR" b="0" i="0" dirty="0"/>
                  <a:t> taxa de crescimento mais rápida".</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vetor gradiente em um ponto é um vetor tangente ao ponto. Valores positivos indicam que o aumenta mais rápido esta à frente,</a:t>
                </a:r>
                <a:r>
                  <a:rPr lang="pt-BR" b="0" i="0" baseline="0" dirty="0"/>
                  <a:t> já valores negativos indicam que a taxa de aumento mais rápida está atrás.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àquele argumento.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7</a:t>
            </a:fld>
            <a:endParaRPr lang="nl-BE"/>
          </a:p>
        </p:txBody>
      </p:sp>
    </p:spTree>
    <p:extLst>
      <p:ext uri="{BB962C8B-B14F-4D97-AF65-F5344CB8AC3E}">
        <p14:creationId xmlns:p14="http://schemas.microsoft.com/office/powerpoint/2010/main" val="4010940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14:m>
                  <m:oMath xmlns:m="http://schemas.openxmlformats.org/officeDocument/2006/math">
                    <m:r>
                      <a:rPr lang="pt-BR" b="0" i="1">
                        <a:latin typeface="Cambria Math" panose="02040503050406030204" pitchFamily="18" charset="0"/>
                      </a:rPr>
                      <m:t>𝑓</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r>
                  <a:rPr lang="pt-BR" b="0" i="0">
                    <a:latin typeface="Cambria Math" panose="02040503050406030204" pitchFamily="18" charset="0"/>
                  </a:rPr>
                  <a:t>𝑓(</a:t>
                </a:r>
                <a:r>
                  <a:rPr lang="pt-BR" b="1" i="0">
                    <a:latin typeface="Cambria Math" panose="02040503050406030204" pitchFamily="18" charset="0"/>
                  </a:rPr>
                  <a:t>𝒙</a:t>
                </a:r>
                <a:r>
                  <a:rPr lang="pt-BR" b="0" i="0">
                    <a:latin typeface="Cambria Math" panose="02040503050406030204" pitchFamily="18" charset="0"/>
                  </a:rPr>
                  <a:t>)</a:t>
                </a:r>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8</a:t>
            </a:fld>
            <a:endParaRPr lang="nl-BE"/>
          </a:p>
        </p:txBody>
      </p:sp>
    </p:spTree>
    <p:extLst>
      <p:ext uri="{BB962C8B-B14F-4D97-AF65-F5344CB8AC3E}">
        <p14:creationId xmlns:p14="http://schemas.microsoft.com/office/powerpoint/2010/main" val="4219253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14:m>
                  <m:oMath xmlns:m="http://schemas.openxmlformats.org/officeDocument/2006/math">
                    <m:r>
                      <a:rPr lang="pt-BR" b="0" i="1">
                        <a:latin typeface="Cambria Math" panose="02040503050406030204" pitchFamily="18" charset="0"/>
                      </a:rPr>
                      <m:t>𝑓</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r>
                  <a:rPr lang="pt-BR" b="0" i="0">
                    <a:latin typeface="Cambria Math" panose="02040503050406030204" pitchFamily="18" charset="0"/>
                  </a:rPr>
                  <a:t>𝑓(</a:t>
                </a:r>
                <a:r>
                  <a:rPr lang="pt-BR" b="1" i="0">
                    <a:latin typeface="Cambria Math" panose="02040503050406030204" pitchFamily="18" charset="0"/>
                  </a:rPr>
                  <a:t>𝒙</a:t>
                </a:r>
                <a:r>
                  <a:rPr lang="pt-BR" b="0" i="0">
                    <a:latin typeface="Cambria Math" panose="02040503050406030204" pitchFamily="18" charset="0"/>
                  </a:rPr>
                  <a:t>)</a:t>
                </a:r>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9</a:t>
            </a:fld>
            <a:endParaRPr lang="nl-BE"/>
          </a:p>
        </p:txBody>
      </p:sp>
    </p:spTree>
    <p:extLst>
      <p:ext uri="{BB962C8B-B14F-4D97-AF65-F5344CB8AC3E}">
        <p14:creationId xmlns:p14="http://schemas.microsoft.com/office/powerpoint/2010/main" val="4153602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14:m>
                  <m:oMath xmlns:m="http://schemas.openxmlformats.org/officeDocument/2006/math">
                    <m:r>
                      <a:rPr lang="pt-BR" b="0" i="1">
                        <a:latin typeface="Cambria Math" panose="02040503050406030204" pitchFamily="18" charset="0"/>
                      </a:rPr>
                      <m:t>𝑓</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vetor gradiente indica a </a:t>
                </a:r>
                <a:r>
                  <a:rPr lang="pt-BR" b="1" i="1" dirty="0"/>
                  <a:t>direção</a:t>
                </a:r>
                <a:r>
                  <a:rPr lang="pt-BR" dirty="0"/>
                  <a:t> na qual, </a:t>
                </a:r>
                <a:r>
                  <a:rPr lang="pt-BR" b="1" i="1" dirty="0">
                    <a:solidFill>
                      <a:srgbClr val="0070C0"/>
                    </a:solidFill>
                  </a:rPr>
                  <a:t>por </a:t>
                </a:r>
                <a:r>
                  <a:rPr lang="pt-BR" b="1" i="1" dirty="0">
                    <a:solidFill>
                      <a:srgbClr val="00B050"/>
                    </a:solidFill>
                  </a:rPr>
                  <a:t>deslocamento</a:t>
                </a:r>
                <a:r>
                  <a:rPr lang="pt-BR" b="1" i="1" dirty="0">
                    <a:solidFill>
                      <a:srgbClr val="0070C0"/>
                    </a:solidFill>
                  </a:rPr>
                  <a:t> a partir de um </a:t>
                </a:r>
                <a:r>
                  <a:rPr lang="pt-BR" b="1" i="1" dirty="0">
                    <a:solidFill>
                      <a:srgbClr val="00B050"/>
                    </a:solidFill>
                  </a:rPr>
                  <a:t>ponto especifico</a:t>
                </a:r>
                <a:r>
                  <a:rPr lang="pt-BR" dirty="0"/>
                  <a:t>, obtém-se o </a:t>
                </a:r>
                <a:r>
                  <a:rPr lang="pt-BR" b="1" i="1" dirty="0">
                    <a:solidFill>
                      <a:srgbClr val="00B050"/>
                    </a:solidFill>
                  </a:rPr>
                  <a:t>maior incremento </a:t>
                </a:r>
                <a:r>
                  <a:rPr lang="pt-BR" b="1" i="1" dirty="0">
                    <a:solidFill>
                      <a:srgbClr val="0070C0"/>
                    </a:solidFill>
                  </a:rPr>
                  <a:t>possível no valor de uma função</a:t>
                </a:r>
                <a:r>
                  <a:rPr lang="pt-BR" dirty="0"/>
                  <a:t>, </a:t>
                </a:r>
                <a:r>
                  <a:rPr lang="pt-BR" b="0" i="0">
                    <a:latin typeface="Cambria Math" panose="02040503050406030204" pitchFamily="18" charset="0"/>
                  </a:rPr>
                  <a:t>𝑓(</a:t>
                </a:r>
                <a:r>
                  <a:rPr lang="pt-BR" b="1" i="0">
                    <a:latin typeface="Cambria Math" panose="02040503050406030204" pitchFamily="18" charset="0"/>
                  </a:rPr>
                  <a:t>𝒙</a:t>
                </a:r>
                <a:r>
                  <a:rPr lang="pt-BR" b="0" i="0">
                    <a:latin typeface="Cambria Math" panose="02040503050406030204" pitchFamily="18" charset="0"/>
                  </a:rPr>
                  <a:t>)</a:t>
                </a:r>
                <a:r>
                  <a:rPr lang="pt-BR"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Se, a cada novo ponto, calcularmos o vetor gradiente e adicionarmos uma fração dele ao ponto atual, teremos um novo ponto que leva a um valor da função maior do que o valor anterior.</a:t>
                </a:r>
                <a:endParaRPr lang="pt-BR" dirty="0"/>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10</a:t>
            </a:fld>
            <a:endParaRPr lang="nl-BE"/>
          </a:p>
        </p:txBody>
      </p:sp>
    </p:spTree>
    <p:extLst>
      <p:ext uri="{BB962C8B-B14F-4D97-AF65-F5344CB8AC3E}">
        <p14:creationId xmlns:p14="http://schemas.microsoft.com/office/powerpoint/2010/main" val="2144632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b="0" i="0" dirty="0">
                    <a:latin typeface="Cambria Math" panose="02040503050406030204" pitchFamily="18" charset="0"/>
                    <a:ea typeface="Cambria Math" panose="02040503050406030204" pitchFamily="18" charset="0"/>
                  </a:rPr>
                  <a:t>Vocês se lembram das aulas de cálculo, onde vocês aprenderam sobre o gradiente.</a:t>
                </a:r>
              </a:p>
              <a:p>
                <a:endParaRPr lang="pt-BR" b="0" i="0"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Na maioria das aplicações práticas de gradiente descendente, como treinamento des redes neurais, subtrair o gradiente total do valor anterior do vetor de pesos será um</a:t>
                </a:r>
                <a:r>
                  <a:rPr lang="pt-BR" baseline="0" dirty="0"/>
                  <a:t> passo </a:t>
                </a:r>
                <a:r>
                  <a:rPr lang="pt-BR" dirty="0"/>
                  <a:t>muito grande. É muito provável que ultrapassemos o ponto de mínimo.</a:t>
                </a:r>
                <a:endParaRPr lang="pt-BR" b="0" i="0" dirty="0">
                  <a:latin typeface="Cambria Math" panose="02040503050406030204" pitchFamily="18" charset="0"/>
                  <a:ea typeface="Cambria Math" panose="02040503050406030204" pitchFamily="18" charset="0"/>
                </a:endParaRPr>
              </a:p>
              <a:p>
                <a:endParaRPr lang="pt-BR" b="0" i="0" dirty="0">
                  <a:latin typeface="Cambria Math" panose="02040503050406030204" pitchFamily="18" charset="0"/>
                  <a:ea typeface="Cambria Math" panose="02040503050406030204" pitchFamily="18" charset="0"/>
                </a:endParaRPr>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"direção em</a:t>
                </a:r>
                <a:r>
                  <a:rPr lang="pt-BR" b="0" i="0" baseline="0" dirty="0"/>
                  <a:t> que uma função tem</a:t>
                </a:r>
                <a:r>
                  <a:rPr lang="pt-BR" b="0" i="0" dirty="0"/>
                  <a:t> taxa de aumento mais rápido".</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gradiente em um ponto é um vetor tangente ao ponto. Valores positivos indicam que o aumenta mais rápido esta à frente,</a:t>
                </a:r>
                <a:r>
                  <a:rPr lang="pt-BR" b="0" i="0" baseline="0" dirty="0"/>
                  <a:t> já valores negativos indicam que a taxa de aumento mais rápida está para 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 aquele argumento/parâmetro.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o vetor gradiente para encontrar o ponto de máximo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ascendente</a:t>
                </a:r>
                <a:r>
                  <a:rPr lang="pt-BR" dirty="0"/>
                  <a:t>.</a:t>
                </a: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t>Referências gradiente descendente e derivadas direcionais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[1] https://eli.thegreenplace.net/2016/understanding-gradient-descent</a:t>
                </a:r>
              </a:p>
              <a:p>
                <a:endParaRPr lang="nl-BE" b="0" i="0" dirty="0"/>
              </a:p>
              <a:p>
                <a:endParaRPr lang="pt-BR" b="0" i="0" dirty="0">
                  <a:latin typeface="Cambria Math" panose="02040503050406030204" pitchFamily="18" charset="0"/>
                  <a:ea typeface="Cambria Math" panose="02040503050406030204" pitchFamily="18" charset="0"/>
                </a:endParaRPr>
              </a:p>
              <a:p>
                <a:endParaRPr lang="pt-BR" b="0" i="0" dirty="0"/>
              </a:p>
              <a:p>
                <a:endParaRPr lang="nl-BE" b="0" i="0" dirty="0"/>
              </a:p>
              <a:p>
                <a:endParaRPr lang="pt-BR" dirty="0"/>
              </a:p>
            </p:txBody>
          </p:sp>
        </mc:Choice>
        <mc:Fallback xmlns="">
          <p:sp>
            <p:nvSpPr>
              <p:cNvPr id="3" name="Espaço Reservado para Anotações 2"/>
              <p:cNvSpPr>
                <a:spLocks noGrp="1"/>
              </p:cNvSpPr>
              <p:nvPr>
                <p:ph type="body" idx="1"/>
              </p:nvPr>
            </p:nvSpPr>
            <p:spPr/>
            <p:txBody>
              <a:bodyPr/>
              <a:lstStyle/>
              <a:p>
                <a:r>
                  <a:rPr lang="pt-BR" b="0" i="0" dirty="0">
                    <a:latin typeface="Cambria Math" panose="02040503050406030204" pitchFamily="18" charset="0"/>
                    <a:ea typeface="Cambria Math" panose="02040503050406030204" pitchFamily="18" charset="0"/>
                  </a:rPr>
                  <a:t>Vocês se lembram das aulas de cálculo, onde vocês aprenderam sobre o gradiente.</a:t>
                </a:r>
              </a:p>
              <a:p>
                <a:endParaRPr lang="pt-BR" b="0" i="0"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Na maioria das aplicações práticas de gradiente descendente, como treinamento des redes neurais, subtrair o gradiente total do valor anterior do vetor de pesos será um</a:t>
                </a:r>
                <a:r>
                  <a:rPr lang="pt-BR" baseline="0" dirty="0"/>
                  <a:t> passo </a:t>
                </a:r>
                <a:r>
                  <a:rPr lang="pt-BR" dirty="0"/>
                  <a:t>muito grande. É muito provável que ultrapassemos o ponto de mínimo.</a:t>
                </a:r>
                <a:endParaRPr lang="pt-BR" b="0" i="0" dirty="0">
                  <a:latin typeface="Cambria Math" panose="02040503050406030204" pitchFamily="18" charset="0"/>
                  <a:ea typeface="Cambria Math" panose="02040503050406030204" pitchFamily="18" charset="0"/>
                </a:endParaRPr>
              </a:p>
              <a:p>
                <a:endParaRPr lang="pt-BR" b="0" i="0" dirty="0">
                  <a:latin typeface="Cambria Math" panose="02040503050406030204" pitchFamily="18" charset="0"/>
                  <a:ea typeface="Cambria Math" panose="02040503050406030204" pitchFamily="18" charset="0"/>
                </a:endParaRPr>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"direção em</a:t>
                </a:r>
                <a:r>
                  <a:rPr lang="pt-BR" b="0" i="0" baseline="0" dirty="0"/>
                  <a:t> que uma função tem</a:t>
                </a:r>
                <a:r>
                  <a:rPr lang="pt-BR" b="0" i="0" dirty="0"/>
                  <a:t> taxa de aumento mais rápido".</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gradiente em um ponto é um vetor tangente ao ponto. Valores positivos indicam que o aumenta mais rápido esta à frente,</a:t>
                </a:r>
                <a:r>
                  <a:rPr lang="pt-BR" b="0" i="0" baseline="0" dirty="0"/>
                  <a:t> já valores negativos indicam que a taxa de aumento mais rápida está para 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 aquele argumento/parâmetro.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o vetor gradiente para encontrar o ponto de máximo de </a:t>
                </a:r>
                <a:r>
                  <a:rPr lang="pt-BR" i="0">
                    <a:latin typeface="Cambria Math" panose="02040503050406030204" pitchFamily="18" charset="0"/>
                  </a:rPr>
                  <a:t>𝑓(𝑥_0,𝑥_1,…,𝑥_𝐾 )</a:t>
                </a:r>
                <a:r>
                  <a:rPr lang="pt-BR" dirty="0"/>
                  <a:t> é conhecido como </a:t>
                </a:r>
                <a:r>
                  <a:rPr lang="pt-BR" b="1" i="1" dirty="0"/>
                  <a:t>gradiente ascendente</a:t>
                </a:r>
                <a:r>
                  <a:rPr lang="pt-BR" dirty="0"/>
                  <a:t>.</a:t>
                </a: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t>Referências gradiente descendente e derivadas direcionais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[1] https://eli.thegreenplace.net/2016/understanding-gradient-descent</a:t>
                </a:r>
              </a:p>
              <a:p>
                <a:endParaRPr lang="nl-BE" b="0" i="0" dirty="0"/>
              </a:p>
              <a:p>
                <a:endParaRPr lang="pt-BR" b="0" i="0" dirty="0">
                  <a:latin typeface="Cambria Math" panose="02040503050406030204" pitchFamily="18" charset="0"/>
                  <a:ea typeface="Cambria Math" panose="02040503050406030204" pitchFamily="18" charset="0"/>
                </a:endParaRPr>
              </a:p>
              <a:p>
                <a:endParaRPr lang="pt-BR" b="0" i="0" dirty="0"/>
              </a:p>
              <a:p>
                <a:endParaRPr lang="nl-BE" b="0" i="0"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11</a:t>
            </a:fld>
            <a:endParaRPr lang="nl-BE"/>
          </a:p>
        </p:txBody>
      </p:sp>
    </p:spTree>
    <p:extLst>
      <p:ext uri="{BB962C8B-B14F-4D97-AF65-F5344CB8AC3E}">
        <p14:creationId xmlns:p14="http://schemas.microsoft.com/office/powerpoint/2010/main" val="4062200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b="0" i="0" dirty="0">
                    <a:latin typeface="Cambria Math" panose="02040503050406030204" pitchFamily="18" charset="0"/>
                    <a:ea typeface="Cambria Math" panose="02040503050406030204" pitchFamily="18" charset="0"/>
                  </a:rPr>
                  <a:t>Vocês se lembram das aulas de cálculo, onde vocês aprenderam sobre o gradiente.</a:t>
                </a:r>
              </a:p>
              <a:p>
                <a:endParaRPr lang="pt-BR" b="0" i="0"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Na maioria das aplicações práticas de gradiente descendente, como treinamento des redes neurais, subtrair o gradiente total do valor anterior do vetor de pesos será um</a:t>
                </a:r>
                <a:r>
                  <a:rPr lang="pt-BR" baseline="0" dirty="0"/>
                  <a:t> passo </a:t>
                </a:r>
                <a:r>
                  <a:rPr lang="pt-BR" dirty="0"/>
                  <a:t>muito grande. É muito provável que ultrapassemos o ponto de mínimo.</a:t>
                </a:r>
                <a:endParaRPr lang="pt-BR" b="0" i="0" dirty="0">
                  <a:latin typeface="Cambria Math" panose="02040503050406030204" pitchFamily="18" charset="0"/>
                  <a:ea typeface="Cambria Math" panose="02040503050406030204" pitchFamily="18" charset="0"/>
                </a:endParaRPr>
              </a:p>
              <a:p>
                <a:endParaRPr lang="pt-BR" b="0" i="0" dirty="0">
                  <a:latin typeface="Cambria Math" panose="02040503050406030204" pitchFamily="18" charset="0"/>
                  <a:ea typeface="Cambria Math" panose="02040503050406030204" pitchFamily="18" charset="0"/>
                </a:endParaRPr>
              </a:p>
              <a:p>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=&gt; Nabla f</a:t>
                </a:r>
                <a:endParaRPr lang="nl-BE" b="0" i="0" dirty="0"/>
              </a:p>
              <a:p>
                <a:endParaRPr lang="pt-BR" b="0" i="0" dirty="0"/>
              </a:p>
              <a:p>
                <a:r>
                  <a:rPr lang="pt-BR" b="0" i="0" dirty="0"/>
                  <a:t>O gradiente pode ser interpretado como a "direção em</a:t>
                </a:r>
                <a:r>
                  <a:rPr lang="pt-BR" b="0" i="0" baseline="0" dirty="0"/>
                  <a:t> que uma função tem</a:t>
                </a:r>
                <a:r>
                  <a:rPr lang="pt-BR" b="0" i="0" dirty="0"/>
                  <a:t> taxa de aumento mais rápido".</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gradiente em um ponto é um vetor tangente ao ponto. Valores positivos indicam que o aumenta mais rápido esta à frente,</a:t>
                </a:r>
                <a:r>
                  <a:rPr lang="pt-BR" b="0" i="0" baseline="0" dirty="0"/>
                  <a:t> já valores negativos indicam que a taxa de aumento mais rápida está para 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pt-BR" b="0" i="0" smtClean="0">
                        <a:latin typeface="Cambria Math" panose="02040503050406030204" pitchFamily="18" charset="0"/>
                        <a:ea typeface="Cambria Math" panose="02040503050406030204" pitchFamily="18" charset="0"/>
                      </a:rPr>
                      <m:t>f</m:t>
                    </m:r>
                  </m:oMath>
                </a14:m>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 aquele argumento/parâmetro.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o vetor gradiente para encontrar o ponto de máximo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ascendente</a:t>
                </a:r>
                <a:r>
                  <a:rPr lang="pt-BR" dirty="0"/>
                  <a:t>.</a:t>
                </a: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t>Referências gradiente descendente e derivadas direcionais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[1] https://eli.thegreenplace.net/2016/understanding-gradient-descent</a:t>
                </a:r>
              </a:p>
              <a:p>
                <a:endParaRPr lang="nl-BE" b="0" i="0" dirty="0"/>
              </a:p>
              <a:p>
                <a:endParaRPr lang="pt-BR" b="0" i="0" dirty="0">
                  <a:latin typeface="Cambria Math" panose="02040503050406030204" pitchFamily="18" charset="0"/>
                  <a:ea typeface="Cambria Math" panose="02040503050406030204" pitchFamily="18" charset="0"/>
                </a:endParaRPr>
              </a:p>
              <a:p>
                <a:endParaRPr lang="pt-BR" b="0" i="0" dirty="0"/>
              </a:p>
              <a:p>
                <a:endParaRPr lang="nl-BE" b="0" i="0" dirty="0"/>
              </a:p>
              <a:p>
                <a:endParaRPr lang="pt-BR" dirty="0"/>
              </a:p>
            </p:txBody>
          </p:sp>
        </mc:Choice>
        <mc:Fallback xmlns="">
          <p:sp>
            <p:nvSpPr>
              <p:cNvPr id="3" name="Espaço Reservado para Anotações 2"/>
              <p:cNvSpPr>
                <a:spLocks noGrp="1"/>
              </p:cNvSpPr>
              <p:nvPr>
                <p:ph type="body" idx="1"/>
              </p:nvPr>
            </p:nvSpPr>
            <p:spPr/>
            <p:txBody>
              <a:bodyPr/>
              <a:lstStyle/>
              <a:p>
                <a:r>
                  <a:rPr lang="pt-BR" b="0" i="0" dirty="0">
                    <a:latin typeface="Cambria Math" panose="02040503050406030204" pitchFamily="18" charset="0"/>
                    <a:ea typeface="Cambria Math" panose="02040503050406030204" pitchFamily="18" charset="0"/>
                  </a:rPr>
                  <a:t>Vocês se lembram das aulas de cálculo, onde vocês aprenderam sobre o gradiente.</a:t>
                </a:r>
              </a:p>
              <a:p>
                <a:endParaRPr lang="pt-BR" b="0" i="0"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Na maioria das aplicações práticas de gradiente descendente, como treinamento des redes neurais, subtrair o gradiente total do valor anterior do vetor de pesos será um</a:t>
                </a:r>
                <a:r>
                  <a:rPr lang="pt-BR" baseline="0" dirty="0"/>
                  <a:t> passo </a:t>
                </a:r>
                <a:r>
                  <a:rPr lang="pt-BR" dirty="0"/>
                  <a:t>muito grande. É muito provável que ultrapassemos o ponto de mínimo.</a:t>
                </a:r>
                <a:endParaRPr lang="pt-BR" b="0" i="0" dirty="0">
                  <a:latin typeface="Cambria Math" panose="02040503050406030204" pitchFamily="18" charset="0"/>
                  <a:ea typeface="Cambria Math" panose="02040503050406030204" pitchFamily="18" charset="0"/>
                </a:endParaRPr>
              </a:p>
              <a:p>
                <a:endParaRPr lang="pt-BR" b="0" i="0" dirty="0">
                  <a:latin typeface="Cambria Math" panose="02040503050406030204" pitchFamily="18" charset="0"/>
                  <a:ea typeface="Cambria Math" panose="02040503050406030204" pitchFamily="18" charset="0"/>
                </a:endParaRPr>
              </a:p>
              <a:p>
                <a:r>
                  <a:rPr lang="pt-BR" b="0" i="0">
                    <a:latin typeface="Cambria Math" panose="02040503050406030204" pitchFamily="18" charset="0"/>
                    <a:ea typeface="Cambria Math" panose="02040503050406030204" pitchFamily="18" charset="0"/>
                  </a:rPr>
                  <a:t>𝛻f</a:t>
                </a:r>
                <a:r>
                  <a:rPr lang="pt-BR" b="0" i="0" dirty="0"/>
                  <a:t> =&gt; Nabla f</a:t>
                </a:r>
                <a:endParaRPr lang="nl-BE" b="0" i="0" dirty="0"/>
              </a:p>
              <a:p>
                <a:endParaRPr lang="pt-BR" b="0" i="0" dirty="0"/>
              </a:p>
              <a:p>
                <a:r>
                  <a:rPr lang="pt-BR" b="0" i="0" dirty="0"/>
                  <a:t>O gradiente pode ser interpretado como a "direção em</a:t>
                </a:r>
                <a:r>
                  <a:rPr lang="pt-BR" b="0" i="0" baseline="0" dirty="0"/>
                  <a:t> que uma função tem</a:t>
                </a:r>
                <a:r>
                  <a:rPr lang="pt-BR" b="0" i="0" dirty="0"/>
                  <a:t> taxa de aumento mais rápido".</a:t>
                </a:r>
              </a:p>
              <a:p>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O valor do gradiente em um ponto é um vetor tangente ao ponto. Valores positivos indicam que o aumenta mais rápido esta à frente,</a:t>
                </a:r>
                <a:r>
                  <a:rPr lang="pt-BR" b="0" i="0" baseline="0" dirty="0"/>
                  <a:t> já valores negativos indicam que a taxa de aumento mais rápida está para trás. O valor zero indica que estamos sobre o máximo.</a:t>
                </a: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Imagine você parado no ponto x de uma função,</a:t>
                </a:r>
                <a:r>
                  <a:rPr lang="pt-BR" b="0" i="0" baseline="0" dirty="0"/>
                  <a:t> f</a:t>
                </a:r>
                <a:r>
                  <a:rPr lang="pt-BR" b="0" i="0" dirty="0"/>
                  <a:t>, o vetor </a:t>
                </a:r>
                <a:r>
                  <a:rPr lang="pt-BR" b="0" i="0">
                    <a:latin typeface="Cambria Math" panose="02040503050406030204" pitchFamily="18" charset="0"/>
                    <a:ea typeface="Cambria Math" panose="02040503050406030204" pitchFamily="18" charset="0"/>
                  </a:rPr>
                  <a:t>𝛻f</a:t>
                </a:r>
                <a:r>
                  <a:rPr lang="pt-BR" b="0" i="0" dirty="0"/>
                  <a:t> diz em qual direção você deve caminhar para aumentar o valor da</a:t>
                </a:r>
                <a:r>
                  <a:rPr lang="pt-BR" b="0" i="0" baseline="0" dirty="0"/>
                  <a:t> função f</a:t>
                </a:r>
                <a:r>
                  <a:rPr lang="pt-BR" b="0" i="0" dirty="0"/>
                  <a:t> mais rapidamente.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Se você seguir</a:t>
                </a:r>
                <a:r>
                  <a:rPr lang="pt-BR" b="0" i="0" baseline="0" dirty="0"/>
                  <a:t> na direção do gradiente, você chegará ao máximo da função.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baseline="0" dirty="0"/>
                  <a:t>Note que cada elemento do vetor gradiente aponta para a direção de máxima variação em relação à aquele argumento/parâmetro.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o vetor gradiente para encontrar o ponto de máximo de </a:t>
                </a:r>
                <a:r>
                  <a:rPr lang="pt-BR" i="0">
                    <a:latin typeface="Cambria Math" panose="02040503050406030204" pitchFamily="18" charset="0"/>
                  </a:rPr>
                  <a:t>𝑓(𝑥_0,𝑥_1,…,𝑥_𝐾 )</a:t>
                </a:r>
                <a:r>
                  <a:rPr lang="pt-BR" dirty="0"/>
                  <a:t> é conhecido como </a:t>
                </a:r>
                <a:r>
                  <a:rPr lang="pt-BR" b="1" i="1" dirty="0"/>
                  <a:t>gradiente ascendente</a:t>
                </a:r>
                <a:r>
                  <a:rPr lang="pt-BR" dirty="0"/>
                  <a:t>.</a:t>
                </a: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dirty="0"/>
                  <a:t>Referências gradiente descendente e derivadas direcionais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b="0" i="0" dirty="0"/>
                  <a:t>[1] https://eli.thegreenplace.net/2016/understanding-gradient-descent</a:t>
                </a:r>
              </a:p>
              <a:p>
                <a:endParaRPr lang="nl-BE" b="0" i="0" dirty="0"/>
              </a:p>
              <a:p>
                <a:endParaRPr lang="pt-BR" b="0" i="0" dirty="0">
                  <a:latin typeface="Cambria Math" panose="02040503050406030204" pitchFamily="18" charset="0"/>
                  <a:ea typeface="Cambria Math" panose="02040503050406030204" pitchFamily="18" charset="0"/>
                </a:endParaRPr>
              </a:p>
              <a:p>
                <a:endParaRPr lang="pt-BR" b="0" i="0" dirty="0"/>
              </a:p>
              <a:p>
                <a:endParaRPr lang="nl-BE" b="0" i="0"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12</a:t>
            </a:fld>
            <a:endParaRPr lang="nl-BE"/>
          </a:p>
        </p:txBody>
      </p:sp>
    </p:spTree>
    <p:extLst>
      <p:ext uri="{BB962C8B-B14F-4D97-AF65-F5344CB8AC3E}">
        <p14:creationId xmlns:p14="http://schemas.microsoft.com/office/powerpoint/2010/main" val="817403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descendente</a:t>
                </a:r>
                <a:r>
                  <a:rPr lang="pt-BR" dirty="0"/>
                  <a:t>.</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r>
                  <a:rPr lang="pt-BR" i="0">
                    <a:latin typeface="Cambria Math" panose="02040503050406030204" pitchFamily="18" charset="0"/>
                  </a:rPr>
                  <a:t>𝑓(𝑥_0,𝑥_1,…,𝑥_𝐾 )</a:t>
                </a:r>
                <a:r>
                  <a:rPr lang="pt-BR" dirty="0"/>
                  <a:t> é conhecido como </a:t>
                </a:r>
                <a:r>
                  <a:rPr lang="pt-BR" b="1" i="1" dirty="0"/>
                  <a:t>gradiente descendente</a:t>
                </a:r>
                <a:r>
                  <a:rPr lang="pt-BR" dirty="0"/>
                  <a:t>.</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15</a:t>
            </a:fld>
            <a:endParaRPr lang="nl-BE"/>
          </a:p>
        </p:txBody>
      </p:sp>
    </p:spTree>
    <p:extLst>
      <p:ext uri="{BB962C8B-B14F-4D97-AF65-F5344CB8AC3E}">
        <p14:creationId xmlns:p14="http://schemas.microsoft.com/office/powerpoint/2010/main" val="1614115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descendente</a:t>
                </a:r>
                <a:r>
                  <a:rPr lang="pt-BR" dirty="0"/>
                  <a:t>.</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r>
                  <a:rPr lang="pt-BR" i="0">
                    <a:latin typeface="Cambria Math" panose="02040503050406030204" pitchFamily="18" charset="0"/>
                  </a:rPr>
                  <a:t>𝑓(𝑥_0,𝑥_1,…,𝑥_𝐾 )</a:t>
                </a:r>
                <a:r>
                  <a:rPr lang="pt-BR" dirty="0"/>
                  <a:t> é conhecido como </a:t>
                </a:r>
                <a:r>
                  <a:rPr lang="pt-BR" b="1" i="1" dirty="0"/>
                  <a:t>gradiente descendente</a:t>
                </a:r>
                <a:r>
                  <a:rPr lang="pt-BR" dirty="0"/>
                  <a:t>.</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16</a:t>
            </a:fld>
            <a:endParaRPr lang="nl-BE"/>
          </a:p>
        </p:txBody>
      </p:sp>
    </p:spTree>
    <p:extLst>
      <p:ext uri="{BB962C8B-B14F-4D97-AF65-F5344CB8AC3E}">
        <p14:creationId xmlns:p14="http://schemas.microsoft.com/office/powerpoint/2010/main" val="3528918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descendente</a:t>
                </a:r>
                <a:r>
                  <a:rPr lang="pt-BR" dirty="0"/>
                  <a:t>.</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r>
                  <a:rPr lang="pt-BR" i="0">
                    <a:latin typeface="Cambria Math" panose="02040503050406030204" pitchFamily="18" charset="0"/>
                  </a:rPr>
                  <a:t>𝑓(𝑥_0,𝑥_1,…,𝑥_𝐾 )</a:t>
                </a:r>
                <a:r>
                  <a:rPr lang="pt-BR" dirty="0"/>
                  <a:t> é conhecido como </a:t>
                </a:r>
                <a:r>
                  <a:rPr lang="pt-BR" b="1" i="1" dirty="0"/>
                  <a:t>gradiente descendente</a:t>
                </a:r>
                <a:r>
                  <a:rPr lang="pt-BR" dirty="0"/>
                  <a:t>.</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17</a:t>
            </a:fld>
            <a:endParaRPr lang="nl-BE"/>
          </a:p>
        </p:txBody>
      </p:sp>
    </p:spTree>
    <p:extLst>
      <p:ext uri="{BB962C8B-B14F-4D97-AF65-F5344CB8AC3E}">
        <p14:creationId xmlns:p14="http://schemas.microsoft.com/office/powerpoint/2010/main" val="149431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conhecido como </a:t>
                </a:r>
                <a:r>
                  <a:rPr lang="pt-BR" b="1" i="1" dirty="0"/>
                  <a:t>gradiente descendente</a:t>
                </a:r>
                <a:r>
                  <a:rPr lang="pt-BR" dirty="0"/>
                  <a:t>.</a:t>
                </a:r>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 algoritmo de otimização </a:t>
                </a:r>
                <a:r>
                  <a:rPr lang="pt-BR" b="1" i="1" dirty="0"/>
                  <a:t>iterativo</a:t>
                </a:r>
                <a:r>
                  <a:rPr lang="pt-BR" dirty="0"/>
                  <a:t> que use a</a:t>
                </a:r>
                <a:r>
                  <a:rPr lang="pt-BR" baseline="0" dirty="0"/>
                  <a:t> direção contrária do</a:t>
                </a:r>
                <a:r>
                  <a:rPr lang="pt-BR" dirty="0"/>
                  <a:t> vetor gradiente para encontrar o ponto de mínimo de </a:t>
                </a:r>
                <a:r>
                  <a:rPr lang="pt-BR" i="0">
                    <a:latin typeface="Cambria Math" panose="02040503050406030204" pitchFamily="18" charset="0"/>
                  </a:rPr>
                  <a:t>𝑓(𝑥_0,𝑥_1,…,𝑥_𝐾 )</a:t>
                </a:r>
                <a:r>
                  <a:rPr lang="pt-BR" dirty="0"/>
                  <a:t> é conhecido como </a:t>
                </a:r>
                <a:r>
                  <a:rPr lang="pt-BR" b="1" i="1" dirty="0"/>
                  <a:t>gradiente descendente</a:t>
                </a:r>
                <a:r>
                  <a:rPr lang="pt-BR" dirty="0"/>
                  <a:t>.</a:t>
                </a:r>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18</a:t>
            </a:fld>
            <a:endParaRPr lang="nl-BE"/>
          </a:p>
        </p:txBody>
      </p:sp>
    </p:spTree>
    <p:extLst>
      <p:ext uri="{BB962C8B-B14F-4D97-AF65-F5344CB8AC3E}">
        <p14:creationId xmlns:p14="http://schemas.microsoft.com/office/powerpoint/2010/main" val="14221028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O Gradiente Descendente (GD) é um algoritmo de otimização iterativo e genérico capaz de encontrar soluções ideais para uma ampla gama de problemas. </a:t>
            </a:r>
          </a:p>
          <a:p>
            <a:endParaRPr lang="pt-BR" dirty="0"/>
          </a:p>
          <a:p>
            <a:r>
              <a:rPr lang="pt-BR" dirty="0"/>
              <a:t>Métodos iterativos de otimização são usados toda a parte de Aprendizado de Máquina. </a:t>
            </a:r>
          </a:p>
          <a:p>
            <a:endParaRPr lang="pt-BR" dirty="0"/>
          </a:p>
          <a:p>
            <a:r>
              <a:rPr lang="pt-BR" dirty="0"/>
              <a:t>A ideia geral do GD</a:t>
            </a:r>
            <a:r>
              <a:rPr lang="pt-BR" baseline="0" dirty="0"/>
              <a:t> </a:t>
            </a:r>
            <a:r>
              <a:rPr lang="pt-BR" dirty="0"/>
              <a:t>é ajustar os parâmetros iterativamente, a fim de minimizar uma função de custo.</a:t>
            </a:r>
          </a:p>
          <a:p>
            <a:endParaRPr lang="pt-BR" dirty="0"/>
          </a:p>
          <a:p>
            <a:r>
              <a:rPr lang="pt-BR" dirty="0"/>
              <a:t>Para algoritmos que utilizam o Gradiente Descendente para otimizar os parâmetros do modelo, todas as funções devem ser diferenciáveis.</a:t>
            </a:r>
          </a:p>
          <a:p>
            <a:endParaRPr lang="pt-BR" dirty="0"/>
          </a:p>
          <a:p>
            <a:r>
              <a:rPr lang="pt-BR" dirty="0"/>
              <a:t>O Gradiente descendente é utilizado em vários problemas de aprendizado de máquina.</a:t>
            </a:r>
          </a:p>
          <a:p>
            <a:endParaRPr lang="en-US" dirty="0"/>
          </a:p>
          <a:p>
            <a:r>
              <a:rPr lang="en-US" dirty="0" err="1"/>
              <a:t>Não</a:t>
            </a:r>
            <a:r>
              <a:rPr lang="en-US" dirty="0"/>
              <a:t> </a:t>
            </a:r>
            <a:r>
              <a:rPr lang="en-US" dirty="0" err="1"/>
              <a:t>precisa</a:t>
            </a:r>
            <a:r>
              <a:rPr lang="en-US" baseline="0" dirty="0"/>
              <a:t> se </a:t>
            </a:r>
            <a:r>
              <a:rPr lang="en-US" baseline="0" dirty="0" err="1"/>
              <a:t>preocupar</a:t>
            </a:r>
            <a:r>
              <a:rPr lang="en-US" baseline="0" dirty="0"/>
              <a:t> com </a:t>
            </a:r>
            <a:r>
              <a:rPr lang="en-US" baseline="0" dirty="0" err="1"/>
              <a:t>matrizes</a:t>
            </a:r>
            <a:r>
              <a:rPr lang="en-US" baseline="0" dirty="0"/>
              <a:t> mal-</a:t>
            </a:r>
            <a:r>
              <a:rPr lang="en-US" baseline="0" dirty="0" err="1"/>
              <a:t>condicionadas</a:t>
            </a:r>
            <a:r>
              <a:rPr lang="en-US" baseline="0" dirty="0"/>
              <a:t>, </a:t>
            </a:r>
            <a:r>
              <a:rPr lang="en-US" baseline="0" dirty="0" err="1"/>
              <a:t>ou</a:t>
            </a:r>
            <a:r>
              <a:rPr lang="en-US" baseline="0" dirty="0"/>
              <a:t> </a:t>
            </a:r>
            <a:r>
              <a:rPr lang="en-US" baseline="0" dirty="0" err="1"/>
              <a:t>seja</a:t>
            </a:r>
            <a:r>
              <a:rPr lang="en-US" baseline="0" dirty="0"/>
              <a:t>, com </a:t>
            </a:r>
            <a:r>
              <a:rPr lang="en-US" baseline="0" dirty="0" err="1"/>
              <a:t>determinante</a:t>
            </a:r>
            <a:r>
              <a:rPr lang="en-US" baseline="0" dirty="0"/>
              <a:t> </a:t>
            </a:r>
            <a:r>
              <a:rPr lang="en-US" baseline="0" dirty="0" err="1"/>
              <a:t>próximo</a:t>
            </a:r>
            <a:r>
              <a:rPr lang="en-US" baseline="0" dirty="0"/>
              <a:t> de zero pois </a:t>
            </a:r>
            <a:r>
              <a:rPr lang="en-US" baseline="0" dirty="0" err="1"/>
              <a:t>não</a:t>
            </a:r>
            <a:r>
              <a:rPr lang="en-US" baseline="0" dirty="0"/>
              <a:t> </a:t>
            </a:r>
            <a:r>
              <a:rPr lang="en-US" baseline="0" dirty="0" err="1"/>
              <a:t>precisamos</a:t>
            </a:r>
            <a:r>
              <a:rPr lang="en-US" baseline="0" dirty="0"/>
              <a:t> inverter </a:t>
            </a:r>
            <a:r>
              <a:rPr lang="en-US" baseline="0" dirty="0" err="1"/>
              <a:t>matrizes</a:t>
            </a:r>
            <a:r>
              <a:rPr lang="en-US" baseline="0" dirty="0"/>
              <a:t>.</a:t>
            </a:r>
          </a:p>
          <a:p>
            <a:endParaRPr lang="en-US" baseline="0" dirty="0"/>
          </a:p>
          <a:p>
            <a:endParaRPr lang="nl-BE"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21</a:t>
            </a:fld>
            <a:endParaRPr lang="nl-BE"/>
          </a:p>
        </p:txBody>
      </p:sp>
    </p:spTree>
    <p:extLst>
      <p:ext uri="{BB962C8B-B14F-4D97-AF65-F5344CB8AC3E}">
        <p14:creationId xmlns:p14="http://schemas.microsoft.com/office/powerpoint/2010/main" val="3970800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noProof="0" dirty="0"/>
              <a:t>Inicializa as pesos</a:t>
            </a:r>
            <a:r>
              <a:rPr lang="pt-BR" baseline="0" noProof="0" dirty="0"/>
              <a:t>, a, em um ponto aleatório do espaço de pesos e, então, os atualiza na direção oposta a do gradiente até que algum critério de convergência seja atingido, indicando que o mínimo global ou um mínimo local da função de erro/custo foi encontrado.</a:t>
            </a:r>
            <a:endParaRPr lang="pt-BR" noProof="0" dirty="0"/>
          </a:p>
          <a:p>
            <a:endParaRPr lang="pt-BR" noProof="0" dirty="0"/>
          </a:p>
          <a:p>
            <a:r>
              <a:rPr lang="pt-BR" noProof="0" dirty="0"/>
              <a:t>Taxa de aprendizado</a:t>
            </a:r>
            <a:r>
              <a:rPr lang="pt-BR" baseline="0" noProof="0" dirty="0"/>
              <a:t>: tamanho dos passos/deslocamento dado na direção oposta ao gradiente.</a:t>
            </a:r>
          </a:p>
          <a:p>
            <a:endParaRPr lang="pt-BR"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b="0" i="0"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23</a:t>
            </a:fld>
            <a:endParaRPr lang="nl-BE"/>
          </a:p>
        </p:txBody>
      </p:sp>
    </p:spTree>
    <p:extLst>
      <p:ext uri="{BB962C8B-B14F-4D97-AF65-F5344CB8AC3E}">
        <p14:creationId xmlns:p14="http://schemas.microsoft.com/office/powerpoint/2010/main" val="512168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Propriedade distributiva</a:t>
            </a:r>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25</a:t>
            </a:fld>
            <a:endParaRPr lang="nl-BE"/>
          </a:p>
        </p:txBody>
      </p:sp>
    </p:spTree>
    <p:extLst>
      <p:ext uri="{BB962C8B-B14F-4D97-AF65-F5344CB8AC3E}">
        <p14:creationId xmlns:p14="http://schemas.microsoft.com/office/powerpoint/2010/main" val="1891354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As três versões do Gradiente Descendente são:</a:t>
            </a:r>
          </a:p>
          <a:p>
            <a:pPr algn="l">
              <a:buFont typeface="+mj-lt"/>
              <a:buAutoNum type="arabicPeriod"/>
            </a:pPr>
            <a:r>
              <a:rPr lang="pt-BR" b="0" i="0" dirty="0">
                <a:solidFill>
                  <a:srgbClr val="374151"/>
                </a:solidFill>
                <a:effectLst/>
                <a:latin typeface="Söhne"/>
              </a:rPr>
              <a:t>Gradiente Descendente de Lote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todos os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todos os exemplos do conjunto de treinamento.</a:t>
            </a:r>
          </a:p>
          <a:p>
            <a:pPr algn="l">
              <a:buFont typeface="Arial" panose="020B0604020202020204" pitchFamily="34" charset="0"/>
              <a:buChar char="•"/>
            </a:pPr>
            <a:r>
              <a:rPr lang="pt-BR" b="0" i="0" dirty="0">
                <a:solidFill>
                  <a:srgbClr val="374151"/>
                </a:solidFill>
                <a:effectLst/>
                <a:latin typeface="Söhne"/>
              </a:rPr>
              <a:t>Pode ser lento em conjuntos de treinamento muito grandes, pois requer o cálculo do gradiente para todo o conjunto a cada iteração.</a:t>
            </a:r>
          </a:p>
          <a:p>
            <a:pPr algn="l">
              <a:buFont typeface="+mj-lt"/>
              <a:buAutoNum type="arabicPeriod" startAt="2"/>
            </a:pPr>
            <a:r>
              <a:rPr lang="pt-BR" b="0" i="0" dirty="0">
                <a:solidFill>
                  <a:srgbClr val="374151"/>
                </a:solidFill>
                <a:effectLst/>
                <a:latin typeface="Söhne"/>
              </a:rPr>
              <a:t>Gradiente Descendente Estocástico (</a:t>
            </a:r>
            <a:r>
              <a:rPr lang="pt-BR" b="0" i="0" dirty="0" err="1">
                <a:solidFill>
                  <a:srgbClr val="374151"/>
                </a:solidFill>
                <a:effectLst/>
                <a:latin typeface="Söhne"/>
              </a:rPr>
              <a:t>Stochastic</a:t>
            </a:r>
            <a:r>
              <a:rPr lang="pt-BR" b="0" i="0" dirty="0">
                <a:solidFill>
                  <a:srgbClr val="374151"/>
                </a:solidFill>
                <a:effectLst/>
                <a:latin typeface="Söhne"/>
              </a:rPr>
              <a:t>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 SGD):</a:t>
            </a:r>
          </a:p>
          <a:p>
            <a:pPr algn="l">
              <a:buFont typeface="Arial" panose="020B0604020202020204" pitchFamily="34" charset="0"/>
              <a:buChar char="•"/>
            </a:pPr>
            <a:r>
              <a:rPr lang="pt-BR" b="0" i="0" dirty="0">
                <a:solidFill>
                  <a:srgbClr val="374151"/>
                </a:solidFill>
                <a:effectLst/>
                <a:latin typeface="Söhne"/>
              </a:rPr>
              <a:t>Calcula o gradiente da função de erro para um único exemplo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cada exemplo processado.</a:t>
            </a:r>
          </a:p>
          <a:p>
            <a:pPr algn="l">
              <a:buFont typeface="Arial" panose="020B0604020202020204" pitchFamily="34" charset="0"/>
              <a:buChar char="•"/>
            </a:pPr>
            <a:r>
              <a:rPr lang="pt-BR" b="0" i="0" dirty="0">
                <a:solidFill>
                  <a:srgbClr val="374151"/>
                </a:solidFill>
                <a:effectLst/>
                <a:latin typeface="Söhne"/>
              </a:rPr>
              <a:t>Mais rápido que o Gradiente Descendente de Lote, mas a variação na atualização pode tornar a convergência mais irregular.</a:t>
            </a:r>
          </a:p>
          <a:p>
            <a:pPr algn="l">
              <a:buFont typeface="+mj-lt"/>
              <a:buAutoNum type="arabicPeriod" startAt="3"/>
            </a:pPr>
            <a:r>
              <a:rPr lang="pt-BR" b="0" i="0" dirty="0">
                <a:solidFill>
                  <a:srgbClr val="374151"/>
                </a:solidFill>
                <a:effectLst/>
                <a:latin typeface="Söhne"/>
              </a:rPr>
              <a:t>Gradiente Descendente em Mini-Lotes (Mini-batch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um pequeno grupo (</a:t>
            </a:r>
            <a:r>
              <a:rPr lang="pt-BR" b="0" i="0" dirty="0" err="1">
                <a:solidFill>
                  <a:srgbClr val="374151"/>
                </a:solidFill>
                <a:effectLst/>
                <a:latin typeface="Söhne"/>
              </a:rPr>
              <a:t>mini-lote</a:t>
            </a:r>
            <a:r>
              <a:rPr lang="pt-BR" b="0" i="0" dirty="0">
                <a:solidFill>
                  <a:srgbClr val="374151"/>
                </a:solidFill>
                <a:effectLst/>
                <a:latin typeface="Söhne"/>
              </a:rPr>
              <a:t>) de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cada </a:t>
            </a:r>
            <a:r>
              <a:rPr lang="pt-BR" b="0" i="0" dirty="0" err="1">
                <a:solidFill>
                  <a:srgbClr val="374151"/>
                </a:solidFill>
                <a:effectLst/>
                <a:latin typeface="Söhne"/>
              </a:rPr>
              <a:t>mini-lote</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Combina as vantagens do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e do SGD, sendo mais rápido que o Batch e mais estável que o SGD.</a:t>
            </a:r>
          </a:p>
          <a:p>
            <a:pPr algn="l"/>
            <a:r>
              <a:rPr lang="pt-BR" b="0" i="0" dirty="0">
                <a:solidFill>
                  <a:srgbClr val="374151"/>
                </a:solidFill>
                <a:effectLst/>
                <a:latin typeface="Söhne"/>
              </a:rPr>
              <a:t>Em todas as versões, o objetivo é ajustar os parâmetros do modelo de forma a minimizar a função de erro, levando a melhores previsões e desempenho do modelo. A escolha da versão mais adequada depende do tamanho do conjunto de treinamento, das características do problema e dos recursos computacionais disponíveis. Cada versão do Gradiente Descendente tem suas vantagens e desvantagens, e a seleção adequada pode impactar no tempo de treinamento e na eficácia do modelo.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1417627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As três versões do Gradiente Descendente são:</a:t>
            </a:r>
          </a:p>
          <a:p>
            <a:pPr algn="l">
              <a:buFont typeface="+mj-lt"/>
              <a:buAutoNum type="arabicPeriod"/>
            </a:pPr>
            <a:r>
              <a:rPr lang="pt-BR" b="0" i="0" dirty="0">
                <a:solidFill>
                  <a:srgbClr val="374151"/>
                </a:solidFill>
                <a:effectLst/>
                <a:latin typeface="Söhne"/>
              </a:rPr>
              <a:t>Gradiente Descendente de Lote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todos os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todos os exemplos do conjunto de treinamento.</a:t>
            </a:r>
          </a:p>
          <a:p>
            <a:pPr algn="l">
              <a:buFont typeface="Arial" panose="020B0604020202020204" pitchFamily="34" charset="0"/>
              <a:buChar char="•"/>
            </a:pPr>
            <a:r>
              <a:rPr lang="pt-BR" b="0" i="0" dirty="0">
                <a:solidFill>
                  <a:srgbClr val="374151"/>
                </a:solidFill>
                <a:effectLst/>
                <a:latin typeface="Söhne"/>
              </a:rPr>
              <a:t>Pode ser lento em conjuntos de treinamento muito grandes, pois requer o cálculo do gradiente para todo o conjunto a cada iteração.</a:t>
            </a:r>
          </a:p>
          <a:p>
            <a:pPr algn="l">
              <a:buFont typeface="+mj-lt"/>
              <a:buAutoNum type="arabicPeriod" startAt="2"/>
            </a:pPr>
            <a:r>
              <a:rPr lang="pt-BR" b="0" i="0" dirty="0">
                <a:solidFill>
                  <a:srgbClr val="374151"/>
                </a:solidFill>
                <a:effectLst/>
                <a:latin typeface="Söhne"/>
              </a:rPr>
              <a:t>Gradiente Descendente Estocástico (</a:t>
            </a:r>
            <a:r>
              <a:rPr lang="pt-BR" b="0" i="0" dirty="0" err="1">
                <a:solidFill>
                  <a:srgbClr val="374151"/>
                </a:solidFill>
                <a:effectLst/>
                <a:latin typeface="Söhne"/>
              </a:rPr>
              <a:t>Stochastic</a:t>
            </a:r>
            <a:r>
              <a:rPr lang="pt-BR" b="0" i="0" dirty="0">
                <a:solidFill>
                  <a:srgbClr val="374151"/>
                </a:solidFill>
                <a:effectLst/>
                <a:latin typeface="Söhne"/>
              </a:rPr>
              <a:t>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 SGD):</a:t>
            </a:r>
          </a:p>
          <a:p>
            <a:pPr algn="l">
              <a:buFont typeface="Arial" panose="020B0604020202020204" pitchFamily="34" charset="0"/>
              <a:buChar char="•"/>
            </a:pPr>
            <a:r>
              <a:rPr lang="pt-BR" b="0" i="0" dirty="0">
                <a:solidFill>
                  <a:srgbClr val="374151"/>
                </a:solidFill>
                <a:effectLst/>
                <a:latin typeface="Söhne"/>
              </a:rPr>
              <a:t>Calcula o gradiente da função de erro para um único exemplo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cada exemplo processado.</a:t>
            </a:r>
          </a:p>
          <a:p>
            <a:pPr algn="l">
              <a:buFont typeface="Arial" panose="020B0604020202020204" pitchFamily="34" charset="0"/>
              <a:buChar char="•"/>
            </a:pPr>
            <a:r>
              <a:rPr lang="pt-BR" b="0" i="0" dirty="0">
                <a:solidFill>
                  <a:srgbClr val="374151"/>
                </a:solidFill>
                <a:effectLst/>
                <a:latin typeface="Söhne"/>
              </a:rPr>
              <a:t>Mais rápido que o Gradiente Descendente de Lote, mas a variação na atualização pode tornar a convergência mais irregular.</a:t>
            </a:r>
          </a:p>
          <a:p>
            <a:pPr algn="l">
              <a:buFont typeface="+mj-lt"/>
              <a:buAutoNum type="arabicPeriod" startAt="3"/>
            </a:pPr>
            <a:r>
              <a:rPr lang="pt-BR" b="0" i="0" dirty="0">
                <a:solidFill>
                  <a:srgbClr val="374151"/>
                </a:solidFill>
                <a:effectLst/>
                <a:latin typeface="Söhne"/>
              </a:rPr>
              <a:t>Gradiente Descendente em Mini-Lotes (Mini-batch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Calcula o gradiente da função de erro para um pequeno grupo (</a:t>
            </a:r>
            <a:r>
              <a:rPr lang="pt-BR" b="0" i="0" dirty="0" err="1">
                <a:solidFill>
                  <a:srgbClr val="374151"/>
                </a:solidFill>
                <a:effectLst/>
                <a:latin typeface="Söhne"/>
              </a:rPr>
              <a:t>mini-lote</a:t>
            </a:r>
            <a:r>
              <a:rPr lang="pt-BR" b="0" i="0" dirty="0">
                <a:solidFill>
                  <a:srgbClr val="374151"/>
                </a:solidFill>
                <a:effectLst/>
                <a:latin typeface="Söhne"/>
              </a:rPr>
              <a:t>) de exemplos do conjunto de treinamento.</a:t>
            </a:r>
          </a:p>
          <a:p>
            <a:pPr algn="l">
              <a:buFont typeface="Arial" panose="020B0604020202020204" pitchFamily="34" charset="0"/>
              <a:buChar char="•"/>
            </a:pPr>
            <a:r>
              <a:rPr lang="pt-BR" b="0" i="0" dirty="0">
                <a:solidFill>
                  <a:srgbClr val="374151"/>
                </a:solidFill>
                <a:effectLst/>
                <a:latin typeface="Söhne"/>
              </a:rPr>
              <a:t>Atualiza os parâmetros do modelo após processar cada </a:t>
            </a:r>
            <a:r>
              <a:rPr lang="pt-BR" b="0" i="0" dirty="0" err="1">
                <a:solidFill>
                  <a:srgbClr val="374151"/>
                </a:solidFill>
                <a:effectLst/>
                <a:latin typeface="Söhne"/>
              </a:rPr>
              <a:t>mini-lote</a:t>
            </a:r>
            <a:r>
              <a:rPr lang="pt-BR" b="0" i="0" dirty="0">
                <a:solidFill>
                  <a:srgbClr val="374151"/>
                </a:solidFill>
                <a:effectLst/>
                <a:latin typeface="Söhne"/>
              </a:rPr>
              <a:t>.</a:t>
            </a:r>
          </a:p>
          <a:p>
            <a:pPr algn="l">
              <a:buFont typeface="Arial" panose="020B0604020202020204" pitchFamily="34" charset="0"/>
              <a:buChar char="•"/>
            </a:pPr>
            <a:r>
              <a:rPr lang="pt-BR" b="0" i="0" dirty="0">
                <a:solidFill>
                  <a:srgbClr val="374151"/>
                </a:solidFill>
                <a:effectLst/>
                <a:latin typeface="Söhne"/>
              </a:rPr>
              <a:t>Combina as vantagens do Batch </a:t>
            </a:r>
            <a:r>
              <a:rPr lang="pt-BR" b="0" i="0" dirty="0" err="1">
                <a:solidFill>
                  <a:srgbClr val="374151"/>
                </a:solidFill>
                <a:effectLst/>
                <a:latin typeface="Söhne"/>
              </a:rPr>
              <a:t>Gradient</a:t>
            </a:r>
            <a:r>
              <a:rPr lang="pt-BR" b="0" i="0" dirty="0">
                <a:solidFill>
                  <a:srgbClr val="374151"/>
                </a:solidFill>
                <a:effectLst/>
                <a:latin typeface="Söhne"/>
              </a:rPr>
              <a:t> </a:t>
            </a:r>
            <a:r>
              <a:rPr lang="pt-BR" b="0" i="0" dirty="0" err="1">
                <a:solidFill>
                  <a:srgbClr val="374151"/>
                </a:solidFill>
                <a:effectLst/>
                <a:latin typeface="Söhne"/>
              </a:rPr>
              <a:t>Descent</a:t>
            </a:r>
            <a:r>
              <a:rPr lang="pt-BR" b="0" i="0" dirty="0">
                <a:solidFill>
                  <a:srgbClr val="374151"/>
                </a:solidFill>
                <a:effectLst/>
                <a:latin typeface="Söhne"/>
              </a:rPr>
              <a:t> e do SGD, sendo mais rápido que o Batch e mais estável que o SGD.</a:t>
            </a:r>
          </a:p>
          <a:p>
            <a:pPr algn="l"/>
            <a:r>
              <a:rPr lang="pt-BR" b="0" i="0" dirty="0">
                <a:solidFill>
                  <a:srgbClr val="374151"/>
                </a:solidFill>
                <a:effectLst/>
                <a:latin typeface="Söhne"/>
              </a:rPr>
              <a:t>Em todas as versões, o objetivo é ajustar os parâmetros do modelo de forma a minimizar a função de erro, levando a melhores previsões e desempenho do modelo. A escolha da versão mais adequada depende do tamanho do conjunto de treinamento, das características do problema e dos recursos computacionais disponíveis. Cada versão do Gradiente Descendente tem suas vantagens e desvantagens, e a seleção adequada pode impactar no tempo de treinamento e na eficácia do modelo.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2812687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t>https://colab.research.google.com/github/zz4fap/t319_aprendizado_de_maquina/blob/main/notebooks/regression/gd_versions/exemplo_gradiente_descendente_em_batelada.ipynb</a:t>
            </a:r>
          </a:p>
          <a:p>
            <a:endParaRPr lang="pt-BR" b="0" i="0" dirty="0"/>
          </a:p>
          <a:p>
            <a:endParaRPr lang="pt-BR" b="0" i="0" dirty="0"/>
          </a:p>
          <a:p>
            <a:endParaRPr lang="pt-BR" b="1" dirty="0"/>
          </a:p>
          <a:p>
            <a:endParaRPr lang="pt-BR" b="1" dirty="0"/>
          </a:p>
          <a:p>
            <a:r>
              <a:rPr lang="pt-BR" b="1" dirty="0"/>
              <a:t>Batch</a:t>
            </a:r>
            <a:r>
              <a:rPr lang="pt-BR" dirty="0"/>
              <a:t>:</a:t>
            </a:r>
            <a:r>
              <a:rPr lang="pt-BR" baseline="0" dirty="0"/>
              <a:t> usa todos os exemplos de treinamento a cada iteração. Como resultado, é muito lento em conjuntos de treinamento muito grandes.</a:t>
            </a:r>
          </a:p>
          <a:p>
            <a:endParaRPr lang="pt-BR" baseline="0" dirty="0"/>
          </a:p>
          <a:p>
            <a:r>
              <a:rPr lang="pt-BR" dirty="0"/>
              <a:t>A versão</a:t>
            </a:r>
            <a:r>
              <a:rPr lang="pt-BR" baseline="0" dirty="0"/>
              <a:t> </a:t>
            </a:r>
            <a:r>
              <a:rPr lang="pt-BR" b="1" baseline="0" dirty="0"/>
              <a:t>online</a:t>
            </a:r>
            <a:r>
              <a:rPr lang="pt-BR" baseline="0" dirty="0"/>
              <a:t> </a:t>
            </a:r>
            <a:r>
              <a:rPr lang="pt-BR" dirty="0"/>
              <a:t>seleciona apenas uma instância </a:t>
            </a:r>
            <a:r>
              <a:rPr lang="pt-BR" b="1" i="1" dirty="0"/>
              <a:t>aleatória</a:t>
            </a:r>
            <a:r>
              <a:rPr lang="pt-BR" dirty="0"/>
              <a:t> no conjunto de treinamento a cada etapa e calcula os gradientes com base apenas nessa única instância. Obviamente, isso torna o algoritmo muito mais rápido, pois possui muito poucos dados para manipular a cada iteração. Por outro lado, devido à sua natureza estocástica (ou seja, aleatória), esse algoritmo é muito menos regular do que a descida do gradiente em lote: em vez de diminuir suavemente até atingir o mínimo, a função de custo irá saltar para cima e para baixo, diminuindo apenas em média .</a:t>
            </a:r>
          </a:p>
          <a:p>
            <a:endParaRPr lang="pt-BR" dirty="0"/>
          </a:p>
          <a:p>
            <a:r>
              <a:rPr lang="pt-BR" b="1" dirty="0"/>
              <a:t>Mini-batch</a:t>
            </a:r>
            <a:r>
              <a:rPr lang="pt-BR" dirty="0"/>
              <a:t>: em cada iteração, em vez de calcular os gradientes com base no conjunto de treinamento completo (como no Batch) ou com base em apenas uma instância (como no GD estocástico), o mini-batch GD calcula os gradientes em pequenos conjuntos aleatórios de instâncias chamados </a:t>
            </a:r>
            <a:r>
              <a:rPr lang="pt-BR" dirty="0" err="1"/>
              <a:t>mini-batches</a:t>
            </a:r>
            <a:r>
              <a:rPr lang="pt-BR" dirty="0"/>
              <a:t>.</a:t>
            </a:r>
          </a:p>
          <a:p>
            <a:endParaRPr lang="pt-BR" dirty="0"/>
          </a:p>
          <a:p>
            <a:r>
              <a:rPr lang="pt-BR" b="1" dirty="0"/>
              <a:t>Época</a:t>
            </a:r>
          </a:p>
          <a:p>
            <a:r>
              <a:rPr lang="pt-BR" dirty="0"/>
              <a:t>Uma época é quando</a:t>
            </a:r>
            <a:r>
              <a:rPr lang="pt-BR" baseline="0" dirty="0"/>
              <a:t> todo o</a:t>
            </a:r>
            <a:r>
              <a:rPr lang="pt-BR" dirty="0"/>
              <a:t> conjunto de dados</a:t>
            </a:r>
            <a:r>
              <a:rPr lang="pt-BR" baseline="0" dirty="0"/>
              <a:t> (exemplos) de treinamento é utilizado no treinamento do modelo, ou seja, apresentado ao modelo.</a:t>
            </a:r>
          </a:p>
          <a:p>
            <a:endParaRPr lang="pt-BR" dirty="0"/>
          </a:p>
          <a:p>
            <a:r>
              <a:rPr lang="pt-BR" b="1" dirty="0"/>
              <a:t>Iterações</a:t>
            </a:r>
          </a:p>
          <a:p>
            <a:r>
              <a:rPr lang="pt-BR" dirty="0"/>
              <a:t>Iteração</a:t>
            </a:r>
            <a:r>
              <a:rPr lang="pt-BR" baseline="0" dirty="0"/>
              <a:t> corresponde a um batch (podendo ser de 1 ou MB amostras) apresentado ao modelo.</a:t>
            </a:r>
            <a:endParaRPr lang="pt-BR" dirty="0"/>
          </a:p>
          <a:p>
            <a:r>
              <a:rPr lang="pt-BR" dirty="0"/>
              <a:t>Conta o número de batches necessários para concluir uma época, caso cada batch</a:t>
            </a:r>
            <a:r>
              <a:rPr lang="pt-BR" baseline="0" dirty="0"/>
              <a:t> seja menor do que o conjunto de treinamento</a:t>
            </a:r>
            <a:r>
              <a:rPr lang="pt-BR" dirty="0"/>
              <a:t>.</a:t>
            </a:r>
          </a:p>
          <a:p>
            <a:endParaRPr lang="pt-BR" dirty="0"/>
          </a:p>
          <a:p>
            <a:r>
              <a:rPr lang="pt-BR" b="1" dirty="0"/>
              <a:t>Tamanho do batch</a:t>
            </a:r>
          </a:p>
          <a:p>
            <a:r>
              <a:rPr lang="pt-BR" dirty="0"/>
              <a:t>Número total de exemplos de treinamento presentes em um único batch que será utilizado</a:t>
            </a:r>
            <a:r>
              <a:rPr lang="pt-BR" baseline="0" dirty="0"/>
              <a:t> durante uma iteração de treinamento</a:t>
            </a:r>
            <a:r>
              <a:rPr lang="pt-BR" dirty="0"/>
              <a:t>.</a:t>
            </a:r>
          </a:p>
          <a:p>
            <a:r>
              <a:rPr lang="pt-BR" dirty="0"/>
              <a:t>Se um batch conter</a:t>
            </a:r>
            <a:r>
              <a:rPr lang="pt-BR" baseline="0" dirty="0"/>
              <a:t> todos os exemplos de treinamento então cada iteração é igual a uma época.</a:t>
            </a:r>
            <a:endParaRPr lang="pt-BR" dirty="0"/>
          </a:p>
          <a:p>
            <a:endParaRPr lang="nl-BE"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29</a:t>
            </a:fld>
            <a:endParaRPr lang="nl-BE"/>
          </a:p>
        </p:txBody>
      </p:sp>
    </p:spTree>
    <p:extLst>
      <p:ext uri="{BB962C8B-B14F-4D97-AF65-F5344CB8AC3E}">
        <p14:creationId xmlns:p14="http://schemas.microsoft.com/office/powerpoint/2010/main" val="1297856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hlinkClick r:id="rId3"/>
              </a:rPr>
              <a:t>https://colab.research.google.com/github/zz4fap/t319_aprendizado_de_maquina/blob/main/notebooks/regression/gd_versions/stocastic_gradient_descent_with_figures.ipynb</a:t>
            </a:r>
            <a:endParaRPr lang="pt-BR" dirty="0"/>
          </a:p>
          <a:p>
            <a:endParaRPr lang="pt-BR" dirty="0"/>
          </a:p>
          <a:p>
            <a:r>
              <a:rPr lang="pt-BR" sz="1200" b="0" dirty="0"/>
              <a:t>Métodos de </a:t>
            </a:r>
            <a:r>
              <a:rPr lang="pt-BR" sz="1200" b="1" i="1" dirty="0"/>
              <a:t>aproximação estocástica </a:t>
            </a:r>
            <a:r>
              <a:rPr lang="pt-BR" sz="1200" b="0" dirty="0"/>
              <a:t>são uma família de métodos iterativos normalmente usados para problemas de procura de raízes ou para problemas de otimização.</a:t>
            </a:r>
          </a:p>
          <a:p>
            <a:endParaRPr lang="pt-BR" sz="1200" b="0" dirty="0"/>
          </a:p>
          <a:p>
            <a:r>
              <a:rPr lang="pt-BR" sz="1200" b="0" dirty="0"/>
              <a:t>Pode ser considerada como uma aproximação estocástica da otimização do</a:t>
            </a:r>
            <a:r>
              <a:rPr lang="pt-BR" sz="1200" b="0" baseline="0" dirty="0"/>
              <a:t> gradiente descendente</a:t>
            </a:r>
            <a:r>
              <a:rPr lang="pt-BR" sz="1200" b="0" dirty="0"/>
              <a:t>, uma vez que substitui o valor do gradiente real (calculado a partir de todo o conjunto de dados) por uma estimativa do mesmo (calculado a partir de um subconjunto de exemplos selecionado aleatoriamente).</a:t>
            </a:r>
          </a:p>
          <a:p>
            <a:endParaRPr lang="pt-BR" sz="1200" b="0" dirty="0"/>
          </a:p>
          <a:p>
            <a:r>
              <a:rPr lang="pt-BR" sz="1200" b="0" dirty="0"/>
              <a:t>O insight por trás do gradiente descendente estocástico é que o gradiente é uma esperança, ou seja, uma média. Portanto,</a:t>
            </a:r>
            <a:r>
              <a:rPr lang="pt-BR" sz="1200" b="0" baseline="0" dirty="0"/>
              <a:t> a</a:t>
            </a:r>
            <a:r>
              <a:rPr lang="pt-BR" sz="1200" b="0" dirty="0"/>
              <a:t> esperança pode ser estimada aproximadamente usando um pequeno conjunto de exemplos.</a:t>
            </a:r>
            <a:endParaRPr lang="pt-BR" sz="1200" b="1" dirty="0"/>
          </a:p>
          <a:p>
            <a:endParaRPr lang="pt-BR" sz="1200" b="1" dirty="0"/>
          </a:p>
          <a:p>
            <a:r>
              <a:rPr lang="pt-BR" sz="1200" b="0" dirty="0"/>
              <a:t>GDE funciona bem para superfícies de erro que têm muitos mínimos locais. Neste caso, o gradiente um pouco mais ruidoso calculado usando o número reduzido de amostras tende a empurrar o modelo dos mínimos locais para uma região que esperançosamente é mais ideal. Amostras individuais são realmente ruidosas, enquanto os </a:t>
            </a:r>
            <a:r>
              <a:rPr lang="pt-BR" sz="1200" b="0" dirty="0" err="1"/>
              <a:t>minibatches</a:t>
            </a:r>
            <a:r>
              <a:rPr lang="pt-BR" sz="1200" b="0" dirty="0"/>
              <a:t> tendem a amenizar</a:t>
            </a:r>
            <a:r>
              <a:rPr lang="pt-BR" sz="1200" b="0" baseline="0" dirty="0"/>
              <a:t> o</a:t>
            </a:r>
            <a:r>
              <a:rPr lang="pt-BR" sz="1200" b="0" dirty="0"/>
              <a:t> ruído de saída. Assim, a quantidade de solavanco é reduzida ao se usar </a:t>
            </a:r>
            <a:r>
              <a:rPr lang="pt-BR" sz="1200" b="0" dirty="0" err="1"/>
              <a:t>minibatches</a:t>
            </a:r>
            <a:r>
              <a:rPr lang="pt-BR" sz="1200" b="0" dirty="0"/>
              <a:t>. Um bom equilíbrio é alcançado quando o tamanho do </a:t>
            </a:r>
            <a:r>
              <a:rPr lang="pt-BR" sz="1200" b="0" dirty="0" err="1"/>
              <a:t>minibatch</a:t>
            </a:r>
            <a:r>
              <a:rPr lang="pt-BR" sz="1200" b="0" dirty="0"/>
              <a:t> é pequeno o suficiente para evitar alguns dos mínimos locais ruins, mas grande o suficiente para não evitar os mínimos globais ou mínimos locais de melhor desempenho.</a:t>
            </a:r>
          </a:p>
          <a:p>
            <a:endParaRPr lang="pt-BR" sz="1200" b="0" dirty="0"/>
          </a:p>
          <a:p>
            <a:pPr algn="l"/>
            <a:r>
              <a:rPr lang="pt-BR" b="0" i="0" dirty="0">
                <a:solidFill>
                  <a:srgbClr val="374151"/>
                </a:solidFill>
                <a:effectLst/>
                <a:latin typeface="Söhne"/>
              </a:rPr>
              <a:t>No gradiente descendente em batelada, as atualizações dos pesos são calculadas com base na média dos gradientes de erro em um lote (batch) de amostras de treinamento, o que tende a suavizar as flutuações causadas pelo ruído nas amostras individuais.</a:t>
            </a:r>
          </a:p>
          <a:p>
            <a:pPr algn="l"/>
            <a:endParaRPr lang="pt-BR" b="0" i="0" dirty="0">
              <a:solidFill>
                <a:srgbClr val="374151"/>
              </a:solidFill>
              <a:effectLst/>
              <a:latin typeface="Söhne"/>
            </a:endParaRPr>
          </a:p>
          <a:p>
            <a:pPr algn="l"/>
            <a:r>
              <a:rPr lang="pt-BR" b="0" i="0" dirty="0">
                <a:solidFill>
                  <a:srgbClr val="374151"/>
                </a:solidFill>
                <a:effectLst/>
                <a:latin typeface="Söhne"/>
              </a:rPr>
              <a:t>Quando se utiliza o gradiente descendente em batelada, as atualizações dos pesos são mais estáveis e menos ruidosas, pois são influenciadas por um conjunto maior de amostras em cada etapa de atualização. Isso ajuda a tornar o treinamento do modelo mais robusto e estável em relação ao ruído nos dados de treinamento.</a:t>
            </a:r>
          </a:p>
          <a:p>
            <a:pPr algn="l"/>
            <a:endParaRPr lang="pt-BR" b="0" i="0" dirty="0">
              <a:solidFill>
                <a:srgbClr val="374151"/>
              </a:solidFill>
              <a:effectLst/>
              <a:latin typeface="Söhne"/>
            </a:endParaRPr>
          </a:p>
          <a:p>
            <a:pPr algn="l"/>
            <a:r>
              <a:rPr lang="pt-BR" b="0" i="0" dirty="0">
                <a:solidFill>
                  <a:srgbClr val="374151"/>
                </a:solidFill>
                <a:effectLst/>
                <a:latin typeface="Söhne"/>
              </a:rPr>
              <a:t>Em contrapartida, o gradiente descendente estocástico (SGD) calcula as atualizações dos pesos com base em uma única amostra de treinamento em cada etapa. Isso pode levar a atualizações mais ruidosas e flutuações maiores no processo de treinamento, o que pode tornar o SGD mais suscetível a oscilações e convergência não tão suave.</a:t>
            </a:r>
          </a:p>
          <a:p>
            <a:endParaRPr lang="pt-BR" sz="1200" b="0"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31</a:t>
            </a:fld>
            <a:endParaRPr lang="nl-BE"/>
          </a:p>
        </p:txBody>
      </p:sp>
    </p:spTree>
    <p:extLst>
      <p:ext uri="{BB962C8B-B14F-4D97-AF65-F5344CB8AC3E}">
        <p14:creationId xmlns:p14="http://schemas.microsoft.com/office/powerpoint/2010/main" val="2747860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hlinkClick r:id="rId3"/>
              </a:rPr>
              <a:t>https://colab.research.google.com/github/zz4fap/t319_aprendizado_de_maquina/blob/main/notebooks/regression/gd_versions/stocastic_gradient_descent_with_figures.ipynb</a:t>
            </a:r>
            <a:endParaRPr lang="pt-BR" dirty="0"/>
          </a:p>
          <a:p>
            <a:endParaRPr lang="pt-BR" dirty="0"/>
          </a:p>
          <a:p>
            <a:r>
              <a:rPr lang="pt-BR" sz="1200" b="0" dirty="0"/>
              <a:t>Métodos de </a:t>
            </a:r>
            <a:r>
              <a:rPr lang="pt-BR" sz="1200" b="1" i="1" dirty="0"/>
              <a:t>aproximação estocástica </a:t>
            </a:r>
            <a:r>
              <a:rPr lang="pt-BR" sz="1200" b="0" dirty="0"/>
              <a:t>são uma família de métodos iterativos normalmente usados para problemas de procura de raízes ou para problemas de otimização.</a:t>
            </a:r>
          </a:p>
          <a:p>
            <a:endParaRPr lang="pt-BR" sz="1200" b="0" dirty="0"/>
          </a:p>
          <a:p>
            <a:r>
              <a:rPr lang="pt-BR" sz="1200" b="0" dirty="0"/>
              <a:t>Pode ser considerada como uma aproximação estocástica da otimização do</a:t>
            </a:r>
            <a:r>
              <a:rPr lang="pt-BR" sz="1200" b="0" baseline="0" dirty="0"/>
              <a:t> gradiente descendente</a:t>
            </a:r>
            <a:r>
              <a:rPr lang="pt-BR" sz="1200" b="0" dirty="0"/>
              <a:t>, uma vez que substitui o valor do gradiente real (calculado a partir de todo o conjunto de dados) por uma estimativa do mesmo (calculado a partir de um subconjunto de exemplos selecionado aleatoriamente).</a:t>
            </a:r>
          </a:p>
          <a:p>
            <a:endParaRPr lang="pt-BR" sz="1200" b="0" dirty="0"/>
          </a:p>
          <a:p>
            <a:r>
              <a:rPr lang="pt-BR" sz="1200" b="0" dirty="0"/>
              <a:t>O insight por trás do gradiente descendente estocástico é que o gradiente é uma esperança, ou seja, uma média. Portanto,</a:t>
            </a:r>
            <a:r>
              <a:rPr lang="pt-BR" sz="1200" b="0" baseline="0" dirty="0"/>
              <a:t> a</a:t>
            </a:r>
            <a:r>
              <a:rPr lang="pt-BR" sz="1200" b="0" dirty="0"/>
              <a:t> esperança pode ser estimada aproximadamente usando um pequeno conjunto de exemplos.</a:t>
            </a:r>
            <a:endParaRPr lang="pt-BR" sz="1200" b="1" dirty="0"/>
          </a:p>
          <a:p>
            <a:endParaRPr lang="pt-BR" sz="1200" b="1" dirty="0"/>
          </a:p>
          <a:p>
            <a:r>
              <a:rPr lang="pt-BR" sz="1200" b="0" dirty="0"/>
              <a:t>GDE funciona bem para superfícies de erro que têm muitos mínimos locais. Neste caso, o gradiente um pouco mais ruidoso calculado usando o número reduzido de amostras tende a empurrar o modelo dos mínimos locais para uma região que esperançosamente é mais ideal. Amostras individuais são realmente ruidosas, enquanto os </a:t>
            </a:r>
            <a:r>
              <a:rPr lang="pt-BR" sz="1200" b="0" dirty="0" err="1"/>
              <a:t>minibatches</a:t>
            </a:r>
            <a:r>
              <a:rPr lang="pt-BR" sz="1200" b="0" dirty="0"/>
              <a:t> tendem a amenizar</a:t>
            </a:r>
            <a:r>
              <a:rPr lang="pt-BR" sz="1200" b="0" baseline="0" dirty="0"/>
              <a:t> o</a:t>
            </a:r>
            <a:r>
              <a:rPr lang="pt-BR" sz="1200" b="0" dirty="0"/>
              <a:t> ruído de saída. Assim, a quantidade de solavanco é reduzida ao se usar </a:t>
            </a:r>
            <a:r>
              <a:rPr lang="pt-BR" sz="1200" b="0" dirty="0" err="1"/>
              <a:t>minibatches</a:t>
            </a:r>
            <a:r>
              <a:rPr lang="pt-BR" sz="1200" b="0" dirty="0"/>
              <a:t>. Um bom equilíbrio é alcançado quando o tamanho do </a:t>
            </a:r>
            <a:r>
              <a:rPr lang="pt-BR" sz="1200" b="0" dirty="0" err="1"/>
              <a:t>minibatch</a:t>
            </a:r>
            <a:r>
              <a:rPr lang="pt-BR" sz="1200" b="0" dirty="0"/>
              <a:t> é pequeno o suficiente para evitar alguns dos mínimos locais ruins, mas grande o suficiente para não evitar os mínimos globais ou mínimos locais de melhor desempenho.</a:t>
            </a:r>
          </a:p>
          <a:p>
            <a:endParaRPr lang="pt-BR" sz="1200" b="0" dirty="0"/>
          </a:p>
          <a:p>
            <a:pPr algn="l"/>
            <a:r>
              <a:rPr lang="pt-BR" b="0" i="0" dirty="0">
                <a:solidFill>
                  <a:srgbClr val="374151"/>
                </a:solidFill>
                <a:effectLst/>
                <a:latin typeface="Söhne"/>
              </a:rPr>
              <a:t>No gradiente descendente em batelada, as atualizações dos pesos são calculadas com base na média dos gradientes de erro em um lote (batch) de amostras de treinamento, o que tende a suavizar as flutuações causadas pelo ruído nas amostras individuais.</a:t>
            </a:r>
          </a:p>
          <a:p>
            <a:pPr algn="l"/>
            <a:endParaRPr lang="pt-BR" b="0" i="0" dirty="0">
              <a:solidFill>
                <a:srgbClr val="374151"/>
              </a:solidFill>
              <a:effectLst/>
              <a:latin typeface="Söhne"/>
            </a:endParaRPr>
          </a:p>
          <a:p>
            <a:pPr algn="l"/>
            <a:r>
              <a:rPr lang="pt-BR" b="0" i="0" dirty="0">
                <a:solidFill>
                  <a:srgbClr val="374151"/>
                </a:solidFill>
                <a:effectLst/>
                <a:latin typeface="Söhne"/>
              </a:rPr>
              <a:t>Quando se utiliza o gradiente descendente em batelada, as atualizações dos pesos são mais estáveis e menos ruidosas, pois são influenciadas por um conjunto maior de amostras em cada etapa de atualização. Isso ajuda a tornar o treinamento do modelo mais robusto e estável em relação ao ruído nos dados de treinamento.</a:t>
            </a:r>
          </a:p>
          <a:p>
            <a:pPr algn="l"/>
            <a:endParaRPr lang="pt-BR" b="0" i="0" dirty="0">
              <a:solidFill>
                <a:srgbClr val="374151"/>
              </a:solidFill>
              <a:effectLst/>
              <a:latin typeface="Söhne"/>
            </a:endParaRPr>
          </a:p>
          <a:p>
            <a:pPr algn="l"/>
            <a:r>
              <a:rPr lang="pt-BR" b="0" i="0" dirty="0">
                <a:solidFill>
                  <a:srgbClr val="374151"/>
                </a:solidFill>
                <a:effectLst/>
                <a:latin typeface="Söhne"/>
              </a:rPr>
              <a:t>Em contrapartida, o gradiente descendente estocástico (SGD) calcula as atualizações dos pesos com base em uma única amostra de treinamento em cada etapa. Isso pode levar a atualizações mais ruidosas e flutuações maiores no processo de treinamento, o que pode tornar o SGD mais suscetível a oscilações e convergência não tão suave.</a:t>
            </a:r>
          </a:p>
          <a:p>
            <a:endParaRPr lang="pt-BR" sz="1200" b="0"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32</a:t>
            </a:fld>
            <a:endParaRPr lang="nl-BE"/>
          </a:p>
        </p:txBody>
      </p:sp>
    </p:spTree>
    <p:extLst>
      <p:ext uri="{BB962C8B-B14F-4D97-AF65-F5344CB8AC3E}">
        <p14:creationId xmlns:p14="http://schemas.microsoft.com/office/powerpoint/2010/main" val="4061877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hlinkClick r:id="rId3"/>
              </a:rPr>
              <a:t>https://colab.research.google.com/github/zz4fap/t319_aprendizado_de_maquina/blob/main/notebooks/regression/gd_versions/mini_batch_gradient_descent_with_figures.ipynb</a:t>
            </a:r>
            <a:endParaRPr lang="pt-BR" dirty="0"/>
          </a:p>
          <a:p>
            <a:endParaRPr lang="pt-BR" dirty="0"/>
          </a:p>
          <a:p>
            <a:r>
              <a:rPr lang="pt-BR" b="1" dirty="0"/>
              <a:t>Batch</a:t>
            </a:r>
            <a:r>
              <a:rPr lang="pt-BR" dirty="0"/>
              <a:t>:</a:t>
            </a:r>
            <a:r>
              <a:rPr lang="pt-BR" baseline="0" dirty="0"/>
              <a:t> usa todos os exemplos de treinamento a cada iteração. Como resultado, é muito lento em conjuntos de treinamento muito grandes.</a:t>
            </a:r>
          </a:p>
          <a:p>
            <a:endParaRPr lang="pt-BR" baseline="0" dirty="0"/>
          </a:p>
          <a:p>
            <a:r>
              <a:rPr lang="pt-BR" dirty="0"/>
              <a:t>A versão</a:t>
            </a:r>
            <a:r>
              <a:rPr lang="pt-BR" baseline="0" dirty="0"/>
              <a:t> </a:t>
            </a:r>
            <a:r>
              <a:rPr lang="pt-BR" b="1" baseline="0" dirty="0"/>
              <a:t>online</a:t>
            </a:r>
            <a:r>
              <a:rPr lang="pt-BR" baseline="0" dirty="0"/>
              <a:t> </a:t>
            </a:r>
            <a:r>
              <a:rPr lang="pt-BR" dirty="0"/>
              <a:t>seleciona apenas uma instância aleatória no conjunto de treinamento a cada etapa e calcula os gradientes com base apenas nessa única instância. Obviamente, isso torna o algoritmo muito mais rápido, pois possui muito poucos dados para manipular a cada iteração. Por outro lado, devido à sua natureza estocástica (ou seja, aleatória), esse algoritmo é muito menos regular do que a descida do gradiente em lote: em vez de diminuir suavemente até atingir o mínimo, a função de custo irá saltar para cima e para baixo, diminuindo apenas em média .</a:t>
            </a:r>
          </a:p>
          <a:p>
            <a:endParaRPr lang="pt-BR" dirty="0"/>
          </a:p>
          <a:p>
            <a:r>
              <a:rPr lang="pt-BR" b="1" dirty="0"/>
              <a:t>Mini-batch</a:t>
            </a:r>
            <a:r>
              <a:rPr lang="pt-BR" dirty="0"/>
              <a:t>: em cada iteração, em vez de calcular os gradientes com base no conjunto de treinamento completo (como no Batch) ou com base em apenas uma instância (como no GD estocástico), o mini-batch GD calcula os gradientes em pequenos conjuntos aleatórios de instâncias chamados </a:t>
            </a:r>
            <a:r>
              <a:rPr lang="pt-BR" dirty="0" err="1"/>
              <a:t>mini-batches</a:t>
            </a:r>
            <a:r>
              <a:rPr lang="pt-BR" dirty="0"/>
              <a:t>.</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dirty="0"/>
              <a:t>O insight por trás do gradiente descendente estocástico é que o gradiente é uma esperança, ou seja, uma média. Portanto,</a:t>
            </a:r>
            <a:r>
              <a:rPr lang="pt-BR" b="0" baseline="0" dirty="0"/>
              <a:t> a</a:t>
            </a:r>
            <a:r>
              <a:rPr lang="pt-BR" b="0" dirty="0"/>
              <a:t> esperança pode ser estimada aproximadamente usando um pequeno conjunto de exemplos.</a:t>
            </a:r>
          </a:p>
          <a:p>
            <a:endParaRPr lang="nl-BE"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34</a:t>
            </a:fld>
            <a:endParaRPr lang="nl-BE"/>
          </a:p>
        </p:txBody>
      </p:sp>
    </p:spTree>
    <p:extLst>
      <p:ext uri="{BB962C8B-B14F-4D97-AF65-F5344CB8AC3E}">
        <p14:creationId xmlns:p14="http://schemas.microsoft.com/office/powerpoint/2010/main" val="850390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hlinkClick r:id="rId3"/>
              </a:rPr>
              <a:t>https://colab.research.google.com/github/zz4fap/t319_aprendizado_de_maquina/blob/main/notebooks/regression/gd_versions/mini_batch_gradient_descent_with_figures.ipynb</a:t>
            </a:r>
            <a:endParaRPr lang="pt-BR" dirty="0"/>
          </a:p>
          <a:p>
            <a:endParaRPr lang="pt-BR" dirty="0"/>
          </a:p>
          <a:p>
            <a:r>
              <a:rPr lang="pt-BR" b="1" dirty="0"/>
              <a:t>Batch</a:t>
            </a:r>
            <a:r>
              <a:rPr lang="pt-BR" dirty="0"/>
              <a:t>:</a:t>
            </a:r>
            <a:r>
              <a:rPr lang="pt-BR" baseline="0" dirty="0"/>
              <a:t> usa todos os exemplos de treinamento a cada iteração. Como resultado, é muito lento em conjuntos de treinamento muito grandes.</a:t>
            </a:r>
          </a:p>
          <a:p>
            <a:endParaRPr lang="pt-BR" baseline="0" dirty="0"/>
          </a:p>
          <a:p>
            <a:r>
              <a:rPr lang="pt-BR" dirty="0"/>
              <a:t>A versão</a:t>
            </a:r>
            <a:r>
              <a:rPr lang="pt-BR" baseline="0" dirty="0"/>
              <a:t> </a:t>
            </a:r>
            <a:r>
              <a:rPr lang="pt-BR" b="1" baseline="0" dirty="0"/>
              <a:t>online</a:t>
            </a:r>
            <a:r>
              <a:rPr lang="pt-BR" baseline="0" dirty="0"/>
              <a:t> </a:t>
            </a:r>
            <a:r>
              <a:rPr lang="pt-BR" dirty="0"/>
              <a:t>seleciona apenas uma instância aleatória no conjunto de treinamento a cada etapa e calcula os gradientes com base apenas nessa única instância. Obviamente, isso torna o algoritmo muito mais rápido, pois possui muito poucos dados para manipular a cada iteração. Por outro lado, devido à sua natureza estocástica (ou seja, aleatória), esse algoritmo é muito menos regular do que a descida do gradiente em lote: em vez de diminuir suavemente até atingir o mínimo, a função de custo irá saltar para cima e para baixo, diminuindo apenas em média .</a:t>
            </a:r>
          </a:p>
          <a:p>
            <a:endParaRPr lang="pt-BR" dirty="0"/>
          </a:p>
          <a:p>
            <a:r>
              <a:rPr lang="pt-BR" b="1" dirty="0"/>
              <a:t>Mini-batch</a:t>
            </a:r>
            <a:r>
              <a:rPr lang="pt-BR" dirty="0"/>
              <a:t>: em cada iteração, em vez de calcular os gradientes com base no conjunto de treinamento completo (como no Batch) ou com base em apenas uma instância (como no GD estocástico), o mini-batch GD calcula os gradientes em pequenos conjuntos aleatórios de instâncias chamados </a:t>
            </a:r>
            <a:r>
              <a:rPr lang="pt-BR" dirty="0" err="1"/>
              <a:t>mini-batches</a:t>
            </a:r>
            <a:r>
              <a:rPr lang="pt-BR" dirty="0"/>
              <a:t>.</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0" dirty="0"/>
              <a:t>O insight por trás do gradiente descendente estocástico é que o gradiente é uma esperança, ou seja, uma média. Portanto,</a:t>
            </a:r>
            <a:r>
              <a:rPr lang="pt-BR" b="0" baseline="0" dirty="0"/>
              <a:t> a</a:t>
            </a:r>
            <a:r>
              <a:rPr lang="pt-BR" b="0" dirty="0"/>
              <a:t> esperança pode ser estimada aproximadamente usando um pequeno conjunto de exemplos.</a:t>
            </a:r>
          </a:p>
          <a:p>
            <a:endParaRPr lang="nl-BE" dirty="0"/>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35</a:t>
            </a:fld>
            <a:endParaRPr lang="nl-BE"/>
          </a:p>
        </p:txBody>
      </p:sp>
    </p:spTree>
    <p:extLst>
      <p:ext uri="{BB962C8B-B14F-4D97-AF65-F5344CB8AC3E}">
        <p14:creationId xmlns:p14="http://schemas.microsoft.com/office/powerpoint/2010/main" val="1599619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dirty="0"/>
              <a:t>Exemplo</a:t>
            </a:r>
            <a:r>
              <a:rPr lang="pt-BR" dirty="0"/>
              <a:t>: </a:t>
            </a:r>
            <a:r>
              <a:rPr lang="pt-BR" u="none" dirty="0"/>
              <a:t>https://mybinder.org/v2/gh/zz4fap/t319_aprendizado_de_maquina/main?filepath=notebooks%2Fregression%2Fgd_versions%2F</a:t>
            </a:r>
            <a:r>
              <a:rPr lang="pt-BR" dirty="0"/>
              <a:t>mini_batch_gradient_descent_with_figures.ipynb</a:t>
            </a:r>
          </a:p>
          <a:p>
            <a:endParaRPr lang="pt-BR" dirty="0"/>
          </a:p>
          <a:p>
            <a:r>
              <a:rPr lang="pt-BR" b="1" dirty="0"/>
              <a:t>Exemplo: </a:t>
            </a:r>
            <a:r>
              <a:rPr lang="pt-BR" dirty="0"/>
              <a:t>https://colab.research.google.com/github/zz4fap/t319_aprendizado_de_maquina/blob/main/notebooks/regression/gd_versions/mini_batch_gradient_descent_with_figures.ipynb</a:t>
            </a:r>
          </a:p>
          <a:p>
            <a:endParaRPr lang="pt-BR" dirty="0"/>
          </a:p>
          <a:p>
            <a:r>
              <a:rPr lang="pt-BR" b="1" dirty="0"/>
              <a:t>Exemplo</a:t>
            </a:r>
            <a:r>
              <a:rPr lang="pt-BR" dirty="0"/>
              <a:t>: </a:t>
            </a:r>
            <a:r>
              <a:rPr lang="pt-BR" dirty="0" err="1"/>
              <a:t>mini_batch_gradient_descent_with_figures.ipynb</a:t>
            </a:r>
            <a:endParaRPr lang="pt-BR" dirty="0"/>
          </a:p>
          <a:p>
            <a:endParaRPr lang="pt-BR" dirty="0"/>
          </a:p>
          <a:p>
            <a:r>
              <a:rPr lang="pt-BR" dirty="0"/>
              <a:t>O</a:t>
            </a:r>
            <a:r>
              <a:rPr lang="pt-BR" baseline="0" dirty="0"/>
              <a:t> mini-batch é</a:t>
            </a:r>
            <a:r>
              <a:rPr lang="pt-BR" dirty="0"/>
              <a:t> bastante simples de entender quando você conhece o</a:t>
            </a:r>
            <a:r>
              <a:rPr lang="pt-BR" baseline="0" dirty="0"/>
              <a:t> </a:t>
            </a:r>
            <a:r>
              <a:rPr lang="pt-BR" dirty="0"/>
              <a:t>gradiente descendente em batelada e o gradiente descendente estocástico: a cada etapa, em vez de calcular os gradientes com base no conjunto de treinamento completo (como no GD em batelada) ou com base em apenas uma instância (como no GD estocástico), o</a:t>
            </a:r>
            <a:r>
              <a:rPr lang="pt-BR" baseline="0" dirty="0"/>
              <a:t> mini-batch </a:t>
            </a:r>
            <a:r>
              <a:rPr lang="pt-BR" dirty="0"/>
              <a:t>calcula os gradientes em subconjuntos aleatórios de instâncias chamados mini-lotes (do inglês mini-batch). </a:t>
            </a:r>
          </a:p>
          <a:p>
            <a:endParaRPr lang="pt-BR" dirty="0"/>
          </a:p>
          <a:p>
            <a:r>
              <a:rPr lang="pt-BR" dirty="0"/>
              <a:t>O progresso do algoritmo no espaço de parâmetros é menos irregular do que com o SGD, especialmente com mini lotes muito grandes. Como resultado, o mini-batch</a:t>
            </a:r>
            <a:r>
              <a:rPr lang="pt-BR" baseline="0" dirty="0"/>
              <a:t> </a:t>
            </a:r>
            <a:r>
              <a:rPr lang="pt-BR" dirty="0"/>
              <a:t>acabará chegando um pouco mais perto do mínimo do que o GDS. Mas, por outro lado, pode ser mais difícil escapar dos mínimos locais (no caso de problemas que sofrem com mínimos locais, diferentemente da Regressão Linear, que como vimos anteriormente apresenta apenas um mínimo, que é o global).</a:t>
            </a:r>
          </a:p>
          <a:p>
            <a:endParaRPr lang="pt-BR" dirty="0"/>
          </a:p>
        </p:txBody>
      </p:sp>
      <p:sp>
        <p:nvSpPr>
          <p:cNvPr id="4" name="Espaço Reservado para Número de Slide 3"/>
          <p:cNvSpPr>
            <a:spLocks noGrp="1"/>
          </p:cNvSpPr>
          <p:nvPr>
            <p:ph type="sldNum" sz="quarter" idx="5"/>
          </p:nvPr>
        </p:nvSpPr>
        <p:spPr/>
        <p:txBody>
          <a:bodyPr/>
          <a:lstStyle/>
          <a:p>
            <a:fld id="{DA8B99DF-01BC-492A-8CEF-4FD88D18DD9D}" type="slidenum">
              <a:rPr lang="nl-BE" smtClean="0"/>
              <a:t>36</a:t>
            </a:fld>
            <a:endParaRPr lang="nl-BE"/>
          </a:p>
        </p:txBody>
      </p:sp>
    </p:spTree>
    <p:extLst>
      <p:ext uri="{BB962C8B-B14F-4D97-AF65-F5344CB8AC3E}">
        <p14:creationId xmlns:p14="http://schemas.microsoft.com/office/powerpoint/2010/main" val="3527367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b="1" dirty="0"/>
              <a:t>Laboratório</a:t>
            </a:r>
            <a:r>
              <a:rPr lang="pt-BR" dirty="0"/>
              <a:t>: https://colab.research.google.com/github/zz4fap/t319_aprendizado_de_maquina/blob/main/labs/Laboratorio3.ipynb</a:t>
            </a:r>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37</a:t>
            </a:fld>
            <a:endParaRPr lang="nl-BE"/>
          </a:p>
        </p:txBody>
      </p:sp>
    </p:spTree>
    <p:extLst>
      <p:ext uri="{BB962C8B-B14F-4D97-AF65-F5344CB8AC3E}">
        <p14:creationId xmlns:p14="http://schemas.microsoft.com/office/powerpoint/2010/main" val="2528908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Exemplo:</a:t>
                </a:r>
                <a:r>
                  <a:rPr lang="pt-BR" baseline="0" noProof="0" dirty="0"/>
                  <a:t> </a:t>
                </a:r>
                <a:r>
                  <a:rPr lang="pt-BR" dirty="0"/>
                  <a:t>https://mybinder.org/v2/gh/zz4fap/t319_aprendizado_de_maquina/main?filepath=notebooks%2Fregression%2Fexemplo_regressao_linear_gradiente_descendente</a:t>
                </a:r>
                <a:r>
                  <a:rPr lang="pt-BR" noProof="0" dirty="0"/>
                  <a:t>.ipynb</a:t>
                </a:r>
                <a:endParaRPr lang="pt-BR" u="none" dirty="0"/>
              </a:p>
              <a:p>
                <a:endParaRPr lang="pt-BR" noProof="0" dirty="0"/>
              </a:p>
              <a:p>
                <a:r>
                  <a:rPr lang="pt-BR" noProof="0" dirty="0"/>
                  <a:t>Figuras:</a:t>
                </a:r>
                <a:r>
                  <a:rPr lang="pt-BR" baseline="0" noProof="0" dirty="0"/>
                  <a:t> linear_regression_with_gradient_descente_exemplo2.m</a:t>
                </a:r>
                <a:endParaRPr lang="pt-BR" noProof="0" dirty="0"/>
              </a:p>
              <a:p>
                <a:endParaRPr lang="pt-BR" noProof="0" dirty="0"/>
              </a:p>
              <a:p>
                <a:r>
                  <a:rPr lang="pt-BR" noProof="0" dirty="0"/>
                  <a:t>Nesse exemplo, o vetor </a:t>
                </a:r>
                <a14:m>
                  <m:oMath xmlns:m="http://schemas.openxmlformats.org/officeDocument/2006/math">
                    <m:sSup>
                      <m:sSupPr>
                        <m:ctrlPr>
                          <a:rPr lang="pt-BR" b="1" i="1" noProof="0" smtClean="0">
                            <a:latin typeface="Cambria Math" panose="02040503050406030204" pitchFamily="18" charset="0"/>
                          </a:rPr>
                        </m:ctrlPr>
                      </m:sSupPr>
                      <m:e>
                        <m:r>
                          <a:rPr lang="pt-BR" b="1" i="1" noProof="0" smtClean="0">
                            <a:latin typeface="Cambria Math" panose="02040503050406030204" pitchFamily="18" charset="0"/>
                          </a:rPr>
                          <m:t>𝒂</m:t>
                        </m:r>
                      </m:e>
                      <m:sup>
                        <m:r>
                          <m:rPr>
                            <m:sty m:val="p"/>
                          </m:rPr>
                          <a:rPr lang="pt-BR" b="0" i="0" noProof="0" smtClean="0">
                            <a:latin typeface="Cambria Math" panose="02040503050406030204" pitchFamily="18" charset="0"/>
                          </a:rPr>
                          <m:t>inicial</m:t>
                        </m:r>
                      </m:sup>
                    </m:sSup>
                  </m:oMath>
                </a14:m>
                <a:r>
                  <a:rPr lang="pt-BR" noProof="0" dirty="0"/>
                  <a:t>, é inicializado com os valores [-20; -20]</a:t>
                </a:r>
                <a:r>
                  <a:rPr lang="pt-BR" baseline="0" noProof="0" dirty="0"/>
                  <a:t> e vemos que o algoritmo caminha progressivamente em direção ao mínimo global mostrado pelo asterisco em vermelho (esse ponto foi calculado com o método da equação normal). O passo de aprendizado é feito igual a 0.001 e como podemos ver o algoritmo converge à partir da iteração número 25.</a:t>
                </a:r>
              </a:p>
              <a:p>
                <a:endParaRPr lang="pt-BR" baseline="0" noProof="0" dirty="0"/>
              </a:p>
              <a:p>
                <a:r>
                  <a:rPr lang="pt-BR" baseline="0" noProof="0" dirty="0"/>
                  <a:t>A figura do meio mostra a trajetória realizada pelo algoritmo até a convergência.</a:t>
                </a:r>
              </a:p>
              <a:p>
                <a:endParaRPr lang="pt-BR" baseline="0" noProof="0" dirty="0"/>
              </a:p>
              <a:p>
                <a:r>
                  <a:rPr lang="pt-BR" baseline="0" noProof="0" dirty="0"/>
                  <a:t>Vejam que o algoritmo converge lentamente e portanto, é possível aumentar o passo de aprendizagem.</a:t>
                </a:r>
              </a:p>
              <a:p>
                <a:endParaRPr lang="pt-BR"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passo de aprendizado,</a:t>
                </a:r>
                <a:r>
                  <a:rPr lang="pt-BR" baseline="0" dirty="0"/>
                  <a:t> </a:t>
                </a:r>
                <a14:m>
                  <m:oMath xmlns:m="http://schemas.openxmlformats.org/officeDocument/2006/math">
                    <m:r>
                      <a:rPr lang="pt-BR" i="1" baseline="0" smtClean="0">
                        <a:latin typeface="Cambria Math" panose="02040503050406030204" pitchFamily="18" charset="0"/>
                        <a:ea typeface="Cambria Math" panose="02040503050406030204" pitchFamily="18" charset="0"/>
                      </a:rPr>
                      <m:t>𝛼</m:t>
                    </m:r>
                  </m:oMath>
                </a14:m>
                <a:r>
                  <a:rPr lang="nl-BE" dirty="0"/>
                  <a:t>, </a:t>
                </a:r>
                <a:r>
                  <a:rPr lang="nl-BE" dirty="0" err="1"/>
                  <a:t>pode</a:t>
                </a:r>
                <a:r>
                  <a:rPr lang="nl-BE" dirty="0"/>
                  <a:t> </a:t>
                </a:r>
                <a:r>
                  <a:rPr lang="nl-BE" dirty="0" err="1"/>
                  <a:t>ser</a:t>
                </a:r>
                <a:r>
                  <a:rPr lang="nl-BE" dirty="0"/>
                  <a:t> </a:t>
                </a:r>
                <a:r>
                  <a:rPr lang="nl-BE" dirty="0" err="1"/>
                  <a:t>um</a:t>
                </a:r>
                <a:r>
                  <a:rPr lang="nl-BE" dirty="0"/>
                  <a:t> </a:t>
                </a:r>
                <a:r>
                  <a:rPr lang="nl-BE" dirty="0" err="1"/>
                  <a:t>valor</a:t>
                </a:r>
                <a:r>
                  <a:rPr lang="nl-BE" dirty="0"/>
                  <a:t> constante </a:t>
                </a:r>
                <a:r>
                  <a:rPr lang="nl-BE" dirty="0" err="1"/>
                  <a:t>ou</a:t>
                </a:r>
                <a:r>
                  <a:rPr lang="nl-BE" dirty="0"/>
                  <a:t> </a:t>
                </a:r>
                <a:r>
                  <a:rPr lang="nl-BE" dirty="0" err="1"/>
                  <a:t>pode</a:t>
                </a:r>
                <a:r>
                  <a:rPr lang="nl-BE" dirty="0"/>
                  <a:t> </a:t>
                </a:r>
                <a:r>
                  <a:rPr lang="nl-BE" dirty="0" err="1"/>
                  <a:t>decair</a:t>
                </a:r>
                <a:r>
                  <a:rPr lang="nl-BE" dirty="0"/>
                  <a:t> </a:t>
                </a:r>
                <a:r>
                  <a:rPr lang="pt-BR" dirty="0"/>
                  <a:t>com o tempo à medida que o processo de aprendizado prossegue.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b="0" i="0" dirty="0"/>
              </a:p>
              <a:p>
                <a:endParaRPr lang="pt-BR" noProof="0"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Exemplo:</a:t>
                </a:r>
                <a:r>
                  <a:rPr lang="pt-BR" baseline="0" noProof="0" dirty="0"/>
                  <a:t> </a:t>
                </a:r>
                <a:r>
                  <a:rPr lang="pt-BR" dirty="0"/>
                  <a:t>https://mybinder.org/v2/gh/zz4fap/t319_aprendizado_de_maquina/main?filepath=notebooks%2Fregression%2Fexemplo_regressao_linear_gradiente_descendente</a:t>
                </a:r>
                <a:r>
                  <a:rPr lang="pt-BR" noProof="0" dirty="0"/>
                  <a:t>.ipynb</a:t>
                </a:r>
                <a:endParaRPr lang="pt-BR" u="none" dirty="0"/>
              </a:p>
              <a:p>
                <a:endParaRPr lang="pt-BR" noProof="0" dirty="0"/>
              </a:p>
              <a:p>
                <a:r>
                  <a:rPr lang="pt-BR" noProof="0" dirty="0"/>
                  <a:t>Figuras:</a:t>
                </a:r>
                <a:r>
                  <a:rPr lang="pt-BR" baseline="0" noProof="0" dirty="0"/>
                  <a:t> linear_regression_with_gradient_descente_exemplo2.m</a:t>
                </a:r>
                <a:endParaRPr lang="pt-BR" noProof="0" dirty="0"/>
              </a:p>
              <a:p>
                <a:endParaRPr lang="pt-BR" noProof="0" dirty="0"/>
              </a:p>
              <a:p>
                <a:r>
                  <a:rPr lang="pt-BR" noProof="0" dirty="0"/>
                  <a:t>Nesse exemplo, o vetor </a:t>
                </a:r>
                <a:r>
                  <a:rPr lang="pt-BR" b="1" i="0" noProof="0">
                    <a:latin typeface="Cambria Math" panose="02040503050406030204" pitchFamily="18" charset="0"/>
                  </a:rPr>
                  <a:t>𝒂^</a:t>
                </a:r>
                <a:r>
                  <a:rPr lang="pt-BR" b="0" i="0" noProof="0">
                    <a:latin typeface="Cambria Math" panose="02040503050406030204" pitchFamily="18" charset="0"/>
                  </a:rPr>
                  <a:t>inicial</a:t>
                </a:r>
                <a:r>
                  <a:rPr lang="pt-BR" noProof="0" dirty="0"/>
                  <a:t>, é inicializado com os valores [-20; -20]</a:t>
                </a:r>
                <a:r>
                  <a:rPr lang="pt-BR" baseline="0" noProof="0" dirty="0"/>
                  <a:t> e vemos que o algoritmo caminha progressivamente em direção ao mínimo global mostrado pelo asterisco em vermelho (esse ponto foi calculado com o método da equação normal). O passo de aprendizado é feito igual a 0.001 e como podemos ver o algoritmo converge à partir da iteração número 25.</a:t>
                </a:r>
              </a:p>
              <a:p>
                <a:endParaRPr lang="pt-BR" baseline="0" noProof="0" dirty="0"/>
              </a:p>
              <a:p>
                <a:r>
                  <a:rPr lang="pt-BR" baseline="0" noProof="0" dirty="0"/>
                  <a:t>A figura do meio mostra a trajetória realizada pelo algoritmo até a convergência.</a:t>
                </a:r>
              </a:p>
              <a:p>
                <a:endParaRPr lang="pt-BR" baseline="0" noProof="0" dirty="0"/>
              </a:p>
              <a:p>
                <a:r>
                  <a:rPr lang="pt-BR" baseline="0" noProof="0" dirty="0"/>
                  <a:t>Vejam que o algoritmo converge lentamente e portanto, é possível aumentar o passo de aprendizagem.</a:t>
                </a:r>
              </a:p>
              <a:p>
                <a:endParaRPr lang="pt-BR"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passo de aprendizado,</a:t>
                </a:r>
                <a:r>
                  <a:rPr lang="pt-BR" baseline="0" dirty="0"/>
                  <a:t> </a:t>
                </a:r>
                <a:r>
                  <a:rPr lang="pt-BR" i="0" baseline="0">
                    <a:latin typeface="Cambria Math" panose="02040503050406030204" pitchFamily="18" charset="0"/>
                    <a:ea typeface="Cambria Math" panose="02040503050406030204" pitchFamily="18" charset="0"/>
                  </a:rPr>
                  <a:t>𝛼</a:t>
                </a:r>
                <a:r>
                  <a:rPr lang="nl-BE" dirty="0"/>
                  <a:t>, </a:t>
                </a:r>
                <a:r>
                  <a:rPr lang="nl-BE" dirty="0" err="1"/>
                  <a:t>pode</a:t>
                </a:r>
                <a:r>
                  <a:rPr lang="nl-BE" dirty="0"/>
                  <a:t> </a:t>
                </a:r>
                <a:r>
                  <a:rPr lang="nl-BE" dirty="0" err="1"/>
                  <a:t>ser</a:t>
                </a:r>
                <a:r>
                  <a:rPr lang="nl-BE" dirty="0"/>
                  <a:t> </a:t>
                </a:r>
                <a:r>
                  <a:rPr lang="nl-BE" dirty="0" err="1"/>
                  <a:t>um</a:t>
                </a:r>
                <a:r>
                  <a:rPr lang="nl-BE" dirty="0"/>
                  <a:t> </a:t>
                </a:r>
                <a:r>
                  <a:rPr lang="nl-BE" dirty="0" err="1"/>
                  <a:t>valor</a:t>
                </a:r>
                <a:r>
                  <a:rPr lang="nl-BE" dirty="0"/>
                  <a:t> constante </a:t>
                </a:r>
                <a:r>
                  <a:rPr lang="nl-BE" dirty="0" err="1"/>
                  <a:t>ou</a:t>
                </a:r>
                <a:r>
                  <a:rPr lang="nl-BE" dirty="0"/>
                  <a:t> </a:t>
                </a:r>
                <a:r>
                  <a:rPr lang="nl-BE" dirty="0" err="1"/>
                  <a:t>pode</a:t>
                </a:r>
                <a:r>
                  <a:rPr lang="nl-BE" dirty="0"/>
                  <a:t> </a:t>
                </a:r>
                <a:r>
                  <a:rPr lang="nl-BE" dirty="0" err="1"/>
                  <a:t>decair</a:t>
                </a:r>
                <a:r>
                  <a:rPr lang="nl-BE" dirty="0"/>
                  <a:t> </a:t>
                </a:r>
                <a:r>
                  <a:rPr lang="pt-BR" dirty="0"/>
                  <a:t>com o tempo à medida que o processo de aprendizado prossegue.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b="0" i="0" dirty="0"/>
              </a:p>
              <a:p>
                <a:endParaRPr lang="pt-BR" noProof="0"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52</a:t>
            </a:fld>
            <a:endParaRPr lang="nl-BE"/>
          </a:p>
        </p:txBody>
      </p:sp>
    </p:spTree>
    <p:extLst>
      <p:ext uri="{BB962C8B-B14F-4D97-AF65-F5344CB8AC3E}">
        <p14:creationId xmlns:p14="http://schemas.microsoft.com/office/powerpoint/2010/main" val="2288293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noProof="0" dirty="0"/>
                  <a:t>Exemplo:</a:t>
                </a:r>
                <a:r>
                  <a:rPr lang="pt-BR" baseline="0" noProof="0" dirty="0"/>
                  <a:t> </a:t>
                </a:r>
                <a:r>
                  <a:rPr lang="pt-BR" dirty="0"/>
                  <a:t>https://mybinder.org/v2/gh/zz4fap/t319_aprendizado_de_maquina/main?filepath=notebooks%2Fregression%2Fexemplo_regressao_linear_gradiente_descendente</a:t>
                </a:r>
                <a:r>
                  <a:rPr lang="pt-BR" noProof="0" dirty="0"/>
                  <a:t>.ipynb</a:t>
                </a:r>
                <a:endParaRPr lang="pt-BR" u="none" dirty="0"/>
              </a:p>
              <a:p>
                <a:endParaRPr lang="pt-BR" noProof="0" dirty="0"/>
              </a:p>
              <a:p>
                <a:r>
                  <a:rPr lang="pt-BR" noProof="0" dirty="0"/>
                  <a:t>Figuras:</a:t>
                </a:r>
                <a:r>
                  <a:rPr lang="pt-BR" baseline="0" noProof="0" dirty="0"/>
                  <a:t> linear_regression_with_gradient_descente_exemplo2.m</a:t>
                </a:r>
                <a:endParaRPr lang="pt-BR" noProof="0" dirty="0"/>
              </a:p>
              <a:p>
                <a:endParaRPr lang="pt-BR" noProof="0" dirty="0"/>
              </a:p>
              <a:p>
                <a:r>
                  <a:rPr lang="pt-BR" noProof="0" dirty="0"/>
                  <a:t>Nesse exemplo, o vetor </a:t>
                </a:r>
                <a14:m>
                  <m:oMath xmlns:m="http://schemas.openxmlformats.org/officeDocument/2006/math">
                    <m:sSup>
                      <m:sSupPr>
                        <m:ctrlPr>
                          <a:rPr lang="pt-BR" b="1" i="1" noProof="0" smtClean="0">
                            <a:latin typeface="Cambria Math" panose="02040503050406030204" pitchFamily="18" charset="0"/>
                          </a:rPr>
                        </m:ctrlPr>
                      </m:sSupPr>
                      <m:e>
                        <m:r>
                          <a:rPr lang="pt-BR" b="1" i="1" noProof="0" smtClean="0">
                            <a:latin typeface="Cambria Math" panose="02040503050406030204" pitchFamily="18" charset="0"/>
                          </a:rPr>
                          <m:t>𝒂</m:t>
                        </m:r>
                      </m:e>
                      <m:sup>
                        <m:r>
                          <m:rPr>
                            <m:sty m:val="p"/>
                          </m:rPr>
                          <a:rPr lang="pt-BR" b="0" i="0" noProof="0" smtClean="0">
                            <a:latin typeface="Cambria Math" panose="02040503050406030204" pitchFamily="18" charset="0"/>
                          </a:rPr>
                          <m:t>inicial</m:t>
                        </m:r>
                      </m:sup>
                    </m:sSup>
                  </m:oMath>
                </a14:m>
                <a:r>
                  <a:rPr lang="pt-BR" noProof="0" dirty="0"/>
                  <a:t>, é inicializado com os valores [-20; -20]</a:t>
                </a:r>
                <a:r>
                  <a:rPr lang="pt-BR" baseline="0" noProof="0" dirty="0"/>
                  <a:t> e vemos que o algoritmo caminha progressivamente em direção ao mínimo global mostrado pelo asterisco em vermelho (esse ponto foi calculado com o método da equação normal). O passo de aprendizado é feito igual a 0.001 e como podemos ver o algoritmo converge à partir da iteração número 25.</a:t>
                </a:r>
              </a:p>
              <a:p>
                <a:endParaRPr lang="pt-BR" baseline="0" noProof="0" dirty="0"/>
              </a:p>
              <a:p>
                <a:r>
                  <a:rPr lang="pt-BR" baseline="0" noProof="0" dirty="0"/>
                  <a:t>A figura do meio mostra a trajetória realizada pelo algoritmo até a convergência.</a:t>
                </a:r>
              </a:p>
              <a:p>
                <a:endParaRPr lang="pt-BR" baseline="0" noProof="0" dirty="0"/>
              </a:p>
              <a:p>
                <a:r>
                  <a:rPr lang="pt-BR" baseline="0" noProof="0" dirty="0"/>
                  <a:t>Vejam que o algoritmo converge lentamente e portanto, é possível aumentar o passo de aprendizagem.</a:t>
                </a:r>
              </a:p>
              <a:p>
                <a:endParaRPr lang="pt-BR"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passo de aprendizado,</a:t>
                </a:r>
                <a:r>
                  <a:rPr lang="pt-BR" baseline="0" dirty="0"/>
                  <a:t> </a:t>
                </a:r>
                <a14:m>
                  <m:oMath xmlns:m="http://schemas.openxmlformats.org/officeDocument/2006/math">
                    <m:r>
                      <a:rPr lang="pt-BR" i="1" baseline="0" smtClean="0">
                        <a:latin typeface="Cambria Math" panose="02040503050406030204" pitchFamily="18" charset="0"/>
                        <a:ea typeface="Cambria Math" panose="02040503050406030204" pitchFamily="18" charset="0"/>
                      </a:rPr>
                      <m:t>𝛼</m:t>
                    </m:r>
                  </m:oMath>
                </a14:m>
                <a:r>
                  <a:rPr lang="nl-BE" dirty="0"/>
                  <a:t>, </a:t>
                </a:r>
                <a:r>
                  <a:rPr lang="nl-BE" dirty="0" err="1"/>
                  <a:t>pode</a:t>
                </a:r>
                <a:r>
                  <a:rPr lang="nl-BE" dirty="0"/>
                  <a:t> </a:t>
                </a:r>
                <a:r>
                  <a:rPr lang="nl-BE" dirty="0" err="1"/>
                  <a:t>ser</a:t>
                </a:r>
                <a:r>
                  <a:rPr lang="nl-BE" dirty="0"/>
                  <a:t> </a:t>
                </a:r>
                <a:r>
                  <a:rPr lang="nl-BE" dirty="0" err="1"/>
                  <a:t>um</a:t>
                </a:r>
                <a:r>
                  <a:rPr lang="nl-BE" dirty="0"/>
                  <a:t> </a:t>
                </a:r>
                <a:r>
                  <a:rPr lang="nl-BE" dirty="0" err="1"/>
                  <a:t>valor</a:t>
                </a:r>
                <a:r>
                  <a:rPr lang="nl-BE" dirty="0"/>
                  <a:t> constante </a:t>
                </a:r>
                <a:r>
                  <a:rPr lang="nl-BE" dirty="0" err="1"/>
                  <a:t>ou</a:t>
                </a:r>
                <a:r>
                  <a:rPr lang="nl-BE" dirty="0"/>
                  <a:t> </a:t>
                </a:r>
                <a:r>
                  <a:rPr lang="nl-BE" dirty="0" err="1"/>
                  <a:t>pode</a:t>
                </a:r>
                <a:r>
                  <a:rPr lang="nl-BE" dirty="0"/>
                  <a:t> </a:t>
                </a:r>
                <a:r>
                  <a:rPr lang="nl-BE" dirty="0" err="1"/>
                  <a:t>decair</a:t>
                </a:r>
                <a:r>
                  <a:rPr lang="nl-BE" dirty="0"/>
                  <a:t> </a:t>
                </a:r>
                <a:r>
                  <a:rPr lang="pt-BR" dirty="0"/>
                  <a:t>com o tempo à medida que o processo de aprendizado prossegue.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4"/>
                  </a:rPr>
                  <a:t>https://towardsdatascience.com/understanding-the-mathematics-behind-gradient-descent-dde5dc9be06e</a:t>
                </a:r>
                <a:endParaRPr lang="pt-BR" b="0" i="0" dirty="0"/>
              </a:p>
              <a:p>
                <a:endParaRPr lang="pt-BR" noProof="0" dirty="0"/>
              </a:p>
              <a:p>
                <a:endParaRPr lang="pt-BR" dirty="0"/>
              </a:p>
            </p:txBody>
          </p:sp>
        </mc:Choice>
        <mc:Fallback xmlns="">
          <p:sp>
            <p:nvSpPr>
              <p:cNvPr id="3" name="Espaço Reservado para Anotações 2"/>
              <p:cNvSpPr>
                <a:spLocks noGrp="1"/>
              </p:cNvSpPr>
              <p:nvPr>
                <p:ph type="body" idx="1"/>
              </p:nvPr>
            </p:nvSpPr>
            <p:spPr/>
            <p:txBody>
              <a:bodyPr/>
              <a:lstStyle/>
              <a:p>
                <a:r>
                  <a:rPr lang="pt-BR" noProof="0" dirty="0"/>
                  <a:t>Exemplo:</a:t>
                </a:r>
                <a:r>
                  <a:rPr lang="pt-BR" baseline="0" noProof="0" dirty="0"/>
                  <a:t> </a:t>
                </a:r>
                <a:r>
                  <a:rPr lang="pt-BR" dirty="0"/>
                  <a:t>https://mybinder.org/v2/gh/zz4fap/t319_aprendizado_de_maquina/main?filepath=notebooks%2Fregression%2Fexemplo_regressao_linear_gradiente_descendente</a:t>
                </a:r>
                <a:r>
                  <a:rPr lang="pt-BR" noProof="0" dirty="0"/>
                  <a:t>.ipynb</a:t>
                </a:r>
                <a:endParaRPr lang="pt-BR" u="none" dirty="0"/>
              </a:p>
              <a:p>
                <a:endParaRPr lang="pt-BR" noProof="0" dirty="0"/>
              </a:p>
              <a:p>
                <a:r>
                  <a:rPr lang="pt-BR" noProof="0" dirty="0"/>
                  <a:t>Figuras:</a:t>
                </a:r>
                <a:r>
                  <a:rPr lang="pt-BR" baseline="0" noProof="0" dirty="0"/>
                  <a:t> linear_regression_with_gradient_descente_exemplo2.m</a:t>
                </a:r>
                <a:endParaRPr lang="pt-BR" noProof="0" dirty="0"/>
              </a:p>
              <a:p>
                <a:endParaRPr lang="pt-BR" noProof="0" dirty="0"/>
              </a:p>
              <a:p>
                <a:r>
                  <a:rPr lang="pt-BR" noProof="0" dirty="0"/>
                  <a:t>Nesse exemplo, o vetor </a:t>
                </a:r>
                <a:r>
                  <a:rPr lang="pt-BR" b="1" i="0" noProof="0">
                    <a:latin typeface="Cambria Math" panose="02040503050406030204" pitchFamily="18" charset="0"/>
                  </a:rPr>
                  <a:t>𝒂^</a:t>
                </a:r>
                <a:r>
                  <a:rPr lang="pt-BR" b="0" i="0" noProof="0">
                    <a:latin typeface="Cambria Math" panose="02040503050406030204" pitchFamily="18" charset="0"/>
                  </a:rPr>
                  <a:t>inicial</a:t>
                </a:r>
                <a:r>
                  <a:rPr lang="pt-BR" noProof="0" dirty="0"/>
                  <a:t>, é inicializado com os valores [-20; -20]</a:t>
                </a:r>
                <a:r>
                  <a:rPr lang="pt-BR" baseline="0" noProof="0" dirty="0"/>
                  <a:t> e vemos que o algoritmo caminha progressivamente em direção ao mínimo global mostrado pelo asterisco em vermelho (esse ponto foi calculado com o método da equação normal). O passo de aprendizado é feito igual a 0.001 e como podemos ver o algoritmo converge à partir da iteração número 25.</a:t>
                </a:r>
              </a:p>
              <a:p>
                <a:endParaRPr lang="pt-BR" baseline="0" noProof="0" dirty="0"/>
              </a:p>
              <a:p>
                <a:r>
                  <a:rPr lang="pt-BR" baseline="0" noProof="0" dirty="0"/>
                  <a:t>A figura do meio mostra a trajetória realizada pelo algoritmo até a convergência.</a:t>
                </a:r>
              </a:p>
              <a:p>
                <a:endParaRPr lang="pt-BR" baseline="0" noProof="0" dirty="0"/>
              </a:p>
              <a:p>
                <a:r>
                  <a:rPr lang="pt-BR" baseline="0" noProof="0" dirty="0"/>
                  <a:t>Vejam que o algoritmo converge lentamente e portanto, é possível aumentar o passo de aprendizagem.</a:t>
                </a:r>
              </a:p>
              <a:p>
                <a:endParaRPr lang="pt-BR"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passo de aprendizado,</a:t>
                </a:r>
                <a:r>
                  <a:rPr lang="pt-BR" baseline="0" dirty="0"/>
                  <a:t> </a:t>
                </a:r>
                <a:r>
                  <a:rPr lang="pt-BR" i="0" baseline="0">
                    <a:latin typeface="Cambria Math" panose="02040503050406030204" pitchFamily="18" charset="0"/>
                    <a:ea typeface="Cambria Math" panose="02040503050406030204" pitchFamily="18" charset="0"/>
                  </a:rPr>
                  <a:t>𝛼</a:t>
                </a:r>
                <a:r>
                  <a:rPr lang="nl-BE" dirty="0"/>
                  <a:t>, </a:t>
                </a:r>
                <a:r>
                  <a:rPr lang="nl-BE" dirty="0" err="1"/>
                  <a:t>pode</a:t>
                </a:r>
                <a:r>
                  <a:rPr lang="nl-BE" dirty="0"/>
                  <a:t> </a:t>
                </a:r>
                <a:r>
                  <a:rPr lang="nl-BE" dirty="0" err="1"/>
                  <a:t>ser</a:t>
                </a:r>
                <a:r>
                  <a:rPr lang="nl-BE" dirty="0"/>
                  <a:t> </a:t>
                </a:r>
                <a:r>
                  <a:rPr lang="nl-BE" dirty="0" err="1"/>
                  <a:t>um</a:t>
                </a:r>
                <a:r>
                  <a:rPr lang="nl-BE" dirty="0"/>
                  <a:t> </a:t>
                </a:r>
                <a:r>
                  <a:rPr lang="nl-BE" dirty="0" err="1"/>
                  <a:t>valor</a:t>
                </a:r>
                <a:r>
                  <a:rPr lang="nl-BE" dirty="0"/>
                  <a:t> constante </a:t>
                </a:r>
                <a:r>
                  <a:rPr lang="nl-BE" dirty="0" err="1"/>
                  <a:t>ou</a:t>
                </a:r>
                <a:r>
                  <a:rPr lang="nl-BE" dirty="0"/>
                  <a:t> </a:t>
                </a:r>
                <a:r>
                  <a:rPr lang="nl-BE" dirty="0" err="1"/>
                  <a:t>pode</a:t>
                </a:r>
                <a:r>
                  <a:rPr lang="nl-BE" dirty="0"/>
                  <a:t> </a:t>
                </a:r>
                <a:r>
                  <a:rPr lang="nl-BE" dirty="0" err="1"/>
                  <a:t>decair</a:t>
                </a:r>
                <a:r>
                  <a:rPr lang="nl-BE" dirty="0"/>
                  <a:t> </a:t>
                </a:r>
                <a:r>
                  <a:rPr lang="pt-BR" dirty="0"/>
                  <a:t>com o tempo à medida que o processo de aprendizado prossegue.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i="0" baseline="0" dirty="0"/>
                  <a:t>Referências relacionadas com a obtenção das derivadas parciais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5"/>
                  </a:rPr>
                  <a:t>https://mccormickml.com/2014/03/04/gradient-descent-derivation/</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6"/>
                  </a:rPr>
                  <a:t>https://towardsdatascience.com/understanding-the-mathematics-behind-gradient-descent-dde5dc9be06e</a:t>
                </a:r>
                <a:endParaRPr lang="pt-BR" b="0" i="0" dirty="0"/>
              </a:p>
              <a:p>
                <a:endParaRPr lang="pt-BR" noProof="0"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DA8B99DF-01BC-492A-8CEF-4FD88D18DD9D}" type="slidenum">
              <a:rPr lang="nl-BE" smtClean="0"/>
              <a:t>53</a:t>
            </a:fld>
            <a:endParaRPr lang="nl-BE"/>
          </a:p>
        </p:txBody>
      </p:sp>
    </p:spTree>
    <p:extLst>
      <p:ext uri="{BB962C8B-B14F-4D97-AF65-F5344CB8AC3E}">
        <p14:creationId xmlns:p14="http://schemas.microsoft.com/office/powerpoint/2010/main" val="4146854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56</a:t>
            </a:fld>
            <a:endParaRPr lang="nl-BE"/>
          </a:p>
        </p:txBody>
      </p:sp>
    </p:spTree>
    <p:extLst>
      <p:ext uri="{BB962C8B-B14F-4D97-AF65-F5344CB8AC3E}">
        <p14:creationId xmlns:p14="http://schemas.microsoft.com/office/powerpoint/2010/main" val="10015201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57</a:t>
            </a:fld>
            <a:endParaRPr lang="nl-BE"/>
          </a:p>
        </p:txBody>
      </p:sp>
    </p:spTree>
    <p:extLst>
      <p:ext uri="{BB962C8B-B14F-4D97-AF65-F5344CB8AC3E}">
        <p14:creationId xmlns:p14="http://schemas.microsoft.com/office/powerpoint/2010/main" val="26036283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58</a:t>
            </a:fld>
            <a:endParaRPr lang="nl-BE"/>
          </a:p>
        </p:txBody>
      </p:sp>
    </p:spTree>
    <p:extLst>
      <p:ext uri="{BB962C8B-B14F-4D97-AF65-F5344CB8AC3E}">
        <p14:creationId xmlns:p14="http://schemas.microsoft.com/office/powerpoint/2010/main" val="1477703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11/09/2026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1746137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11/09/2026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6391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80E15A5-E95B-43EB-9AC7-9A96397448C0}" type="datetimeFigureOut">
              <a:rPr lang="nl-BE" smtClean="0"/>
              <a:t>11/09/2026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62696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C80E15A5-E95B-43EB-9AC7-9A96397448C0}" type="datetimeFigureOut">
              <a:rPr lang="nl-BE" smtClean="0"/>
              <a:t>11/09/2026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085213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C80E15A5-E95B-43EB-9AC7-9A96397448C0}" type="datetimeFigureOut">
              <a:rPr lang="nl-BE" smtClean="0"/>
              <a:t>11/09/2026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7826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C80E15A5-E95B-43EB-9AC7-9A96397448C0}" type="datetimeFigureOut">
              <a:rPr lang="nl-BE" smtClean="0"/>
              <a:t>11/09/2026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516662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0E15A5-E95B-43EB-9AC7-9A96397448C0}" type="datetimeFigureOut">
              <a:rPr lang="nl-BE" smtClean="0"/>
              <a:t>11/09/2026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767109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11/09/2026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226002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0E15A5-E95B-43EB-9AC7-9A96397448C0}" type="datetimeFigureOut">
              <a:rPr lang="nl-BE" smtClean="0"/>
              <a:t>11/09/2026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3842903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11/09/2026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284959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C80E15A5-E95B-43EB-9AC7-9A96397448C0}" type="datetimeFigureOut">
              <a:rPr lang="nl-BE" smtClean="0"/>
              <a:t>11/09/2026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67C3C120-4544-49C4-A71C-C78FE5187513}" type="slidenum">
              <a:rPr lang="nl-BE" smtClean="0"/>
              <a:t>‹nº›</a:t>
            </a:fld>
            <a:endParaRPr lang="nl-BE"/>
          </a:p>
        </p:txBody>
      </p:sp>
    </p:spTree>
    <p:extLst>
      <p:ext uri="{BB962C8B-B14F-4D97-AF65-F5344CB8AC3E}">
        <p14:creationId xmlns:p14="http://schemas.microsoft.com/office/powerpoint/2010/main" val="4814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0E15A5-E95B-43EB-9AC7-9A96397448C0}" type="datetimeFigureOut">
              <a:rPr lang="nl-BE" smtClean="0"/>
              <a:t>11/09/2026</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C3C120-4544-49C4-A71C-C78FE5187513}" type="slidenum">
              <a:rPr lang="nl-BE" smtClean="0"/>
              <a:t>‹nº›</a:t>
            </a:fld>
            <a:endParaRPr lang="nl-BE"/>
          </a:p>
        </p:txBody>
      </p:sp>
    </p:spTree>
    <p:extLst>
      <p:ext uri="{BB962C8B-B14F-4D97-AF65-F5344CB8AC3E}">
        <p14:creationId xmlns:p14="http://schemas.microsoft.com/office/powerpoint/2010/main" val="986782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colab.research.google.com/github/zz4fap/t319_aprendizado_de_maquina/blob/main/notebooks/regression/gd_versions/exemplo_gradiente_descendente_em_batelada.ipynb"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32.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notebooks/regression/gd_versions/stocastic_gradient_descent_with_figures.ipynb"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colab.research.google.com/github/zz4fap/t319_aprendizado_de_maquina/blob/main/notebooks/regression/gd_versions/mini_batch_gradient_descent_with_figures.ipynb" TargetMode="External"/></Relationships>
</file>

<file path=ppt/slides/_rels/slide3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labs/Laboratorio3.ipynb"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github.com/zz4fap/t319_aprendizado_de_maquina/blob/main/docs/Resolu%C3%A7%C3%A3o%20e%20entrega%20dos%20laborat%C3%B3rios.pdf"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ime.unicamp.br/~valle/Teaching/MS211/Aula06.pdf" TargetMode="External"/><Relationship Id="rId2" Type="http://schemas.openxmlformats.org/officeDocument/2006/relationships/hyperlink" Target="https://www.ime.unicamp.br/~valle/Teaching/MA211/Aula6.pdf" TargetMode="External"/><Relationship Id="rId1" Type="http://schemas.openxmlformats.org/officeDocument/2006/relationships/slideLayout" Target="../slideLayouts/slideLayout2.xml"/><Relationship Id="rId4" Type="http://schemas.openxmlformats.org/officeDocument/2006/relationships/hyperlink" Target="http://tics.ifsul.edu.br/matriz/conteudo/disciplinas/algl/ue/1/4.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image" Target="../media/image50.png"/><Relationship Id="rId2" Type="http://schemas.openxmlformats.org/officeDocument/2006/relationships/image" Target="../media/image45.jpe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jpeg"/><Relationship Id="rId4" Type="http://schemas.openxmlformats.org/officeDocument/2006/relationships/image" Target="../media/image4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431.png"/><Relationship Id="rId7" Type="http://schemas.openxmlformats.org/officeDocument/2006/relationships/image" Target="../media/image420.pn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260.png"/></Relationships>
</file>

<file path=ppt/slides/_rels/slide56.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NULL"/><Relationship Id="rId9" Type="http://schemas.openxmlformats.org/officeDocument/2006/relationships/image" Target="NULL"/></Relationships>
</file>

<file path=ppt/slides/_rels/slide5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5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T319 - Introdução ao Aprendizado de Máquina:</a:t>
            </a:r>
            <a:br>
              <a:rPr lang="pt-BR" dirty="0"/>
            </a:br>
            <a:r>
              <a:rPr lang="pt-BR" b="1" i="1" dirty="0"/>
              <a:t>Regressão Linear (Parte II)</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39642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350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Recapitulando</a:t>
            </a:r>
          </a:p>
        </p:txBody>
      </p:sp>
      <p:sp>
        <p:nvSpPr>
          <p:cNvPr id="3" name="Content Placeholder 2"/>
          <p:cNvSpPr>
            <a:spLocks noGrp="1"/>
          </p:cNvSpPr>
          <p:nvPr>
            <p:ph idx="1"/>
          </p:nvPr>
        </p:nvSpPr>
        <p:spPr>
          <a:xfrm>
            <a:off x="838200" y="1825624"/>
            <a:ext cx="11272736" cy="5032375"/>
          </a:xfrm>
        </p:spPr>
        <p:txBody>
          <a:bodyPr>
            <a:normAutofit/>
          </a:bodyPr>
          <a:lstStyle/>
          <a:p>
            <a:r>
              <a:rPr lang="pt-BR" dirty="0"/>
              <a:t>Vimos a </a:t>
            </a:r>
            <a:r>
              <a:rPr lang="pt-BR" b="1" i="1" dirty="0"/>
              <a:t>motivação</a:t>
            </a:r>
            <a:r>
              <a:rPr lang="pt-BR" dirty="0"/>
              <a:t> por trás da </a:t>
            </a:r>
            <a:r>
              <a:rPr lang="pt-BR" b="1" i="1" dirty="0"/>
              <a:t>regressão linear</a:t>
            </a:r>
            <a:r>
              <a:rPr lang="pt-BR" dirty="0"/>
              <a:t>: encontrar funções que </a:t>
            </a:r>
            <a:r>
              <a:rPr lang="pt-BR" b="1" i="1" dirty="0">
                <a:solidFill>
                  <a:srgbClr val="00B050"/>
                </a:solidFill>
              </a:rPr>
              <a:t>aproximem o comportamento geral </a:t>
            </a:r>
            <a:r>
              <a:rPr lang="pt-BR" dirty="0"/>
              <a:t>de um conjunto de amostra, mesmo que contaminadas por ruído.</a:t>
            </a:r>
          </a:p>
          <a:p>
            <a:r>
              <a:rPr lang="pt-BR" dirty="0"/>
              <a:t>Definimos o </a:t>
            </a:r>
            <a:r>
              <a:rPr lang="pt-BR" b="1" i="1" dirty="0"/>
              <a:t>problema matematicamente</a:t>
            </a:r>
            <a:r>
              <a:rPr lang="pt-BR" dirty="0"/>
              <a:t>.</a:t>
            </a:r>
          </a:p>
          <a:p>
            <a:r>
              <a:rPr lang="pt-BR" dirty="0"/>
              <a:t>Vimos como </a:t>
            </a:r>
            <a:r>
              <a:rPr lang="pt-BR" b="1" i="1" dirty="0"/>
              <a:t>encontrar os pesos do modelo usando a </a:t>
            </a:r>
            <a:r>
              <a:rPr lang="pt-BR" b="1" i="1" dirty="0">
                <a:solidFill>
                  <a:srgbClr val="00B050"/>
                </a:solidFill>
              </a:rPr>
              <a:t>equação normal e visualmente </a:t>
            </a:r>
            <a:r>
              <a:rPr lang="pt-BR" dirty="0"/>
              <a:t>através da </a:t>
            </a:r>
            <a:r>
              <a:rPr lang="pt-BR" b="1" i="1" dirty="0"/>
              <a:t>superfície de erro</a:t>
            </a:r>
            <a:r>
              <a:rPr lang="pt-BR" dirty="0"/>
              <a:t>.</a:t>
            </a:r>
          </a:p>
          <a:p>
            <a:r>
              <a:rPr lang="pt-BR" dirty="0"/>
              <a:t>Discutimos algumas </a:t>
            </a:r>
            <a:r>
              <a:rPr lang="pt-BR" b="1" i="1" dirty="0"/>
              <a:t>desvantagens</a:t>
            </a:r>
            <a:r>
              <a:rPr lang="pt-BR" dirty="0"/>
              <a:t> da </a:t>
            </a:r>
            <a:r>
              <a:rPr lang="pt-BR" b="1" i="1" dirty="0"/>
              <a:t>equação normal </a:t>
            </a:r>
            <a:r>
              <a:rPr lang="pt-BR" dirty="0"/>
              <a:t>(e.g., </a:t>
            </a:r>
            <a:r>
              <a:rPr lang="pt-BR" b="1" i="1" dirty="0"/>
              <a:t>complexidade e</a:t>
            </a:r>
            <a:r>
              <a:rPr lang="pt-BR" dirty="0"/>
              <a:t> </a:t>
            </a:r>
            <a:r>
              <a:rPr lang="pt-BR" b="1" i="1" dirty="0"/>
              <a:t>regressão não-linear</a:t>
            </a:r>
            <a:r>
              <a:rPr lang="pt-BR" dirty="0"/>
              <a:t>) e vimos superficialmente como o gradiente descendente (GD) funciona.</a:t>
            </a:r>
          </a:p>
          <a:p>
            <a:r>
              <a:rPr lang="pt-BR" dirty="0"/>
              <a:t>Nesta aula, discutiremos em detalhes o funcionamento do GD.</a:t>
            </a:r>
          </a:p>
        </p:txBody>
      </p:sp>
    </p:spTree>
    <p:extLst>
      <p:ext uri="{BB962C8B-B14F-4D97-AF65-F5344CB8AC3E}">
        <p14:creationId xmlns:p14="http://schemas.microsoft.com/office/powerpoint/2010/main" val="2495786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3F10E-6CE8-F5B4-77B2-6ECA4B60D451}"/>
              </a:ext>
            </a:extLst>
          </p:cNvPr>
          <p:cNvSpPr>
            <a:spLocks noGrp="1"/>
          </p:cNvSpPr>
          <p:nvPr>
            <p:ph type="title"/>
          </p:nvPr>
        </p:nvSpPr>
        <p:spPr/>
        <p:txBody>
          <a:bodyPr/>
          <a:lstStyle/>
          <a:p>
            <a:r>
              <a:rPr lang="pt-BR" dirty="0"/>
              <a:t>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F555B0D-6D08-0865-C39E-A6D2FD651EE5}"/>
                  </a:ext>
                </a:extLst>
              </p:cNvPr>
              <p:cNvSpPr>
                <a:spLocks noGrp="1"/>
              </p:cNvSpPr>
              <p:nvPr>
                <p:ph idx="1"/>
              </p:nvPr>
            </p:nvSpPr>
            <p:spPr>
              <a:xfrm>
                <a:off x="5828044" y="1825624"/>
                <a:ext cx="6363956" cy="5032376"/>
              </a:xfrm>
            </p:spPr>
            <p:txBody>
              <a:bodyPr/>
              <a:lstStyle/>
              <a:p>
                <a:r>
                  <a:rPr lang="pt-BR" noProof="0" dirty="0">
                    <a:ea typeface="Cambria Math" panose="02040503050406030204" pitchFamily="18" charset="0"/>
                  </a:rPr>
                  <a:t>Vocês se lembram das aulas de cálculo, onde vocês aprenderam sobre o </a:t>
                </a:r>
                <a:r>
                  <a:rPr lang="pt-BR" b="1" i="1" noProof="0" dirty="0">
                    <a:solidFill>
                      <a:srgbClr val="00B050"/>
                    </a:solidFill>
                    <a:ea typeface="Cambria Math" panose="02040503050406030204" pitchFamily="18" charset="0"/>
                  </a:rPr>
                  <a:t>vetor gradiente</a:t>
                </a:r>
                <a:r>
                  <a:rPr lang="pt-BR" noProof="0" dirty="0">
                    <a:ea typeface="Cambria Math" panose="02040503050406030204" pitchFamily="18" charset="0"/>
                  </a:rPr>
                  <a:t>?</a:t>
                </a:r>
              </a:p>
              <a:p>
                <a:pPr marL="0" indent="0">
                  <a:buNone/>
                </a:pPr>
                <a14:m>
                  <m:oMathPara xmlns:m="http://schemas.openxmlformats.org/officeDocument/2006/math">
                    <m:oMath>
                      <m:r>
                        <m:rPr>
                          <m:sty m:val="p"/>
                        </m:rPr>
                        <a:rPr lang="pt-BR" i="1" noProof="0" smtClean="0">
                          <a:latin typeface="Cambria Math" panose="02040503050406030204" pitchFamily="18" charset="0"/>
                          <a:ea typeface="Cambria Math" panose="02040503050406030204" pitchFamily="18" charset="0"/>
                        </a:rPr>
                        <m:t>∇</m:t>
                      </m:r>
                      <m:r>
                        <a:rPr lang="pt-BR" i="1" noProof="0">
                          <a:latin typeface="Cambria Math" panose="02040503050406030204" pitchFamily="18" charset="0"/>
                        </a:rPr>
                        <m:t>𝑓</m:t>
                      </m:r>
                      <m:r>
                        <a:rPr lang="pt-BR" noProof="0">
                          <a:latin typeface="Cambria Math" panose="02040503050406030204" pitchFamily="18" charset="0"/>
                        </a:rPr>
                        <m:t>(</m:t>
                      </m:r>
                      <m:r>
                        <a:rPr lang="pt-BR" b="1" i="1" noProof="0">
                          <a:latin typeface="Cambria Math" panose="02040503050406030204" pitchFamily="18" charset="0"/>
                        </a:rPr>
                        <m:t>𝒙</m:t>
                      </m:r>
                      <m:r>
                        <a:rPr lang="pt-BR" noProof="0">
                          <a:latin typeface="Cambria Math" panose="02040503050406030204" pitchFamily="18" charset="0"/>
                        </a:rPr>
                        <m:t>)</m:t>
                      </m:r>
                      <m:r>
                        <a:rPr lang="pt-BR" b="0" i="1" noProof="0" smtClean="0">
                          <a:latin typeface="Cambria Math" panose="02040503050406030204" pitchFamily="18" charset="0"/>
                          <a:ea typeface="Cambria Math" panose="02040503050406030204" pitchFamily="18" charset="0"/>
                        </a:rPr>
                        <m:t>=</m:t>
                      </m:r>
                      <m:f>
                        <m:fPr>
                          <m:ctrlPr>
                            <a:rPr lang="pt-BR" i="1" noProof="0" smtClean="0">
                              <a:latin typeface="Cambria Math" panose="02040503050406030204" pitchFamily="18" charset="0"/>
                              <a:ea typeface="Cambria Math" panose="02040503050406030204" pitchFamily="18" charset="0"/>
                            </a:rPr>
                          </m:ctrlPr>
                        </m:fPr>
                        <m:num>
                          <m:r>
                            <a:rPr lang="pt-BR" i="1" noProof="0" smtClean="0">
                              <a:latin typeface="Cambria Math" panose="02040503050406030204" pitchFamily="18" charset="0"/>
                              <a:ea typeface="Cambria Math" panose="02040503050406030204" pitchFamily="18" charset="0"/>
                            </a:rPr>
                            <m:t>𝜕</m:t>
                          </m:r>
                          <m:r>
                            <a:rPr lang="pt-BR" i="1" noProof="0">
                              <a:latin typeface="Cambria Math" panose="02040503050406030204" pitchFamily="18" charset="0"/>
                            </a:rPr>
                            <m:t>𝑓</m:t>
                          </m:r>
                          <m:r>
                            <a:rPr lang="pt-BR" noProof="0">
                              <a:latin typeface="Cambria Math" panose="02040503050406030204" pitchFamily="18" charset="0"/>
                            </a:rPr>
                            <m:t>(</m:t>
                          </m:r>
                          <m:r>
                            <a:rPr lang="pt-BR" b="1" i="1" noProof="0">
                              <a:latin typeface="Cambria Math" panose="02040503050406030204" pitchFamily="18" charset="0"/>
                            </a:rPr>
                            <m:t>𝒙</m:t>
                          </m:r>
                          <m:r>
                            <a:rPr lang="pt-BR" noProof="0">
                              <a:latin typeface="Cambria Math" panose="02040503050406030204" pitchFamily="18" charset="0"/>
                            </a:rPr>
                            <m:t>)</m:t>
                          </m:r>
                        </m:num>
                        <m:den>
                          <m:r>
                            <a:rPr lang="pt-BR" i="1" noProof="0" smtClean="0">
                              <a:latin typeface="Cambria Math" panose="02040503050406030204" pitchFamily="18" charset="0"/>
                              <a:ea typeface="Cambria Math" panose="02040503050406030204" pitchFamily="18" charset="0"/>
                            </a:rPr>
                            <m:t>𝜕</m:t>
                          </m:r>
                          <m:r>
                            <a:rPr lang="pt-BR" b="1" i="1" noProof="0" smtClean="0">
                              <a:latin typeface="Cambria Math" panose="02040503050406030204" pitchFamily="18" charset="0"/>
                              <a:ea typeface="Cambria Math" panose="02040503050406030204" pitchFamily="18" charset="0"/>
                            </a:rPr>
                            <m:t>𝒙</m:t>
                          </m:r>
                        </m:den>
                      </m:f>
                    </m:oMath>
                  </m:oMathPara>
                </a14:m>
                <a:endParaRPr lang="pt-BR" noProof="0" dirty="0">
                  <a:ea typeface="Cambria Math" panose="02040503050406030204" pitchFamily="18" charset="0"/>
                </a:endParaRPr>
              </a:p>
              <a:p>
                <a:r>
                  <a:rPr lang="pt-BR" noProof="0" dirty="0"/>
                  <a:t>É o vetor composto pelas derivadas  parciais de uma função multivariável (ou </a:t>
                </a:r>
                <a:r>
                  <a:rPr lang="pt-BR" noProof="0" dirty="0" err="1"/>
                  <a:t>multi-argumento</a:t>
                </a:r>
                <a:r>
                  <a:rPr lang="pt-BR" noProof="0" dirty="0"/>
                  <a:t>), </a:t>
                </a:r>
                <a14:m>
                  <m:oMath xmlns:m="http://schemas.openxmlformats.org/officeDocument/2006/math">
                    <m:r>
                      <a:rPr lang="pt-BR" i="1" noProof="0">
                        <a:latin typeface="Cambria Math" panose="02040503050406030204" pitchFamily="18" charset="0"/>
                      </a:rPr>
                      <m:t>𝑓</m:t>
                    </m:r>
                    <m:r>
                      <a:rPr lang="pt-BR" noProof="0">
                        <a:latin typeface="Cambria Math" panose="02040503050406030204" pitchFamily="18" charset="0"/>
                      </a:rPr>
                      <m:t>(</m:t>
                    </m:r>
                    <m:r>
                      <a:rPr lang="pt-BR" b="1" i="1" noProof="0">
                        <a:latin typeface="Cambria Math" panose="02040503050406030204" pitchFamily="18" charset="0"/>
                      </a:rPr>
                      <m:t>𝒙</m:t>
                    </m:r>
                    <m:r>
                      <a:rPr lang="pt-BR" noProof="0">
                        <a:latin typeface="Cambria Math" panose="02040503050406030204" pitchFamily="18" charset="0"/>
                      </a:rPr>
                      <m:t>)</m:t>
                    </m:r>
                  </m:oMath>
                </a14:m>
                <a:r>
                  <a:rPr lang="pt-BR" noProof="0" dirty="0"/>
                  <a:t>.</a:t>
                </a:r>
              </a:p>
            </p:txBody>
          </p:sp>
        </mc:Choice>
        <mc:Fallback>
          <p:sp>
            <p:nvSpPr>
              <p:cNvPr id="3" name="Espaço Reservado para Conteúdo 2">
                <a:extLst>
                  <a:ext uri="{FF2B5EF4-FFF2-40B4-BE49-F238E27FC236}">
                    <a16:creationId xmlns:a16="http://schemas.microsoft.com/office/drawing/2014/main" id="{1F555B0D-6D08-0865-C39E-A6D2FD651EE5}"/>
                  </a:ext>
                </a:extLst>
              </p:cNvPr>
              <p:cNvSpPr>
                <a:spLocks noGrp="1" noRot="1" noChangeAspect="1" noMove="1" noResize="1" noEditPoints="1" noAdjustHandles="1" noChangeArrowheads="1" noChangeShapeType="1" noTextEdit="1"/>
              </p:cNvSpPr>
              <p:nvPr>
                <p:ph idx="1"/>
              </p:nvPr>
            </p:nvSpPr>
            <p:spPr>
              <a:xfrm>
                <a:off x="5828044" y="1825624"/>
                <a:ext cx="6363956" cy="5032376"/>
              </a:xfrm>
              <a:blipFill>
                <a:blip r:embed="rId3"/>
                <a:stretch>
                  <a:fillRect l="-1724" t="-1937" r="-1533"/>
                </a:stretch>
              </a:blipFill>
            </p:spPr>
            <p:txBody>
              <a:bodyPr/>
              <a:lstStyle/>
              <a:p>
                <a:r>
                  <a:rPr lang="en-US">
                    <a:noFill/>
                  </a:rPr>
                  <a:t> </a:t>
                </a:r>
              </a:p>
            </p:txBody>
          </p:sp>
        </mc:Fallback>
      </mc:AlternateContent>
      <p:pic>
        <p:nvPicPr>
          <p:cNvPr id="1026" name="Picture 2" descr="vector analysis - Help with the definition of the Gradient in  Multi-variable Calculus - Mathematics Stack Exchange">
            <a:extLst>
              <a:ext uri="{FF2B5EF4-FFF2-40B4-BE49-F238E27FC236}">
                <a16:creationId xmlns:a16="http://schemas.microsoft.com/office/drawing/2014/main" id="{91A62949-2E74-429E-8446-E55402A891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727" t="12662" r="11858" b="2212"/>
          <a:stretch/>
        </p:blipFill>
        <p:spPr bwMode="auto">
          <a:xfrm>
            <a:off x="476250" y="2181225"/>
            <a:ext cx="4543425"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85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3F10E-6CE8-F5B4-77B2-6ECA4B60D451}"/>
              </a:ext>
            </a:extLst>
          </p:cNvPr>
          <p:cNvSpPr>
            <a:spLocks noGrp="1"/>
          </p:cNvSpPr>
          <p:nvPr>
            <p:ph type="title"/>
          </p:nvPr>
        </p:nvSpPr>
        <p:spPr/>
        <p:txBody>
          <a:bodyPr/>
          <a:lstStyle/>
          <a:p>
            <a:r>
              <a:rPr lang="pt-BR" dirty="0"/>
              <a:t>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F555B0D-6D08-0865-C39E-A6D2FD651EE5}"/>
                  </a:ext>
                </a:extLst>
              </p:cNvPr>
              <p:cNvSpPr>
                <a:spLocks noGrp="1"/>
              </p:cNvSpPr>
              <p:nvPr>
                <p:ph idx="1"/>
              </p:nvPr>
            </p:nvSpPr>
            <p:spPr>
              <a:xfrm>
                <a:off x="838201" y="1825624"/>
                <a:ext cx="11179628" cy="5032376"/>
              </a:xfrm>
            </p:spPr>
            <p:txBody>
              <a:bodyPr>
                <a:normAutofit/>
              </a:bodyPr>
              <a:lstStyle/>
              <a:p>
                <a:r>
                  <a:rPr lang="pt-BR" dirty="0"/>
                  <a:t>O </a:t>
                </a:r>
                <a:r>
                  <a:rPr lang="pt-BR" b="1" i="1" dirty="0"/>
                  <a:t>vetor</a:t>
                </a:r>
                <a:r>
                  <a:rPr lang="pt-BR" dirty="0"/>
                  <a:t> </a:t>
                </a:r>
                <a:r>
                  <a:rPr lang="pt-BR" b="1" i="1" dirty="0"/>
                  <a:t>gradiente</a:t>
                </a:r>
                <a:r>
                  <a:rPr lang="pt-BR" dirty="0"/>
                  <a:t> de uma função com </a:t>
                </a:r>
                <a14:m>
                  <m:oMath xmlns:m="http://schemas.openxmlformats.org/officeDocument/2006/math">
                    <m:r>
                      <a:rPr lang="pt-BR" i="1">
                        <a:latin typeface="Cambria Math" panose="02040503050406030204" pitchFamily="18" charset="0"/>
                      </a:rPr>
                      <m:t>𝐾</m:t>
                    </m:r>
                  </m:oMath>
                </a14:m>
                <a:r>
                  <a:rPr lang="pt-BR" dirty="0"/>
                  <a:t> argumentos,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e>
                    </m:d>
                  </m:oMath>
                </a14:m>
                <a:r>
                  <a:rPr lang="pt-BR" dirty="0"/>
                  <a:t>, é definido pela </a:t>
                </a:r>
                <a:r>
                  <a:rPr lang="pt-BR" b="1" i="1" dirty="0">
                    <a:solidFill>
                      <a:srgbClr val="00B050"/>
                    </a:solidFill>
                  </a:rPr>
                  <a:t>derivada parcial da função em relação </a:t>
                </a:r>
                <a:r>
                  <a:rPr lang="pt-BR" b="1" i="1" dirty="0">
                    <a:solidFill>
                      <a:schemeClr val="accent2"/>
                    </a:solidFill>
                  </a:rPr>
                  <a:t>a cada um </a:t>
                </a:r>
                <a:r>
                  <a:rPr lang="pt-BR" b="1" i="1" dirty="0">
                    <a:solidFill>
                      <a:srgbClr val="00B050"/>
                    </a:solidFill>
                  </a:rPr>
                  <a:t>de seus argumentos</a:t>
                </a:r>
                <a:r>
                  <a:rPr lang="pt-BR" b="1" dirty="0">
                    <a:solidFill>
                      <a:srgbClr val="00B050"/>
                    </a:solidFill>
                  </a:rPr>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r>
                      <a:rPr lang="pt-BR" i="1">
                        <a:latin typeface="Cambria Math" panose="02040503050406030204" pitchFamily="18" charset="0"/>
                      </a:rPr>
                      <m:t>, </m:t>
                    </m:r>
                    <m:r>
                      <a:rPr lang="pt-BR" i="1">
                        <a:latin typeface="Cambria Math" panose="02040503050406030204" pitchFamily="18" charset="0"/>
                      </a:rPr>
                      <m:t>𝑘</m:t>
                    </m:r>
                    <m:r>
                      <a:rPr lang="pt-BR" i="1">
                        <a:latin typeface="Cambria Math" panose="02040503050406030204" pitchFamily="18" charset="0"/>
                      </a:rPr>
                      <m:t>=1,…,</m:t>
                    </m:r>
                    <m:r>
                      <a:rPr lang="pt-BR" i="1">
                        <a:latin typeface="Cambria Math" panose="02040503050406030204" pitchFamily="18" charset="0"/>
                      </a:rPr>
                      <m:t>𝐾</m:t>
                    </m:r>
                    <m:r>
                      <a:rPr lang="pt-BR" b="0" i="0" smtClean="0">
                        <a:latin typeface="Cambria Math" panose="02040503050406030204" pitchFamily="18" charset="0"/>
                      </a:rPr>
                      <m:t>:</m:t>
                    </m:r>
                  </m:oMath>
                </a14:m>
                <a:endParaRPr lang="pt-BR" b="0" i="0" dirty="0">
                  <a:latin typeface="Cambria Math" panose="02040503050406030204" pitchFamily="18" charset="0"/>
                </a:endParaRPr>
              </a:p>
              <a:p>
                <a:pPr marL="0" indent="0">
                  <a:buNone/>
                </a:pPr>
                <a14:m>
                  <m:oMathPara xmlns:m="http://schemas.openxmlformats.org/officeDocument/2006/math">
                    <m:oMath>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𝑓</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b="0" i="1" smtClean="0">
                                  <a:latin typeface="Cambria Math" panose="02040503050406030204" pitchFamily="18" charset="0"/>
                                </a:rPr>
                                <m:t>1</m:t>
                              </m:r>
                            </m:sub>
                          </m:sSub>
                          <m:r>
                            <a:rPr lang="pt-BR" sz="2600" i="1">
                              <a:latin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b="0" i="1" smtClean="0">
                                  <a:latin typeface="Cambria Math" panose="02040503050406030204" pitchFamily="18" charset="0"/>
                                </a:rPr>
                                <m:t>2</m:t>
                              </m:r>
                            </m:sub>
                          </m:sSub>
                          <m:r>
                            <a:rPr lang="pt-BR" sz="2600" i="1">
                              <a:latin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𝐾</m:t>
                              </m:r>
                            </m:sub>
                          </m:sSub>
                        </m:e>
                      </m:d>
                      <m:r>
                        <a:rPr lang="pt-BR" sz="2600" b="0" i="1" smtClean="0">
                          <a:latin typeface="Cambria Math" panose="02040503050406030204" pitchFamily="18" charset="0"/>
                        </a:rPr>
                        <m:t> </m:t>
                      </m:r>
                      <m:r>
                        <a:rPr lang="pt-BR" sz="2600" i="1">
                          <a:latin typeface="Cambria Math" panose="02040503050406030204" pitchFamily="18" charset="0"/>
                          <a:ea typeface="Cambria Math" panose="02040503050406030204" pitchFamily="18" charset="0"/>
                        </a:rPr>
                        <m:t>=</m:t>
                      </m:r>
                      <m:sSup>
                        <m:sSupPr>
                          <m:ctrlPr>
                            <a:rPr lang="pt-BR" sz="2600" i="1">
                              <a:latin typeface="Cambria Math" panose="02040503050406030204" pitchFamily="18" charset="0"/>
                              <a:ea typeface="Cambria Math" panose="02040503050406030204" pitchFamily="18" charset="0"/>
                            </a:rPr>
                          </m:ctrlPr>
                        </m:sSupPr>
                        <m:e>
                          <m:d>
                            <m:dPr>
                              <m:begChr m:val="["/>
                              <m:endChr m:val="]"/>
                              <m:ctrlPr>
                                <a:rPr lang="pt-BR" sz="2600" i="1">
                                  <a:latin typeface="Cambria Math" panose="02040503050406030204" pitchFamily="18" charset="0"/>
                                  <a:ea typeface="Cambria Math" panose="02040503050406030204" pitchFamily="18" charset="0"/>
                                </a:rPr>
                              </m:ctrlPr>
                            </m:dPr>
                            <m:e>
                              <m:m>
                                <m:mPr>
                                  <m:mcs>
                                    <m:mc>
                                      <m:mcPr>
                                        <m:count m:val="3"/>
                                        <m:mcJc m:val="center"/>
                                      </m:mcPr>
                                    </m:mc>
                                  </m:mcs>
                                  <m:ctrlPr>
                                    <a:rPr lang="pt-BR" sz="2600" i="1">
                                      <a:latin typeface="Cambria Math" panose="02040503050406030204" pitchFamily="18" charset="0"/>
                                      <a:ea typeface="Cambria Math" panose="02040503050406030204" pitchFamily="18" charset="0"/>
                                    </a:rPr>
                                  </m:ctrlPr>
                                </m:mPr>
                                <m:mr>
                                  <m:e>
                                    <m:m>
                                      <m:mPr>
                                        <m:mcs>
                                          <m:mc>
                                            <m:mcPr>
                                              <m:count m:val="2"/>
                                              <m:mcJc m:val="center"/>
                                            </m:mcPr>
                                          </m:mc>
                                        </m:mcs>
                                        <m:ctrlPr>
                                          <a:rPr lang="pt-BR" sz="2600" i="1">
                                            <a:latin typeface="Cambria Math" panose="02040503050406030204" pitchFamily="18" charset="0"/>
                                            <a:ea typeface="Cambria Math" panose="02040503050406030204" pitchFamily="18" charset="0"/>
                                          </a:rPr>
                                        </m:ctrlPr>
                                      </m:mPr>
                                      <m:mr>
                                        <m:e>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𝑓</m:t>
                                              </m:r>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b="0" i="1" smtClean="0">
                                                      <a:latin typeface="Cambria Math" panose="02040503050406030204" pitchFamily="18" charset="0"/>
                                                    </a:rPr>
                                                    <m:t>1</m:t>
                                                  </m:r>
                                                </m:sub>
                                              </m:sSub>
                                              <m:r>
                                                <a:rPr lang="pt-BR" sz="2600" i="1">
                                                  <a:latin typeface="Cambria Math" panose="02040503050406030204" pitchFamily="18" charset="0"/>
                                                </a:rPr>
                                                <m:t>,</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b="0" i="1" smtClean="0">
                                                      <a:latin typeface="Cambria Math" panose="02040503050406030204" pitchFamily="18" charset="0"/>
                                                    </a:rPr>
                                                    <m:t>2</m:t>
                                                  </m:r>
                                                </m:sub>
                                              </m:sSub>
                                              <m:r>
                                                <a:rPr lang="pt-BR" sz="2600" i="1">
                                                  <a:latin typeface="Cambria Math" panose="02040503050406030204" pitchFamily="18" charset="0"/>
                                                </a:rPr>
                                                <m:t>,</m:t>
                                              </m:r>
                                              <m:r>
                                                <a:rPr lang="pt-BR" sz="2600" b="0" i="1" smtClean="0">
                                                  <a:latin typeface="Cambria Math" panose="02040503050406030204" pitchFamily="18" charset="0"/>
                                                </a:rPr>
                                                <m:t>  </m:t>
                                              </m:r>
                                              <m:r>
                                                <a:rPr lang="pt-BR" sz="2600" i="1">
                                                  <a:latin typeface="Cambria Math" panose="02040503050406030204" pitchFamily="18" charset="0"/>
                                                </a:rPr>
                                                <m:t>…,</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i="1">
                                                      <a:latin typeface="Cambria Math" panose="02040503050406030204" pitchFamily="18" charset="0"/>
                                                    </a:rPr>
                                                    <m:t>𝐾</m:t>
                                                  </m:r>
                                                </m:sub>
                                              </m:sSub>
                                              <m:r>
                                                <a:rPr lang="pt-BR" sz="2600" i="1">
                                                  <a:latin typeface="Cambria Math" panose="02040503050406030204" pitchFamily="18" charset="0"/>
                                                  <a:ea typeface="Cambria Math" panose="02040503050406030204" pitchFamily="18" charset="0"/>
                                                </a:rPr>
                                                <m:t>)</m:t>
                                              </m:r>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ea typeface="Cambria Math" panose="02040503050406030204" pitchFamily="18" charset="0"/>
                                                    </a:rPr>
                                                  </m:ctrlPr>
                                                </m:sSubPr>
                                                <m:e>
                                                  <m:r>
                                                    <a:rPr lang="pt-BR" sz="2600" i="1">
                                                      <a:latin typeface="Cambria Math" panose="02040503050406030204" pitchFamily="18" charset="0"/>
                                                      <a:ea typeface="Cambria Math" panose="02040503050406030204" pitchFamily="18" charset="0"/>
                                                    </a:rPr>
                                                    <m:t>𝑥</m:t>
                                                  </m:r>
                                                </m:e>
                                                <m:sub>
                                                  <m:r>
                                                    <a:rPr lang="pt-BR" sz="2600" b="0" i="1" smtClean="0">
                                                      <a:latin typeface="Cambria Math" panose="02040503050406030204" pitchFamily="18" charset="0"/>
                                                      <a:ea typeface="Cambria Math" panose="02040503050406030204" pitchFamily="18" charset="0"/>
                                                    </a:rPr>
                                                    <m:t>1</m:t>
                                                  </m:r>
                                                </m:sub>
                                              </m:sSub>
                                            </m:den>
                                          </m:f>
                                        </m:e>
                                        <m:e>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𝑓</m:t>
                                              </m:r>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b="0" i="1" smtClean="0">
                                                      <a:latin typeface="Cambria Math" panose="02040503050406030204" pitchFamily="18" charset="0"/>
                                                    </a:rPr>
                                                    <m:t>1</m:t>
                                                  </m:r>
                                                </m:sub>
                                              </m:sSub>
                                              <m:r>
                                                <a:rPr lang="pt-BR" sz="2600" i="1">
                                                  <a:latin typeface="Cambria Math" panose="02040503050406030204" pitchFamily="18" charset="0"/>
                                                </a:rPr>
                                                <m:t>,</m:t>
                                              </m:r>
                                              <m:r>
                                                <a:rPr lang="pt-BR" sz="2600" b="0" i="1" smtClean="0">
                                                  <a:latin typeface="Cambria Math" panose="02040503050406030204" pitchFamily="18" charset="0"/>
                                                </a:rPr>
                                                <m:t>  </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b="0" i="1" smtClean="0">
                                                      <a:latin typeface="Cambria Math" panose="02040503050406030204" pitchFamily="18" charset="0"/>
                                                    </a:rPr>
                                                    <m:t>2</m:t>
                                                  </m:r>
                                                </m:sub>
                                              </m:sSub>
                                              <m:r>
                                                <a:rPr lang="pt-BR" sz="2600" i="1">
                                                  <a:latin typeface="Cambria Math" panose="02040503050406030204" pitchFamily="18" charset="0"/>
                                                </a:rPr>
                                                <m:t>,…,</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i="1">
                                                      <a:latin typeface="Cambria Math" panose="02040503050406030204" pitchFamily="18" charset="0"/>
                                                    </a:rPr>
                                                    <m:t>𝐾</m:t>
                                                  </m:r>
                                                </m:sub>
                                              </m:sSub>
                                              <m:r>
                                                <a:rPr lang="pt-BR" sz="2600" i="1">
                                                  <a:latin typeface="Cambria Math" panose="02040503050406030204" pitchFamily="18" charset="0"/>
                                                  <a:ea typeface="Cambria Math" panose="02040503050406030204" pitchFamily="18" charset="0"/>
                                                </a:rPr>
                                                <m:t>)</m:t>
                                              </m:r>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ea typeface="Cambria Math" panose="02040503050406030204" pitchFamily="18" charset="0"/>
                                                    </a:rPr>
                                                  </m:ctrlPr>
                                                </m:sSubPr>
                                                <m:e>
                                                  <m:r>
                                                    <a:rPr lang="pt-BR" sz="2600" i="1">
                                                      <a:latin typeface="Cambria Math" panose="02040503050406030204" pitchFamily="18" charset="0"/>
                                                      <a:ea typeface="Cambria Math" panose="02040503050406030204" pitchFamily="18" charset="0"/>
                                                    </a:rPr>
                                                    <m:t>𝑥</m:t>
                                                  </m:r>
                                                </m:e>
                                                <m:sub>
                                                  <m:r>
                                                    <a:rPr lang="pt-BR" sz="2600" b="0" i="1" smtClean="0">
                                                      <a:latin typeface="Cambria Math" panose="02040503050406030204" pitchFamily="18" charset="0"/>
                                                      <a:ea typeface="Cambria Math" panose="02040503050406030204" pitchFamily="18" charset="0"/>
                                                    </a:rPr>
                                                    <m:t>2</m:t>
                                                  </m:r>
                                                </m:sub>
                                              </m:sSub>
                                            </m:den>
                                          </m:f>
                                        </m:e>
                                      </m:mr>
                                    </m:m>
                                  </m:e>
                                  <m:e>
                                    <m:r>
                                      <a:rPr lang="pt-BR" sz="2600" i="1">
                                        <a:latin typeface="Cambria Math" panose="02040503050406030204" pitchFamily="18" charset="0"/>
                                        <a:ea typeface="Cambria Math" panose="02040503050406030204" pitchFamily="18" charset="0"/>
                                      </a:rPr>
                                      <m:t>…</m:t>
                                    </m:r>
                                  </m:e>
                                  <m:e>
                                    <m:f>
                                      <m:fPr>
                                        <m:ctrlPr>
                                          <a:rPr lang="pt-BR" sz="2600" i="1">
                                            <a:latin typeface="Cambria Math" panose="02040503050406030204" pitchFamily="18" charset="0"/>
                                            <a:ea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𝑓</m:t>
                                        </m:r>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b="0" i="1" smtClean="0">
                                                <a:latin typeface="Cambria Math" panose="02040503050406030204" pitchFamily="18" charset="0"/>
                                              </a:rPr>
                                              <m:t>1</m:t>
                                            </m:r>
                                          </m:sub>
                                        </m:sSub>
                                        <m:r>
                                          <a:rPr lang="pt-BR" sz="2600" i="1">
                                            <a:latin typeface="Cambria Math" panose="02040503050406030204" pitchFamily="18" charset="0"/>
                                          </a:rPr>
                                          <m:t>,</m:t>
                                        </m:r>
                                        <m:r>
                                          <a:rPr lang="pt-BR" sz="2600" b="0" i="1" smtClean="0">
                                            <a:latin typeface="Cambria Math" panose="02040503050406030204" pitchFamily="18" charset="0"/>
                                          </a:rPr>
                                          <m:t> </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b="0" i="1" smtClean="0">
                                                <a:latin typeface="Cambria Math" panose="02040503050406030204" pitchFamily="18" charset="0"/>
                                              </a:rPr>
                                              <m:t>2</m:t>
                                            </m:r>
                                          </m:sub>
                                        </m:sSub>
                                        <m:r>
                                          <a:rPr lang="pt-BR" sz="2600" i="1">
                                            <a:latin typeface="Cambria Math" panose="02040503050406030204" pitchFamily="18" charset="0"/>
                                          </a:rPr>
                                          <m:t>,…,</m:t>
                                        </m:r>
                                        <m:sSub>
                                          <m:sSubPr>
                                            <m:ctrlPr>
                                              <a:rPr lang="pt-BR" sz="2600" b="0" i="1" smtClean="0">
                                                <a:latin typeface="Cambria Math" panose="02040503050406030204" pitchFamily="18" charset="0"/>
                                              </a:rPr>
                                            </m:ctrlPr>
                                          </m:sSubPr>
                                          <m:e>
                                            <m:r>
                                              <a:rPr lang="pt-BR" sz="2600" b="0" i="1" smtClean="0">
                                                <a:latin typeface="Cambria Math" panose="02040503050406030204" pitchFamily="18" charset="0"/>
                                              </a:rPr>
                                              <m:t> </m:t>
                                            </m:r>
                                            <m:r>
                                              <a:rPr lang="pt-BR" sz="2600" i="1">
                                                <a:latin typeface="Cambria Math" panose="02040503050406030204" pitchFamily="18" charset="0"/>
                                              </a:rPr>
                                              <m:t>𝑥</m:t>
                                            </m:r>
                                          </m:e>
                                          <m:sub>
                                            <m:r>
                                              <a:rPr lang="pt-BR" sz="2600" i="1">
                                                <a:latin typeface="Cambria Math" panose="02040503050406030204" pitchFamily="18" charset="0"/>
                                              </a:rPr>
                                              <m:t>𝐾</m:t>
                                            </m:r>
                                          </m:sub>
                                        </m:sSub>
                                        <m:r>
                                          <a:rPr lang="pt-BR" sz="2600" i="1">
                                            <a:latin typeface="Cambria Math" panose="02040503050406030204" pitchFamily="18" charset="0"/>
                                            <a:ea typeface="Cambria Math" panose="02040503050406030204" pitchFamily="18" charset="0"/>
                                          </a:rPr>
                                          <m:t>)</m:t>
                                        </m:r>
                                      </m:num>
                                      <m:den>
                                        <m:r>
                                          <a:rPr lang="pt-BR" sz="2600" i="1">
                                            <a:latin typeface="Cambria Math" panose="02040503050406030204" pitchFamily="18" charset="0"/>
                                            <a:ea typeface="Cambria Math" panose="02040503050406030204" pitchFamily="18" charset="0"/>
                                          </a:rPr>
                                          <m:t>𝜕</m:t>
                                        </m:r>
                                        <m:sSub>
                                          <m:sSubPr>
                                            <m:ctrlPr>
                                              <a:rPr lang="pt-BR" sz="2600" i="1">
                                                <a:latin typeface="Cambria Math" panose="02040503050406030204" pitchFamily="18" charset="0"/>
                                                <a:ea typeface="Cambria Math" panose="02040503050406030204" pitchFamily="18" charset="0"/>
                                              </a:rPr>
                                            </m:ctrlPr>
                                          </m:sSubPr>
                                          <m:e>
                                            <m:r>
                                              <a:rPr lang="pt-BR" sz="2600" i="1">
                                                <a:latin typeface="Cambria Math" panose="02040503050406030204" pitchFamily="18" charset="0"/>
                                                <a:ea typeface="Cambria Math" panose="02040503050406030204" pitchFamily="18" charset="0"/>
                                              </a:rPr>
                                              <m:t>𝑥</m:t>
                                            </m:r>
                                          </m:e>
                                          <m:sub>
                                            <m:r>
                                              <a:rPr lang="pt-BR" sz="2600" i="1">
                                                <a:latin typeface="Cambria Math" panose="02040503050406030204" pitchFamily="18" charset="0"/>
                                                <a:ea typeface="Cambria Math" panose="02040503050406030204" pitchFamily="18" charset="0"/>
                                              </a:rPr>
                                              <m:t>𝐾</m:t>
                                            </m:r>
                                          </m:sub>
                                        </m:sSub>
                                      </m:den>
                                    </m:f>
                                  </m:e>
                                </m:mr>
                              </m:m>
                            </m:e>
                          </m:d>
                        </m:e>
                        <m:sup>
                          <m:r>
                            <a:rPr lang="pt-BR" sz="2600" i="1">
                              <a:latin typeface="Cambria Math" panose="02040503050406030204" pitchFamily="18" charset="0"/>
                              <a:ea typeface="Cambria Math" panose="02040503050406030204" pitchFamily="18" charset="0"/>
                            </a:rPr>
                            <m:t>𝑇</m:t>
                          </m:r>
                        </m:sup>
                      </m:sSup>
                      <m:r>
                        <a:rPr lang="pt-BR" sz="2600" b="0" i="1" smtClean="0">
                          <a:latin typeface="Cambria Math" panose="02040503050406030204" pitchFamily="18" charset="0"/>
                          <a:ea typeface="Cambria Math" panose="02040503050406030204" pitchFamily="18" charset="0"/>
                        </a:rPr>
                        <m:t>.</m:t>
                      </m:r>
                    </m:oMath>
                  </m:oMathPara>
                </a14:m>
                <a:endParaRPr lang="pt-BR" dirty="0"/>
              </a:p>
              <a:p>
                <a:r>
                  <a:rPr lang="pt-BR" dirty="0"/>
                  <a:t>O vetor gradiente é representado pelo símbolo </a:t>
                </a:r>
                <a:r>
                  <a:rPr lang="pt-BR" i="1" dirty="0" err="1"/>
                  <a:t>Nabla</a:t>
                </a:r>
                <a:r>
                  <a:rPr lang="pt-BR" dirty="0"/>
                  <a:t>, </a:t>
                </a:r>
                <a14:m>
                  <m:oMath xmlns:m="http://schemas.openxmlformats.org/officeDocument/2006/math">
                    <m:r>
                      <a:rPr lang="pt-BR" sz="2800" i="1" smtClean="0">
                        <a:latin typeface="Cambria Math" panose="02040503050406030204" pitchFamily="18" charset="0"/>
                        <a:ea typeface="Cambria Math" panose="02040503050406030204" pitchFamily="18" charset="0"/>
                      </a:rPr>
                      <m:t>𝛻</m:t>
                    </m:r>
                  </m:oMath>
                </a14:m>
                <a:r>
                  <a:rPr lang="pt-BR" dirty="0"/>
                  <a:t>, e é definido como um </a:t>
                </a:r>
                <a:r>
                  <a:rPr lang="pt-BR" b="1" i="1" dirty="0">
                    <a:solidFill>
                      <a:srgbClr val="00B050"/>
                    </a:solidFill>
                  </a:rPr>
                  <a:t>vetor coluna</a:t>
                </a:r>
                <a:r>
                  <a:rPr lang="pt-BR" dirty="0"/>
                  <a:t>, com </a:t>
                </a:r>
                <a:r>
                  <a:rPr lang="pt-BR" b="1" i="1" dirty="0">
                    <a:solidFill>
                      <a:srgbClr val="7030A0"/>
                    </a:solidFill>
                  </a:rPr>
                  <a:t>número de elementos igual ao número de argumentos da função</a:t>
                </a:r>
                <a:r>
                  <a:rPr lang="pt-BR" dirty="0"/>
                  <a:t>.</a:t>
                </a:r>
              </a:p>
              <a:p>
                <a:r>
                  <a:rPr lang="pt-BR" dirty="0"/>
                  <a:t>Qual </a:t>
                </a:r>
                <a:r>
                  <a:rPr lang="pt-BR" b="1" i="1" dirty="0">
                    <a:solidFill>
                      <a:srgbClr val="00B050"/>
                    </a:solidFill>
                  </a:rPr>
                  <a:t>informação</a:t>
                </a:r>
                <a:r>
                  <a:rPr lang="pt-BR" dirty="0"/>
                  <a:t> o vetor nos dá sobre a função, </a:t>
                </a:r>
                <a14:m>
                  <m:oMath xmlns:m="http://schemas.openxmlformats.org/officeDocument/2006/math">
                    <m:r>
                      <a:rPr lang="pt-BR" i="1">
                        <a:latin typeface="Cambria Math" panose="02040503050406030204" pitchFamily="18" charset="0"/>
                      </a:rPr>
                      <m:t>𝑓</m:t>
                    </m:r>
                    <m:r>
                      <a:rPr lang="pt-BR">
                        <a:latin typeface="Cambria Math" panose="02040503050406030204" pitchFamily="18" charset="0"/>
                      </a:rPr>
                      <m:t>(</m:t>
                    </m:r>
                    <m:r>
                      <a:rPr lang="pt-BR" b="1" i="1">
                        <a:latin typeface="Cambria Math" panose="02040503050406030204" pitchFamily="18" charset="0"/>
                      </a:rPr>
                      <m:t>𝒙</m:t>
                    </m:r>
                    <m:r>
                      <a:rPr lang="pt-BR">
                        <a:latin typeface="Cambria Math" panose="02040503050406030204" pitchFamily="18" charset="0"/>
                      </a:rPr>
                      <m:t>)</m:t>
                    </m:r>
                  </m:oMath>
                </a14:m>
                <a:r>
                  <a:rPr lang="pt-BR" dirty="0"/>
                  <a:t>?</a:t>
                </a:r>
              </a:p>
            </p:txBody>
          </p:sp>
        </mc:Choice>
        <mc:Fallback>
          <p:sp>
            <p:nvSpPr>
              <p:cNvPr id="3" name="Espaço Reservado para Conteúdo 2">
                <a:extLst>
                  <a:ext uri="{FF2B5EF4-FFF2-40B4-BE49-F238E27FC236}">
                    <a16:creationId xmlns:a16="http://schemas.microsoft.com/office/drawing/2014/main" id="{1F555B0D-6D08-0865-C39E-A6D2FD651EE5}"/>
                  </a:ext>
                </a:extLst>
              </p:cNvPr>
              <p:cNvSpPr>
                <a:spLocks noGrp="1" noRot="1" noChangeAspect="1" noMove="1" noResize="1" noEditPoints="1" noAdjustHandles="1" noChangeArrowheads="1" noChangeShapeType="1" noTextEdit="1"/>
              </p:cNvSpPr>
              <p:nvPr>
                <p:ph idx="1"/>
              </p:nvPr>
            </p:nvSpPr>
            <p:spPr>
              <a:xfrm>
                <a:off x="838201" y="1825624"/>
                <a:ext cx="11179628" cy="5032376"/>
              </a:xfrm>
              <a:blipFill>
                <a:blip r:embed="rId3"/>
                <a:stretch>
                  <a:fillRect l="-982" t="-1937"/>
                </a:stretch>
              </a:blipFill>
            </p:spPr>
            <p:txBody>
              <a:bodyPr/>
              <a:lstStyle/>
              <a:p>
                <a:r>
                  <a:rPr lang="en-US">
                    <a:noFill/>
                  </a:rPr>
                  <a:t> </a:t>
                </a:r>
              </a:p>
            </p:txBody>
          </p:sp>
        </mc:Fallback>
      </mc:AlternateContent>
    </p:spTree>
    <p:extLst>
      <p:ext uri="{BB962C8B-B14F-4D97-AF65-F5344CB8AC3E}">
        <p14:creationId xmlns:p14="http://schemas.microsoft.com/office/powerpoint/2010/main" val="4101905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3F10E-6CE8-F5B4-77B2-6ECA4B60D451}"/>
              </a:ext>
            </a:extLst>
          </p:cNvPr>
          <p:cNvSpPr>
            <a:spLocks noGrp="1"/>
          </p:cNvSpPr>
          <p:nvPr>
            <p:ph type="title"/>
          </p:nvPr>
        </p:nvSpPr>
        <p:spPr/>
        <p:txBody>
          <a:bodyPr/>
          <a:lstStyle/>
          <a:p>
            <a:r>
              <a:rPr lang="pt-BR" dirty="0"/>
              <a:t>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F555B0D-6D08-0865-C39E-A6D2FD651EE5}"/>
                  </a:ext>
                </a:extLst>
              </p:cNvPr>
              <p:cNvSpPr>
                <a:spLocks noGrp="1"/>
              </p:cNvSpPr>
              <p:nvPr>
                <p:ph idx="1"/>
              </p:nvPr>
            </p:nvSpPr>
            <p:spPr>
              <a:xfrm>
                <a:off x="6215974" y="1825624"/>
                <a:ext cx="5811903" cy="5032376"/>
              </a:xfrm>
            </p:spPr>
            <p:txBody>
              <a:bodyPr>
                <a:normAutofit/>
              </a:bodyPr>
              <a:lstStyle/>
              <a:p>
                <a:r>
                  <a:rPr lang="pt-BR" b="0" i="0" dirty="0">
                    <a:solidFill>
                      <a:schemeClr val="tx1"/>
                    </a:solidFill>
                    <a:effectLst/>
                  </a:rPr>
                  <a:t>O vetor gradiente </a:t>
                </a:r>
                <a:r>
                  <a:rPr lang="pt-BR" b="1" i="1" dirty="0">
                    <a:solidFill>
                      <a:srgbClr val="FF0000"/>
                    </a:solidFill>
                    <a:effectLst/>
                  </a:rPr>
                  <a:t>aponta</a:t>
                </a:r>
                <a:r>
                  <a:rPr lang="pt-BR" b="0" i="0" dirty="0">
                    <a:solidFill>
                      <a:schemeClr val="tx1"/>
                    </a:solidFill>
                    <a:effectLst/>
                  </a:rPr>
                  <a:t> </a:t>
                </a:r>
                <a:r>
                  <a:rPr lang="pt-BR" dirty="0"/>
                  <a:t>para a</a:t>
                </a:r>
                <a:r>
                  <a:rPr lang="pt-BR" b="0" i="0" dirty="0">
                    <a:solidFill>
                      <a:schemeClr val="tx1"/>
                    </a:solidFill>
                    <a:effectLst/>
                  </a:rPr>
                  <a:t> </a:t>
                </a:r>
                <a:r>
                  <a:rPr lang="pt-BR" b="1" i="1" dirty="0">
                    <a:solidFill>
                      <a:srgbClr val="00B050"/>
                    </a:solidFill>
                    <a:effectLst/>
                  </a:rPr>
                  <a:t>direção</a:t>
                </a:r>
                <a:r>
                  <a:rPr lang="pt-BR" b="0" i="0" dirty="0">
                    <a:solidFill>
                      <a:schemeClr val="tx1"/>
                    </a:solidFill>
                    <a:effectLst/>
                  </a:rPr>
                  <a:t> na qual a função </a:t>
                </a:r>
                <a14:m>
                  <m:oMath xmlns:m="http://schemas.openxmlformats.org/officeDocument/2006/math">
                    <m:r>
                      <a:rPr lang="pt-BR" b="0" i="1" smtClean="0">
                        <a:solidFill>
                          <a:schemeClr val="tx1"/>
                        </a:solidFill>
                        <a:latin typeface="Cambria Math" panose="02040503050406030204" pitchFamily="18" charset="0"/>
                      </a:rPr>
                      <m:t>𝑓</m:t>
                    </m:r>
                    <m:r>
                      <a:rPr lang="pt-BR" b="0" i="0" smtClean="0">
                        <a:solidFill>
                          <a:schemeClr val="tx1"/>
                        </a:solidFill>
                        <a:latin typeface="Cambria Math" panose="02040503050406030204" pitchFamily="18" charset="0"/>
                      </a:rPr>
                      <m:t>(</m:t>
                    </m:r>
                    <m:r>
                      <a:rPr lang="pt-BR" b="1" i="1" smtClean="0">
                        <a:solidFill>
                          <a:schemeClr val="tx1"/>
                        </a:solidFill>
                        <a:latin typeface="Cambria Math" panose="02040503050406030204" pitchFamily="18" charset="0"/>
                      </a:rPr>
                      <m:t>𝒙</m:t>
                    </m:r>
                    <m:r>
                      <a:rPr lang="pt-BR" b="0" i="0" smtClean="0">
                        <a:solidFill>
                          <a:schemeClr val="tx1"/>
                        </a:solidFill>
                        <a:latin typeface="Cambria Math" panose="02040503050406030204" pitchFamily="18" charset="0"/>
                      </a:rPr>
                      <m:t>)</m:t>
                    </m:r>
                  </m:oMath>
                </a14:m>
                <a:r>
                  <a:rPr lang="pt-BR" b="0" i="0" dirty="0">
                    <a:solidFill>
                      <a:schemeClr val="tx1"/>
                    </a:solidFill>
                    <a:effectLst/>
                  </a:rPr>
                  <a:t> </a:t>
                </a:r>
                <a:r>
                  <a:rPr lang="pt-BR" b="1" i="1" dirty="0">
                    <a:solidFill>
                      <a:srgbClr val="00B050"/>
                    </a:solidFill>
                    <a:effectLst/>
                  </a:rPr>
                  <a:t>cresce mais rapidamente </a:t>
                </a:r>
                <a:r>
                  <a:rPr lang="pt-BR" b="1" i="1" dirty="0">
                    <a:solidFill>
                      <a:srgbClr val="7030A0"/>
                    </a:solidFill>
                    <a:effectLst/>
                  </a:rPr>
                  <a:t>a partir do ponto, </a:t>
                </a:r>
                <a14:m>
                  <m:oMath xmlns:m="http://schemas.openxmlformats.org/officeDocument/2006/math">
                    <m:r>
                      <a:rPr lang="pt-BR" b="1" i="1">
                        <a:latin typeface="Cambria Math" panose="02040503050406030204" pitchFamily="18" charset="0"/>
                      </a:rPr>
                      <m:t>𝒙</m:t>
                    </m:r>
                    <m:r>
                      <a:rPr lang="pt-BR" b="1" i="1" smtClean="0">
                        <a:latin typeface="Cambria Math" panose="02040503050406030204" pitchFamily="18" charset="0"/>
                      </a:rPr>
                      <m:t>,</m:t>
                    </m:r>
                  </m:oMath>
                </a14:m>
                <a:r>
                  <a:rPr lang="pt-BR" b="1" i="1" dirty="0">
                    <a:solidFill>
                      <a:srgbClr val="7030A0"/>
                    </a:solidFill>
                    <a:effectLst/>
                  </a:rPr>
                  <a:t> </a:t>
                </a:r>
                <a:r>
                  <a:rPr lang="pt-BR" b="1" i="1" dirty="0">
                    <a:solidFill>
                      <a:srgbClr val="00B050"/>
                    </a:solidFill>
                  </a:rPr>
                  <a:t>onde</a:t>
                </a:r>
                <a:r>
                  <a:rPr lang="pt-BR" b="1" i="1" dirty="0">
                    <a:solidFill>
                      <a:srgbClr val="00B050"/>
                    </a:solidFill>
                    <a:effectLst/>
                  </a:rPr>
                  <a:t> é calculado</a:t>
                </a:r>
                <a:r>
                  <a:rPr lang="pt-BR" b="0" i="0" dirty="0">
                    <a:solidFill>
                      <a:schemeClr val="tx1"/>
                    </a:solidFill>
                    <a:effectLst/>
                  </a:rPr>
                  <a:t>. </a:t>
                </a:r>
              </a:p>
            </p:txBody>
          </p:sp>
        </mc:Choice>
        <mc:Fallback>
          <p:sp>
            <p:nvSpPr>
              <p:cNvPr id="3" name="Espaço Reservado para Conteúdo 2">
                <a:extLst>
                  <a:ext uri="{FF2B5EF4-FFF2-40B4-BE49-F238E27FC236}">
                    <a16:creationId xmlns:a16="http://schemas.microsoft.com/office/drawing/2014/main" id="{1F555B0D-6D08-0865-C39E-A6D2FD651EE5}"/>
                  </a:ext>
                </a:extLst>
              </p:cNvPr>
              <p:cNvSpPr>
                <a:spLocks noGrp="1" noRot="1" noChangeAspect="1" noMove="1" noResize="1" noEditPoints="1" noAdjustHandles="1" noChangeArrowheads="1" noChangeShapeType="1" noTextEdit="1"/>
              </p:cNvSpPr>
              <p:nvPr>
                <p:ph idx="1"/>
              </p:nvPr>
            </p:nvSpPr>
            <p:spPr>
              <a:xfrm>
                <a:off x="6215974" y="1825624"/>
                <a:ext cx="5811903" cy="5032376"/>
              </a:xfrm>
              <a:blipFill>
                <a:blip r:embed="rId3"/>
                <a:stretch>
                  <a:fillRect l="-1889" t="-1937" r="-2833"/>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475C5C40-4A20-7C74-237C-B4CF3631FDC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652" b="50019"/>
          <a:stretch/>
        </p:blipFill>
        <p:spPr>
          <a:xfrm>
            <a:off x="164123" y="2655614"/>
            <a:ext cx="5044273" cy="2398707"/>
          </a:xfrm>
          <a:prstGeom prst="rect">
            <a:avLst/>
          </a:prstGeom>
        </p:spPr>
      </p:pic>
    </p:spTree>
    <p:extLst>
      <p:ext uri="{BB962C8B-B14F-4D97-AF65-F5344CB8AC3E}">
        <p14:creationId xmlns:p14="http://schemas.microsoft.com/office/powerpoint/2010/main" val="3747842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3F10E-6CE8-F5B4-77B2-6ECA4B60D451}"/>
              </a:ext>
            </a:extLst>
          </p:cNvPr>
          <p:cNvSpPr>
            <a:spLocks noGrp="1"/>
          </p:cNvSpPr>
          <p:nvPr>
            <p:ph type="title"/>
          </p:nvPr>
        </p:nvSpPr>
        <p:spPr/>
        <p:txBody>
          <a:bodyPr/>
          <a:lstStyle/>
          <a:p>
            <a:r>
              <a:rPr lang="pt-BR" dirty="0"/>
              <a:t>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F555B0D-6D08-0865-C39E-A6D2FD651EE5}"/>
                  </a:ext>
                </a:extLst>
              </p:cNvPr>
              <p:cNvSpPr>
                <a:spLocks noGrp="1"/>
              </p:cNvSpPr>
              <p:nvPr>
                <p:ph idx="1"/>
              </p:nvPr>
            </p:nvSpPr>
            <p:spPr>
              <a:xfrm>
                <a:off x="5596932" y="1825624"/>
                <a:ext cx="6504277" cy="5032376"/>
              </a:xfrm>
            </p:spPr>
            <p:txBody>
              <a:bodyPr>
                <a:normAutofit/>
              </a:bodyPr>
              <a:lstStyle/>
              <a:p>
                <a:r>
                  <a:rPr lang="pt-BR" noProof="0" dirty="0"/>
                  <a:t>A</a:t>
                </a:r>
                <a:r>
                  <a:rPr lang="pt-BR" b="1" noProof="0" dirty="0"/>
                  <a:t> norma do vetor gradiente</a:t>
                </a:r>
                <a:r>
                  <a:rPr lang="pt-BR" noProof="0" dirty="0"/>
                  <a:t>,</a:t>
                </a:r>
                <a:r>
                  <a:rPr lang="pt-BR" b="1" noProof="0" dirty="0"/>
                  <a:t> </a:t>
                </a:r>
                <a14:m>
                  <m:oMath xmlns:m="http://schemas.openxmlformats.org/officeDocument/2006/math">
                    <m:d>
                      <m:dPr>
                        <m:begChr m:val="‖"/>
                        <m:endChr m:val="‖"/>
                        <m:ctrlPr>
                          <a:rPr lang="pt-BR" i="1" noProof="0">
                            <a:latin typeface="Cambria Math" panose="02040503050406030204" pitchFamily="18" charset="0"/>
                            <a:ea typeface="Cambria Math" panose="02040503050406030204" pitchFamily="18" charset="0"/>
                          </a:rPr>
                        </m:ctrlPr>
                      </m:dPr>
                      <m:e>
                        <m:r>
                          <a:rPr lang="pt-BR" i="1" noProof="0">
                            <a:latin typeface="Cambria Math" panose="02040503050406030204" pitchFamily="18" charset="0"/>
                            <a:ea typeface="Cambria Math" panose="02040503050406030204" pitchFamily="18" charset="0"/>
                          </a:rPr>
                          <m:t>𝛻</m:t>
                        </m:r>
                        <m:sSub>
                          <m:sSubPr>
                            <m:ctrlPr>
                              <a:rPr lang="pt-BR" i="1" noProof="0">
                                <a:latin typeface="Cambria Math" panose="02040503050406030204" pitchFamily="18" charset="0"/>
                              </a:rPr>
                            </m:ctrlPr>
                          </m:sSubPr>
                          <m:e>
                            <m:r>
                              <a:rPr lang="pt-BR" i="1" noProof="0">
                                <a:latin typeface="Cambria Math" panose="02040503050406030204" pitchFamily="18" charset="0"/>
                              </a:rPr>
                              <m:t>𝐽</m:t>
                            </m:r>
                          </m:e>
                          <m:sub>
                            <m:r>
                              <a:rPr lang="pt-BR" i="1" noProof="0">
                                <a:latin typeface="Cambria Math" panose="02040503050406030204" pitchFamily="18" charset="0"/>
                              </a:rPr>
                              <m:t>𝑒</m:t>
                            </m:r>
                          </m:sub>
                        </m:sSub>
                        <m:d>
                          <m:dPr>
                            <m:ctrlPr>
                              <a:rPr lang="pt-BR" b="1" i="1" noProof="0">
                                <a:latin typeface="Cambria Math" panose="02040503050406030204" pitchFamily="18" charset="0"/>
                              </a:rPr>
                            </m:ctrlPr>
                          </m:dPr>
                          <m:e>
                            <m:r>
                              <a:rPr lang="pt-BR" b="1" i="1" noProof="0">
                                <a:latin typeface="Cambria Math" panose="02040503050406030204" pitchFamily="18" charset="0"/>
                              </a:rPr>
                              <m:t>𝒂</m:t>
                            </m:r>
                          </m:e>
                        </m:d>
                      </m:e>
                    </m:d>
                  </m:oMath>
                </a14:m>
                <a:r>
                  <a:rPr lang="pt-BR" noProof="0" dirty="0"/>
                  <a:t>, mede o quão íngreme é a subida.</a:t>
                </a:r>
              </a:p>
              <a:p>
                <a:r>
                  <a:rPr lang="pt-BR" noProof="0" dirty="0"/>
                  <a:t>Quanto maior o valor da norma, maior a taxa de crescimento naquela direção.</a:t>
                </a:r>
                <a:endParaRPr lang="pt-BR" noProof="0" dirty="0">
                  <a:solidFill>
                    <a:schemeClr val="tx1"/>
                  </a:solidFill>
                </a:endParaRPr>
              </a:p>
              <a:p>
                <a:r>
                  <a:rPr lang="pt-BR" noProof="0" dirty="0"/>
                  <a:t>Os </a:t>
                </a:r>
                <a:r>
                  <a:rPr lang="pt-BR" b="1" i="1" noProof="0" dirty="0">
                    <a:solidFill>
                      <a:srgbClr val="00B050"/>
                    </a:solidFill>
                  </a:rPr>
                  <a:t>sinais</a:t>
                </a:r>
                <a:r>
                  <a:rPr lang="pt-BR" noProof="0" dirty="0"/>
                  <a:t> dos elementos do vetor dizem para qual “</a:t>
                </a:r>
                <a:r>
                  <a:rPr lang="pt-BR" b="1" i="1" noProof="0" dirty="0"/>
                  <a:t>lado</a:t>
                </a:r>
                <a:r>
                  <a:rPr lang="pt-BR" noProof="0" dirty="0"/>
                  <a:t>” (</a:t>
                </a:r>
                <a:r>
                  <a:rPr lang="pt-BR" b="1" i="1" noProof="0" dirty="0">
                    <a:solidFill>
                      <a:srgbClr val="00B050"/>
                    </a:solidFill>
                  </a:rPr>
                  <a:t>aumentar ou diminuir</a:t>
                </a:r>
                <a:r>
                  <a:rPr lang="pt-BR" noProof="0" dirty="0"/>
                  <a:t>) os valores dos argumentos, </a:t>
                </a:r>
                <a14:m>
                  <m:oMath xmlns:m="http://schemas.openxmlformats.org/officeDocument/2006/math">
                    <m:r>
                      <a:rPr lang="pt-BR" b="1" i="1" noProof="0" smtClean="0">
                        <a:solidFill>
                          <a:schemeClr val="tx1"/>
                        </a:solidFill>
                        <a:latin typeface="Cambria Math" panose="02040503050406030204" pitchFamily="18" charset="0"/>
                      </a:rPr>
                      <m:t>𝒙</m:t>
                    </m:r>
                  </m:oMath>
                </a14:m>
                <a:r>
                  <a:rPr lang="pt-BR" noProof="0" dirty="0">
                    <a:solidFill>
                      <a:schemeClr val="tx1"/>
                    </a:solidFill>
                  </a:rPr>
                  <a:t>,</a:t>
                </a:r>
                <a:r>
                  <a:rPr lang="pt-BR" noProof="0" dirty="0"/>
                  <a:t> devem ir para que o </a:t>
                </a:r>
                <a:r>
                  <a:rPr lang="pt-BR" b="1" i="1" noProof="0" dirty="0">
                    <a:solidFill>
                      <a:srgbClr val="00B050"/>
                    </a:solidFill>
                  </a:rPr>
                  <a:t>valor de </a:t>
                </a:r>
                <a14:m>
                  <m:oMath xmlns:m="http://schemas.openxmlformats.org/officeDocument/2006/math">
                    <m:r>
                      <a:rPr lang="pt-BR" i="1" noProof="0">
                        <a:latin typeface="Cambria Math" panose="02040503050406030204" pitchFamily="18" charset="0"/>
                      </a:rPr>
                      <m:t>𝑓</m:t>
                    </m:r>
                    <m:r>
                      <a:rPr lang="pt-BR" noProof="0">
                        <a:latin typeface="Cambria Math" panose="02040503050406030204" pitchFamily="18" charset="0"/>
                      </a:rPr>
                      <m:t>(</m:t>
                    </m:r>
                    <m:r>
                      <a:rPr lang="pt-BR" b="1" i="1" noProof="0">
                        <a:latin typeface="Cambria Math" panose="02040503050406030204" pitchFamily="18" charset="0"/>
                      </a:rPr>
                      <m:t>𝒙</m:t>
                    </m:r>
                    <m:r>
                      <a:rPr lang="pt-BR" noProof="0">
                        <a:latin typeface="Cambria Math" panose="02040503050406030204" pitchFamily="18" charset="0"/>
                      </a:rPr>
                      <m:t>)</m:t>
                    </m:r>
                  </m:oMath>
                </a14:m>
                <a:r>
                  <a:rPr lang="pt-BR" noProof="0" dirty="0"/>
                  <a:t> </a:t>
                </a:r>
                <a:r>
                  <a:rPr lang="pt-BR" b="1" i="1" noProof="0" dirty="0">
                    <a:solidFill>
                      <a:srgbClr val="00B050"/>
                    </a:solidFill>
                  </a:rPr>
                  <a:t>seja maior do que o atual</a:t>
                </a:r>
                <a:r>
                  <a:rPr lang="pt-BR" noProof="0" dirty="0"/>
                  <a:t>.</a:t>
                </a:r>
                <a:endParaRPr lang="pt-BR" noProof="0" dirty="0">
                  <a:solidFill>
                    <a:schemeClr val="tx1"/>
                  </a:solidFill>
                </a:endParaRPr>
              </a:p>
            </p:txBody>
          </p:sp>
        </mc:Choice>
        <mc:Fallback>
          <p:sp>
            <p:nvSpPr>
              <p:cNvPr id="3" name="Espaço Reservado para Conteúdo 2">
                <a:extLst>
                  <a:ext uri="{FF2B5EF4-FFF2-40B4-BE49-F238E27FC236}">
                    <a16:creationId xmlns:a16="http://schemas.microsoft.com/office/drawing/2014/main" id="{1F555B0D-6D08-0865-C39E-A6D2FD651EE5}"/>
                  </a:ext>
                </a:extLst>
              </p:cNvPr>
              <p:cNvSpPr>
                <a:spLocks noGrp="1" noRot="1" noChangeAspect="1" noMove="1" noResize="1" noEditPoints="1" noAdjustHandles="1" noChangeArrowheads="1" noChangeShapeType="1" noTextEdit="1"/>
              </p:cNvSpPr>
              <p:nvPr>
                <p:ph idx="1"/>
              </p:nvPr>
            </p:nvSpPr>
            <p:spPr>
              <a:xfrm>
                <a:off x="5596932" y="1825624"/>
                <a:ext cx="6504277" cy="5032376"/>
              </a:xfrm>
              <a:blipFill>
                <a:blip r:embed="rId3"/>
                <a:stretch>
                  <a:fillRect l="-1687" t="-1937" r="-281"/>
                </a:stretch>
              </a:blipFill>
            </p:spPr>
            <p:txBody>
              <a:bodyPr/>
              <a:lstStyle/>
              <a:p>
                <a:r>
                  <a:rPr lang="en-US">
                    <a:noFill/>
                  </a:rPr>
                  <a:t> </a:t>
                </a:r>
              </a:p>
            </p:txBody>
          </p:sp>
        </mc:Fallback>
      </mc:AlternateContent>
      <p:pic>
        <p:nvPicPr>
          <p:cNvPr id="6" name="Imagem 5">
            <a:extLst>
              <a:ext uri="{FF2B5EF4-FFF2-40B4-BE49-F238E27FC236}">
                <a16:creationId xmlns:a16="http://schemas.microsoft.com/office/drawing/2014/main" id="{E440243F-53B5-49E7-A7C7-3FF511A40D7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652" b="50019"/>
          <a:stretch/>
        </p:blipFill>
        <p:spPr>
          <a:xfrm>
            <a:off x="164123" y="2655614"/>
            <a:ext cx="5044273" cy="2398707"/>
          </a:xfrm>
          <a:prstGeom prst="rect">
            <a:avLst/>
          </a:prstGeom>
        </p:spPr>
      </p:pic>
      <mc:AlternateContent xmlns:mc="http://schemas.openxmlformats.org/markup-compatibility/2006">
        <mc:Choice xmlns:a14="http://schemas.microsoft.com/office/drawing/2010/main" Requires="a14">
          <p:sp>
            <p:nvSpPr>
              <p:cNvPr id="4" name="CaixaDeTexto 3">
                <a:extLst>
                  <a:ext uri="{FF2B5EF4-FFF2-40B4-BE49-F238E27FC236}">
                    <a16:creationId xmlns:a16="http://schemas.microsoft.com/office/drawing/2014/main" id="{C56BD79F-25A1-1B25-FE76-D4C199D0BDB2}"/>
                  </a:ext>
                </a:extLst>
              </p:cNvPr>
              <p:cNvSpPr txBox="1"/>
              <p:nvPr/>
            </p:nvSpPr>
            <p:spPr>
              <a:xfrm>
                <a:off x="1564756" y="5223754"/>
                <a:ext cx="2802963" cy="523220"/>
              </a:xfrm>
              <a:prstGeom prst="rect">
                <a:avLst/>
              </a:prstGeom>
              <a:noFill/>
            </p:spPr>
            <p:txBody>
              <a:bodyPr wrap="square" rtlCol="0">
                <a:spAutoFit/>
              </a:bodyPr>
              <a:lstStyle/>
              <a:p>
                <a:pPr algn="ctr"/>
                <a:r>
                  <a:rPr lang="pt-BR" sz="1400" dirty="0"/>
                  <a:t>Temos que somar um valor à </a:t>
                </a:r>
                <a14:m>
                  <m:oMath xmlns:m="http://schemas.openxmlformats.org/officeDocument/2006/math">
                    <m:r>
                      <a:rPr lang="pt-BR" sz="1400" b="0" i="1" smtClean="0">
                        <a:latin typeface="Cambria Math" panose="02040503050406030204" pitchFamily="18" charset="0"/>
                      </a:rPr>
                      <m:t>𝑥</m:t>
                    </m:r>
                    <m:r>
                      <a:rPr lang="pt-BR" sz="1400" b="0" i="1" smtClean="0">
                        <a:latin typeface="Cambria Math" panose="02040503050406030204" pitchFamily="18" charset="0"/>
                      </a:rPr>
                      <m:t>(0)</m:t>
                    </m:r>
                  </m:oMath>
                </a14:m>
                <a:r>
                  <a:rPr lang="en-US" sz="1400" dirty="0"/>
                  <a:t> para </a:t>
                </a:r>
                <a:r>
                  <a:rPr lang="en-US" sz="1400" dirty="0" err="1"/>
                  <a:t>que</a:t>
                </a:r>
                <a:r>
                  <a:rPr lang="en-US" sz="1400" dirty="0"/>
                  <a:t> o valor de </a:t>
                </a:r>
                <a14:m>
                  <m:oMath xmlns:m="http://schemas.openxmlformats.org/officeDocument/2006/math">
                    <m:r>
                      <a:rPr lang="pt-BR" sz="1400" i="1">
                        <a:latin typeface="Cambria Math" panose="02040503050406030204" pitchFamily="18" charset="0"/>
                      </a:rPr>
                      <m:t>𝑓</m:t>
                    </m:r>
                    <m:d>
                      <m:dPr>
                        <m:ctrlPr>
                          <a:rPr lang="pt-BR" sz="1400" b="0" i="1">
                            <a:latin typeface="Cambria Math" panose="02040503050406030204" pitchFamily="18" charset="0"/>
                          </a:rPr>
                        </m:ctrlPr>
                      </m:dPr>
                      <m:e>
                        <m:r>
                          <a:rPr lang="pt-BR" sz="1400" b="0" i="1">
                            <a:latin typeface="Cambria Math" panose="02040503050406030204" pitchFamily="18" charset="0"/>
                          </a:rPr>
                          <m:t>𝑥</m:t>
                        </m:r>
                      </m:e>
                    </m:d>
                  </m:oMath>
                </a14:m>
                <a:r>
                  <a:rPr lang="en-US" sz="1400" dirty="0"/>
                  <a:t> aumente. </a:t>
                </a:r>
              </a:p>
            </p:txBody>
          </p:sp>
        </mc:Choice>
        <mc:Fallback>
          <p:sp>
            <p:nvSpPr>
              <p:cNvPr id="4" name="CaixaDeTexto 3">
                <a:extLst>
                  <a:ext uri="{FF2B5EF4-FFF2-40B4-BE49-F238E27FC236}">
                    <a16:creationId xmlns:a16="http://schemas.microsoft.com/office/drawing/2014/main" id="{C56BD79F-25A1-1B25-FE76-D4C199D0BDB2}"/>
                  </a:ext>
                </a:extLst>
              </p:cNvPr>
              <p:cNvSpPr txBox="1">
                <a:spLocks noRot="1" noChangeAspect="1" noMove="1" noResize="1" noEditPoints="1" noAdjustHandles="1" noChangeArrowheads="1" noChangeShapeType="1" noTextEdit="1"/>
              </p:cNvSpPr>
              <p:nvPr/>
            </p:nvSpPr>
            <p:spPr>
              <a:xfrm>
                <a:off x="1564756" y="5223754"/>
                <a:ext cx="2802963" cy="523220"/>
              </a:xfrm>
              <a:prstGeom prst="rect">
                <a:avLst/>
              </a:prstGeom>
              <a:blipFill>
                <a:blip r:embed="rId5"/>
                <a:stretch>
                  <a:fillRect t="-2326" r="-654" b="-10465"/>
                </a:stretch>
              </a:blipFill>
            </p:spPr>
            <p:txBody>
              <a:bodyPr/>
              <a:lstStyle/>
              <a:p>
                <a:r>
                  <a:rPr lang="en-US">
                    <a:noFill/>
                  </a:rPr>
                  <a:t> </a:t>
                </a:r>
              </a:p>
            </p:txBody>
          </p:sp>
        </mc:Fallback>
      </mc:AlternateContent>
    </p:spTree>
    <p:extLst>
      <p:ext uri="{BB962C8B-B14F-4D97-AF65-F5344CB8AC3E}">
        <p14:creationId xmlns:p14="http://schemas.microsoft.com/office/powerpoint/2010/main" val="2972904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3F10E-6CE8-F5B4-77B2-6ECA4B60D451}"/>
              </a:ext>
            </a:extLst>
          </p:cNvPr>
          <p:cNvSpPr>
            <a:spLocks noGrp="1"/>
          </p:cNvSpPr>
          <p:nvPr>
            <p:ph type="title"/>
          </p:nvPr>
        </p:nvSpPr>
        <p:spPr/>
        <p:txBody>
          <a:bodyPr/>
          <a:lstStyle/>
          <a:p>
            <a:r>
              <a:rPr lang="pt-BR" dirty="0"/>
              <a:t>Vetor gradiente</a:t>
            </a:r>
          </a:p>
        </p:txBody>
      </p:sp>
      <p:sp>
        <p:nvSpPr>
          <p:cNvPr id="3" name="Espaço Reservado para Conteúdo 2">
            <a:extLst>
              <a:ext uri="{FF2B5EF4-FFF2-40B4-BE49-F238E27FC236}">
                <a16:creationId xmlns:a16="http://schemas.microsoft.com/office/drawing/2014/main" id="{1F555B0D-6D08-0865-C39E-A6D2FD651EE5}"/>
              </a:ext>
            </a:extLst>
          </p:cNvPr>
          <p:cNvSpPr>
            <a:spLocks noGrp="1"/>
          </p:cNvSpPr>
          <p:nvPr>
            <p:ph idx="1"/>
          </p:nvPr>
        </p:nvSpPr>
        <p:spPr>
          <a:xfrm>
            <a:off x="5345724" y="1825624"/>
            <a:ext cx="6774940" cy="5032376"/>
          </a:xfrm>
        </p:spPr>
        <p:txBody>
          <a:bodyPr>
            <a:normAutofit/>
          </a:bodyPr>
          <a:lstStyle/>
          <a:p>
            <a:r>
              <a:rPr lang="pt-BR" b="0" i="0" noProof="0" dirty="0">
                <a:solidFill>
                  <a:schemeClr val="tx1"/>
                </a:solidFill>
                <a:effectLst/>
              </a:rPr>
              <a:t>O vetor gradiente pode ser também interpretado como a </a:t>
            </a:r>
            <a:r>
              <a:rPr lang="pt-BR" b="1" i="1" noProof="0" dirty="0">
                <a:solidFill>
                  <a:srgbClr val="FF0000"/>
                </a:solidFill>
                <a:effectLst/>
              </a:rPr>
              <a:t>inclinação</a:t>
            </a:r>
            <a:r>
              <a:rPr lang="pt-BR" b="1" i="1" noProof="0" dirty="0">
                <a:solidFill>
                  <a:srgbClr val="00B050"/>
                </a:solidFill>
                <a:effectLst/>
              </a:rPr>
              <a:t> de um </a:t>
            </a:r>
            <a:r>
              <a:rPr lang="pt-BR" b="1" i="1" noProof="0" dirty="0">
                <a:solidFill>
                  <a:srgbClr val="7030A0"/>
                </a:solidFill>
                <a:effectLst/>
              </a:rPr>
              <a:t>hiperplano</a:t>
            </a:r>
            <a:r>
              <a:rPr lang="pt-BR" b="1" i="1" noProof="0" dirty="0">
                <a:solidFill>
                  <a:srgbClr val="00B050"/>
                </a:solidFill>
                <a:effectLst/>
              </a:rPr>
              <a:t> tangente à função </a:t>
            </a:r>
            <a:r>
              <a:rPr lang="pt-BR" b="1" i="1" noProof="0" dirty="0">
                <a:solidFill>
                  <a:schemeClr val="accent2"/>
                </a:solidFill>
                <a:effectLst/>
              </a:rPr>
              <a:t>no ponto onde ele é calculado</a:t>
            </a:r>
            <a:r>
              <a:rPr lang="pt-BR" b="0" i="0" noProof="0" dirty="0">
                <a:solidFill>
                  <a:schemeClr val="tx1"/>
                </a:solidFill>
                <a:effectLst/>
              </a:rPr>
              <a:t>.</a:t>
            </a:r>
          </a:p>
          <a:p>
            <a:pPr lvl="1">
              <a:buFont typeface="Wingdings" panose="05000000000000000000" pitchFamily="2" charset="2"/>
              <a:buChar char="§"/>
            </a:pPr>
            <a:r>
              <a:rPr lang="pt-BR" noProof="0" dirty="0"/>
              <a:t>Quanto </a:t>
            </a:r>
            <a:r>
              <a:rPr lang="pt-BR" b="1" noProof="0" dirty="0"/>
              <a:t>maior o valor da norma </a:t>
            </a:r>
            <a:r>
              <a:rPr lang="pt-BR" noProof="0" dirty="0"/>
              <a:t>do vetor gradiente,</a:t>
            </a:r>
            <a:r>
              <a:rPr lang="pt-BR" b="1" noProof="0" dirty="0"/>
              <a:t> mais inclinado é o hiperplano tangente </a:t>
            </a:r>
            <a:r>
              <a:rPr lang="pt-BR" noProof="0" dirty="0"/>
              <a:t>àquele ponto.</a:t>
            </a:r>
          </a:p>
          <a:p>
            <a:pPr lvl="1">
              <a:buFont typeface="Wingdings" panose="05000000000000000000" pitchFamily="2" charset="2"/>
              <a:buChar char="§"/>
            </a:pPr>
            <a:r>
              <a:rPr lang="pt-BR" noProof="0" dirty="0"/>
              <a:t>Portanto, </a:t>
            </a:r>
            <a:r>
              <a:rPr lang="pt-BR" b="1" i="1" noProof="0" dirty="0"/>
              <a:t>um vetor gradiente com norma </a:t>
            </a:r>
            <a:r>
              <a:rPr lang="pt-BR" b="1" i="1" noProof="0" dirty="0">
                <a:solidFill>
                  <a:srgbClr val="7030A0"/>
                </a:solidFill>
              </a:rPr>
              <a:t>igual a 0 </a:t>
            </a:r>
            <a:r>
              <a:rPr lang="pt-BR" b="1" i="1" noProof="0" dirty="0"/>
              <a:t>indica </a:t>
            </a:r>
            <a:r>
              <a:rPr lang="pt-BR" b="1" i="1" noProof="0" dirty="0">
                <a:solidFill>
                  <a:srgbClr val="7030A0"/>
                </a:solidFill>
              </a:rPr>
              <a:t>inclinação nula</a:t>
            </a:r>
            <a:r>
              <a:rPr lang="pt-BR" noProof="0" dirty="0"/>
              <a:t>.</a:t>
            </a:r>
          </a:p>
          <a:p>
            <a:pPr lvl="1">
              <a:buFont typeface="Wingdings" panose="05000000000000000000" pitchFamily="2" charset="2"/>
              <a:buChar char="§"/>
            </a:pPr>
            <a:r>
              <a:rPr lang="pt-BR" noProof="0" dirty="0"/>
              <a:t>Ou seja, a </a:t>
            </a:r>
            <a:r>
              <a:rPr lang="pt-BR" b="1" i="1" noProof="0" dirty="0">
                <a:solidFill>
                  <a:srgbClr val="00B0F0"/>
                </a:solidFill>
              </a:rPr>
              <a:t>taxa de variação instantânea</a:t>
            </a:r>
            <a:r>
              <a:rPr lang="pt-BR" noProof="0" dirty="0"/>
              <a:t> da função </a:t>
            </a:r>
            <a:r>
              <a:rPr lang="pt-BR" b="1" i="1" noProof="0" dirty="0">
                <a:solidFill>
                  <a:srgbClr val="00B0F0"/>
                </a:solidFill>
              </a:rPr>
              <a:t>é nula em todas as direções</a:t>
            </a:r>
            <a:r>
              <a:rPr lang="pt-BR" noProof="0" dirty="0"/>
              <a:t>.</a:t>
            </a:r>
          </a:p>
          <a:p>
            <a:pPr lvl="1">
              <a:buFont typeface="Wingdings" panose="05000000000000000000" pitchFamily="2" charset="2"/>
              <a:buChar char="§"/>
            </a:pPr>
            <a:r>
              <a:rPr lang="pt-BR" b="0" i="0" noProof="0" dirty="0">
                <a:solidFill>
                  <a:schemeClr val="tx1"/>
                </a:solidFill>
                <a:effectLst/>
              </a:rPr>
              <a:t>Onde isso ocorre? Nos </a:t>
            </a:r>
            <a:r>
              <a:rPr lang="pt-BR" b="1" i="1" noProof="0" dirty="0">
                <a:solidFill>
                  <a:srgbClr val="00B050"/>
                </a:solidFill>
                <a:effectLst/>
              </a:rPr>
              <a:t>extremos da função</a:t>
            </a:r>
            <a:r>
              <a:rPr lang="pt-BR" b="0" i="0" noProof="0" dirty="0">
                <a:solidFill>
                  <a:schemeClr val="tx1"/>
                </a:solidFill>
                <a:effectLst/>
              </a:rPr>
              <a:t>, ou seja, em seus </a:t>
            </a:r>
            <a:r>
              <a:rPr lang="pt-BR" b="1" i="1" noProof="0" dirty="0">
                <a:solidFill>
                  <a:srgbClr val="00B050"/>
                </a:solidFill>
                <a:effectLst/>
              </a:rPr>
              <a:t>pontos de máximo e de mínimo</a:t>
            </a:r>
            <a:r>
              <a:rPr lang="pt-BR" b="0" i="0" noProof="0" dirty="0">
                <a:solidFill>
                  <a:schemeClr val="tx1"/>
                </a:solidFill>
                <a:effectLst/>
              </a:rPr>
              <a:t>.</a:t>
            </a:r>
          </a:p>
        </p:txBody>
      </p:sp>
      <p:pic>
        <p:nvPicPr>
          <p:cNvPr id="5" name="Imagem 4">
            <a:extLst>
              <a:ext uri="{FF2B5EF4-FFF2-40B4-BE49-F238E27FC236}">
                <a16:creationId xmlns:a16="http://schemas.microsoft.com/office/drawing/2014/main" id="{475C5C40-4A20-7C74-237C-B4CF3631FDC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652" b="50019"/>
          <a:stretch/>
        </p:blipFill>
        <p:spPr>
          <a:xfrm>
            <a:off x="164123" y="2655614"/>
            <a:ext cx="5044273" cy="2398707"/>
          </a:xfrm>
          <a:prstGeom prst="rect">
            <a:avLst/>
          </a:prstGeom>
        </p:spPr>
      </p:pic>
      <mc:AlternateContent xmlns:mc="http://schemas.openxmlformats.org/markup-compatibility/2006">
        <mc:Choice xmlns:a14="http://schemas.microsoft.com/office/drawing/2010/main" Requires="a14">
          <p:sp>
            <p:nvSpPr>
              <p:cNvPr id="4" name="CaixaDeTexto 3">
                <a:extLst>
                  <a:ext uri="{FF2B5EF4-FFF2-40B4-BE49-F238E27FC236}">
                    <a16:creationId xmlns:a16="http://schemas.microsoft.com/office/drawing/2014/main" id="{F5C2464B-C293-A447-4105-DD94AAC038BA}"/>
                  </a:ext>
                </a:extLst>
              </p:cNvPr>
              <p:cNvSpPr txBox="1"/>
              <p:nvPr/>
            </p:nvSpPr>
            <p:spPr>
              <a:xfrm>
                <a:off x="1406769" y="5260487"/>
                <a:ext cx="3135086" cy="1169551"/>
              </a:xfrm>
              <a:prstGeom prst="rect">
                <a:avLst/>
              </a:prstGeom>
              <a:noFill/>
            </p:spPr>
            <p:txBody>
              <a:bodyPr wrap="square" rtlCol="0">
                <a:spAutoFit/>
              </a:bodyPr>
              <a:lstStyle/>
              <a:p>
                <a:pPr algn="ctr"/>
                <a:r>
                  <a:rPr lang="pt-BR" sz="1400" b="1" dirty="0"/>
                  <a:t>Obs</a:t>
                </a:r>
                <a:r>
                  <a:rPr lang="pt-BR" sz="1400" dirty="0"/>
                  <a:t>.: No caso da função, </a:t>
                </a:r>
                <a14:m>
                  <m:oMath xmlns:m="http://schemas.openxmlformats.org/officeDocument/2006/math">
                    <m:r>
                      <a:rPr lang="pt-BR" sz="1400" i="1">
                        <a:latin typeface="Cambria Math" panose="02040503050406030204" pitchFamily="18" charset="0"/>
                      </a:rPr>
                      <m:t>𝑓</m:t>
                    </m:r>
                  </m:oMath>
                </a14:m>
                <a:r>
                  <a:rPr lang="pt-BR" sz="1400" dirty="0"/>
                  <a:t>, ter apenas um argumento, </a:t>
                </a:r>
                <a14:m>
                  <m:oMath xmlns:m="http://schemas.openxmlformats.org/officeDocument/2006/math">
                    <m:r>
                      <a:rPr lang="pt-BR" sz="1400" b="0" i="1" smtClean="0">
                        <a:latin typeface="Cambria Math" panose="02040503050406030204" pitchFamily="18" charset="0"/>
                      </a:rPr>
                      <m:t>𝑥</m:t>
                    </m:r>
                  </m:oMath>
                </a14:m>
                <a:r>
                  <a:rPr lang="pt-BR" sz="1400" dirty="0"/>
                  <a:t>, o vetor gradiente dá a inclinação de uma </a:t>
                </a:r>
                <a:r>
                  <a:rPr lang="pt-BR" sz="1400" b="1" i="1" dirty="0">
                    <a:solidFill>
                      <a:srgbClr val="7030A0"/>
                    </a:solidFill>
                  </a:rPr>
                  <a:t>reta</a:t>
                </a:r>
                <a:r>
                  <a:rPr lang="pt-BR" sz="1400" dirty="0"/>
                  <a:t> tangente ao ponto onde a derivada parcial é calculada.</a:t>
                </a:r>
              </a:p>
            </p:txBody>
          </p:sp>
        </mc:Choice>
        <mc:Fallback>
          <p:sp>
            <p:nvSpPr>
              <p:cNvPr id="4" name="CaixaDeTexto 3">
                <a:extLst>
                  <a:ext uri="{FF2B5EF4-FFF2-40B4-BE49-F238E27FC236}">
                    <a16:creationId xmlns:a16="http://schemas.microsoft.com/office/drawing/2014/main" id="{F5C2464B-C293-A447-4105-DD94AAC038BA}"/>
                  </a:ext>
                </a:extLst>
              </p:cNvPr>
              <p:cNvSpPr txBox="1">
                <a:spLocks noRot="1" noChangeAspect="1" noMove="1" noResize="1" noEditPoints="1" noAdjustHandles="1" noChangeArrowheads="1" noChangeShapeType="1" noTextEdit="1"/>
              </p:cNvSpPr>
              <p:nvPr/>
            </p:nvSpPr>
            <p:spPr>
              <a:xfrm>
                <a:off x="1406769" y="5260487"/>
                <a:ext cx="3135086" cy="1169551"/>
              </a:xfrm>
              <a:prstGeom prst="rect">
                <a:avLst/>
              </a:prstGeom>
              <a:blipFill>
                <a:blip r:embed="rId4"/>
                <a:stretch>
                  <a:fillRect l="-389" t="-1042" r="-1362" b="-4167"/>
                </a:stretch>
              </a:blipFill>
            </p:spPr>
            <p:txBody>
              <a:bodyPr/>
              <a:lstStyle/>
              <a:p>
                <a:r>
                  <a:rPr lang="en-US">
                    <a:noFill/>
                  </a:rPr>
                  <a:t> </a:t>
                </a:r>
              </a:p>
            </p:txBody>
          </p:sp>
        </mc:Fallback>
      </mc:AlternateContent>
    </p:spTree>
    <p:extLst>
      <p:ext uri="{BB962C8B-B14F-4D97-AF65-F5344CB8AC3E}">
        <p14:creationId xmlns:p14="http://schemas.microsoft.com/office/powerpoint/2010/main" val="2449246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5D41D2-8E02-AEAF-FAAF-4947A9B4CCAE}"/>
              </a:ext>
            </a:extLst>
          </p:cNvPr>
          <p:cNvSpPr>
            <a:spLocks noGrp="1"/>
          </p:cNvSpPr>
          <p:nvPr>
            <p:ph type="title"/>
          </p:nvPr>
        </p:nvSpPr>
        <p:spPr/>
        <p:txBody>
          <a:bodyPr/>
          <a:lstStyle/>
          <a:p>
            <a:r>
              <a:rPr lang="pt-BR" dirty="0"/>
              <a:t>O vetor gradiente indica o caminho para o ponto de máximo da função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855C53E-D488-764D-3044-955F0B3DE57A}"/>
                  </a:ext>
                </a:extLst>
              </p:cNvPr>
              <p:cNvSpPr>
                <a:spLocks noGrp="1"/>
              </p:cNvSpPr>
              <p:nvPr>
                <p:ph idx="1"/>
              </p:nvPr>
            </p:nvSpPr>
            <p:spPr>
              <a:xfrm>
                <a:off x="838200" y="1825625"/>
                <a:ext cx="11209256" cy="2604983"/>
              </a:xfrm>
            </p:spPr>
            <p:txBody>
              <a:bodyPr/>
              <a:lstStyle/>
              <a:p>
                <a:r>
                  <a:rPr lang="pt-BR" dirty="0"/>
                  <a:t>Imaginem o ponto inicial,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rPr>
                      <m:t>(0)</m:t>
                    </m:r>
                  </m:oMath>
                </a14:m>
                <a:r>
                  <a:rPr lang="pt-BR" dirty="0"/>
                  <a:t>, com valor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rPr>
                      <m:t>(0))</m:t>
                    </m:r>
                  </m:oMath>
                </a14:m>
                <a:r>
                  <a:rPr lang="pt-BR" dirty="0"/>
                  <a:t> na figura abaixo. </a:t>
                </a:r>
              </a:p>
              <a:p>
                <a:r>
                  <a:rPr lang="pt-BR" dirty="0"/>
                  <a:t>Se quisermos que o valor de </a:t>
                </a:r>
                <a14:m>
                  <m:oMath xmlns:m="http://schemas.openxmlformats.org/officeDocument/2006/math">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rPr>
                      <m:t>)</m:t>
                    </m:r>
                  </m:oMath>
                </a14:m>
                <a:r>
                  <a:rPr lang="pt-BR" dirty="0"/>
                  <a:t> aumente, devemos aumentar ou diminuir o valor de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rPr>
                      <m:t>(0)</m:t>
                    </m:r>
                  </m:oMath>
                </a14:m>
                <a:r>
                  <a:rPr lang="pt-BR" dirty="0"/>
                  <a:t>?</a:t>
                </a:r>
              </a:p>
              <a:p>
                <a:r>
                  <a:rPr lang="pt-BR" dirty="0"/>
                  <a:t>Ou seja, qual </a:t>
                </a:r>
                <a:r>
                  <a:rPr lang="pt-BR" b="1" i="1" dirty="0">
                    <a:solidFill>
                      <a:srgbClr val="00B050"/>
                    </a:solidFill>
                  </a:rPr>
                  <a:t>direção</a:t>
                </a:r>
                <a:r>
                  <a:rPr lang="pt-BR" dirty="0"/>
                  <a:t> devemos seguir para </a:t>
                </a:r>
                <a:r>
                  <a:rPr lang="pt-BR" b="1" i="1" dirty="0">
                    <a:solidFill>
                      <a:srgbClr val="7030A0"/>
                    </a:solidFill>
                  </a:rPr>
                  <a:t>maximizar</a:t>
                </a:r>
                <a:r>
                  <a:rPr lang="pt-BR" dirty="0"/>
                  <a:t> o valor de </a:t>
                </a:r>
                <a14:m>
                  <m:oMath xmlns:m="http://schemas.openxmlformats.org/officeDocument/2006/math">
                    <m:r>
                      <a:rPr lang="pt-BR" i="1" smtClean="0">
                        <a:latin typeface="Cambria Math" panose="02040503050406030204" pitchFamily="18" charset="0"/>
                      </a:rPr>
                      <m:t>𝑓</m:t>
                    </m:r>
                    <m:r>
                      <a:rPr lang="pt-BR" i="1" smtClean="0">
                        <a:latin typeface="Cambria Math" panose="02040503050406030204" pitchFamily="18" charset="0"/>
                      </a:rPr>
                      <m:t>(</m:t>
                    </m:r>
                    <m:r>
                      <a:rPr lang="pt-BR" i="1" smtClean="0">
                        <a:latin typeface="Cambria Math" panose="02040503050406030204" pitchFamily="18" charset="0"/>
                      </a:rPr>
                      <m:t>𝑥</m:t>
                    </m:r>
                    <m:r>
                      <a:rPr lang="pt-BR" i="1" smtClean="0">
                        <a:latin typeface="Cambria Math" panose="02040503050406030204" pitchFamily="18" charset="0"/>
                      </a:rPr>
                      <m:t>)</m:t>
                    </m:r>
                  </m:oMath>
                </a14:m>
                <a:r>
                  <a:rPr lang="pt-BR" dirty="0"/>
                  <a:t>?</a:t>
                </a:r>
              </a:p>
            </p:txBody>
          </p:sp>
        </mc:Choice>
        <mc:Fallback xmlns="">
          <p:sp>
            <p:nvSpPr>
              <p:cNvPr id="3" name="Espaço Reservado para Conteúdo 2">
                <a:extLst>
                  <a:ext uri="{FF2B5EF4-FFF2-40B4-BE49-F238E27FC236}">
                    <a16:creationId xmlns:a16="http://schemas.microsoft.com/office/drawing/2014/main" id="{E855C53E-D488-764D-3044-955F0B3DE57A}"/>
                  </a:ext>
                </a:extLst>
              </p:cNvPr>
              <p:cNvSpPr>
                <a:spLocks noGrp="1" noRot="1" noChangeAspect="1" noMove="1" noResize="1" noEditPoints="1" noAdjustHandles="1" noChangeArrowheads="1" noChangeShapeType="1" noTextEdit="1"/>
              </p:cNvSpPr>
              <p:nvPr>
                <p:ph idx="1"/>
              </p:nvPr>
            </p:nvSpPr>
            <p:spPr>
              <a:xfrm>
                <a:off x="838200" y="1825625"/>
                <a:ext cx="11209256" cy="2604983"/>
              </a:xfrm>
              <a:blipFill>
                <a:blip r:embed="rId3"/>
                <a:stretch>
                  <a:fillRect l="-979" t="-3738"/>
                </a:stretch>
              </a:blipFill>
            </p:spPr>
            <p:txBody>
              <a:bodyPr/>
              <a:lstStyle/>
              <a:p>
                <a:r>
                  <a:rPr lang="pt-BR">
                    <a:noFill/>
                  </a:rPr>
                  <a:t> </a:t>
                </a:r>
              </a:p>
            </p:txBody>
          </p:sp>
        </mc:Fallback>
      </mc:AlternateContent>
      <p:pic>
        <p:nvPicPr>
          <p:cNvPr id="6" name="Imagem 5">
            <a:extLst>
              <a:ext uri="{FF2B5EF4-FFF2-40B4-BE49-F238E27FC236}">
                <a16:creationId xmlns:a16="http://schemas.microsoft.com/office/drawing/2014/main" id="{D680B088-A28F-28CE-9432-4FA0B48F170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7626"/>
          <a:stretch/>
        </p:blipFill>
        <p:spPr>
          <a:xfrm>
            <a:off x="3516258" y="4001294"/>
            <a:ext cx="5159483" cy="2604983"/>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4ECDF56-AB7A-57AC-6C6D-C6FA49E2D1B2}"/>
                  </a:ext>
                </a:extLst>
              </p:cNvPr>
              <p:cNvSpPr txBox="1"/>
              <p:nvPr/>
            </p:nvSpPr>
            <p:spPr>
              <a:xfrm>
                <a:off x="144543" y="6169709"/>
                <a:ext cx="3153134" cy="646331"/>
              </a:xfrm>
              <a:prstGeom prst="rect">
                <a:avLst/>
              </a:prstGeom>
              <a:noFill/>
            </p:spPr>
            <p:txBody>
              <a:bodyPr wrap="square">
                <a:spAutoFit/>
              </a:bodyPr>
              <a:lstStyle/>
              <a:p>
                <a:r>
                  <a:rPr lang="pt-BR" sz="1200" b="1" dirty="0"/>
                  <a:t>OBS</a:t>
                </a:r>
                <a:r>
                  <a:rPr lang="pt-BR" sz="1200" dirty="0"/>
                  <a:t>.: Por questões didáticas, mas sem perda de generalidade, nós vamos assumir uma função com apenas um argumento, </a:t>
                </a:r>
                <a14:m>
                  <m:oMath xmlns:m="http://schemas.openxmlformats.org/officeDocument/2006/math">
                    <m:r>
                      <a:rPr lang="pt-BR" sz="1200" i="1" smtClean="0">
                        <a:latin typeface="Cambria Math" panose="02040503050406030204" pitchFamily="18" charset="0"/>
                      </a:rPr>
                      <m:t>𝑓</m:t>
                    </m:r>
                    <m:d>
                      <m:dPr>
                        <m:ctrlPr>
                          <a:rPr lang="pt-BR" sz="1200" i="1" smtClean="0">
                            <a:latin typeface="Cambria Math" panose="02040503050406030204" pitchFamily="18" charset="0"/>
                          </a:rPr>
                        </m:ctrlPr>
                      </m:dPr>
                      <m:e>
                        <m:r>
                          <a:rPr lang="pt-BR" sz="1200" i="1" smtClean="0">
                            <a:latin typeface="Cambria Math" panose="02040503050406030204" pitchFamily="18" charset="0"/>
                          </a:rPr>
                          <m:t>𝑥</m:t>
                        </m:r>
                      </m:e>
                    </m:d>
                  </m:oMath>
                </a14:m>
                <a:r>
                  <a:rPr lang="pt-BR" sz="1200" dirty="0"/>
                  <a:t>.</a:t>
                </a:r>
              </a:p>
            </p:txBody>
          </p:sp>
        </mc:Choice>
        <mc:Fallback>
          <p:sp>
            <p:nvSpPr>
              <p:cNvPr id="5" name="TextBox 4">
                <a:extLst>
                  <a:ext uri="{FF2B5EF4-FFF2-40B4-BE49-F238E27FC236}">
                    <a16:creationId xmlns:a16="http://schemas.microsoft.com/office/drawing/2014/main" id="{14ECDF56-AB7A-57AC-6C6D-C6FA49E2D1B2}"/>
                  </a:ext>
                </a:extLst>
              </p:cNvPr>
              <p:cNvSpPr txBox="1">
                <a:spLocks noRot="1" noChangeAspect="1" noMove="1" noResize="1" noEditPoints="1" noAdjustHandles="1" noChangeArrowheads="1" noChangeShapeType="1" noTextEdit="1"/>
              </p:cNvSpPr>
              <p:nvPr/>
            </p:nvSpPr>
            <p:spPr>
              <a:xfrm>
                <a:off x="144543" y="6169709"/>
                <a:ext cx="3153134" cy="646331"/>
              </a:xfrm>
              <a:prstGeom prst="rect">
                <a:avLst/>
              </a:prstGeom>
              <a:blipFill>
                <a:blip r:embed="rId5"/>
                <a:stretch>
                  <a:fillRect l="-193" r="-1161" b="-6604"/>
                </a:stretch>
              </a:blipFill>
            </p:spPr>
            <p:txBody>
              <a:bodyPr/>
              <a:lstStyle/>
              <a:p>
                <a:r>
                  <a:rPr lang="en-US">
                    <a:noFill/>
                  </a:rPr>
                  <a:t> </a:t>
                </a:r>
              </a:p>
            </p:txBody>
          </p:sp>
        </mc:Fallback>
      </mc:AlternateContent>
    </p:spTree>
    <p:extLst>
      <p:ext uri="{BB962C8B-B14F-4D97-AF65-F5344CB8AC3E}">
        <p14:creationId xmlns:p14="http://schemas.microsoft.com/office/powerpoint/2010/main" val="1762729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8218F-ACB4-6D39-79C7-B321138F7286}"/>
              </a:ext>
            </a:extLst>
          </p:cNvPr>
          <p:cNvSpPr>
            <a:spLocks noGrp="1"/>
          </p:cNvSpPr>
          <p:nvPr>
            <p:ph type="title"/>
          </p:nvPr>
        </p:nvSpPr>
        <p:spPr/>
        <p:txBody>
          <a:bodyPr/>
          <a:lstStyle/>
          <a:p>
            <a:r>
              <a:rPr lang="pt-BR" dirty="0"/>
              <a:t>O vetor gradiente indica o caminho para o ponto de máximo da função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504DA9A-414F-A178-1A5D-8A7B60A1D0D6}"/>
                  </a:ext>
                </a:extLst>
              </p:cNvPr>
              <p:cNvSpPr>
                <a:spLocks noGrp="1"/>
              </p:cNvSpPr>
              <p:nvPr>
                <p:ph idx="1"/>
              </p:nvPr>
            </p:nvSpPr>
            <p:spPr>
              <a:xfrm>
                <a:off x="5697415" y="1825624"/>
                <a:ext cx="6330462" cy="5032375"/>
              </a:xfrm>
            </p:spPr>
            <p:txBody>
              <a:bodyPr>
                <a:normAutofit/>
              </a:bodyPr>
              <a:lstStyle/>
              <a:p>
                <a:r>
                  <a:rPr lang="pt-BR" dirty="0"/>
                  <a:t>O vetor gradiente calculado no ponto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(0)</m:t>
                    </m:r>
                  </m:oMath>
                </a14:m>
                <a:r>
                  <a:rPr lang="pt-BR" dirty="0"/>
                  <a:t>, </a:t>
                </a:r>
                <a14:m>
                  <m:oMath xmlns:m="http://schemas.openxmlformats.org/officeDocument/2006/math">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(0)</m:t>
                        </m:r>
                      </m:e>
                    </m:d>
                  </m:oMath>
                </a14:m>
                <a:r>
                  <a:rPr lang="pt-BR" dirty="0"/>
                  <a:t>, diz </a:t>
                </a:r>
                <a:r>
                  <a:rPr lang="pt-BR" b="1" i="1" dirty="0">
                    <a:solidFill>
                      <a:srgbClr val="00B050"/>
                    </a:solidFill>
                  </a:rPr>
                  <a:t>em qual direção </a:t>
                </a:r>
                <a:r>
                  <a:rPr lang="pt-BR" dirty="0"/>
                  <a:t>devemos caminhar para </a:t>
                </a:r>
                <a:r>
                  <a:rPr lang="pt-BR" b="1" i="1" dirty="0">
                    <a:solidFill>
                      <a:srgbClr val="00B050"/>
                    </a:solidFill>
                  </a:rPr>
                  <a:t>aumentar o valor da função </a:t>
                </a:r>
                <a14:m>
                  <m:oMath xmlns:m="http://schemas.openxmlformats.org/officeDocument/2006/math">
                    <m:r>
                      <a:rPr lang="pt-BR" i="1">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a14:m>
                <a:r>
                  <a:rPr lang="pt-BR" dirty="0"/>
                  <a:t> mais rapidamente</a:t>
                </a:r>
                <a:r>
                  <a:rPr lang="pt-BR" sz="2800" dirty="0"/>
                  <a:t>.</a:t>
                </a:r>
              </a:p>
              <a:p>
                <a:r>
                  <a:rPr lang="pt-BR" sz="2800" dirty="0"/>
                  <a:t>Se </a:t>
                </a:r>
                <a:r>
                  <a:rPr lang="pt-BR" sz="2800" b="1" i="1" dirty="0">
                    <a:solidFill>
                      <a:srgbClr val="00B050"/>
                    </a:solidFill>
                  </a:rPr>
                  <a:t>adicionarmos</a:t>
                </a:r>
                <a:r>
                  <a:rPr lang="pt-BR" sz="2800" dirty="0"/>
                  <a:t> uma </a:t>
                </a:r>
                <a:r>
                  <a:rPr lang="pt-BR" sz="2800" b="1" i="1" dirty="0">
                    <a:solidFill>
                      <a:srgbClr val="7030A0"/>
                    </a:solidFill>
                  </a:rPr>
                  <a:t>porcentagem*</a:t>
                </a:r>
                <a:r>
                  <a:rPr lang="pt-BR" sz="2800" dirty="0"/>
                  <a:t>, </a:t>
                </a:r>
                <a14:m>
                  <m:oMath xmlns:m="http://schemas.openxmlformats.org/officeDocument/2006/math">
                    <m:r>
                      <a:rPr lang="pt-BR" sz="2800" i="1" smtClean="0">
                        <a:latin typeface="Cambria Math" panose="02040503050406030204" pitchFamily="18" charset="0"/>
                        <a:ea typeface="Cambria Math" panose="02040503050406030204" pitchFamily="18" charset="0"/>
                      </a:rPr>
                      <m:t>𝛼</m:t>
                    </m:r>
                  </m:oMath>
                </a14:m>
                <a:r>
                  <a:rPr lang="pt-BR" dirty="0"/>
                  <a:t>, do gradiente ao</a:t>
                </a:r>
                <a:r>
                  <a:rPr lang="pt-BR" sz="2800" dirty="0"/>
                  <a:t> valor 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(0)</m:t>
                    </m:r>
                  </m:oMath>
                </a14:m>
                <a:r>
                  <a:rPr lang="pt-BR" sz="2800" dirty="0"/>
                  <a:t>, teremos que o </a:t>
                </a:r>
                <a:r>
                  <a:rPr lang="pt-BR" sz="2800" b="1" i="1" dirty="0">
                    <a:solidFill>
                      <a:srgbClr val="00B050"/>
                    </a:solidFill>
                  </a:rPr>
                  <a:t>novo ponto</a:t>
                </a:r>
                <a:r>
                  <a:rPr lang="pt-BR" sz="2800" dirty="0"/>
                  <a:t>, </a:t>
                </a:r>
                <a14:m>
                  <m:oMath xmlns:m="http://schemas.openxmlformats.org/officeDocument/2006/math">
                    <m:r>
                      <a:rPr lang="pt-BR" sz="2800" i="1">
                        <a:latin typeface="Cambria Math" panose="02040503050406030204" pitchFamily="18" charset="0"/>
                      </a:rPr>
                      <m:t>𝑥</m:t>
                    </m:r>
                    <m:r>
                      <a:rPr lang="pt-BR" sz="2800" i="1">
                        <a:latin typeface="Cambria Math" panose="02040503050406030204" pitchFamily="18" charset="0"/>
                      </a:rPr>
                      <m:t>(1)</m:t>
                    </m:r>
                  </m:oMath>
                </a14:m>
                <a:r>
                  <a:rPr lang="pt-BR" sz="2800" dirty="0"/>
                  <a:t>, terá um valor de </a:t>
                </a:r>
                <a14:m>
                  <m:oMath xmlns:m="http://schemas.openxmlformats.org/officeDocument/2006/math">
                    <m:r>
                      <a:rPr lang="pt-BR" sz="2800" i="1">
                        <a:latin typeface="Cambria Math" panose="02040503050406030204" pitchFamily="18" charset="0"/>
                      </a:rPr>
                      <m:t>𝑓</m:t>
                    </m:r>
                    <m:r>
                      <a:rPr lang="pt-BR" sz="2800" i="1">
                        <a:latin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rPr>
                      <m:t>(1))</m:t>
                    </m:r>
                  </m:oMath>
                </a14:m>
                <a:r>
                  <a:rPr lang="pt-BR" sz="2800" dirty="0"/>
                  <a:t> </a:t>
                </a:r>
                <a:r>
                  <a:rPr lang="pt-BR" sz="2800" b="1" i="1" dirty="0">
                    <a:solidFill>
                      <a:srgbClr val="00B050"/>
                    </a:solidFill>
                  </a:rPr>
                  <a:t>maior do que o anterior</a:t>
                </a:r>
                <a:r>
                  <a:rPr lang="pt-BR" sz="2800" dirty="0"/>
                  <a:t>, i.e.,</a:t>
                </a:r>
              </a:p>
              <a:p>
                <a:pPr marL="0" indent="0" algn="ctr">
                  <a:buNone/>
                </a:pPr>
                <a14:m>
                  <m:oMathPara xmlns:m="http://schemas.openxmlformats.org/officeDocument/2006/math">
                    <m:oMath>
                      <m:r>
                        <a:rPr lang="pt-BR" sz="2800" i="1">
                          <a:latin typeface="Cambria Math" panose="02040503050406030204" pitchFamily="18" charset="0"/>
                        </a:rPr>
                        <m:t>𝑓</m:t>
                      </m:r>
                      <m:d>
                        <m:dPr>
                          <m:ctrlPr>
                            <a:rPr lang="pt-BR" sz="2800" i="1" smtClean="0">
                              <a:latin typeface="Cambria Math" panose="02040503050406030204" pitchFamily="18" charset="0"/>
                            </a:rPr>
                          </m:ctrlPr>
                        </m:dPr>
                        <m:e>
                          <m:limLow>
                            <m:limLowPr>
                              <m:ctrlPr>
                                <a:rPr lang="pt-BR" sz="2800" i="1" smtClean="0">
                                  <a:latin typeface="Cambria Math" panose="02040503050406030204" pitchFamily="18" charset="0"/>
                                </a:rPr>
                              </m:ctrlPr>
                            </m:limLowPr>
                            <m:e>
                              <m:groupChr>
                                <m:groupChrPr>
                                  <m:chr m:val="⏟"/>
                                  <m:pos m:val="bot"/>
                                  <m:vertJc m:val="top"/>
                                  <m:ctrlPr>
                                    <a:rPr lang="pt-BR" i="1">
                                      <a:latin typeface="Cambria Math" panose="02040503050406030204" pitchFamily="18" charset="0"/>
                                    </a:rPr>
                                  </m:ctrlPr>
                                </m:groupChrPr>
                                <m:e>
                                  <m:r>
                                    <a:rPr lang="pt-BR" i="1">
                                      <a:latin typeface="Cambria Math" panose="02040503050406030204" pitchFamily="18" charset="0"/>
                                    </a:rPr>
                                    <m:t>𝑥</m:t>
                                  </m:r>
                                  <m:r>
                                    <a:rPr lang="pt-BR" i="1">
                                      <a:latin typeface="Cambria Math" panose="02040503050406030204" pitchFamily="18" charset="0"/>
                                    </a:rPr>
                                    <m:t>(0)+</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(0)</m:t>
                                          </m:r>
                                        </m:e>
                                      </m:d>
                                    </m:num>
                                    <m:den>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𝑥</m:t>
                                      </m:r>
                                    </m:den>
                                  </m:f>
                                </m:e>
                              </m:groupChr>
                            </m:e>
                            <m:lim>
                              <m:r>
                                <a:rPr lang="pt-BR" i="1">
                                  <a:latin typeface="Cambria Math" panose="02040503050406030204" pitchFamily="18" charset="0"/>
                                </a:rPr>
                                <m:t>𝑥</m:t>
                              </m:r>
                              <m:r>
                                <a:rPr lang="pt-BR" i="1">
                                  <a:latin typeface="Cambria Math" panose="02040503050406030204" pitchFamily="18" charset="0"/>
                                </a:rPr>
                                <m:t>(1)</m:t>
                              </m:r>
                              <m:r>
                                <m:rPr>
                                  <m:nor/>
                                </m:rPr>
                                <a:rPr lang="pt-BR" i="0" dirty="0"/>
                                <m:t> </m:t>
                              </m:r>
                            </m:lim>
                          </m:limLow>
                        </m:e>
                      </m:d>
                      <m:r>
                        <a:rPr lang="pt-BR" sz="2800" i="1">
                          <a:latin typeface="Cambria Math" panose="02040503050406030204" pitchFamily="18" charset="0"/>
                        </a:rPr>
                        <m:t>&gt;</m:t>
                      </m:r>
                      <m:r>
                        <a:rPr lang="pt-BR" sz="2800" i="1">
                          <a:latin typeface="Cambria Math" panose="02040503050406030204" pitchFamily="18" charset="0"/>
                        </a:rPr>
                        <m:t>𝑓</m:t>
                      </m:r>
                      <m:d>
                        <m:dPr>
                          <m:ctrlPr>
                            <a:rPr lang="pt-BR" sz="2800" i="1">
                              <a:latin typeface="Cambria Math" panose="02040503050406030204" pitchFamily="18" charset="0"/>
                            </a:rPr>
                          </m:ctrlPr>
                        </m:dPr>
                        <m:e>
                          <m:r>
                            <a:rPr lang="pt-BR" sz="2800" i="1">
                              <a:latin typeface="Cambria Math" panose="02040503050406030204" pitchFamily="18" charset="0"/>
                            </a:rPr>
                            <m:t>𝑥</m:t>
                          </m:r>
                          <m:r>
                            <a:rPr lang="pt-BR" sz="2800" i="1">
                              <a:latin typeface="Cambria Math" panose="02040503050406030204" pitchFamily="18" charset="0"/>
                            </a:rPr>
                            <m:t>(0)</m:t>
                          </m:r>
                        </m:e>
                      </m:d>
                      <m:r>
                        <a:rPr lang="pt-BR" sz="2800" b="0" i="1" smtClean="0">
                          <a:latin typeface="Cambria Math" panose="02040503050406030204" pitchFamily="18" charset="0"/>
                        </a:rPr>
                        <m:t>.</m:t>
                      </m:r>
                    </m:oMath>
                  </m:oMathPara>
                </a14:m>
                <a:endParaRPr lang="pt-BR" sz="2800" dirty="0"/>
              </a:p>
            </p:txBody>
          </p:sp>
        </mc:Choice>
        <mc:Fallback xmlns="">
          <p:sp>
            <p:nvSpPr>
              <p:cNvPr id="3" name="Espaço Reservado para Conteúdo 2">
                <a:extLst>
                  <a:ext uri="{FF2B5EF4-FFF2-40B4-BE49-F238E27FC236}">
                    <a16:creationId xmlns:a16="http://schemas.microsoft.com/office/drawing/2014/main" id="{4504DA9A-414F-A178-1A5D-8A7B60A1D0D6}"/>
                  </a:ext>
                </a:extLst>
              </p:cNvPr>
              <p:cNvSpPr>
                <a:spLocks noGrp="1" noRot="1" noChangeAspect="1" noMove="1" noResize="1" noEditPoints="1" noAdjustHandles="1" noChangeArrowheads="1" noChangeShapeType="1" noTextEdit="1"/>
              </p:cNvSpPr>
              <p:nvPr>
                <p:ph idx="1"/>
              </p:nvPr>
            </p:nvSpPr>
            <p:spPr>
              <a:xfrm>
                <a:off x="5697415" y="1825624"/>
                <a:ext cx="6330462" cy="5032375"/>
              </a:xfrm>
              <a:blipFill>
                <a:blip r:embed="rId3"/>
                <a:stretch>
                  <a:fillRect l="-1734" t="-1937" r="-2023"/>
                </a:stretch>
              </a:blipFill>
            </p:spPr>
            <p:txBody>
              <a:bodyPr/>
              <a:lstStyle/>
              <a:p>
                <a:r>
                  <a:rPr lang="pt-BR">
                    <a:noFill/>
                  </a:rPr>
                  <a:t> </a:t>
                </a:r>
              </a:p>
            </p:txBody>
          </p:sp>
        </mc:Fallback>
      </mc:AlternateContent>
      <p:pic>
        <p:nvPicPr>
          <p:cNvPr id="4" name="Imagem 3">
            <a:extLst>
              <a:ext uri="{FF2B5EF4-FFF2-40B4-BE49-F238E27FC236}">
                <a16:creationId xmlns:a16="http://schemas.microsoft.com/office/drawing/2014/main" id="{448EB0E5-17EB-0FEE-1292-4DC1D775B056}"/>
              </a:ext>
            </a:extLst>
          </p:cNvPr>
          <p:cNvPicPr>
            <a:picLocks noChangeAspect="1"/>
          </p:cNvPicPr>
          <p:nvPr/>
        </p:nvPicPr>
        <p:blipFill rotWithShape="1">
          <a:blip r:embed="rId4">
            <a:extLst>
              <a:ext uri="{28A0092B-C50C-407E-A947-70E740481C1C}">
                <a14:useLocalDpi xmlns:a14="http://schemas.microsoft.com/office/drawing/2010/main" val="0"/>
              </a:ext>
            </a:extLst>
          </a:blip>
          <a:srcRect l="1330" t="934" r="1845" b="46040"/>
          <a:stretch/>
        </p:blipFill>
        <p:spPr>
          <a:xfrm>
            <a:off x="93784" y="2833634"/>
            <a:ext cx="5440172" cy="2416630"/>
          </a:xfrm>
          <a:prstGeom prst="rect">
            <a:avLst/>
          </a:prstGeom>
        </p:spPr>
      </p:pic>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2FD425F9-09EA-C1A1-0CC9-1850500F6675}"/>
                  </a:ext>
                </a:extLst>
              </p:cNvPr>
              <p:cNvSpPr txBox="1"/>
              <p:nvPr/>
            </p:nvSpPr>
            <p:spPr>
              <a:xfrm>
                <a:off x="2502755" y="5464016"/>
                <a:ext cx="1533036" cy="276999"/>
              </a:xfrm>
              <a:prstGeom prst="rect">
                <a:avLst/>
              </a:prstGeom>
              <a:noFill/>
            </p:spPr>
            <p:txBody>
              <a:bodyPr wrap="square">
                <a:spAutoFit/>
              </a:bodyPr>
              <a:lstStyle/>
              <a:p>
                <a:pPr/>
                <a14:m>
                  <m:oMathPara xmlns:m="http://schemas.openxmlformats.org/officeDocument/2006/math">
                    <m:oMath>
                      <m:r>
                        <a:rPr lang="pt-BR" sz="1200" i="1" smtClean="0">
                          <a:latin typeface="Cambria Math" panose="02040503050406030204" pitchFamily="18" charset="0"/>
                        </a:rPr>
                        <m:t>𝑥</m:t>
                      </m:r>
                      <m:r>
                        <a:rPr lang="pt-BR" sz="1200" i="1" smtClean="0">
                          <a:latin typeface="Cambria Math" panose="02040503050406030204" pitchFamily="18" charset="0"/>
                        </a:rPr>
                        <m:t>(1)</m:t>
                      </m:r>
                      <m:r>
                        <m:rPr>
                          <m:nor/>
                        </m:rPr>
                        <a:rPr lang="pt-BR" sz="1200" i="0" dirty="0"/>
                        <m:t> </m:t>
                      </m:r>
                    </m:oMath>
                  </m:oMathPara>
                </a14:m>
                <a:endParaRPr lang="pt-BR" sz="1200" dirty="0"/>
              </a:p>
            </p:txBody>
          </p:sp>
        </mc:Choice>
        <mc:Fallback xmlns="">
          <p:sp>
            <p:nvSpPr>
              <p:cNvPr id="8" name="CaixaDeTexto 7">
                <a:extLst>
                  <a:ext uri="{FF2B5EF4-FFF2-40B4-BE49-F238E27FC236}">
                    <a16:creationId xmlns:a16="http://schemas.microsoft.com/office/drawing/2014/main" id="{2FD425F9-09EA-C1A1-0CC9-1850500F6675}"/>
                  </a:ext>
                </a:extLst>
              </p:cNvPr>
              <p:cNvSpPr txBox="1">
                <a:spLocks noRot="1" noChangeAspect="1" noMove="1" noResize="1" noEditPoints="1" noAdjustHandles="1" noChangeArrowheads="1" noChangeShapeType="1" noTextEdit="1"/>
              </p:cNvSpPr>
              <p:nvPr/>
            </p:nvSpPr>
            <p:spPr>
              <a:xfrm>
                <a:off x="2502755" y="5464016"/>
                <a:ext cx="1533036" cy="276999"/>
              </a:xfrm>
              <a:prstGeom prst="rect">
                <a:avLst/>
              </a:prstGeom>
              <a:blipFill>
                <a:blip r:embed="rId5"/>
                <a:stretch>
                  <a:fillRect b="-6522"/>
                </a:stretch>
              </a:blipFill>
            </p:spPr>
            <p:txBody>
              <a:bodyPr/>
              <a:lstStyle/>
              <a:p>
                <a:r>
                  <a:rPr lang="pt-BR">
                    <a:noFill/>
                  </a:rPr>
                  <a:t> </a:t>
                </a:r>
              </a:p>
            </p:txBody>
          </p:sp>
        </mc:Fallback>
      </mc:AlternateContent>
      <p:sp>
        <p:nvSpPr>
          <p:cNvPr id="9" name="Chave Direita 8">
            <a:extLst>
              <a:ext uri="{FF2B5EF4-FFF2-40B4-BE49-F238E27FC236}">
                <a16:creationId xmlns:a16="http://schemas.microsoft.com/office/drawing/2014/main" id="{28D0A3AB-CE24-88D3-8FB2-F3A708932348}"/>
              </a:ext>
            </a:extLst>
          </p:cNvPr>
          <p:cNvSpPr/>
          <p:nvPr/>
        </p:nvSpPr>
        <p:spPr>
          <a:xfrm rot="5400000">
            <a:off x="3162397" y="4767846"/>
            <a:ext cx="213752" cy="11785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6" name="CaixaDeTexto 5">
            <a:extLst>
              <a:ext uri="{FF2B5EF4-FFF2-40B4-BE49-F238E27FC236}">
                <a16:creationId xmlns:a16="http://schemas.microsoft.com/office/drawing/2014/main" id="{25D23E74-3AD3-9265-31E7-426514850C03}"/>
              </a:ext>
            </a:extLst>
          </p:cNvPr>
          <p:cNvSpPr txBox="1"/>
          <p:nvPr/>
        </p:nvSpPr>
        <p:spPr>
          <a:xfrm>
            <a:off x="-1" y="6566071"/>
            <a:ext cx="6877455" cy="276999"/>
          </a:xfrm>
          <a:prstGeom prst="rect">
            <a:avLst/>
          </a:prstGeom>
          <a:noFill/>
        </p:spPr>
        <p:txBody>
          <a:bodyPr wrap="square">
            <a:spAutoFit/>
          </a:bodyPr>
          <a:lstStyle/>
          <a:p>
            <a:r>
              <a:rPr lang="pt-BR" sz="1200" b="1" i="1" dirty="0">
                <a:solidFill>
                  <a:srgbClr val="7030A0"/>
                </a:solidFill>
              </a:rPr>
              <a:t>* O vetor gradiente dá a direção e a taxa de crescimento, mas não a distância até o ponto de máximo.</a:t>
            </a:r>
            <a:endParaRPr lang="pt-BR" sz="1200" dirty="0"/>
          </a:p>
        </p:txBody>
      </p:sp>
    </p:spTree>
    <p:extLst>
      <p:ext uri="{BB962C8B-B14F-4D97-AF65-F5344CB8AC3E}">
        <p14:creationId xmlns:p14="http://schemas.microsoft.com/office/powerpoint/2010/main" val="885556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87987-BB17-6DD4-1ACA-2D3A46491196}"/>
              </a:ext>
            </a:extLst>
          </p:cNvPr>
          <p:cNvSpPr>
            <a:spLocks noGrp="1"/>
          </p:cNvSpPr>
          <p:nvPr>
            <p:ph type="title"/>
          </p:nvPr>
        </p:nvSpPr>
        <p:spPr/>
        <p:txBody>
          <a:bodyPr/>
          <a:lstStyle/>
          <a:p>
            <a:r>
              <a:rPr lang="pt-BR" dirty="0"/>
              <a:t>O vetor gradiente indica o caminho para o ponto de máximo da função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4869462-B4FA-8088-15F6-7769BE0A76CD}"/>
                  </a:ext>
                </a:extLst>
              </p:cNvPr>
              <p:cNvSpPr>
                <a:spLocks noGrp="1"/>
              </p:cNvSpPr>
              <p:nvPr>
                <p:ph idx="1"/>
              </p:nvPr>
            </p:nvSpPr>
            <p:spPr>
              <a:xfrm>
                <a:off x="5858190" y="1825624"/>
                <a:ext cx="6169688" cy="5032375"/>
              </a:xfrm>
            </p:spPr>
            <p:txBody>
              <a:bodyPr>
                <a:normAutofit/>
              </a:bodyPr>
              <a:lstStyle/>
              <a:p>
                <a:pPr marL="285750" indent="-285750">
                  <a:buFont typeface="Arial" panose="020B0604020202020204" pitchFamily="34" charset="0"/>
                  <a:buChar char="•"/>
                </a:pPr>
                <a:r>
                  <a:rPr lang="pt-BR" sz="2800" dirty="0"/>
                  <a:t>Se, a cada </a:t>
                </a:r>
                <a:r>
                  <a:rPr lang="pt-BR" sz="2800" b="1" i="1" dirty="0">
                    <a:solidFill>
                      <a:srgbClr val="00B050"/>
                    </a:solidFill>
                  </a:rPr>
                  <a:t>ponto atual</a:t>
                </a:r>
                <a:r>
                  <a:rPr lang="pt-BR" sz="2800" dirty="0"/>
                  <a:t>, nós calcularmos o vetor gradiente e </a:t>
                </a:r>
                <a:r>
                  <a:rPr lang="pt-BR" sz="2800" b="1" i="1" dirty="0">
                    <a:solidFill>
                      <a:schemeClr val="accent2"/>
                    </a:solidFill>
                  </a:rPr>
                  <a:t>adicionarmos</a:t>
                </a:r>
                <a:r>
                  <a:rPr lang="pt-BR" sz="2800" dirty="0"/>
                  <a:t> uma </a:t>
                </a:r>
                <a:r>
                  <a:rPr lang="pt-BR" sz="2800" b="1" i="1" dirty="0">
                    <a:solidFill>
                      <a:srgbClr val="00B050"/>
                    </a:solidFill>
                  </a:rPr>
                  <a:t>porcentagem</a:t>
                </a:r>
                <a:r>
                  <a:rPr lang="pt-BR" sz="2800" dirty="0"/>
                  <a:t> dele àquele ponto, teremos um </a:t>
                </a:r>
                <a:r>
                  <a:rPr lang="pt-BR" sz="2800" b="1" i="1" dirty="0">
                    <a:solidFill>
                      <a:srgbClr val="00B050"/>
                    </a:solidFill>
                  </a:rPr>
                  <a:t>novo ponto </a:t>
                </a:r>
                <a:r>
                  <a:rPr lang="pt-BR" sz="2800" dirty="0"/>
                  <a:t>que leva a um </a:t>
                </a:r>
                <a:r>
                  <a:rPr lang="pt-BR" sz="2800" b="1" i="1" dirty="0"/>
                  <a:t>valor da função </a:t>
                </a:r>
                <a14:m>
                  <m:oMath xmlns:m="http://schemas.openxmlformats.org/officeDocument/2006/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 </m:t>
                    </m:r>
                  </m:oMath>
                </a14:m>
                <a:r>
                  <a:rPr lang="pt-BR" sz="2800" b="1" i="1" dirty="0">
                    <a:solidFill>
                      <a:srgbClr val="00B050"/>
                    </a:solidFill>
                  </a:rPr>
                  <a:t>maior do que o valor anterior</a:t>
                </a:r>
                <a:r>
                  <a:rPr lang="pt-BR" sz="2800" dirty="0"/>
                  <a:t>.</a:t>
                </a:r>
              </a:p>
              <a:p>
                <a:pPr marL="285750" indent="-285750"/>
                <a:r>
                  <a:rPr lang="pt-BR" sz="2800" dirty="0"/>
                  <a:t>Portanto, podemos criar um </a:t>
                </a:r>
                <a:r>
                  <a:rPr lang="pt-BR" sz="2800" b="1" i="1" dirty="0">
                    <a:solidFill>
                      <a:srgbClr val="7030A0"/>
                    </a:solidFill>
                  </a:rPr>
                  <a:t>procedimento</a:t>
                </a:r>
                <a:r>
                  <a:rPr lang="pt-BR" sz="2800" dirty="0"/>
                  <a:t> que vai </a:t>
                </a:r>
                <a:r>
                  <a:rPr lang="pt-BR" sz="2800" b="1" i="1" dirty="0">
                    <a:solidFill>
                      <a:schemeClr val="accent2"/>
                    </a:solidFill>
                  </a:rPr>
                  <a:t>caminhando</a:t>
                </a:r>
                <a:r>
                  <a:rPr lang="pt-BR" sz="2800" dirty="0"/>
                  <a:t> </a:t>
                </a:r>
                <a:r>
                  <a:rPr lang="pt-BR" b="1" i="1" dirty="0">
                    <a:solidFill>
                      <a:schemeClr val="accent2"/>
                    </a:solidFill>
                  </a:rPr>
                  <a:t>iterativamente </a:t>
                </a:r>
                <a:r>
                  <a:rPr lang="pt-BR" sz="2800" dirty="0"/>
                  <a:t>em </a:t>
                </a:r>
                <a:r>
                  <a:rPr lang="pt-BR" sz="2800" b="1" i="1" dirty="0">
                    <a:solidFill>
                      <a:srgbClr val="00B050"/>
                    </a:solidFill>
                  </a:rPr>
                  <a:t>direção ao </a:t>
                </a:r>
                <a:r>
                  <a:rPr lang="pt-BR" sz="2800" b="1" i="1" dirty="0">
                    <a:solidFill>
                      <a:srgbClr val="7030A0"/>
                    </a:solidFill>
                  </a:rPr>
                  <a:t>ponto de máximo</a:t>
                </a:r>
                <a:r>
                  <a:rPr lang="pt-BR" sz="2800" b="1" i="1" dirty="0">
                    <a:solidFill>
                      <a:srgbClr val="00B050"/>
                    </a:solidFill>
                  </a:rPr>
                  <a:t> da função</a:t>
                </a:r>
                <a:r>
                  <a:rPr lang="pt-BR" sz="2800" dirty="0"/>
                  <a:t>.</a:t>
                </a:r>
              </a:p>
              <a:p>
                <a:pPr marL="285750" indent="-285750">
                  <a:buFont typeface="Arial" panose="020B0604020202020204" pitchFamily="34" charset="0"/>
                  <a:buChar char="•"/>
                </a:pPr>
                <a:r>
                  <a:rPr lang="pt-BR" dirty="0"/>
                  <a:t>Vamos entender como isso pode ser feito na sequência.</a:t>
                </a:r>
                <a:endParaRPr lang="pt-BR" sz="2800" dirty="0"/>
              </a:p>
            </p:txBody>
          </p:sp>
        </mc:Choice>
        <mc:Fallback xmlns="">
          <p:sp>
            <p:nvSpPr>
              <p:cNvPr id="3" name="Espaço Reservado para Conteúdo 2">
                <a:extLst>
                  <a:ext uri="{FF2B5EF4-FFF2-40B4-BE49-F238E27FC236}">
                    <a16:creationId xmlns:a16="http://schemas.microsoft.com/office/drawing/2014/main" id="{B4869462-B4FA-8088-15F6-7769BE0A76CD}"/>
                  </a:ext>
                </a:extLst>
              </p:cNvPr>
              <p:cNvSpPr>
                <a:spLocks noGrp="1" noRot="1" noChangeAspect="1" noMove="1" noResize="1" noEditPoints="1" noAdjustHandles="1" noChangeArrowheads="1" noChangeShapeType="1" noTextEdit="1"/>
              </p:cNvSpPr>
              <p:nvPr>
                <p:ph idx="1"/>
              </p:nvPr>
            </p:nvSpPr>
            <p:spPr>
              <a:xfrm>
                <a:off x="5858190" y="1825624"/>
                <a:ext cx="6169688" cy="5032375"/>
              </a:xfrm>
              <a:blipFill>
                <a:blip r:embed="rId3"/>
                <a:stretch>
                  <a:fillRect l="-1779" t="-1937" r="-1482" b="-1816"/>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4F8F49E5-44B2-EA7D-D422-2E49B73391D5}"/>
              </a:ext>
            </a:extLst>
          </p:cNvPr>
          <p:cNvPicPr>
            <a:picLocks noChangeAspect="1"/>
          </p:cNvPicPr>
          <p:nvPr/>
        </p:nvPicPr>
        <p:blipFill rotWithShape="1">
          <a:blip r:embed="rId4">
            <a:extLst>
              <a:ext uri="{28A0092B-C50C-407E-A947-70E740481C1C}">
                <a14:useLocalDpi xmlns:a14="http://schemas.microsoft.com/office/drawing/2010/main" val="0"/>
              </a:ext>
            </a:extLst>
          </a:blip>
          <a:srcRect l="1330" t="934" r="1845" b="46040"/>
          <a:stretch/>
        </p:blipFill>
        <p:spPr>
          <a:xfrm>
            <a:off x="164123" y="2662812"/>
            <a:ext cx="5440172" cy="2416630"/>
          </a:xfrm>
          <a:prstGeom prst="rect">
            <a:avLst/>
          </a:prstGeom>
        </p:spPr>
      </p:pic>
    </p:spTree>
    <p:extLst>
      <p:ext uri="{BB962C8B-B14F-4D97-AF65-F5344CB8AC3E}">
        <p14:creationId xmlns:p14="http://schemas.microsoft.com/office/powerpoint/2010/main" val="316305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A6E16-FA68-C90C-25D9-3B2F1D22E336}"/>
              </a:ext>
            </a:extLst>
          </p:cNvPr>
          <p:cNvSpPr>
            <a:spLocks noGrp="1"/>
          </p:cNvSpPr>
          <p:nvPr>
            <p:ph type="title"/>
          </p:nvPr>
        </p:nvSpPr>
        <p:spPr/>
        <p:txBody>
          <a:bodyPr/>
          <a:lstStyle/>
          <a:p>
            <a:r>
              <a:rPr lang="pt-BR" dirty="0"/>
              <a:t>Algoritmo do gradiente ascendente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EF4CFF64-3CF3-BFF9-12BE-F44727B204DE}"/>
                  </a:ext>
                </a:extLst>
              </p:cNvPr>
              <p:cNvSpPr>
                <a:spLocks noGrp="1"/>
              </p:cNvSpPr>
              <p:nvPr>
                <p:ph idx="1"/>
              </p:nvPr>
            </p:nvSpPr>
            <p:spPr>
              <a:xfrm>
                <a:off x="5345722" y="1825624"/>
                <a:ext cx="6846278" cy="5032375"/>
              </a:xfrm>
            </p:spPr>
            <p:txBody>
              <a:bodyPr/>
              <a:lstStyle/>
              <a:p>
                <a:r>
                  <a:rPr lang="pt-BR" noProof="0" dirty="0"/>
                  <a:t>Os </a:t>
                </a:r>
                <a:r>
                  <a:rPr lang="pt-BR" b="1" i="1" noProof="0" dirty="0">
                    <a:solidFill>
                      <a:schemeClr val="accent2"/>
                    </a:solidFill>
                  </a:rPr>
                  <a:t>sinais dos elementos do vetor gradiente </a:t>
                </a:r>
                <a:r>
                  <a:rPr lang="pt-BR" dirty="0"/>
                  <a:t>em um ponto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noProof="0" dirty="0"/>
                  <a:t> indicam se devemos </a:t>
                </a:r>
                <a:r>
                  <a:rPr lang="pt-BR" b="1" i="1" noProof="0" dirty="0">
                    <a:solidFill>
                      <a:srgbClr val="7030A0"/>
                    </a:solidFill>
                  </a:rPr>
                  <a:t>aumentar ou diminuir o valor 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noProof="0" dirty="0"/>
                  <a:t>.</a:t>
                </a:r>
              </a:p>
              <a:p>
                <a:r>
                  <a:rPr lang="pt-BR" dirty="0"/>
                  <a:t>Assim, um elemento com </a:t>
                </a:r>
                <a:r>
                  <a:rPr lang="pt-BR" b="1" i="1" dirty="0">
                    <a:solidFill>
                      <a:schemeClr val="accent2"/>
                    </a:solidFill>
                  </a:rPr>
                  <a:t>sinal</a:t>
                </a:r>
                <a:r>
                  <a:rPr lang="pt-BR" dirty="0"/>
                  <a:t>:</a:t>
                </a:r>
                <a:endParaRPr lang="pt-BR" noProof="0" dirty="0"/>
              </a:p>
              <a:p>
                <a:pPr lvl="1">
                  <a:buFont typeface="Wingdings" panose="05000000000000000000" pitchFamily="2" charset="2"/>
                  <a:buChar char="§"/>
                </a:pPr>
                <a:r>
                  <a:rPr lang="pt-BR" noProof="0" dirty="0"/>
                  <a:t>+ indica que o </a:t>
                </a:r>
                <a:r>
                  <a:rPr lang="pt-BR" b="1" i="1" noProof="0" dirty="0">
                    <a:solidFill>
                      <a:srgbClr val="00B050"/>
                    </a:solidFill>
                  </a:rPr>
                  <a:t>ponto de máximo esta à frente do ponto atual</a:t>
                </a:r>
                <a:r>
                  <a:rPr lang="pt-BR" noProof="0" dirty="0"/>
                  <a:t>.</a:t>
                </a:r>
              </a:p>
              <a:p>
                <a:pPr lvl="2">
                  <a:buFont typeface="Courier New" panose="02070309020205020404" pitchFamily="49" charset="0"/>
                  <a:buChar char="o"/>
                </a:pPr>
                <a:r>
                  <a:rPr lang="pt-BR" dirty="0"/>
                  <a:t>Devemos somar um valor à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noProof="0" dirty="0"/>
                  <a:t>.</a:t>
                </a:r>
              </a:p>
              <a:p>
                <a:pPr lvl="1">
                  <a:buFont typeface="Wingdings" panose="05000000000000000000" pitchFamily="2" charset="2"/>
                  <a:buChar char="§"/>
                </a:pPr>
                <a:r>
                  <a:rPr lang="pt-BR" noProof="0" dirty="0"/>
                  <a:t>- indica que o </a:t>
                </a:r>
                <a:r>
                  <a:rPr lang="pt-BR" b="1" i="1" noProof="0" dirty="0">
                    <a:solidFill>
                      <a:srgbClr val="00B050"/>
                    </a:solidFill>
                  </a:rPr>
                  <a:t>ponto de máximo está atrás do ponto atual</a:t>
                </a:r>
                <a:r>
                  <a:rPr lang="pt-BR" noProof="0" dirty="0"/>
                  <a:t>.</a:t>
                </a:r>
              </a:p>
              <a:p>
                <a:pPr lvl="2">
                  <a:buFont typeface="Courier New" panose="02070309020205020404" pitchFamily="49" charset="0"/>
                  <a:buChar char="o"/>
                </a:pPr>
                <a:r>
                  <a:rPr lang="pt-BR" dirty="0"/>
                  <a:t>Devemos subtrair um valor 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a:t>
                </a:r>
                <a:endParaRPr lang="pt-BR" noProof="0" dirty="0"/>
              </a:p>
              <a:p>
                <a:pPr lvl="1">
                  <a:buFont typeface="Wingdings" panose="05000000000000000000" pitchFamily="2" charset="2"/>
                  <a:buChar char="§"/>
                </a:pPr>
                <a:r>
                  <a:rPr lang="pt-BR" noProof="0" dirty="0"/>
                  <a:t>0 indica que </a:t>
                </a:r>
                <a:r>
                  <a:rPr lang="pt-BR" b="1" i="1" noProof="0" dirty="0">
                    <a:solidFill>
                      <a:srgbClr val="00B050"/>
                    </a:solidFill>
                  </a:rPr>
                  <a:t>ponto de máximo foi encontrado</a:t>
                </a:r>
                <a:r>
                  <a:rPr lang="pt-BR" noProof="0" dirty="0"/>
                  <a:t>.</a:t>
                </a:r>
              </a:p>
              <a:p>
                <a:pPr lvl="2">
                  <a:buFont typeface="Courier New" panose="02070309020205020404" pitchFamily="49" charset="0"/>
                  <a:buChar char="o"/>
                </a:pPr>
                <a:r>
                  <a:rPr lang="pt-BR" dirty="0"/>
                  <a:t>Não somamos ou subtraímos nada 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a:t>
                </a:r>
              </a:p>
            </p:txBody>
          </p:sp>
        </mc:Choice>
        <mc:Fallback>
          <p:sp>
            <p:nvSpPr>
              <p:cNvPr id="3" name="Espaço Reservado para Conteúdo 2">
                <a:extLst>
                  <a:ext uri="{FF2B5EF4-FFF2-40B4-BE49-F238E27FC236}">
                    <a16:creationId xmlns:a16="http://schemas.microsoft.com/office/drawing/2014/main" id="{EF4CFF64-3CF3-BFF9-12BE-F44727B204DE}"/>
                  </a:ext>
                </a:extLst>
              </p:cNvPr>
              <p:cNvSpPr>
                <a:spLocks noGrp="1" noRot="1" noChangeAspect="1" noMove="1" noResize="1" noEditPoints="1" noAdjustHandles="1" noChangeArrowheads="1" noChangeShapeType="1" noTextEdit="1"/>
              </p:cNvSpPr>
              <p:nvPr>
                <p:ph idx="1"/>
              </p:nvPr>
            </p:nvSpPr>
            <p:spPr>
              <a:xfrm>
                <a:off x="5345722" y="1825624"/>
                <a:ext cx="6846278" cy="5032375"/>
              </a:xfrm>
              <a:blipFill>
                <a:blip r:embed="rId3"/>
                <a:stretch>
                  <a:fillRect l="-1603" t="-1937" r="-1158"/>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178A3198-D0E5-C5EC-1EF3-5BE27A2F1D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23" r="1941" b="49468"/>
          <a:stretch/>
        </p:blipFill>
        <p:spPr>
          <a:xfrm>
            <a:off x="284703" y="2618470"/>
            <a:ext cx="4983982" cy="2626770"/>
          </a:xfrm>
          <a:prstGeom prst="rect">
            <a:avLst/>
          </a:prstGeom>
        </p:spPr>
      </p:pic>
    </p:spTree>
    <p:extLst>
      <p:ext uri="{BB962C8B-B14F-4D97-AF65-F5344CB8AC3E}">
        <p14:creationId xmlns:p14="http://schemas.microsoft.com/office/powerpoint/2010/main" val="912559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A6E16-FA68-C90C-25D9-3B2F1D22E336}"/>
              </a:ext>
            </a:extLst>
          </p:cNvPr>
          <p:cNvSpPr>
            <a:spLocks noGrp="1"/>
          </p:cNvSpPr>
          <p:nvPr>
            <p:ph type="title"/>
          </p:nvPr>
        </p:nvSpPr>
        <p:spPr/>
        <p:txBody>
          <a:bodyPr/>
          <a:lstStyle/>
          <a:p>
            <a:r>
              <a:rPr lang="pt-BR" dirty="0"/>
              <a:t>Algoritmo do gradiente ascendente</a:t>
            </a:r>
          </a:p>
        </p:txBody>
      </p:sp>
      <p:sp>
        <p:nvSpPr>
          <p:cNvPr id="3" name="Espaço Reservado para Conteúdo 2">
            <a:extLst>
              <a:ext uri="{FF2B5EF4-FFF2-40B4-BE49-F238E27FC236}">
                <a16:creationId xmlns:a16="http://schemas.microsoft.com/office/drawing/2014/main" id="{EF4CFF64-3CF3-BFF9-12BE-F44727B204DE}"/>
              </a:ext>
            </a:extLst>
          </p:cNvPr>
          <p:cNvSpPr>
            <a:spLocks noGrp="1"/>
          </p:cNvSpPr>
          <p:nvPr>
            <p:ph idx="1"/>
          </p:nvPr>
        </p:nvSpPr>
        <p:spPr>
          <a:xfrm>
            <a:off x="5345723" y="1825624"/>
            <a:ext cx="6672106" cy="5032375"/>
          </a:xfrm>
        </p:spPr>
        <p:txBody>
          <a:bodyPr>
            <a:normAutofit/>
          </a:bodyPr>
          <a:lstStyle/>
          <a:p>
            <a:r>
              <a:rPr lang="pt-BR" dirty="0"/>
              <a:t>Portanto, </a:t>
            </a:r>
            <a:r>
              <a:rPr lang="pt-BR" b="1" i="1" dirty="0">
                <a:solidFill>
                  <a:srgbClr val="00B050"/>
                </a:solidFill>
              </a:rPr>
              <a:t>seguindo </a:t>
            </a:r>
            <a:r>
              <a:rPr lang="pt-BR" b="1" i="1" dirty="0">
                <a:solidFill>
                  <a:schemeClr val="accent2"/>
                </a:solidFill>
              </a:rPr>
              <a:t>iterativamente </a:t>
            </a:r>
            <a:r>
              <a:rPr lang="pt-BR" b="1" i="1" dirty="0">
                <a:solidFill>
                  <a:srgbClr val="00B050"/>
                </a:solidFill>
              </a:rPr>
              <a:t>na direção </a:t>
            </a:r>
            <a:r>
              <a:rPr lang="pt-BR" dirty="0"/>
              <a:t>indicada pelo </a:t>
            </a:r>
            <a:r>
              <a:rPr lang="pt-BR" b="1" i="1" dirty="0">
                <a:solidFill>
                  <a:srgbClr val="00B050"/>
                </a:solidFill>
              </a:rPr>
              <a:t>vetor gradiente</a:t>
            </a:r>
            <a:r>
              <a:rPr lang="pt-BR" dirty="0"/>
              <a:t>, </a:t>
            </a:r>
            <a:r>
              <a:rPr lang="pt-BR" b="1" i="1" dirty="0">
                <a:solidFill>
                  <a:srgbClr val="00B050"/>
                </a:solidFill>
              </a:rPr>
              <a:t>chegamos</a:t>
            </a:r>
            <a:r>
              <a:rPr lang="pt-BR" dirty="0"/>
              <a:t> ao </a:t>
            </a:r>
            <a:r>
              <a:rPr lang="pt-BR" b="1" i="1" dirty="0">
                <a:solidFill>
                  <a:srgbClr val="00B050"/>
                </a:solidFill>
              </a:rPr>
              <a:t>ponto de máximo da função</a:t>
            </a:r>
            <a:r>
              <a:rPr lang="pt-BR" dirty="0"/>
              <a:t>. </a:t>
            </a:r>
          </a:p>
          <a:p>
            <a:r>
              <a:rPr lang="pt-BR" dirty="0"/>
              <a:t>Um </a:t>
            </a:r>
            <a:r>
              <a:rPr lang="pt-BR" b="1" i="1" dirty="0">
                <a:solidFill>
                  <a:schemeClr val="accent2"/>
                </a:solidFill>
              </a:rPr>
              <a:t>algoritmo iterativo de otimização</a:t>
            </a:r>
            <a:r>
              <a:rPr lang="pt-BR" dirty="0"/>
              <a:t> que </a:t>
            </a:r>
            <a:r>
              <a:rPr lang="pt-BR" b="1" i="1" dirty="0">
                <a:solidFill>
                  <a:srgbClr val="00B050"/>
                </a:solidFill>
              </a:rPr>
              <a:t>siga a direção </a:t>
            </a:r>
            <a:r>
              <a:rPr lang="pt-BR" dirty="0"/>
              <a:t>indicada pelo </a:t>
            </a:r>
            <a:r>
              <a:rPr lang="pt-BR" b="1" i="1" dirty="0">
                <a:solidFill>
                  <a:srgbClr val="00B050"/>
                </a:solidFill>
              </a:rPr>
              <a:t>vetor gradiente</a:t>
            </a:r>
            <a:r>
              <a:rPr lang="pt-BR" dirty="0"/>
              <a:t> para encontrar o </a:t>
            </a:r>
            <a:r>
              <a:rPr lang="pt-BR" b="1" i="1" dirty="0">
                <a:solidFill>
                  <a:srgbClr val="00B050"/>
                </a:solidFill>
              </a:rPr>
              <a:t>ponto de máximo</a:t>
            </a:r>
            <a:r>
              <a:rPr lang="pt-BR" b="1" i="1" dirty="0"/>
              <a:t> </a:t>
            </a:r>
            <a:r>
              <a:rPr lang="pt-BR" dirty="0"/>
              <a:t>de uma função é conhecido como </a:t>
            </a:r>
            <a:r>
              <a:rPr lang="pt-BR" b="1" i="1" dirty="0">
                <a:solidFill>
                  <a:srgbClr val="00B0F0"/>
                </a:solidFill>
              </a:rPr>
              <a:t>gradiente ascendente</a:t>
            </a:r>
            <a:r>
              <a:rPr lang="pt-BR" dirty="0"/>
              <a:t>.</a:t>
            </a:r>
          </a:p>
          <a:p>
            <a:r>
              <a:rPr lang="pt-BR" dirty="0"/>
              <a:t>Mas como ele funciona?</a:t>
            </a:r>
          </a:p>
          <a:p>
            <a:endParaRPr lang="pt-BR" dirty="0"/>
          </a:p>
        </p:txBody>
      </p:sp>
      <p:pic>
        <p:nvPicPr>
          <p:cNvPr id="5" name="Imagem 4">
            <a:extLst>
              <a:ext uri="{FF2B5EF4-FFF2-40B4-BE49-F238E27FC236}">
                <a16:creationId xmlns:a16="http://schemas.microsoft.com/office/drawing/2014/main" id="{178A3198-D0E5-C5EC-1EF3-5BE27A2F1D1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23" r="1941" b="49468"/>
          <a:stretch/>
        </p:blipFill>
        <p:spPr>
          <a:xfrm>
            <a:off x="284703" y="2618470"/>
            <a:ext cx="4983982" cy="2626770"/>
          </a:xfrm>
          <a:prstGeom prst="rect">
            <a:avLst/>
          </a:prstGeom>
        </p:spPr>
      </p:pic>
    </p:spTree>
    <p:extLst>
      <p:ext uri="{BB962C8B-B14F-4D97-AF65-F5344CB8AC3E}">
        <p14:creationId xmlns:p14="http://schemas.microsoft.com/office/powerpoint/2010/main" val="1702250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E1313D-73E1-5AD7-D9CF-17C82B9BBD80}"/>
              </a:ext>
            </a:extLst>
          </p:cNvPr>
          <p:cNvSpPr>
            <a:spLocks noGrp="1"/>
          </p:cNvSpPr>
          <p:nvPr>
            <p:ph type="title"/>
          </p:nvPr>
        </p:nvSpPr>
        <p:spPr/>
        <p:txBody>
          <a:bodyPr/>
          <a:lstStyle/>
          <a:p>
            <a:r>
              <a:rPr lang="pt-BR" dirty="0"/>
              <a:t>Algoritmo do gradiente ascendente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CA6F2C7-69AE-6A03-0B78-B66A8DDCAF72}"/>
                  </a:ext>
                </a:extLst>
              </p:cNvPr>
              <p:cNvSpPr>
                <a:spLocks noGrp="1"/>
              </p:cNvSpPr>
              <p:nvPr>
                <p:ph idx="1"/>
              </p:nvPr>
            </p:nvSpPr>
            <p:spPr>
              <a:xfrm>
                <a:off x="838200" y="1825624"/>
                <a:ext cx="11353800" cy="5032376"/>
              </a:xfrm>
            </p:spPr>
            <p:txBody>
              <a:bodyPr>
                <a:normAutofit lnSpcReduction="10000"/>
              </a:bodyPr>
              <a:lstStyle/>
              <a:p>
                <a:r>
                  <a:rPr lang="pt-BR" dirty="0"/>
                  <a:t>Inicializa-se o argumento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rPr>
                      <m:t>(0)</m:t>
                    </m:r>
                  </m:oMath>
                </a14:m>
                <a:r>
                  <a:rPr lang="pt-BR" dirty="0"/>
                  <a:t> com um valor arbitrário, em geral, um valor </a:t>
                </a:r>
                <a:r>
                  <a:rPr lang="pt-BR" b="1" i="1" dirty="0">
                    <a:solidFill>
                      <a:srgbClr val="00B050"/>
                    </a:solidFill>
                  </a:rPr>
                  <a:t>aleatório</a:t>
                </a:r>
                <a:r>
                  <a:rPr lang="pt-BR" dirty="0"/>
                  <a:t>.</a:t>
                </a:r>
              </a:p>
              <a:p>
                <a:r>
                  <a:rPr lang="pt-BR" dirty="0"/>
                  <a:t>A cada </a:t>
                </a:r>
                <a:r>
                  <a:rPr lang="pt-BR" b="1" i="1" dirty="0"/>
                  <a:t>iteração</a:t>
                </a:r>
                <a:r>
                  <a:rPr lang="pt-BR" dirty="0"/>
                  <a:t>, </a:t>
                </a:r>
                <a14:m>
                  <m:oMath xmlns:m="http://schemas.openxmlformats.org/officeDocument/2006/math">
                    <m:r>
                      <a:rPr lang="pt-BR" b="0" i="1" smtClean="0">
                        <a:latin typeface="Cambria Math" panose="02040503050406030204" pitchFamily="18" charset="0"/>
                      </a:rPr>
                      <m:t>𝑖</m:t>
                    </m:r>
                  </m:oMath>
                </a14:m>
                <a:r>
                  <a:rPr lang="pt-BR" dirty="0"/>
                  <a:t>, calcula-se o </a:t>
                </a:r>
                <a:r>
                  <a:rPr lang="pt-BR" b="1" i="1" dirty="0"/>
                  <a:t>vetor gradiente </a:t>
                </a:r>
                <a:r>
                  <a:rPr lang="pt-BR" dirty="0"/>
                  <a:t>da função </a:t>
                </a:r>
                <a14:m>
                  <m:oMath xmlns:m="http://schemas.openxmlformats.org/officeDocument/2006/math">
                    <m:r>
                      <a:rPr lang="pt-BR" i="1">
                        <a:latin typeface="Cambria Math" panose="02040503050406030204" pitchFamily="18" charset="0"/>
                      </a:rPr>
                      <m:t>𝑓</m:t>
                    </m:r>
                    <m:r>
                      <a:rPr lang="pt-BR" i="1">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a14:m>
                <a:r>
                  <a:rPr lang="pt-BR" dirty="0"/>
                  <a:t> no ponto atual, </a:t>
                </a:r>
                <a14:m>
                  <m:oMath xmlns:m="http://schemas.openxmlformats.org/officeDocument/2006/math">
                    <m:r>
                      <a:rPr lang="pt-BR" b="0" i="1" smtClean="0">
                        <a:latin typeface="Cambria Math" panose="02040503050406030204" pitchFamily="18" charset="0"/>
                      </a:rPr>
                      <m:t>𝑥</m:t>
                    </m:r>
                    <m:r>
                      <a:rPr lang="pt-BR" b="0" i="0" smtClean="0">
                        <a:latin typeface="Cambria Math" panose="02040503050406030204" pitchFamily="18" charset="0"/>
                      </a:rPr>
                      <m:t>(</m:t>
                    </m:r>
                    <m:r>
                      <a:rPr lang="pt-BR" b="0" i="1" smtClean="0">
                        <a:latin typeface="Cambria Math" panose="02040503050406030204" pitchFamily="18" charset="0"/>
                      </a:rPr>
                      <m:t>𝑖</m:t>
                    </m:r>
                    <m:r>
                      <a:rPr lang="pt-BR" b="0" i="0" smtClean="0">
                        <a:latin typeface="Cambria Math" panose="02040503050406030204" pitchFamily="18" charset="0"/>
                      </a:rPr>
                      <m:t>)</m:t>
                    </m:r>
                  </m:oMath>
                </a14:m>
                <a:r>
                  <a:rPr lang="pt-BR" dirty="0"/>
                  <a:t>, e atualiza-se o valor do argumento usando uma porcentagem do gradiente, ou seja</a:t>
                </a:r>
              </a:p>
              <a:p>
                <a:pPr marL="0" indent="0">
                  <a:buNone/>
                </a:pPr>
                <a14:m>
                  <m:oMathPara xmlns:m="http://schemas.openxmlformats.org/officeDocument/2006/math">
                    <m:o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+1)=</m:t>
                      </m:r>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r>
                        <a:rPr lang="pt-BR" b="0" i="0" smtClean="0">
                          <a:latin typeface="Cambria Math" panose="02040503050406030204" pitchFamily="18" charset="0"/>
                        </a:rPr>
                        <m:t>, </m:t>
                      </m:r>
                      <m:r>
                        <a:rPr lang="pt-BR" b="0" i="1" smtClean="0">
                          <a:latin typeface="Cambria Math" panose="02040503050406030204" pitchFamily="18" charset="0"/>
                        </a:rPr>
                        <m:t>𝑖</m:t>
                      </m:r>
                      <m:r>
                        <a:rPr lang="pt-BR" b="0" i="0" smtClean="0">
                          <a:latin typeface="Cambria Math" panose="02040503050406030204" pitchFamily="18" charset="0"/>
                        </a:rPr>
                        <m:t>≥0.</m:t>
                      </m:r>
                    </m:oMath>
                  </m:oMathPara>
                </a14:m>
                <a:endParaRPr lang="pt-BR" dirty="0"/>
              </a:p>
              <a:p>
                <a:r>
                  <a:rPr lang="pt-BR" dirty="0"/>
                  <a:t>De tal forma, que a cada </a:t>
                </a:r>
                <a:r>
                  <a:rPr lang="pt-BR" b="1" i="1" dirty="0"/>
                  <a:t>iteração</a:t>
                </a:r>
                <a:r>
                  <a:rPr lang="pt-BR" dirty="0"/>
                  <a:t> se tenha</a:t>
                </a:r>
              </a:p>
              <a:p>
                <a:pPr marL="0" indent="0">
                  <a:buNone/>
                </a:pPr>
                <a14:m>
                  <m:oMathPara xmlns:m="http://schemas.openxmlformats.org/officeDocument/2006/math">
                    <m:oMath>
                      <m:r>
                        <a:rPr lang="pt-BR" i="1" smtClean="0">
                          <a:latin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b="0" i="1" smtClean="0">
                              <a:latin typeface="Cambria Math" panose="02040503050406030204" pitchFamily="18" charset="0"/>
                            </a:rPr>
                            <m:t>+1)</m:t>
                          </m:r>
                        </m:e>
                      </m:d>
                      <m:r>
                        <a:rPr lang="pt-BR" b="0" i="1" smtClean="0">
                          <a:latin typeface="Cambria Math" panose="02040503050406030204" pitchFamily="18" charset="0"/>
                        </a:rPr>
                        <m:t>&gt;</m:t>
                      </m:r>
                      <m:r>
                        <a:rPr lang="pt-BR" i="1">
                          <a:latin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i="1">
                              <a:latin typeface="Cambria Math" panose="02040503050406030204" pitchFamily="18" charset="0"/>
                            </a:rPr>
                            <m:t>)</m:t>
                          </m:r>
                        </m:e>
                      </m:d>
                      <m:r>
                        <a:rPr lang="pt-BR" b="0" i="0" smtClean="0">
                          <a:latin typeface="Cambria Math" panose="02040503050406030204" pitchFamily="18" charset="0"/>
                        </a:rPr>
                        <m:t>, </m:t>
                      </m:r>
                      <m:r>
                        <a:rPr lang="pt-BR" b="0" i="1" smtClean="0">
                          <a:latin typeface="Cambria Math" panose="02040503050406030204" pitchFamily="18" charset="0"/>
                        </a:rPr>
                        <m:t>𝑖</m:t>
                      </m:r>
                      <m:r>
                        <a:rPr lang="pt-BR" b="0" i="0" smtClean="0">
                          <a:latin typeface="Cambria Math" panose="02040503050406030204" pitchFamily="18" charset="0"/>
                        </a:rPr>
                        <m:t>≥0.</m:t>
                      </m:r>
                    </m:oMath>
                  </m:oMathPara>
                </a14:m>
                <a:endParaRPr lang="pt-BR" dirty="0"/>
              </a:p>
              <a:p>
                <a:r>
                  <a:rPr lang="pt-BR" dirty="0"/>
                  <a:t>As iterações se repetem até que o </a:t>
                </a:r>
                <a:r>
                  <a:rPr lang="pt-BR" b="1" i="1" dirty="0">
                    <a:solidFill>
                      <a:srgbClr val="00B050"/>
                    </a:solidFill>
                  </a:rPr>
                  <a:t>ponto de máximo</a:t>
                </a:r>
                <a:r>
                  <a:rPr lang="pt-BR" dirty="0"/>
                  <a:t> seja atingido, ou seja,</a:t>
                </a:r>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i="1">
                            <a:latin typeface="Cambria Math" panose="02040503050406030204" pitchFamily="18" charset="0"/>
                          </a:rPr>
                          <m:t>)</m:t>
                        </m:r>
                      </m:e>
                    </m:d>
                    <m:r>
                      <a:rPr lang="pt-BR" b="0" i="1" smtClean="0">
                        <a:latin typeface="Cambria Math" panose="02040503050406030204" pitchFamily="18" charset="0"/>
                      </a:rPr>
                      <m:t>=0</m:t>
                    </m:r>
                  </m:oMath>
                </a14:m>
                <a:r>
                  <a:rPr lang="pt-BR" dirty="0"/>
                  <a:t> e, consequentemente, o argumento </a:t>
                </a:r>
                <a14:m>
                  <m:oMath xmlns:m="http://schemas.openxmlformats.org/officeDocument/2006/math">
                    <m:r>
                      <a:rPr lang="pt-BR" i="1">
                        <a:latin typeface="Cambria Math" panose="02040503050406030204" pitchFamily="18" charset="0"/>
                      </a:rPr>
                      <m:t>𝑥</m:t>
                    </m:r>
                  </m:oMath>
                </a14:m>
                <a:r>
                  <a:rPr lang="pt-BR" dirty="0"/>
                  <a:t> </a:t>
                </a:r>
                <a:r>
                  <a:rPr lang="pt-BR" b="1" i="1" dirty="0">
                    <a:solidFill>
                      <a:srgbClr val="00B050"/>
                    </a:solidFill>
                  </a:rPr>
                  <a:t>não sofra mais atualizações</a:t>
                </a:r>
                <a:r>
                  <a:rPr lang="pt-BR" dirty="0"/>
                  <a:t> (i.e., o algoritmo convergiu).</a:t>
                </a:r>
              </a:p>
              <a:p>
                <a:pPr lvl="1">
                  <a:buFont typeface="Wingdings" panose="05000000000000000000" pitchFamily="2" charset="2"/>
                  <a:buChar char="§"/>
                </a:pPr>
                <a:r>
                  <a:rPr lang="pt-BR" dirty="0"/>
                  <a:t>Chamamos de </a:t>
                </a:r>
                <a:r>
                  <a:rPr lang="pt-BR" b="1" i="1" dirty="0">
                    <a:solidFill>
                      <a:srgbClr val="7030A0"/>
                    </a:solidFill>
                  </a:rPr>
                  <a:t>convergência</a:t>
                </a:r>
                <a:r>
                  <a:rPr lang="pt-BR" dirty="0"/>
                  <a:t> quando a variação da função </a:t>
                </a:r>
                <a14:m>
                  <m:oMath xmlns:m="http://schemas.openxmlformats.org/officeDocument/2006/math">
                    <m:r>
                      <a:rPr lang="pt-BR" i="1" smtClean="0">
                        <a:latin typeface="Cambria Math" panose="02040503050406030204" pitchFamily="18" charset="0"/>
                      </a:rPr>
                      <m:t>𝑓</m:t>
                    </m:r>
                    <m:r>
                      <a:rPr lang="pt-BR" i="1" smtClean="0">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a14:m>
                <a:r>
                  <a:rPr lang="pt-BR" dirty="0"/>
                  <a:t> entre iterações consecutivas é muito pequena, ou seja, o valor é praticamente constante.</a:t>
                </a:r>
              </a:p>
            </p:txBody>
          </p:sp>
        </mc:Choice>
        <mc:Fallback xmlns="">
          <p:sp>
            <p:nvSpPr>
              <p:cNvPr id="3" name="Espaço Reservado para Conteúdo 2">
                <a:extLst>
                  <a:ext uri="{FF2B5EF4-FFF2-40B4-BE49-F238E27FC236}">
                    <a16:creationId xmlns:a16="http://schemas.microsoft.com/office/drawing/2014/main" id="{6CA6F2C7-69AE-6A03-0B78-B66A8DDCAF72}"/>
                  </a:ext>
                </a:extLst>
              </p:cNvPr>
              <p:cNvSpPr>
                <a:spLocks noGrp="1" noRot="1" noChangeAspect="1" noMove="1" noResize="1" noEditPoints="1" noAdjustHandles="1" noChangeArrowheads="1" noChangeShapeType="1" noTextEdit="1"/>
              </p:cNvSpPr>
              <p:nvPr>
                <p:ph idx="1"/>
              </p:nvPr>
            </p:nvSpPr>
            <p:spPr>
              <a:xfrm>
                <a:off x="838200" y="1825624"/>
                <a:ext cx="11353800" cy="5032376"/>
              </a:xfrm>
              <a:blipFill>
                <a:blip r:embed="rId2"/>
                <a:stretch>
                  <a:fillRect l="-967" t="-2663" b="-1453"/>
                </a:stretch>
              </a:blipFill>
            </p:spPr>
            <p:txBody>
              <a:bodyPr/>
              <a:lstStyle/>
              <a:p>
                <a:r>
                  <a:rPr lang="en-US">
                    <a:noFill/>
                  </a:rPr>
                  <a:t> </a:t>
                </a:r>
              </a:p>
            </p:txBody>
          </p:sp>
        </mc:Fallback>
      </mc:AlternateContent>
    </p:spTree>
    <p:extLst>
      <p:ext uri="{BB962C8B-B14F-4D97-AF65-F5344CB8AC3E}">
        <p14:creationId xmlns:p14="http://schemas.microsoft.com/office/powerpoint/2010/main" val="101600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90ECE9DF-4448-27E0-29A8-EA23AC2096E5}"/>
              </a:ext>
            </a:extLst>
          </p:cNvPr>
          <p:cNvSpPr>
            <a:spLocks noGrp="1"/>
          </p:cNvSpPr>
          <p:nvPr>
            <p:ph idx="1"/>
          </p:nvPr>
        </p:nvSpPr>
        <p:spPr>
          <a:xfrm>
            <a:off x="717415" y="1342417"/>
            <a:ext cx="10757170" cy="4173166"/>
          </a:xfrm>
        </p:spPr>
        <p:txBody>
          <a:bodyPr>
            <a:normAutofit/>
          </a:bodyPr>
          <a:lstStyle/>
          <a:p>
            <a:pPr marL="0" indent="0" algn="ctr">
              <a:buNone/>
            </a:pPr>
            <a:r>
              <a:rPr lang="pt-BR" sz="4400" dirty="0"/>
              <a:t>Porém, se vocês se lembram, no problema da regressão linear nós queremos </a:t>
            </a:r>
            <a:r>
              <a:rPr lang="pt-BR" sz="4400" b="1" i="1" dirty="0">
                <a:solidFill>
                  <a:srgbClr val="7030A0"/>
                </a:solidFill>
              </a:rPr>
              <a:t>encontrar o ponto de mínimo da função de erro </a:t>
            </a:r>
            <a:r>
              <a:rPr lang="pt-BR" sz="4400" dirty="0"/>
              <a:t>ao invés do seu máximo.</a:t>
            </a:r>
          </a:p>
          <a:p>
            <a:pPr marL="0" indent="0" algn="ctr">
              <a:buNone/>
            </a:pPr>
            <a:endParaRPr lang="pt-BR" sz="4400" dirty="0"/>
          </a:p>
          <a:p>
            <a:pPr marL="0" indent="0" algn="ctr">
              <a:buNone/>
            </a:pPr>
            <a:r>
              <a:rPr lang="pt-BR" sz="4400" dirty="0"/>
              <a:t>Portanto, o que devemos fazer?</a:t>
            </a:r>
          </a:p>
        </p:txBody>
      </p:sp>
    </p:spTree>
    <p:extLst>
      <p:ext uri="{BB962C8B-B14F-4D97-AF65-F5344CB8AC3E}">
        <p14:creationId xmlns:p14="http://schemas.microsoft.com/office/powerpoint/2010/main" val="3608986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709D2A-C1AB-9D60-4F7D-1191E2FE13DF}"/>
              </a:ext>
            </a:extLst>
          </p:cNvPr>
          <p:cNvSpPr>
            <a:spLocks noGrp="1"/>
          </p:cNvSpPr>
          <p:nvPr>
            <p:ph type="title"/>
          </p:nvPr>
        </p:nvSpPr>
        <p:spPr/>
        <p:txBody>
          <a:bodyPr/>
          <a:lstStyle/>
          <a:p>
            <a:r>
              <a:rPr lang="pt-BR" dirty="0"/>
              <a:t>Algoritmo do gradiente descendente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9D8D87A5-A7E8-CBE4-6C17-437493603584}"/>
                  </a:ext>
                </a:extLst>
              </p:cNvPr>
              <p:cNvSpPr>
                <a:spLocks noGrp="1"/>
              </p:cNvSpPr>
              <p:nvPr>
                <p:ph idx="1"/>
              </p:nvPr>
            </p:nvSpPr>
            <p:spPr>
              <a:xfrm>
                <a:off x="6216582" y="1825624"/>
                <a:ext cx="5855444" cy="5032375"/>
              </a:xfrm>
            </p:spPr>
            <p:txBody>
              <a:bodyPr/>
              <a:lstStyle/>
              <a:p>
                <a:r>
                  <a:rPr lang="pt-BR" dirty="0"/>
                  <a:t>Se para encontrarmos o </a:t>
                </a:r>
                <a:r>
                  <a:rPr lang="pt-BR" b="1" i="1" dirty="0">
                    <a:solidFill>
                      <a:srgbClr val="00B050"/>
                    </a:solidFill>
                  </a:rPr>
                  <a:t>ponto de máximo</a:t>
                </a:r>
                <a:r>
                  <a:rPr lang="pt-BR" dirty="0"/>
                  <a:t> de uma função basta seguirmos a direção apontada pelo vetor gradiente.</a:t>
                </a:r>
              </a:p>
              <a:p>
                <a:r>
                  <a:rPr lang="pt-BR" dirty="0"/>
                  <a:t>Então, para encontrarmos o </a:t>
                </a:r>
                <a:r>
                  <a:rPr lang="pt-BR" b="1" i="1" dirty="0">
                    <a:solidFill>
                      <a:srgbClr val="00B050"/>
                    </a:solidFill>
                  </a:rPr>
                  <a:t>ponto de mínimo</a:t>
                </a:r>
                <a:r>
                  <a:rPr lang="pt-BR" dirty="0"/>
                  <a:t>, basta seguirmos na </a:t>
                </a:r>
                <a:r>
                  <a:rPr lang="pt-BR" b="1" i="1" dirty="0">
                    <a:solidFill>
                      <a:srgbClr val="FF0000"/>
                    </a:solidFill>
                  </a:rPr>
                  <a:t>direção oposta </a:t>
                </a:r>
                <a:r>
                  <a:rPr lang="pt-BR" b="1" i="1" dirty="0">
                    <a:solidFill>
                      <a:srgbClr val="7030A0"/>
                    </a:solidFill>
                  </a:rPr>
                  <a:t>à apontada pelo vetor gradiente </a:t>
                </a:r>
                <a:r>
                  <a:rPr lang="pt-BR" dirty="0"/>
                  <a:t>em um determinado ponto, </a:t>
                </a:r>
                <a14:m>
                  <m:oMath xmlns:m="http://schemas.openxmlformats.org/officeDocument/2006/math">
                    <m:r>
                      <a:rPr lang="pt-BR" b="1" i="1" smtClean="0">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oMath>
                </a14:m>
                <a:endParaRPr lang="pt-BR" dirty="0"/>
              </a:p>
              <a:p>
                <a:pPr marL="0" indent="0">
                  <a:buNone/>
                </a:pPr>
                <a14:m>
                  <m:oMathPara xmlns:m="http://schemas.openxmlformats.org/officeDocument/2006/math">
                    <m:oMath>
                      <m:r>
                        <a:rPr lang="pt-BR" b="0" i="1" smtClean="0">
                          <a:latin typeface="Cambria Math" panose="02040503050406030204" pitchFamily="18" charset="0"/>
                          <a:ea typeface="Cambria Math" panose="02040503050406030204" pitchFamily="18" charset="0"/>
                        </a:rPr>
                        <m:t>−</m:t>
                      </m:r>
                      <m:r>
                        <a:rPr lang="pt-BR" i="1" smtClean="0">
                          <a:latin typeface="Cambria Math" panose="02040503050406030204" pitchFamily="18" charset="0"/>
                          <a:ea typeface="Cambria Math" panose="02040503050406030204" pitchFamily="18" charset="0"/>
                        </a:rPr>
                        <m:t>𝛻</m:t>
                      </m:r>
                      <m:r>
                        <a:rPr lang="pt-BR" i="1" smtClean="0">
                          <a:latin typeface="Cambria Math" panose="02040503050406030204" pitchFamily="18" charset="0"/>
                          <a:ea typeface="Cambria Math" panose="02040503050406030204" pitchFamily="18" charset="0"/>
                        </a:rPr>
                        <m:t>𝑓</m:t>
                      </m:r>
                      <m:d>
                        <m:dPr>
                          <m:ctrlPr>
                            <a:rPr lang="pt-BR" b="1" i="1">
                              <a:latin typeface="Cambria Math" panose="02040503050406030204" pitchFamily="18" charset="0"/>
                            </a:rPr>
                          </m:ctrlPr>
                        </m:dPr>
                        <m:e>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𝑖</m:t>
                              </m:r>
                            </m:e>
                          </m:d>
                        </m:e>
                      </m:d>
                      <m:r>
                        <a:rPr lang="pt-BR" b="0" i="1" smtClean="0">
                          <a:latin typeface="Cambria Math" panose="02040503050406030204" pitchFamily="18" charset="0"/>
                        </a:rPr>
                        <m:t>.</m:t>
                      </m:r>
                    </m:oMath>
                  </m:oMathPara>
                </a14:m>
                <a:endParaRPr lang="pt-BR" dirty="0"/>
              </a:p>
            </p:txBody>
          </p:sp>
        </mc:Choice>
        <mc:Fallback>
          <p:sp>
            <p:nvSpPr>
              <p:cNvPr id="3" name="Espaço Reservado para Conteúdo 2">
                <a:extLst>
                  <a:ext uri="{FF2B5EF4-FFF2-40B4-BE49-F238E27FC236}">
                    <a16:creationId xmlns:a16="http://schemas.microsoft.com/office/drawing/2014/main" id="{9D8D87A5-A7E8-CBE4-6C17-437493603584}"/>
                  </a:ext>
                </a:extLst>
              </p:cNvPr>
              <p:cNvSpPr>
                <a:spLocks noGrp="1" noRot="1" noChangeAspect="1" noMove="1" noResize="1" noEditPoints="1" noAdjustHandles="1" noChangeArrowheads="1" noChangeShapeType="1" noTextEdit="1"/>
              </p:cNvSpPr>
              <p:nvPr>
                <p:ph idx="1"/>
              </p:nvPr>
            </p:nvSpPr>
            <p:spPr>
              <a:xfrm>
                <a:off x="6216582" y="1825624"/>
                <a:ext cx="5855444" cy="5032375"/>
              </a:xfrm>
              <a:blipFill>
                <a:blip r:embed="rId3"/>
                <a:stretch>
                  <a:fillRect l="-1875" t="-1937" r="-2813"/>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3DF3343D-A89E-3E2A-5BDB-FE74C19E376D}"/>
              </a:ext>
            </a:extLst>
          </p:cNvPr>
          <p:cNvPicPr>
            <a:picLocks noChangeAspect="1"/>
          </p:cNvPicPr>
          <p:nvPr/>
        </p:nvPicPr>
        <p:blipFill rotWithShape="1">
          <a:blip r:embed="rId4">
            <a:extLst>
              <a:ext uri="{28A0092B-C50C-407E-A947-70E740481C1C}">
                <a14:useLocalDpi xmlns:a14="http://schemas.microsoft.com/office/drawing/2010/main" val="0"/>
              </a:ext>
            </a:extLst>
          </a:blip>
          <a:srcRect t="47746"/>
          <a:stretch/>
        </p:blipFill>
        <p:spPr>
          <a:xfrm>
            <a:off x="301941" y="2794481"/>
            <a:ext cx="5673479" cy="2032538"/>
          </a:xfrm>
          <a:prstGeom prst="rect">
            <a:avLst/>
          </a:prstGeom>
        </p:spPr>
      </p:pic>
    </p:spTree>
    <p:extLst>
      <p:ext uri="{BB962C8B-B14F-4D97-AF65-F5344CB8AC3E}">
        <p14:creationId xmlns:p14="http://schemas.microsoft.com/office/powerpoint/2010/main" val="2400083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0AE141-CA77-0446-63E0-C5BDFBD8341A}"/>
              </a:ext>
            </a:extLst>
          </p:cNvPr>
          <p:cNvSpPr>
            <a:spLocks noGrp="1"/>
          </p:cNvSpPr>
          <p:nvPr>
            <p:ph type="title"/>
          </p:nvPr>
        </p:nvSpPr>
        <p:spPr/>
        <p:txBody>
          <a:bodyPr/>
          <a:lstStyle/>
          <a:p>
            <a:r>
              <a:rPr lang="pt-BR" dirty="0"/>
              <a:t>Algoritmo do gradiente descendente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43674EA4-345D-7AF4-5F72-7D54DCA33195}"/>
                  </a:ext>
                </a:extLst>
              </p:cNvPr>
              <p:cNvSpPr>
                <a:spLocks noGrp="1"/>
              </p:cNvSpPr>
              <p:nvPr>
                <p:ph idx="1"/>
              </p:nvPr>
            </p:nvSpPr>
            <p:spPr>
              <a:xfrm>
                <a:off x="5408579" y="1825624"/>
                <a:ext cx="6783422" cy="5032375"/>
              </a:xfrm>
            </p:spPr>
            <p:txBody>
              <a:bodyPr>
                <a:normAutofit/>
              </a:bodyPr>
              <a:lstStyle/>
              <a:p>
                <a:r>
                  <a:rPr lang="pt-BR" dirty="0"/>
                  <a:t>Quando seguimos na </a:t>
                </a:r>
                <a:r>
                  <a:rPr lang="pt-BR" b="1" i="1" dirty="0">
                    <a:solidFill>
                      <a:srgbClr val="00B050"/>
                    </a:solidFill>
                  </a:rPr>
                  <a:t>direção contrária a da máxima taxa de crescimento</a:t>
                </a:r>
                <a:r>
                  <a:rPr lang="pt-BR" dirty="0"/>
                  <a:t>, dada pelo </a:t>
                </a:r>
                <a:r>
                  <a:rPr lang="pt-BR" b="1" i="1" dirty="0"/>
                  <a:t>vetor gradiente</a:t>
                </a:r>
                <a:r>
                  <a:rPr lang="pt-BR" dirty="0"/>
                  <a:t>, estamos indo na </a:t>
                </a:r>
                <a:r>
                  <a:rPr lang="pt-BR" b="1" i="1" dirty="0">
                    <a:solidFill>
                      <a:srgbClr val="7030A0"/>
                    </a:solidFill>
                  </a:rPr>
                  <a:t>direção de </a:t>
                </a:r>
                <a:r>
                  <a:rPr lang="pt-BR" b="1" i="1" dirty="0">
                    <a:solidFill>
                      <a:schemeClr val="accent2"/>
                    </a:solidFill>
                  </a:rPr>
                  <a:t>decrescimento</a:t>
                </a:r>
                <a:r>
                  <a:rPr lang="pt-BR" b="1" i="1" dirty="0">
                    <a:solidFill>
                      <a:srgbClr val="7030A0"/>
                    </a:solidFill>
                  </a:rPr>
                  <a:t> mais rápido da função.</a:t>
                </a:r>
              </a:p>
              <a:p>
                <a:r>
                  <a:rPr lang="pt-BR" dirty="0"/>
                  <a:t>Portanto, um elemento do vetor gradiente com sinal:</a:t>
                </a:r>
              </a:p>
              <a:p>
                <a:pPr lvl="1">
                  <a:buFont typeface="Wingdings" panose="05000000000000000000" pitchFamily="2" charset="2"/>
                  <a:buChar char="§"/>
                </a:pPr>
                <a:r>
                  <a:rPr lang="pt-BR" dirty="0"/>
                  <a:t>- indica que o </a:t>
                </a:r>
                <a:r>
                  <a:rPr lang="pt-BR" b="1" i="1" dirty="0">
                    <a:solidFill>
                      <a:srgbClr val="00B050"/>
                    </a:solidFill>
                  </a:rPr>
                  <a:t>ponto de </a:t>
                </a:r>
                <a:r>
                  <a:rPr lang="pt-BR" b="1" i="1" dirty="0">
                    <a:solidFill>
                      <a:schemeClr val="accent2"/>
                    </a:solidFill>
                  </a:rPr>
                  <a:t>mínimo</a:t>
                </a:r>
                <a:r>
                  <a:rPr lang="pt-BR" b="1" i="1" dirty="0">
                    <a:solidFill>
                      <a:srgbClr val="00B050"/>
                    </a:solidFill>
                  </a:rPr>
                  <a:t> está à frente</a:t>
                </a:r>
                <a:r>
                  <a:rPr lang="pt-BR" dirty="0"/>
                  <a:t>.</a:t>
                </a:r>
              </a:p>
              <a:p>
                <a:pPr lvl="2">
                  <a:buFont typeface="Courier New" panose="02070309020205020404" pitchFamily="49" charset="0"/>
                  <a:buChar char="o"/>
                </a:pPr>
                <a:r>
                  <a:rPr lang="pt-BR" dirty="0"/>
                  <a:t>Devemos somar um valor à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a:t>
                </a:r>
              </a:p>
              <a:p>
                <a:pPr lvl="1">
                  <a:buFont typeface="Wingdings" panose="05000000000000000000" pitchFamily="2" charset="2"/>
                  <a:buChar char="§"/>
                </a:pPr>
                <a:r>
                  <a:rPr lang="pt-BR" dirty="0"/>
                  <a:t>+ indica que o </a:t>
                </a:r>
                <a:r>
                  <a:rPr lang="pt-BR" b="1" i="1" dirty="0">
                    <a:solidFill>
                      <a:srgbClr val="00B050"/>
                    </a:solidFill>
                  </a:rPr>
                  <a:t>ponto de </a:t>
                </a:r>
                <a:r>
                  <a:rPr lang="pt-BR" b="1" i="1" dirty="0">
                    <a:solidFill>
                      <a:schemeClr val="accent2"/>
                    </a:solidFill>
                  </a:rPr>
                  <a:t>mínimo</a:t>
                </a:r>
                <a:r>
                  <a:rPr lang="pt-BR" b="1" i="1" dirty="0">
                    <a:solidFill>
                      <a:srgbClr val="00B050"/>
                    </a:solidFill>
                  </a:rPr>
                  <a:t> está atrás</a:t>
                </a:r>
                <a:r>
                  <a:rPr lang="pt-BR" dirty="0"/>
                  <a:t>.</a:t>
                </a:r>
              </a:p>
              <a:p>
                <a:pPr lvl="2">
                  <a:buFont typeface="Courier New" panose="02070309020205020404" pitchFamily="49" charset="0"/>
                  <a:buChar char="o"/>
                </a:pPr>
                <a:r>
                  <a:rPr lang="pt-BR" dirty="0"/>
                  <a:t>Devemos subtrair um valor à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a:t>
                </a:r>
              </a:p>
              <a:p>
                <a:pPr lvl="1">
                  <a:buFont typeface="Wingdings" panose="05000000000000000000" pitchFamily="2" charset="2"/>
                  <a:buChar char="§"/>
                </a:pPr>
                <a:r>
                  <a:rPr lang="pt-BR" dirty="0"/>
                  <a:t>0 indica que </a:t>
                </a:r>
                <a:r>
                  <a:rPr lang="pt-BR" b="1" i="1" dirty="0">
                    <a:solidFill>
                      <a:srgbClr val="00B050"/>
                    </a:solidFill>
                  </a:rPr>
                  <a:t>ponto de </a:t>
                </a:r>
                <a:r>
                  <a:rPr lang="pt-BR" b="1" i="1" dirty="0">
                    <a:solidFill>
                      <a:schemeClr val="accent2"/>
                    </a:solidFill>
                  </a:rPr>
                  <a:t>mínimo</a:t>
                </a:r>
                <a:r>
                  <a:rPr lang="pt-BR" b="1" i="1" dirty="0">
                    <a:solidFill>
                      <a:srgbClr val="00B050"/>
                    </a:solidFill>
                  </a:rPr>
                  <a:t> foi encontrado</a:t>
                </a:r>
                <a:r>
                  <a:rPr lang="pt-BR" dirty="0"/>
                  <a:t>.</a:t>
                </a:r>
              </a:p>
              <a:p>
                <a:pPr lvl="2">
                  <a:buFont typeface="Courier New" panose="02070309020205020404" pitchFamily="49" charset="0"/>
                  <a:buChar char="o"/>
                </a:pPr>
                <a:r>
                  <a:rPr lang="pt-BR" dirty="0"/>
                  <a:t>Não somamos ou subtraímos nada de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a:t>
                </a:r>
              </a:p>
            </p:txBody>
          </p:sp>
        </mc:Choice>
        <mc:Fallback>
          <p:sp>
            <p:nvSpPr>
              <p:cNvPr id="3" name="Espaço Reservado para Conteúdo 2">
                <a:extLst>
                  <a:ext uri="{FF2B5EF4-FFF2-40B4-BE49-F238E27FC236}">
                    <a16:creationId xmlns:a16="http://schemas.microsoft.com/office/drawing/2014/main" id="{43674EA4-345D-7AF4-5F72-7D54DCA33195}"/>
                  </a:ext>
                </a:extLst>
              </p:cNvPr>
              <p:cNvSpPr>
                <a:spLocks noGrp="1" noRot="1" noChangeAspect="1" noMove="1" noResize="1" noEditPoints="1" noAdjustHandles="1" noChangeArrowheads="1" noChangeShapeType="1" noTextEdit="1"/>
              </p:cNvSpPr>
              <p:nvPr>
                <p:ph idx="1"/>
              </p:nvPr>
            </p:nvSpPr>
            <p:spPr>
              <a:xfrm>
                <a:off x="5408579" y="1825624"/>
                <a:ext cx="6783422" cy="5032375"/>
              </a:xfrm>
              <a:blipFill>
                <a:blip r:embed="rId3"/>
                <a:stretch>
                  <a:fillRect l="-1617" t="-1937" r="-3055"/>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A09C19EB-BA88-D74A-78DA-9F97625A8B3A}"/>
              </a:ext>
            </a:extLst>
          </p:cNvPr>
          <p:cNvPicPr>
            <a:picLocks noChangeAspect="1"/>
          </p:cNvPicPr>
          <p:nvPr/>
        </p:nvPicPr>
        <p:blipFill rotWithShape="1">
          <a:blip r:embed="rId4">
            <a:extLst>
              <a:ext uri="{28A0092B-C50C-407E-A947-70E740481C1C}">
                <a14:useLocalDpi xmlns:a14="http://schemas.microsoft.com/office/drawing/2010/main" val="0"/>
              </a:ext>
            </a:extLst>
          </a:blip>
          <a:srcRect t="47746"/>
          <a:stretch/>
        </p:blipFill>
        <p:spPr>
          <a:xfrm>
            <a:off x="58368" y="2928026"/>
            <a:ext cx="5385752" cy="1929459"/>
          </a:xfrm>
          <a:prstGeom prst="rect">
            <a:avLst/>
          </a:prstGeom>
        </p:spPr>
      </p:pic>
    </p:spTree>
    <p:extLst>
      <p:ext uri="{BB962C8B-B14F-4D97-AF65-F5344CB8AC3E}">
        <p14:creationId xmlns:p14="http://schemas.microsoft.com/office/powerpoint/2010/main" val="1134812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0AE141-CA77-0446-63E0-C5BDFBD8341A}"/>
              </a:ext>
            </a:extLst>
          </p:cNvPr>
          <p:cNvSpPr>
            <a:spLocks noGrp="1"/>
          </p:cNvSpPr>
          <p:nvPr>
            <p:ph type="title"/>
          </p:nvPr>
        </p:nvSpPr>
        <p:spPr/>
        <p:txBody>
          <a:bodyPr/>
          <a:lstStyle/>
          <a:p>
            <a:r>
              <a:rPr lang="pt-BR" dirty="0"/>
              <a:t>Algoritmo do gradiente descendente</a:t>
            </a:r>
          </a:p>
        </p:txBody>
      </p:sp>
      <p:sp>
        <p:nvSpPr>
          <p:cNvPr id="3" name="Espaço Reservado para Conteúdo 2">
            <a:extLst>
              <a:ext uri="{FF2B5EF4-FFF2-40B4-BE49-F238E27FC236}">
                <a16:creationId xmlns:a16="http://schemas.microsoft.com/office/drawing/2014/main" id="{43674EA4-345D-7AF4-5F72-7D54DCA33195}"/>
              </a:ext>
            </a:extLst>
          </p:cNvPr>
          <p:cNvSpPr>
            <a:spLocks noGrp="1"/>
          </p:cNvSpPr>
          <p:nvPr>
            <p:ph idx="1"/>
          </p:nvPr>
        </p:nvSpPr>
        <p:spPr>
          <a:xfrm>
            <a:off x="6096000" y="1825624"/>
            <a:ext cx="5951974" cy="5032375"/>
          </a:xfrm>
        </p:spPr>
        <p:txBody>
          <a:bodyPr/>
          <a:lstStyle/>
          <a:p>
            <a:r>
              <a:rPr lang="pt-BR" dirty="0"/>
              <a:t>Assim, um </a:t>
            </a:r>
            <a:r>
              <a:rPr lang="pt-BR" b="1" i="1" dirty="0">
                <a:solidFill>
                  <a:srgbClr val="00B050"/>
                </a:solidFill>
              </a:rPr>
              <a:t>algoritmo iterativo de otimização</a:t>
            </a:r>
            <a:r>
              <a:rPr lang="pt-BR" dirty="0"/>
              <a:t> que siga na </a:t>
            </a:r>
            <a:r>
              <a:rPr lang="pt-BR" b="1" i="1" dirty="0">
                <a:solidFill>
                  <a:srgbClr val="7030A0"/>
                </a:solidFill>
              </a:rPr>
              <a:t>direção contrária</a:t>
            </a:r>
            <a:r>
              <a:rPr lang="pt-BR" dirty="0"/>
              <a:t> à indicada pelo </a:t>
            </a:r>
            <a:r>
              <a:rPr lang="pt-BR" b="1" i="1" dirty="0">
                <a:solidFill>
                  <a:srgbClr val="00B050"/>
                </a:solidFill>
              </a:rPr>
              <a:t>vetor gradiente</a:t>
            </a:r>
            <a:r>
              <a:rPr lang="pt-BR" b="1" i="1" dirty="0"/>
              <a:t> </a:t>
            </a:r>
            <a:r>
              <a:rPr lang="pt-BR" dirty="0"/>
              <a:t>para encontrar o </a:t>
            </a:r>
            <a:r>
              <a:rPr lang="pt-BR" b="1" i="1" dirty="0">
                <a:solidFill>
                  <a:schemeClr val="accent2"/>
                </a:solidFill>
              </a:rPr>
              <a:t>ponto de mínimo</a:t>
            </a:r>
            <a:r>
              <a:rPr lang="pt-BR" b="1" i="1" dirty="0"/>
              <a:t> </a:t>
            </a:r>
            <a:r>
              <a:rPr lang="pt-BR" dirty="0"/>
              <a:t>de uma função é chamado de </a:t>
            </a:r>
            <a:r>
              <a:rPr lang="pt-BR" b="1" i="1" dirty="0">
                <a:solidFill>
                  <a:srgbClr val="7030A0"/>
                </a:solidFill>
              </a:rPr>
              <a:t>gradiente descendente (GD)</a:t>
            </a:r>
            <a:r>
              <a:rPr lang="pt-BR" dirty="0"/>
              <a:t>.</a:t>
            </a:r>
          </a:p>
        </p:txBody>
      </p:sp>
      <p:pic>
        <p:nvPicPr>
          <p:cNvPr id="4" name="Imagem 3">
            <a:extLst>
              <a:ext uri="{FF2B5EF4-FFF2-40B4-BE49-F238E27FC236}">
                <a16:creationId xmlns:a16="http://schemas.microsoft.com/office/drawing/2014/main" id="{A09C19EB-BA88-D74A-78DA-9F97625A8B3A}"/>
              </a:ext>
            </a:extLst>
          </p:cNvPr>
          <p:cNvPicPr>
            <a:picLocks noChangeAspect="1"/>
          </p:cNvPicPr>
          <p:nvPr/>
        </p:nvPicPr>
        <p:blipFill rotWithShape="1">
          <a:blip r:embed="rId3">
            <a:extLst>
              <a:ext uri="{28A0092B-C50C-407E-A947-70E740481C1C}">
                <a14:useLocalDpi xmlns:a14="http://schemas.microsoft.com/office/drawing/2010/main" val="0"/>
              </a:ext>
            </a:extLst>
          </a:blip>
          <a:srcRect t="47746"/>
          <a:stretch/>
        </p:blipFill>
        <p:spPr>
          <a:xfrm>
            <a:off x="314848" y="2834675"/>
            <a:ext cx="5673479" cy="2032538"/>
          </a:xfrm>
          <a:prstGeom prst="rect">
            <a:avLst/>
          </a:prstGeom>
        </p:spPr>
      </p:pic>
    </p:spTree>
    <p:extLst>
      <p:ext uri="{BB962C8B-B14F-4D97-AF65-F5344CB8AC3E}">
        <p14:creationId xmlns:p14="http://schemas.microsoft.com/office/powerpoint/2010/main" val="3230007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66400E-113B-148C-2A4D-10F6F7A628E1}"/>
              </a:ext>
            </a:extLst>
          </p:cNvPr>
          <p:cNvSpPr>
            <a:spLocks noGrp="1"/>
          </p:cNvSpPr>
          <p:nvPr>
            <p:ph type="title"/>
          </p:nvPr>
        </p:nvSpPr>
        <p:spPr/>
        <p:txBody>
          <a:bodyPr/>
          <a:lstStyle/>
          <a:p>
            <a:r>
              <a:rPr lang="pt-BR" dirty="0"/>
              <a:t>Algoritmo do gradiente descendente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69AAC6D-0CCD-2E06-BFA4-6E0246B9218A}"/>
                  </a:ext>
                </a:extLst>
              </p:cNvPr>
              <p:cNvSpPr>
                <a:spLocks noGrp="1"/>
              </p:cNvSpPr>
              <p:nvPr>
                <p:ph idx="1"/>
              </p:nvPr>
            </p:nvSpPr>
            <p:spPr>
              <a:xfrm>
                <a:off x="838200" y="1825624"/>
                <a:ext cx="11169580" cy="5032375"/>
              </a:xfrm>
            </p:spPr>
            <p:txBody>
              <a:bodyPr>
                <a:normAutofit lnSpcReduction="10000"/>
              </a:bodyPr>
              <a:lstStyle/>
              <a:p>
                <a:r>
                  <a:rPr lang="pt-BR" dirty="0"/>
                  <a:t>Inicializa-se o argumento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rPr>
                      <m:t>(0)</m:t>
                    </m:r>
                  </m:oMath>
                </a14:m>
                <a:r>
                  <a:rPr lang="pt-BR" dirty="0"/>
                  <a:t> com um valor arbitrário, em geral, um valor </a:t>
                </a:r>
                <a:r>
                  <a:rPr lang="pt-BR" b="1" i="1" dirty="0">
                    <a:solidFill>
                      <a:srgbClr val="00B050"/>
                    </a:solidFill>
                  </a:rPr>
                  <a:t>aleatório</a:t>
                </a:r>
                <a:r>
                  <a:rPr lang="pt-BR" dirty="0"/>
                  <a:t>.</a:t>
                </a:r>
              </a:p>
              <a:p>
                <a:r>
                  <a:rPr lang="pt-BR" dirty="0"/>
                  <a:t>A cada </a:t>
                </a:r>
                <a:r>
                  <a:rPr lang="pt-BR" b="1" i="1" dirty="0"/>
                  <a:t>iteração</a:t>
                </a:r>
                <a:r>
                  <a:rPr lang="pt-BR" dirty="0"/>
                  <a:t>, </a:t>
                </a:r>
                <a14:m>
                  <m:oMath xmlns:m="http://schemas.openxmlformats.org/officeDocument/2006/math">
                    <m:r>
                      <a:rPr lang="pt-BR" b="0" i="1" smtClean="0">
                        <a:latin typeface="Cambria Math" panose="02040503050406030204" pitchFamily="18" charset="0"/>
                      </a:rPr>
                      <m:t>𝑖</m:t>
                    </m:r>
                  </m:oMath>
                </a14:m>
                <a:r>
                  <a:rPr lang="pt-BR" dirty="0"/>
                  <a:t>, calcula-se o </a:t>
                </a:r>
                <a:r>
                  <a:rPr lang="pt-BR" b="1" i="1" dirty="0"/>
                  <a:t>vetor gradiente </a:t>
                </a:r>
                <a:r>
                  <a:rPr lang="pt-BR" dirty="0"/>
                  <a:t>da função </a:t>
                </a:r>
                <a14:m>
                  <m:oMath xmlns:m="http://schemas.openxmlformats.org/officeDocument/2006/math">
                    <m:r>
                      <a:rPr lang="pt-BR" i="1">
                        <a:latin typeface="Cambria Math" panose="02040503050406030204" pitchFamily="18" charset="0"/>
                      </a:rPr>
                      <m:t>𝑓</m:t>
                    </m:r>
                    <m:r>
                      <a:rPr lang="pt-BR" i="1">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a14:m>
                <a:r>
                  <a:rPr lang="pt-BR" dirty="0"/>
                  <a:t> no ponto atual, </a:t>
                </a:r>
                <a14:m>
                  <m:oMath xmlns:m="http://schemas.openxmlformats.org/officeDocument/2006/math">
                    <m:r>
                      <a:rPr lang="pt-BR" b="0" i="1" smtClean="0">
                        <a:latin typeface="Cambria Math" panose="02040503050406030204" pitchFamily="18" charset="0"/>
                      </a:rPr>
                      <m:t>𝑥</m:t>
                    </m:r>
                    <m:r>
                      <a:rPr lang="pt-BR" b="0" i="0" smtClean="0">
                        <a:latin typeface="Cambria Math" panose="02040503050406030204" pitchFamily="18" charset="0"/>
                      </a:rPr>
                      <m:t>(</m:t>
                    </m:r>
                    <m:r>
                      <a:rPr lang="pt-BR" b="0" i="1" smtClean="0">
                        <a:latin typeface="Cambria Math" panose="02040503050406030204" pitchFamily="18" charset="0"/>
                      </a:rPr>
                      <m:t>𝑖</m:t>
                    </m:r>
                    <m:r>
                      <a:rPr lang="pt-BR" b="0" i="0" smtClean="0">
                        <a:latin typeface="Cambria Math" panose="02040503050406030204" pitchFamily="18" charset="0"/>
                      </a:rPr>
                      <m:t>)</m:t>
                    </m:r>
                  </m:oMath>
                </a14:m>
                <a:r>
                  <a:rPr lang="pt-BR" dirty="0"/>
                  <a:t>, e atualiza-se o valor do argumento usando uma porcentagem do gradiente, ou seja</a:t>
                </a:r>
              </a:p>
              <a:p>
                <a:pPr marL="0" indent="0">
                  <a:buNone/>
                </a:pPr>
                <a14:m>
                  <m:oMathPara xmlns:m="http://schemas.openxmlformats.org/officeDocument/2006/math">
                    <m:oMath>
                      <m:r>
                        <a:rPr lang="pt-BR" i="1">
                          <a:latin typeface="Cambria Math" panose="02040503050406030204" pitchFamily="18" charset="0"/>
                        </a:rPr>
                        <m:t>𝑥</m:t>
                      </m:r>
                      <m:d>
                        <m:dPr>
                          <m:ctrlPr>
                            <a:rPr lang="pt-BR" i="1">
                              <a:latin typeface="Cambria Math" panose="02040503050406030204" pitchFamily="18" charset="0"/>
                            </a:rPr>
                          </m:ctrlPr>
                        </m:dPr>
                        <m:e>
                          <m:r>
                            <a:rPr lang="pt-BR" i="1">
                              <a:latin typeface="Cambria Math" panose="02040503050406030204" pitchFamily="18" charset="0"/>
                            </a:rPr>
                            <m:t>𝑖</m:t>
                          </m:r>
                          <m:r>
                            <a:rPr lang="pt-BR"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𝑥</m:t>
                      </m:r>
                      <m:d>
                        <m:dPr>
                          <m:ctrlPr>
                            <a:rPr lang="pt-BR" i="1">
                              <a:latin typeface="Cambria Math" panose="02040503050406030204" pitchFamily="18" charset="0"/>
                            </a:rPr>
                          </m:ctrlPr>
                        </m:dPr>
                        <m:e>
                          <m:r>
                            <a:rPr lang="pt-BR" i="1">
                              <a:latin typeface="Cambria Math" panose="02040503050406030204" pitchFamily="18" charset="0"/>
                            </a:rPr>
                            <m:t>𝑖</m:t>
                          </m:r>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d>
                      <m:r>
                        <a:rPr lang="pt-BR" b="0" i="0" smtClean="0">
                          <a:latin typeface="Cambria Math" panose="02040503050406030204" pitchFamily="18" charset="0"/>
                        </a:rPr>
                        <m:t>, </m:t>
                      </m:r>
                      <m:r>
                        <a:rPr lang="pt-BR" b="0" i="1" smtClean="0">
                          <a:latin typeface="Cambria Math" panose="02040503050406030204" pitchFamily="18" charset="0"/>
                        </a:rPr>
                        <m:t>𝑖</m:t>
                      </m:r>
                      <m:r>
                        <a:rPr lang="pt-BR" b="0" i="0" smtClean="0">
                          <a:latin typeface="Cambria Math" panose="02040503050406030204" pitchFamily="18" charset="0"/>
                        </a:rPr>
                        <m:t>≥0.</m:t>
                      </m:r>
                    </m:oMath>
                  </m:oMathPara>
                </a14:m>
                <a:endParaRPr lang="pt-BR" dirty="0"/>
              </a:p>
              <a:p>
                <a:r>
                  <a:rPr lang="pt-BR" dirty="0"/>
                  <a:t>De tal forma, que a cada </a:t>
                </a:r>
                <a:r>
                  <a:rPr lang="pt-BR" b="1" i="1" dirty="0"/>
                  <a:t>iteração</a:t>
                </a:r>
                <a:r>
                  <a:rPr lang="pt-BR" dirty="0"/>
                  <a:t> se tenha</a:t>
                </a:r>
              </a:p>
              <a:p>
                <a:pPr marL="0" indent="0">
                  <a:buNone/>
                </a:pPr>
                <a14:m>
                  <m:oMathPara xmlns:m="http://schemas.openxmlformats.org/officeDocument/2006/math">
                    <m:oMath>
                      <m:r>
                        <a:rPr lang="pt-BR" i="1" smtClean="0">
                          <a:latin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b="0" i="1" smtClean="0">
                              <a:latin typeface="Cambria Math" panose="02040503050406030204" pitchFamily="18" charset="0"/>
                            </a:rPr>
                            <m:t>+1)</m:t>
                          </m:r>
                        </m:e>
                      </m:d>
                      <m:r>
                        <a:rPr lang="pt-BR" b="0" i="1" smtClean="0">
                          <a:latin typeface="Cambria Math" panose="02040503050406030204" pitchFamily="18" charset="0"/>
                        </a:rPr>
                        <m:t>&lt;</m:t>
                      </m:r>
                      <m:r>
                        <a:rPr lang="pt-BR" i="1">
                          <a:latin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i="1">
                              <a:latin typeface="Cambria Math" panose="02040503050406030204" pitchFamily="18" charset="0"/>
                            </a:rPr>
                            <m:t>)</m:t>
                          </m:r>
                        </m:e>
                      </m:d>
                      <m:r>
                        <a:rPr lang="pt-BR" b="0" i="0" smtClean="0">
                          <a:latin typeface="Cambria Math" panose="02040503050406030204" pitchFamily="18" charset="0"/>
                        </a:rPr>
                        <m:t>, </m:t>
                      </m:r>
                      <m:r>
                        <a:rPr lang="pt-BR" b="0" i="1" smtClean="0">
                          <a:latin typeface="Cambria Math" panose="02040503050406030204" pitchFamily="18" charset="0"/>
                        </a:rPr>
                        <m:t>𝑖</m:t>
                      </m:r>
                      <m:r>
                        <a:rPr lang="pt-BR" b="0" i="0" smtClean="0">
                          <a:latin typeface="Cambria Math" panose="02040503050406030204" pitchFamily="18" charset="0"/>
                        </a:rPr>
                        <m:t>≥0.</m:t>
                      </m:r>
                    </m:oMath>
                  </m:oMathPara>
                </a14:m>
                <a:endParaRPr lang="pt-BR" dirty="0"/>
              </a:p>
              <a:p>
                <a:r>
                  <a:rPr lang="pt-BR" dirty="0"/>
                  <a:t>As iterações se repetem até que o </a:t>
                </a:r>
                <a:r>
                  <a:rPr lang="pt-BR" b="1" i="1" dirty="0">
                    <a:solidFill>
                      <a:srgbClr val="00B050"/>
                    </a:solidFill>
                  </a:rPr>
                  <a:t>ponto de mínimo</a:t>
                </a:r>
                <a:r>
                  <a:rPr lang="pt-BR" dirty="0"/>
                  <a:t> seja atingido, ou seja,</a:t>
                </a:r>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𝑓</m:t>
                    </m:r>
                    <m:d>
                      <m:dPr>
                        <m:ctrlPr>
                          <a:rPr lang="pt-BR" b="0" i="1">
                            <a:latin typeface="Cambria Math" panose="02040503050406030204" pitchFamily="18" charset="0"/>
                          </a:rPr>
                        </m:ctrlPr>
                      </m:dPr>
                      <m:e>
                        <m:r>
                          <a:rPr lang="pt-BR" b="0" i="1">
                            <a:latin typeface="Cambria Math" panose="02040503050406030204" pitchFamily="18" charset="0"/>
                          </a:rPr>
                          <m:t>𝑥</m:t>
                        </m:r>
                        <m:r>
                          <a:rPr lang="pt-BR" i="1">
                            <a:latin typeface="Cambria Math" panose="02040503050406030204" pitchFamily="18" charset="0"/>
                          </a:rPr>
                          <m:t>(</m:t>
                        </m:r>
                        <m:r>
                          <a:rPr lang="pt-BR" b="0" i="1" smtClean="0">
                            <a:latin typeface="Cambria Math" panose="02040503050406030204" pitchFamily="18" charset="0"/>
                          </a:rPr>
                          <m:t>𝑖</m:t>
                        </m:r>
                        <m:r>
                          <a:rPr lang="pt-BR" i="1">
                            <a:latin typeface="Cambria Math" panose="02040503050406030204" pitchFamily="18" charset="0"/>
                          </a:rPr>
                          <m:t>)</m:t>
                        </m:r>
                      </m:e>
                    </m:d>
                    <m:r>
                      <a:rPr lang="pt-BR" b="0" i="1" smtClean="0">
                        <a:latin typeface="Cambria Math" panose="02040503050406030204" pitchFamily="18" charset="0"/>
                      </a:rPr>
                      <m:t>=0</m:t>
                    </m:r>
                  </m:oMath>
                </a14:m>
                <a:r>
                  <a:rPr lang="pt-BR" dirty="0"/>
                  <a:t> e, consequentemente, o argumento </a:t>
                </a:r>
                <a14:m>
                  <m:oMath xmlns:m="http://schemas.openxmlformats.org/officeDocument/2006/math">
                    <m:r>
                      <a:rPr lang="pt-BR" i="1">
                        <a:latin typeface="Cambria Math" panose="02040503050406030204" pitchFamily="18" charset="0"/>
                      </a:rPr>
                      <m:t>𝑥</m:t>
                    </m:r>
                  </m:oMath>
                </a14:m>
                <a:r>
                  <a:rPr lang="pt-BR" dirty="0"/>
                  <a:t> </a:t>
                </a:r>
                <a:r>
                  <a:rPr lang="pt-BR" b="1" i="1" dirty="0">
                    <a:solidFill>
                      <a:srgbClr val="00B050"/>
                    </a:solidFill>
                  </a:rPr>
                  <a:t>não sofra mais atualizações</a:t>
                </a:r>
                <a:r>
                  <a:rPr lang="pt-BR" dirty="0"/>
                  <a:t> (i.e., o algoritmo convergiu).</a:t>
                </a:r>
              </a:p>
              <a:p>
                <a:pPr lvl="1">
                  <a:buFont typeface="Wingdings" panose="05000000000000000000" pitchFamily="2" charset="2"/>
                  <a:buChar char="§"/>
                </a:pPr>
                <a:r>
                  <a:rPr lang="pt-BR" b="1" i="1" dirty="0">
                    <a:solidFill>
                      <a:srgbClr val="7030A0"/>
                    </a:solidFill>
                  </a:rPr>
                  <a:t>Convergência</a:t>
                </a:r>
                <a:r>
                  <a:rPr lang="pt-BR" dirty="0"/>
                  <a:t>: é quando o valor de </a:t>
                </a:r>
                <a14:m>
                  <m:oMath xmlns:m="http://schemas.openxmlformats.org/officeDocument/2006/math">
                    <m:r>
                      <a:rPr lang="pt-BR" i="1">
                        <a:latin typeface="Cambria Math" panose="02040503050406030204" pitchFamily="18" charset="0"/>
                      </a:rPr>
                      <m:t>𝑥</m:t>
                    </m:r>
                  </m:oMath>
                </a14:m>
                <a:r>
                  <a:rPr lang="pt-BR" dirty="0"/>
                  <a:t> e, consequentemente, de </a:t>
                </a:r>
                <a14:m>
                  <m:oMath xmlns:m="http://schemas.openxmlformats.org/officeDocument/2006/math">
                    <m:r>
                      <a:rPr lang="pt-BR" i="1" smtClean="0">
                        <a:latin typeface="Cambria Math" panose="02040503050406030204" pitchFamily="18" charset="0"/>
                      </a:rPr>
                      <m:t>𝑓</m:t>
                    </m:r>
                    <m:r>
                      <a:rPr lang="pt-BR" i="1" smtClean="0">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a14:m>
                <a:r>
                  <a:rPr lang="pt-BR" dirty="0"/>
                  <a:t> entre iterações consecutivas é praticamente constante.</a:t>
                </a:r>
              </a:p>
            </p:txBody>
          </p:sp>
        </mc:Choice>
        <mc:Fallback xmlns="">
          <p:sp>
            <p:nvSpPr>
              <p:cNvPr id="3" name="Espaço Reservado para Conteúdo 2">
                <a:extLst>
                  <a:ext uri="{FF2B5EF4-FFF2-40B4-BE49-F238E27FC236}">
                    <a16:creationId xmlns:a16="http://schemas.microsoft.com/office/drawing/2014/main" id="{569AAC6D-0CCD-2E06-BFA4-6E0246B9218A}"/>
                  </a:ext>
                </a:extLst>
              </p:cNvPr>
              <p:cNvSpPr>
                <a:spLocks noGrp="1" noRot="1" noChangeAspect="1" noMove="1" noResize="1" noEditPoints="1" noAdjustHandles="1" noChangeArrowheads="1" noChangeShapeType="1" noTextEdit="1"/>
              </p:cNvSpPr>
              <p:nvPr>
                <p:ph idx="1"/>
              </p:nvPr>
            </p:nvSpPr>
            <p:spPr>
              <a:xfrm>
                <a:off x="838200" y="1825624"/>
                <a:ext cx="11169580" cy="5032375"/>
              </a:xfrm>
              <a:blipFill>
                <a:blip r:embed="rId3"/>
                <a:stretch>
                  <a:fillRect l="-983" t="-2663" r="-1365" b="-1453"/>
                </a:stretch>
              </a:blipFill>
            </p:spPr>
            <p:txBody>
              <a:bodyPr/>
              <a:lstStyle/>
              <a:p>
                <a:r>
                  <a:rPr lang="pt-BR">
                    <a:noFill/>
                  </a:rPr>
                  <a:t> </a:t>
                </a:r>
              </a:p>
            </p:txBody>
          </p:sp>
        </mc:Fallback>
      </mc:AlternateContent>
      <p:sp>
        <p:nvSpPr>
          <p:cNvPr id="5" name="Elipse 4">
            <a:extLst>
              <a:ext uri="{FF2B5EF4-FFF2-40B4-BE49-F238E27FC236}">
                <a16:creationId xmlns:a16="http://schemas.microsoft.com/office/drawing/2014/main" id="{5B4BE48C-5213-0C81-37C5-98D6FAB1EF03}"/>
              </a:ext>
            </a:extLst>
          </p:cNvPr>
          <p:cNvSpPr/>
          <p:nvPr/>
        </p:nvSpPr>
        <p:spPr>
          <a:xfrm>
            <a:off x="6116519" y="3717889"/>
            <a:ext cx="371789" cy="32154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02397BD4-EF28-47CA-D754-5DD6EDAA2157}"/>
              </a:ext>
            </a:extLst>
          </p:cNvPr>
          <p:cNvSpPr txBox="1"/>
          <p:nvPr/>
        </p:nvSpPr>
        <p:spPr>
          <a:xfrm>
            <a:off x="6488308" y="3373422"/>
            <a:ext cx="2980798" cy="276999"/>
          </a:xfrm>
          <a:prstGeom prst="rect">
            <a:avLst/>
          </a:prstGeom>
          <a:noFill/>
        </p:spPr>
        <p:txBody>
          <a:bodyPr wrap="square" rtlCol="0">
            <a:spAutoFit/>
          </a:bodyPr>
          <a:lstStyle/>
          <a:p>
            <a:pPr algn="ctr"/>
            <a:r>
              <a:rPr lang="pt-BR" sz="1200" dirty="0"/>
              <a:t>Única diferença para o gradiente ascendente.</a:t>
            </a:r>
          </a:p>
        </p:txBody>
      </p:sp>
      <p:cxnSp>
        <p:nvCxnSpPr>
          <p:cNvPr id="8" name="Conector de Seta Reta 7">
            <a:extLst>
              <a:ext uri="{FF2B5EF4-FFF2-40B4-BE49-F238E27FC236}">
                <a16:creationId xmlns:a16="http://schemas.microsoft.com/office/drawing/2014/main" id="{F2FFCAA6-23E7-8F49-5BC6-6AE4F921BF4E}"/>
              </a:ext>
            </a:extLst>
          </p:cNvPr>
          <p:cNvCxnSpPr>
            <a:cxnSpLocks/>
          </p:cNvCxnSpPr>
          <p:nvPr/>
        </p:nvCxnSpPr>
        <p:spPr>
          <a:xfrm flipV="1">
            <a:off x="6302413" y="3581172"/>
            <a:ext cx="266027" cy="1367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20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A3DC7-3410-C5B7-3093-134FCB12112B}"/>
              </a:ext>
            </a:extLst>
          </p:cNvPr>
          <p:cNvSpPr>
            <a:spLocks noGrp="1"/>
          </p:cNvSpPr>
          <p:nvPr>
            <p:ph type="title"/>
          </p:nvPr>
        </p:nvSpPr>
        <p:spPr/>
        <p:txBody>
          <a:bodyPr/>
          <a:lstStyle/>
          <a:p>
            <a:r>
              <a:rPr lang="pt-BR" dirty="0"/>
              <a:t>Observação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3F3EF0A-AE6A-9E35-D9BD-7F928E038002}"/>
                  </a:ext>
                </a:extLst>
              </p:cNvPr>
              <p:cNvSpPr>
                <a:spLocks noGrp="1"/>
              </p:cNvSpPr>
              <p:nvPr>
                <p:ph idx="1"/>
              </p:nvPr>
            </p:nvSpPr>
            <p:spPr>
              <a:xfrm>
                <a:off x="838199" y="1825624"/>
                <a:ext cx="11028903" cy="5032375"/>
              </a:xfrm>
            </p:spPr>
            <p:txBody>
              <a:bodyPr/>
              <a:lstStyle/>
              <a:p>
                <a:r>
                  <a:rPr lang="pt-BR" dirty="0"/>
                  <a:t>Os conceitos vistos até agora foram apresentados para uma função, </a:t>
                </a:r>
                <a14:m>
                  <m:oMath xmlns:m="http://schemas.openxmlformats.org/officeDocument/2006/math">
                    <m:r>
                      <a:rPr lang="pt-BR" i="1">
                        <a:latin typeface="Cambria Math" panose="02040503050406030204" pitchFamily="18" charset="0"/>
                      </a:rPr>
                      <m:t>𝑓</m:t>
                    </m:r>
                    <m:r>
                      <a:rPr lang="pt-BR" i="1">
                        <a:latin typeface="Cambria Math" panose="02040503050406030204" pitchFamily="18" charset="0"/>
                      </a:rPr>
                      <m:t>(.)</m:t>
                    </m:r>
                  </m:oMath>
                </a14:m>
                <a:r>
                  <a:rPr lang="pt-BR" dirty="0"/>
                  <a:t>, com um único argumento, </a:t>
                </a:r>
                <a14:m>
                  <m:oMath xmlns:m="http://schemas.openxmlformats.org/officeDocument/2006/math">
                    <m:r>
                      <a:rPr lang="pt-BR" b="0" i="1" smtClean="0">
                        <a:latin typeface="Cambria Math" panose="02040503050406030204" pitchFamily="18" charset="0"/>
                      </a:rPr>
                      <m:t>𝑥</m:t>
                    </m:r>
                  </m:oMath>
                </a14:m>
                <a:r>
                  <a:rPr lang="pt-BR" dirty="0"/>
                  <a:t>.</a:t>
                </a:r>
              </a:p>
              <a:p>
                <a:r>
                  <a:rPr lang="pt-BR" dirty="0"/>
                  <a:t>Porém todos eles são válidos para funções com vários argumentos,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𝑓</m:t>
                        </m:r>
                        <m:r>
                          <a:rPr lang="pt-BR" i="1">
                            <a:latin typeface="Cambria Math" panose="02040503050406030204" pitchFamily="18" charset="0"/>
                          </a:rPr>
                          <m:t>(</m:t>
                        </m:r>
                        <m:r>
                          <a:rPr lang="pt-BR" b="0" i="1" smtClean="0">
                            <a:latin typeface="Cambria Math" panose="02040503050406030204" pitchFamily="18" charset="0"/>
                          </a:rPr>
                          <m:t>𝑥</m:t>
                        </m:r>
                      </m:e>
                      <m:sub>
                        <m:r>
                          <a:rPr lang="pt-BR" b="0" i="1" smtClean="0">
                            <a:latin typeface="Cambria Math" panose="02040503050406030204" pitchFamily="18" charset="0"/>
                          </a:rPr>
                          <m:t>0</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1</m:t>
                        </m:r>
                      </m:sub>
                    </m:sSub>
                  </m:oMath>
                </a14:m>
                <a:r>
                  <a:rPr lang="pt-BR" dirty="0"/>
                  <a:t>, ... ,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r>
                      <a:rPr lang="pt-BR" b="0" i="1" smtClean="0">
                        <a:latin typeface="Cambria Math" panose="02040503050406030204" pitchFamily="18" charset="0"/>
                      </a:rPr>
                      <m:t>)</m:t>
                    </m:r>
                  </m:oMath>
                </a14:m>
                <a:r>
                  <a:rPr lang="pt-BR" sz="2800" dirty="0"/>
                  <a:t>.</a:t>
                </a:r>
              </a:p>
              <a:p>
                <a:r>
                  <a:rPr lang="pt-BR" dirty="0"/>
                  <a:t>Esse será o caso das funções que iremos utilizar em breve.</a:t>
                </a:r>
              </a:p>
              <a:p>
                <a:r>
                  <a:rPr lang="pt-BR" sz="2800" dirty="0"/>
                  <a:t>No nosso caso, a função será a do </a:t>
                </a:r>
                <a:r>
                  <a:rPr lang="pt-BR" sz="2800" b="1" i="1" dirty="0">
                    <a:solidFill>
                      <a:srgbClr val="7030A0"/>
                    </a:solidFill>
                  </a:rPr>
                  <a:t>erro q</a:t>
                </a:r>
                <a:r>
                  <a:rPr lang="pt-BR" b="1" i="1" dirty="0">
                    <a:solidFill>
                      <a:srgbClr val="7030A0"/>
                    </a:solidFill>
                  </a:rPr>
                  <a:t>uadrático médio (EQM)</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oMath>
                </a14:m>
                <a:r>
                  <a:rPr lang="pt-BR" dirty="0"/>
                  <a:t>, que tem como </a:t>
                </a:r>
                <a:r>
                  <a:rPr lang="pt-BR" b="1" i="1" dirty="0"/>
                  <a:t>argumentos</a:t>
                </a:r>
                <a:r>
                  <a:rPr lang="pt-BR" dirty="0"/>
                  <a:t> os </a:t>
                </a:r>
                <a:r>
                  <a:rPr lang="pt-BR" b="1" i="1" dirty="0">
                    <a:solidFill>
                      <a:schemeClr val="accent2"/>
                    </a:solidFill>
                  </a:rPr>
                  <a:t>pesos da função hipótese</a:t>
                </a:r>
                <a:r>
                  <a:rPr lang="pt-BR" dirty="0"/>
                  <a:t>, </a:t>
                </a:r>
                <a14:m>
                  <m:oMath xmlns:m="http://schemas.openxmlformats.org/officeDocument/2006/math">
                    <m:r>
                      <a:rPr lang="pt-BR" b="1" i="1" smtClean="0">
                        <a:latin typeface="Cambria Math" panose="02040503050406030204" pitchFamily="18" charset="0"/>
                      </a:rPr>
                      <m:t>𝒂</m:t>
                    </m:r>
                  </m:oMath>
                </a14:m>
                <a:r>
                  <a:rPr lang="pt-BR" dirty="0"/>
                  <a:t>.</a:t>
                </a:r>
                <a:endParaRPr lang="pt-BR" sz="2800" dirty="0"/>
              </a:p>
            </p:txBody>
          </p:sp>
        </mc:Choice>
        <mc:Fallback>
          <p:sp>
            <p:nvSpPr>
              <p:cNvPr id="3" name="Espaço Reservado para Conteúdo 2">
                <a:extLst>
                  <a:ext uri="{FF2B5EF4-FFF2-40B4-BE49-F238E27FC236}">
                    <a16:creationId xmlns:a16="http://schemas.microsoft.com/office/drawing/2014/main" id="{13F3EF0A-AE6A-9E35-D9BD-7F928E038002}"/>
                  </a:ext>
                </a:extLst>
              </p:cNvPr>
              <p:cNvSpPr>
                <a:spLocks noGrp="1" noRot="1" noChangeAspect="1" noMove="1" noResize="1" noEditPoints="1" noAdjustHandles="1" noChangeArrowheads="1" noChangeShapeType="1" noTextEdit="1"/>
              </p:cNvSpPr>
              <p:nvPr>
                <p:ph idx="1"/>
              </p:nvPr>
            </p:nvSpPr>
            <p:spPr>
              <a:xfrm>
                <a:off x="838199" y="1825624"/>
                <a:ext cx="11028903" cy="5032375"/>
              </a:xfrm>
              <a:blipFill>
                <a:blip r:embed="rId2"/>
                <a:stretch>
                  <a:fillRect l="-939" t="-1937" r="-1105"/>
                </a:stretch>
              </a:blipFill>
            </p:spPr>
            <p:txBody>
              <a:bodyPr/>
              <a:lstStyle/>
              <a:p>
                <a:r>
                  <a:rPr lang="en-US">
                    <a:noFill/>
                  </a:rPr>
                  <a:t> </a:t>
                </a:r>
              </a:p>
            </p:txBody>
          </p:sp>
        </mc:Fallback>
      </mc:AlternateContent>
    </p:spTree>
    <p:extLst>
      <p:ext uri="{BB962C8B-B14F-4D97-AF65-F5344CB8AC3E}">
        <p14:creationId xmlns:p14="http://schemas.microsoft.com/office/powerpoint/2010/main" val="4157107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2">
            <a:extLst>
              <a:ext uri="{FF2B5EF4-FFF2-40B4-BE49-F238E27FC236}">
                <a16:creationId xmlns:a16="http://schemas.microsoft.com/office/drawing/2014/main" id="{938CEB06-A2E8-123C-DCB6-F03076203D36}"/>
              </a:ext>
            </a:extLst>
          </p:cNvPr>
          <p:cNvSpPr txBox="1">
            <a:spLocks/>
          </p:cNvSpPr>
          <p:nvPr/>
        </p:nvSpPr>
        <p:spPr>
          <a:xfrm>
            <a:off x="838200" y="2429214"/>
            <a:ext cx="10515600" cy="1999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4400" dirty="0"/>
              <a:t>Como neste curso queremos </a:t>
            </a:r>
            <a:r>
              <a:rPr lang="pt-BR" sz="4400" b="1" i="1" dirty="0">
                <a:solidFill>
                  <a:srgbClr val="00B050"/>
                </a:solidFill>
              </a:rPr>
              <a:t>minimizar a função de erro</a:t>
            </a:r>
            <a:r>
              <a:rPr lang="pt-BR" sz="4400" dirty="0"/>
              <a:t>, iremos focar no </a:t>
            </a:r>
            <a:r>
              <a:rPr lang="pt-BR" sz="4400" b="1" i="1" dirty="0">
                <a:solidFill>
                  <a:srgbClr val="00B050"/>
                </a:solidFill>
              </a:rPr>
              <a:t>gradiente descendente</a:t>
            </a:r>
            <a:r>
              <a:rPr lang="pt-BR" sz="4400" dirty="0"/>
              <a:t>.</a:t>
            </a:r>
          </a:p>
        </p:txBody>
      </p:sp>
    </p:spTree>
    <p:extLst>
      <p:ext uri="{BB962C8B-B14F-4D97-AF65-F5344CB8AC3E}">
        <p14:creationId xmlns:p14="http://schemas.microsoft.com/office/powerpoint/2010/main" val="926185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496E8C-D755-1048-828D-F7531AB4BDDA}"/>
              </a:ext>
            </a:extLst>
          </p:cNvPr>
          <p:cNvSpPr>
            <a:spLocks noGrp="1"/>
          </p:cNvSpPr>
          <p:nvPr>
            <p:ph type="title"/>
          </p:nvPr>
        </p:nvSpPr>
        <p:spPr/>
        <p:txBody>
          <a:bodyPr/>
          <a:lstStyle/>
          <a:p>
            <a:r>
              <a:rPr lang="pt-BR" dirty="0"/>
              <a:t>Características do gradiente descendente</a:t>
            </a:r>
          </a:p>
        </p:txBody>
      </p:sp>
      <p:sp>
        <p:nvSpPr>
          <p:cNvPr id="3" name="Espaço Reservado para Conteúdo 2">
            <a:extLst>
              <a:ext uri="{FF2B5EF4-FFF2-40B4-BE49-F238E27FC236}">
                <a16:creationId xmlns:a16="http://schemas.microsoft.com/office/drawing/2014/main" id="{86F3C74C-B4BD-6EF3-B7BA-A308F8F00CD7}"/>
              </a:ext>
            </a:extLst>
          </p:cNvPr>
          <p:cNvSpPr>
            <a:spLocks noGrp="1"/>
          </p:cNvSpPr>
          <p:nvPr>
            <p:ph idx="1"/>
          </p:nvPr>
        </p:nvSpPr>
        <p:spPr>
          <a:xfrm>
            <a:off x="838199" y="1825624"/>
            <a:ext cx="11194916" cy="5032375"/>
          </a:xfrm>
        </p:spPr>
        <p:txBody>
          <a:bodyPr>
            <a:normAutofit/>
          </a:bodyPr>
          <a:lstStyle/>
          <a:p>
            <a:r>
              <a:rPr lang="pt-BR" dirty="0"/>
              <a:t>Algoritmo </a:t>
            </a:r>
            <a:r>
              <a:rPr lang="pt-BR" b="1" i="1" dirty="0">
                <a:solidFill>
                  <a:srgbClr val="00B050"/>
                </a:solidFill>
              </a:rPr>
              <a:t>genérico de otimização</a:t>
            </a:r>
            <a:r>
              <a:rPr lang="pt-BR" dirty="0"/>
              <a:t>: pode ser aplicado não apenas a problemas de aprendizado de máquina, mas a </a:t>
            </a:r>
            <a:r>
              <a:rPr lang="pt-BR" b="1" i="1" dirty="0">
                <a:solidFill>
                  <a:srgbClr val="00B050"/>
                </a:solidFill>
              </a:rPr>
              <a:t>qualquer problema que envolva encontrar os parâmetros que minimizem uma função</a:t>
            </a:r>
            <a:r>
              <a:rPr lang="pt-BR" dirty="0"/>
              <a:t>.</a:t>
            </a:r>
          </a:p>
          <a:p>
            <a:r>
              <a:rPr lang="pt-BR" dirty="0"/>
              <a:t>O único requisito é que essa função</a:t>
            </a:r>
            <a:r>
              <a:rPr lang="pt-BR" b="1" i="1" dirty="0"/>
              <a:t> </a:t>
            </a:r>
            <a:r>
              <a:rPr lang="pt-BR" dirty="0"/>
              <a:t>seja </a:t>
            </a:r>
            <a:r>
              <a:rPr lang="pt-BR" b="1" i="1" dirty="0">
                <a:solidFill>
                  <a:srgbClr val="00B050"/>
                </a:solidFill>
              </a:rPr>
              <a:t>diferenciável</a:t>
            </a:r>
            <a:r>
              <a:rPr lang="pt-BR" dirty="0"/>
              <a:t>.</a:t>
            </a:r>
          </a:p>
          <a:p>
            <a:pPr lvl="1">
              <a:buFont typeface="Wingdings" panose="05000000000000000000" pitchFamily="2" charset="2"/>
              <a:buChar char="§"/>
            </a:pPr>
            <a:r>
              <a:rPr lang="pt-BR" dirty="0"/>
              <a:t>No caso da regressão linear, a função de erro deve ser diferenciável.</a:t>
            </a:r>
          </a:p>
          <a:p>
            <a:r>
              <a:rPr lang="pt-BR" dirty="0"/>
              <a:t>Escalona melhor do que o método da </a:t>
            </a:r>
            <a:r>
              <a:rPr lang="pt-BR" b="1" i="1" dirty="0"/>
              <a:t>equação normal </a:t>
            </a:r>
            <a:r>
              <a:rPr lang="pt-BR" dirty="0"/>
              <a:t>para modelos e conjuntos de dados grandes.</a:t>
            </a:r>
          </a:p>
          <a:p>
            <a:r>
              <a:rPr lang="pt-BR" dirty="0"/>
              <a:t>É de fácil implementação.</a:t>
            </a:r>
          </a:p>
          <a:p>
            <a:r>
              <a:rPr lang="pt-BR" dirty="0"/>
              <a:t>Não precisamos nos preocupar com matrizes </a:t>
            </a:r>
            <a:r>
              <a:rPr lang="pt-BR" b="1" i="1" dirty="0"/>
              <a:t>mal condicionadas</a:t>
            </a:r>
            <a:r>
              <a:rPr lang="pt-BR" dirty="0"/>
              <a:t>, ou seja, matrizes com </a:t>
            </a:r>
            <a:r>
              <a:rPr lang="pt-BR" b="1" i="1" dirty="0">
                <a:solidFill>
                  <a:srgbClr val="7030A0"/>
                </a:solidFill>
              </a:rPr>
              <a:t>determinante próximo de 0</a:t>
            </a:r>
            <a:r>
              <a:rPr lang="pt-BR" dirty="0"/>
              <a:t> (i.e., </a:t>
            </a:r>
            <a:r>
              <a:rPr lang="pt-BR" b="1" i="1" dirty="0"/>
              <a:t>quase singulares</a:t>
            </a:r>
            <a:r>
              <a:rPr lang="pt-BR" dirty="0"/>
              <a:t>).</a:t>
            </a:r>
          </a:p>
          <a:p>
            <a:r>
              <a:rPr lang="pt-BR" dirty="0"/>
              <a:t>É flexível, podendo ser usado com modelos não-lineares.</a:t>
            </a:r>
          </a:p>
          <a:p>
            <a:endParaRPr lang="pt-BR" dirty="0"/>
          </a:p>
        </p:txBody>
      </p:sp>
    </p:spTree>
    <p:extLst>
      <p:ext uri="{BB962C8B-B14F-4D97-AF65-F5344CB8AC3E}">
        <p14:creationId xmlns:p14="http://schemas.microsoft.com/office/powerpoint/2010/main" val="188127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2">
            <a:extLst>
              <a:ext uri="{FF2B5EF4-FFF2-40B4-BE49-F238E27FC236}">
                <a16:creationId xmlns:a16="http://schemas.microsoft.com/office/drawing/2014/main" id="{938CEB06-A2E8-123C-DCB6-F03076203D36}"/>
              </a:ext>
            </a:extLst>
          </p:cNvPr>
          <p:cNvSpPr txBox="1">
            <a:spLocks/>
          </p:cNvSpPr>
          <p:nvPr/>
        </p:nvSpPr>
        <p:spPr>
          <a:xfrm>
            <a:off x="756325" y="1149681"/>
            <a:ext cx="10679349" cy="45586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4400" dirty="0">
                <a:solidFill>
                  <a:srgbClr val="000000"/>
                </a:solidFill>
              </a:rPr>
              <a:t>C</a:t>
            </a:r>
            <a:r>
              <a:rPr lang="pt-BR" sz="4400" b="0" dirty="0">
                <a:solidFill>
                  <a:srgbClr val="000000"/>
                </a:solidFill>
                <a:effectLst/>
              </a:rPr>
              <a:t>omo aplicamos o algoritmo do </a:t>
            </a:r>
            <a:r>
              <a:rPr lang="pt-BR" sz="4400" b="1" dirty="0">
                <a:solidFill>
                  <a:srgbClr val="000000"/>
                </a:solidFill>
                <a:effectLst/>
              </a:rPr>
              <a:t>gradiente descendente </a:t>
            </a:r>
            <a:r>
              <a:rPr lang="pt-BR" sz="4400" b="0" dirty="0">
                <a:solidFill>
                  <a:srgbClr val="000000"/>
                </a:solidFill>
                <a:effectLst/>
              </a:rPr>
              <a:t>ao problema da </a:t>
            </a:r>
            <a:r>
              <a:rPr lang="pt-BR" sz="4400" b="1" dirty="0">
                <a:solidFill>
                  <a:srgbClr val="000000"/>
                </a:solidFill>
                <a:effectLst/>
              </a:rPr>
              <a:t>regressão linear</a:t>
            </a:r>
            <a:r>
              <a:rPr lang="pt-BR" sz="4400" dirty="0"/>
              <a:t>?</a:t>
            </a:r>
            <a:br>
              <a:rPr lang="pt-BR" sz="4400" dirty="0"/>
            </a:br>
            <a:endParaRPr lang="pt-BR" sz="4400" dirty="0"/>
          </a:p>
          <a:p>
            <a:pPr marL="0" indent="0" algn="ctr">
              <a:buNone/>
            </a:pPr>
            <a:r>
              <a:rPr lang="pt-BR" sz="4400" dirty="0"/>
              <a:t>Ou seja, como encontramos os </a:t>
            </a:r>
            <a:r>
              <a:rPr lang="pt-BR" sz="4400" b="1" i="1" dirty="0">
                <a:solidFill>
                  <a:schemeClr val="accent2"/>
                </a:solidFill>
              </a:rPr>
              <a:t>pesos ótimos</a:t>
            </a:r>
            <a:r>
              <a:rPr lang="pt-BR" sz="4400" b="1" i="1" dirty="0">
                <a:solidFill>
                  <a:srgbClr val="00B050"/>
                </a:solidFill>
              </a:rPr>
              <a:t> da função hipótese</a:t>
            </a:r>
            <a:r>
              <a:rPr lang="pt-BR" sz="4400" dirty="0"/>
              <a:t> usando o gradiente descendente?</a:t>
            </a:r>
          </a:p>
        </p:txBody>
      </p:sp>
    </p:spTree>
    <p:extLst>
      <p:ext uri="{BB962C8B-B14F-4D97-AF65-F5344CB8AC3E}">
        <p14:creationId xmlns:p14="http://schemas.microsoft.com/office/powerpoint/2010/main" val="2268281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170919-7F72-4A9E-70CE-B834B0C1C4EF}"/>
              </a:ext>
            </a:extLst>
          </p:cNvPr>
          <p:cNvSpPr>
            <a:spLocks noGrp="1"/>
          </p:cNvSpPr>
          <p:nvPr>
            <p:ph type="title"/>
          </p:nvPr>
        </p:nvSpPr>
        <p:spPr/>
        <p:txBody>
          <a:bodyPr/>
          <a:lstStyle/>
          <a:p>
            <a:r>
              <a:rPr lang="pt-BR" dirty="0"/>
              <a:t>O algoritmo do gradiente do descendente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70B879D4-E78F-668E-0E3E-6B34B203EC6C}"/>
                  </a:ext>
                </a:extLst>
              </p:cNvPr>
              <p:cNvSpPr>
                <a:spLocks noGrp="1"/>
              </p:cNvSpPr>
              <p:nvPr>
                <p:ph idx="1"/>
              </p:nvPr>
            </p:nvSpPr>
            <p:spPr>
              <a:xfrm>
                <a:off x="838199" y="4593608"/>
                <a:ext cx="11079145" cy="2264391"/>
              </a:xfrm>
            </p:spPr>
            <p:txBody>
              <a:bodyPr>
                <a:normAutofit/>
              </a:bodyPr>
              <a:lstStyle/>
              <a:p>
                <a:r>
                  <a:rPr lang="pt-BR" b="1" dirty="0"/>
                  <a:t>OBS</a:t>
                </a:r>
                <a:r>
                  <a:rPr lang="pt-BR" dirty="0"/>
                  <a:t>.: A </a:t>
                </a:r>
                <a:r>
                  <a:rPr lang="pt-BR" b="1" i="1" dirty="0">
                    <a:solidFill>
                      <a:srgbClr val="00B050"/>
                    </a:solidFill>
                  </a:rPr>
                  <a:t>taxa de aprendizagem</a:t>
                </a:r>
                <a:r>
                  <a:rPr lang="pt-BR" dirty="0"/>
                  <a:t>, </a:t>
                </a:r>
                <a14:m>
                  <m:oMath xmlns:m="http://schemas.openxmlformats.org/officeDocument/2006/math">
                    <m:r>
                      <a:rPr lang="pt-BR" sz="2800" i="1" smtClean="0">
                        <a:latin typeface="Cambria Math" panose="02040503050406030204" pitchFamily="18" charset="0"/>
                        <a:ea typeface="Cambria Math" panose="02040503050406030204" pitchFamily="18" charset="0"/>
                      </a:rPr>
                      <m:t>𝛼</m:t>
                    </m:r>
                  </m:oMath>
                </a14:m>
                <a:r>
                  <a:rPr lang="pt-BR" dirty="0"/>
                  <a:t>, dita o tamanho do deslocamento (i.e., do passo) dado na </a:t>
                </a:r>
                <a:r>
                  <a:rPr lang="pt-BR" b="1" i="1" dirty="0">
                    <a:solidFill>
                      <a:schemeClr val="accent2"/>
                    </a:solidFill>
                  </a:rPr>
                  <a:t>direção oposta </a:t>
                </a:r>
                <a:r>
                  <a:rPr lang="pt-BR" dirty="0"/>
                  <a:t>a apontada pelo </a:t>
                </a:r>
                <a:r>
                  <a:rPr lang="pt-BR" b="1" i="1" dirty="0"/>
                  <a:t>vetor</a:t>
                </a:r>
                <a:r>
                  <a:rPr lang="pt-BR" dirty="0"/>
                  <a:t> </a:t>
                </a:r>
                <a:r>
                  <a:rPr lang="pt-BR" b="1" i="1" dirty="0"/>
                  <a:t>gradiente</a:t>
                </a:r>
                <a:r>
                  <a:rPr lang="pt-BR" dirty="0"/>
                  <a:t>.</a:t>
                </a:r>
              </a:p>
              <a:p>
                <a:pPr lvl="1">
                  <a:buFont typeface="Wingdings" panose="05000000000000000000" pitchFamily="2" charset="2"/>
                  <a:buChar char="§"/>
                </a:pPr>
                <a:r>
                  <a:rPr lang="pt-BR" dirty="0"/>
                  <a:t>Ela é sempre um valor maior do que zero.</a:t>
                </a:r>
              </a:p>
              <a:p>
                <a:r>
                  <a:rPr lang="pt-BR" dirty="0"/>
                  <a:t>Na sequência, encontraremos o </a:t>
                </a:r>
                <a:r>
                  <a:rPr lang="pt-BR" b="1" i="1" dirty="0"/>
                  <a:t>vetor gradiente</a:t>
                </a:r>
                <a:r>
                  <a:rPr lang="pt-BR" dirty="0"/>
                  <a:t> da </a:t>
                </a:r>
                <a:r>
                  <a:rPr lang="pt-BR" b="1" i="1" dirty="0"/>
                  <a:t>função de erro</a:t>
                </a:r>
                <a:r>
                  <a:rPr lang="pt-BR" dirty="0"/>
                  <a:t>.</a:t>
                </a:r>
              </a:p>
            </p:txBody>
          </p:sp>
        </mc:Choice>
        <mc:Fallback>
          <p:sp>
            <p:nvSpPr>
              <p:cNvPr id="3" name="Espaço Reservado para Conteúdo 2">
                <a:extLst>
                  <a:ext uri="{FF2B5EF4-FFF2-40B4-BE49-F238E27FC236}">
                    <a16:creationId xmlns:a16="http://schemas.microsoft.com/office/drawing/2014/main" id="{70B879D4-E78F-668E-0E3E-6B34B203EC6C}"/>
                  </a:ext>
                </a:extLst>
              </p:cNvPr>
              <p:cNvSpPr>
                <a:spLocks noGrp="1" noRot="1" noChangeAspect="1" noMove="1" noResize="1" noEditPoints="1" noAdjustHandles="1" noChangeArrowheads="1" noChangeShapeType="1" noTextEdit="1"/>
              </p:cNvSpPr>
              <p:nvPr>
                <p:ph idx="1"/>
              </p:nvPr>
            </p:nvSpPr>
            <p:spPr>
              <a:xfrm>
                <a:off x="838199" y="4593608"/>
                <a:ext cx="11079145" cy="2264391"/>
              </a:xfrm>
              <a:blipFill>
                <a:blip r:embed="rId3"/>
                <a:stretch>
                  <a:fillRect l="-935" t="-4582" r="-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D11492AC-9AA7-E1FA-2B1C-77DD666FCE33}"/>
                  </a:ext>
                </a:extLst>
              </p:cNvPr>
              <p:cNvSpPr/>
              <p:nvPr/>
            </p:nvSpPr>
            <p:spPr>
              <a:xfrm>
                <a:off x="134816" y="2288644"/>
                <a:ext cx="8223924" cy="1782155"/>
              </a:xfrm>
              <a:prstGeom prst="rect">
                <a:avLst/>
              </a:prstGeom>
              <a:ln>
                <a:solidFill>
                  <a:schemeClr val="tx1"/>
                </a:solidFill>
              </a:ln>
            </p:spPr>
            <p:txBody>
              <a:bodyPr wrap="square">
                <a:spAutoFit/>
              </a:bodyPr>
              <a:lstStyle/>
              <a:p>
                <a14:m>
                  <m:oMath xmlns:m="http://schemas.openxmlformats.org/officeDocument/2006/math">
                    <m:r>
                      <a:rPr lang="pt-BR" sz="2000" b="1" i="1" smtClean="0">
                        <a:latin typeface="Cambria Math" panose="02040503050406030204" pitchFamily="18" charset="0"/>
                      </a:rPr>
                      <m:t>𝒂</m:t>
                    </m:r>
                    <m:r>
                      <a:rPr lang="pt-BR" sz="2000" b="1" i="1" smtClean="0">
                        <a:latin typeface="Cambria Math" panose="02040503050406030204" pitchFamily="18" charset="0"/>
                      </a:rPr>
                      <m:t> </m:t>
                    </m:r>
                  </m:oMath>
                </a14:m>
                <a:r>
                  <a:rPr lang="en-US" sz="2000" b="1" dirty="0"/>
                  <a:t> </a:t>
                </a:r>
                <a14:m>
                  <m:oMath xmlns:m="http://schemas.openxmlformats.org/officeDocument/2006/math">
                    <m:r>
                      <a:rPr lang="en-US" sz="2000" b="1" i="1" dirty="0">
                        <a:latin typeface="Cambria Math" panose="02040503050406030204" pitchFamily="18" charset="0"/>
                        <a:ea typeface="Cambria Math" panose="02040503050406030204" pitchFamily="18" charset="0"/>
                      </a:rPr>
                      <m:t>←</m:t>
                    </m:r>
                    <m:r>
                      <m:rPr>
                        <m:sty m:val="p"/>
                      </m:rPr>
                      <a:rPr lang="en-US" sz="2000" dirty="0">
                        <a:latin typeface="Cambria Math" panose="02040503050406030204" pitchFamily="18" charset="0"/>
                        <a:ea typeface="Cambria Math" panose="02040503050406030204" pitchFamily="18" charset="0"/>
                      </a:rPr>
                      <m:t>inicializa</m:t>
                    </m:r>
                    <m:r>
                      <a:rPr lang="en-US" sz="2000" dirty="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o</m:t>
                    </m:r>
                    <m:r>
                      <a:rPr lang="pt-BR" sz="2000" b="0" i="0" dirty="0" smtClean="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vetor</m:t>
                    </m:r>
                    <m:r>
                      <a:rPr lang="pt-BR" sz="2000" b="0" i="0" dirty="0" smtClean="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de</m:t>
                    </m:r>
                    <m:r>
                      <a:rPr lang="pt-BR" sz="2000" b="0" i="0" dirty="0" smtClean="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pesos</m:t>
                    </m:r>
                    <m:r>
                      <a:rPr lang="pt-BR" sz="2000" b="0" i="0" dirty="0" smtClean="0">
                        <a:latin typeface="Cambria Math" panose="02040503050406030204" pitchFamily="18" charset="0"/>
                        <a:ea typeface="Cambria Math" panose="02040503050406030204" pitchFamily="18" charset="0"/>
                      </a:rPr>
                      <m:t> </m:t>
                    </m:r>
                    <m:r>
                      <m:rPr>
                        <m:sty m:val="p"/>
                      </m:rPr>
                      <a:rPr lang="en-US" sz="2000" dirty="0">
                        <a:latin typeface="Cambria Math" panose="02040503050406030204" pitchFamily="18" charset="0"/>
                        <a:ea typeface="Cambria Math" panose="02040503050406030204" pitchFamily="18" charset="0"/>
                      </a:rPr>
                      <m:t>em</m:t>
                    </m:r>
                    <m:r>
                      <a:rPr lang="en-US" sz="2000" dirty="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um</m:t>
                    </m:r>
                    <m:r>
                      <a:rPr lang="pt-BR" sz="2000" dirty="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ponto</m:t>
                    </m:r>
                    <m:r>
                      <a:rPr lang="pt-BR" sz="2000" dirty="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aleat</m:t>
                    </m:r>
                    <m:r>
                      <a:rPr lang="pt-BR" sz="2000" b="0" i="0" dirty="0" smtClean="0">
                        <a:latin typeface="Cambria Math" panose="02040503050406030204" pitchFamily="18" charset="0"/>
                        <a:ea typeface="Cambria Math" panose="02040503050406030204" pitchFamily="18" charset="0"/>
                      </a:rPr>
                      <m:t>ó</m:t>
                    </m:r>
                    <m:r>
                      <m:rPr>
                        <m:sty m:val="p"/>
                      </m:rPr>
                      <a:rPr lang="pt-BR" sz="2000" b="0" i="0" dirty="0" smtClean="0">
                        <a:latin typeface="Cambria Math" panose="02040503050406030204" pitchFamily="18" charset="0"/>
                        <a:ea typeface="Cambria Math" panose="02040503050406030204" pitchFamily="18" charset="0"/>
                      </a:rPr>
                      <m:t>rio</m:t>
                    </m:r>
                    <m:r>
                      <a:rPr lang="pt-BR" sz="2000" dirty="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do</m:t>
                    </m:r>
                    <m:r>
                      <a:rPr lang="pt-BR" sz="2000" dirty="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espa</m:t>
                    </m:r>
                    <m:r>
                      <a:rPr lang="pt-BR" sz="2000" dirty="0">
                        <a:latin typeface="Cambria Math" panose="02040503050406030204" pitchFamily="18" charset="0"/>
                        <a:ea typeface="Cambria Math" panose="02040503050406030204" pitchFamily="18" charset="0"/>
                      </a:rPr>
                      <m:t>ç</m:t>
                    </m:r>
                    <m:r>
                      <m:rPr>
                        <m:sty m:val="p"/>
                      </m:rPr>
                      <a:rPr lang="pt-BR" sz="2000" dirty="0">
                        <a:latin typeface="Cambria Math" panose="02040503050406030204" pitchFamily="18" charset="0"/>
                        <a:ea typeface="Cambria Math" panose="02040503050406030204" pitchFamily="18" charset="0"/>
                      </a:rPr>
                      <m:t>o</m:t>
                    </m:r>
                    <m:r>
                      <a:rPr lang="pt-BR" sz="2000" dirty="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de</m:t>
                    </m:r>
                    <m:r>
                      <a:rPr lang="pt-BR" sz="2000" dirty="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pesos</m:t>
                    </m:r>
                  </m:oMath>
                </a14:m>
                <a:endParaRPr lang="pt-BR" sz="2000" b="0" dirty="0">
                  <a:ea typeface="Cambria Math" panose="02040503050406030204" pitchFamily="18" charset="0"/>
                </a:endParaRPr>
              </a:p>
              <a:p>
                <a:pPr/>
                <a14:m>
                  <m:oMathPara xmlns:m="http://schemas.openxmlformats.org/officeDocument/2006/math">
                    <m:oMathParaPr>
                      <m:jc m:val="left"/>
                    </m:oMathParaPr>
                    <m:oMath>
                      <m:r>
                        <a:rPr lang="pt-BR" sz="2000" i="1">
                          <a:latin typeface="Cambria Math" panose="02040503050406030204" pitchFamily="18" charset="0"/>
                          <a:ea typeface="Cambria Math" panose="02040503050406030204" pitchFamily="18" charset="0"/>
                        </a:rPr>
                        <m:t>𝛼</m:t>
                      </m:r>
                      <m:r>
                        <a:rPr lang="en-US" sz="2000" b="1" i="1" dirty="0">
                          <a:latin typeface="Cambria Math" panose="02040503050406030204" pitchFamily="18" charset="0"/>
                          <a:ea typeface="Cambria Math" panose="02040503050406030204" pitchFamily="18" charset="0"/>
                        </a:rPr>
                        <m:t>←</m:t>
                      </m:r>
                      <m:r>
                        <m:rPr>
                          <m:sty m:val="p"/>
                        </m:rPr>
                        <a:rPr lang="en-US" sz="2000" dirty="0">
                          <a:latin typeface="Cambria Math" panose="02040503050406030204" pitchFamily="18" charset="0"/>
                          <a:ea typeface="Cambria Math" panose="02040503050406030204" pitchFamily="18" charset="0"/>
                        </a:rPr>
                        <m:t>inicializa</m:t>
                      </m:r>
                      <m:r>
                        <a:rPr lang="en-US" sz="2000" dirty="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a</m:t>
                      </m:r>
                      <m:r>
                        <a:rPr lang="pt-BR" sz="2000" b="0" i="0" dirty="0" smtClean="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taxa</m:t>
                      </m:r>
                      <m:r>
                        <a:rPr lang="pt-BR" sz="2000" b="0" i="0" dirty="0" smtClean="0">
                          <a:latin typeface="Cambria Math" panose="02040503050406030204" pitchFamily="18" charset="0"/>
                          <a:ea typeface="Cambria Math" panose="02040503050406030204" pitchFamily="18" charset="0"/>
                        </a:rPr>
                        <m:t> </m:t>
                      </m:r>
                      <m:r>
                        <m:rPr>
                          <m:sty m:val="p"/>
                        </m:rPr>
                        <a:rPr lang="pt-BR" sz="2000" dirty="0">
                          <a:latin typeface="Cambria Math" panose="02040503050406030204" pitchFamily="18" charset="0"/>
                          <a:ea typeface="Cambria Math" panose="02040503050406030204" pitchFamily="18" charset="0"/>
                        </a:rPr>
                        <m:t>de</m:t>
                      </m:r>
                      <m:r>
                        <a:rPr lang="pt-BR" sz="2000" dirty="0">
                          <a:latin typeface="Cambria Math" panose="02040503050406030204" pitchFamily="18" charset="0"/>
                          <a:ea typeface="Cambria Math" panose="02040503050406030204" pitchFamily="18" charset="0"/>
                        </a:rPr>
                        <m:t> </m:t>
                      </m:r>
                      <m:r>
                        <m:rPr>
                          <m:sty m:val="p"/>
                        </m:rPr>
                        <a:rPr lang="pt-BR" sz="2000" b="0" i="0" dirty="0" smtClean="0">
                          <a:latin typeface="Cambria Math" panose="02040503050406030204" pitchFamily="18" charset="0"/>
                          <a:ea typeface="Cambria Math" panose="02040503050406030204" pitchFamily="18" charset="0"/>
                        </a:rPr>
                        <m:t>aprendizagem</m:t>
                      </m:r>
                    </m:oMath>
                  </m:oMathPara>
                </a14:m>
                <a:endParaRPr lang="pt-BR" sz="2000" b="0" dirty="0">
                  <a:ea typeface="Cambria Math" panose="02040503050406030204" pitchFamily="18" charset="0"/>
                </a:endParaRPr>
              </a:p>
              <a:p>
                <a:r>
                  <a:rPr lang="pt-BR" sz="2000" b="1" dirty="0">
                    <a:latin typeface="Cambria Math" panose="02040503050406030204" pitchFamily="18" charset="0"/>
                    <a:ea typeface="Cambria Math" panose="02040503050406030204" pitchFamily="18" charset="0"/>
                  </a:rPr>
                  <a:t>loop até </a:t>
                </a:r>
                <a:r>
                  <a:rPr lang="pt-BR" sz="2000" dirty="0">
                    <a:latin typeface="Cambria Math" panose="02040503050406030204" pitchFamily="18" charset="0"/>
                    <a:ea typeface="Cambria Math" panose="02040503050406030204" pitchFamily="18" charset="0"/>
                  </a:rPr>
                  <a:t>convergir </a:t>
                </a:r>
                <a:r>
                  <a:rPr lang="pt-BR" sz="2000" b="1" dirty="0">
                    <a:latin typeface="Cambria Math" panose="02040503050406030204" pitchFamily="18" charset="0"/>
                    <a:ea typeface="Cambria Math" panose="02040503050406030204" pitchFamily="18" charset="0"/>
                  </a:rPr>
                  <a:t>ou </a:t>
                </a:r>
                <a:r>
                  <a:rPr lang="pt-BR" sz="2000" dirty="0">
                    <a:latin typeface="Cambria Math" panose="02040503050406030204" pitchFamily="18" charset="0"/>
                    <a:ea typeface="Cambria Math" panose="02040503050406030204" pitchFamily="18" charset="0"/>
                  </a:rPr>
                  <a:t>atingir o número máximo de iterações </a:t>
                </a:r>
                <a:r>
                  <a:rPr lang="pt-BR" sz="2000" b="1" dirty="0">
                    <a:latin typeface="Cambria Math" panose="02040503050406030204" pitchFamily="18" charset="0"/>
                    <a:ea typeface="Cambria Math" panose="02040503050406030204" pitchFamily="18" charset="0"/>
                  </a:rPr>
                  <a:t>do</a:t>
                </a:r>
              </a:p>
              <a:p>
                <a:r>
                  <a:rPr lang="pt-BR" sz="2000" dirty="0">
                    <a:latin typeface="Cambria Math" panose="02040503050406030204" pitchFamily="18" charset="0"/>
                    <a:ea typeface="Cambria Math" panose="02040503050406030204" pitchFamily="18" charset="0"/>
                  </a:rPr>
                  <a:t>	</a:t>
                </a:r>
                <a14:m>
                  <m:oMath xmlns:m="http://schemas.openxmlformats.org/officeDocument/2006/math">
                    <m:r>
                      <a:rPr lang="pt-BR" sz="2000" i="1">
                        <a:latin typeface="Cambria Math" panose="02040503050406030204" pitchFamily="18" charset="0"/>
                        <a:ea typeface="Cambria Math" panose="02040503050406030204" pitchFamily="18" charset="0"/>
                      </a:rPr>
                      <m:t>𝛻</m:t>
                    </m:r>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𝐽</m:t>
                        </m:r>
                      </m:e>
                      <m:sub>
                        <m:r>
                          <a:rPr lang="pt-BR" sz="2000" i="1">
                            <a:latin typeface="Cambria Math" panose="02040503050406030204" pitchFamily="18" charset="0"/>
                            <a:ea typeface="Cambria Math" panose="02040503050406030204" pitchFamily="18" charset="0"/>
                          </a:rPr>
                          <m:t>𝑒</m:t>
                        </m:r>
                      </m:sub>
                    </m:sSub>
                    <m:r>
                      <a:rPr lang="pt-BR" sz="2000" i="1">
                        <a:latin typeface="Cambria Math" panose="02040503050406030204" pitchFamily="18" charset="0"/>
                        <a:ea typeface="Cambria Math" panose="02040503050406030204" pitchFamily="18" charset="0"/>
                      </a:rPr>
                      <m:t>(</m:t>
                    </m:r>
                    <m:r>
                      <a:rPr lang="pt-BR" sz="2000" b="1" i="1">
                        <a:latin typeface="Cambria Math" panose="02040503050406030204" pitchFamily="18" charset="0"/>
                        <a:ea typeface="Cambria Math" panose="02040503050406030204" pitchFamily="18" charset="0"/>
                      </a:rPr>
                      <m:t>𝒂</m:t>
                    </m:r>
                    <m:r>
                      <a:rPr lang="pt-BR" sz="2000" i="1">
                        <a:latin typeface="Cambria Math" panose="02040503050406030204" pitchFamily="18" charset="0"/>
                        <a:ea typeface="Cambria Math" panose="02040503050406030204" pitchFamily="18" charset="0"/>
                      </a:rPr>
                      <m:t>)</m:t>
                    </m:r>
                  </m:oMath>
                </a14:m>
                <a:r>
                  <a:rPr lang="pt-BR" sz="2000" b="1" dirty="0">
                    <a:latin typeface="Cambria Math" panose="02040503050406030204" pitchFamily="18" charset="0"/>
                  </a:rPr>
                  <a:t> </a:t>
                </a:r>
                <a14:m>
                  <m:oMath xmlns:m="http://schemas.openxmlformats.org/officeDocument/2006/math">
                    <m:r>
                      <a:rPr lang="en-US" sz="2000" b="1" i="1" dirty="0">
                        <a:latin typeface="Cambria Math" panose="02040503050406030204" pitchFamily="18" charset="0"/>
                        <a:ea typeface="Cambria Math" panose="02040503050406030204" pitchFamily="18" charset="0"/>
                      </a:rPr>
                      <m:t>← </m:t>
                    </m:r>
                  </m:oMath>
                </a14:m>
                <a:r>
                  <a:rPr lang="pt-BR" sz="2000" dirty="0">
                    <a:latin typeface="Cambria Math" panose="02040503050406030204" pitchFamily="18" charset="0"/>
                    <a:ea typeface="Cambria Math" panose="02040503050406030204" pitchFamily="18" charset="0"/>
                  </a:rPr>
                  <a:t>cálculo do vetor gradiente</a:t>
                </a:r>
                <a:r>
                  <a:rPr lang="pt-BR" sz="2000" dirty="0">
                    <a:ea typeface="Cambria Math" panose="02040503050406030204" pitchFamily="18" charset="0"/>
                  </a:rPr>
                  <a:t>, </a:t>
                </a:r>
                <a14:m>
                  <m:oMath xmlns:m="http://schemas.openxmlformats.org/officeDocument/2006/math">
                    <m:f>
                      <m:fPr>
                        <m:ctrlPr>
                          <a:rPr lang="pt-BR" sz="2000" i="1">
                            <a:latin typeface="Cambria Math" panose="02040503050406030204" pitchFamily="18" charset="0"/>
                            <a:ea typeface="Cambria Math" panose="02040503050406030204" pitchFamily="18" charset="0"/>
                          </a:rPr>
                        </m:ctrlPr>
                      </m:fPr>
                      <m:num>
                        <m:r>
                          <a:rPr lang="pt-BR" sz="2000" i="1">
                            <a:latin typeface="Cambria Math" panose="02040503050406030204" pitchFamily="18" charset="0"/>
                            <a:ea typeface="Cambria Math" panose="02040503050406030204" pitchFamily="18" charset="0"/>
                          </a:rPr>
                          <m:t>𝜕</m:t>
                        </m:r>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𝐽</m:t>
                            </m:r>
                          </m:e>
                          <m:sub>
                            <m:r>
                              <a:rPr lang="pt-BR" sz="2000" i="1">
                                <a:latin typeface="Cambria Math" panose="02040503050406030204" pitchFamily="18" charset="0"/>
                                <a:ea typeface="Cambria Math" panose="02040503050406030204" pitchFamily="18" charset="0"/>
                              </a:rPr>
                              <m:t>𝑒</m:t>
                            </m:r>
                          </m:sub>
                        </m:sSub>
                        <m:d>
                          <m:dPr>
                            <m:ctrlPr>
                              <a:rPr lang="pt-BR" sz="2000" b="1" i="1">
                                <a:latin typeface="Cambria Math" panose="02040503050406030204" pitchFamily="18" charset="0"/>
                                <a:ea typeface="Cambria Math" panose="02040503050406030204" pitchFamily="18" charset="0"/>
                              </a:rPr>
                            </m:ctrlPr>
                          </m:dPr>
                          <m:e>
                            <m:r>
                              <a:rPr lang="pt-BR" sz="2000" b="1" i="1">
                                <a:latin typeface="Cambria Math" panose="02040503050406030204" pitchFamily="18" charset="0"/>
                                <a:ea typeface="Cambria Math" panose="02040503050406030204" pitchFamily="18" charset="0"/>
                              </a:rPr>
                              <m:t>𝒂</m:t>
                            </m:r>
                          </m:e>
                        </m:d>
                      </m:num>
                      <m:den>
                        <m:r>
                          <a:rPr lang="pt-BR" sz="2000" i="1">
                            <a:latin typeface="Cambria Math" panose="02040503050406030204" pitchFamily="18" charset="0"/>
                            <a:ea typeface="Cambria Math" panose="02040503050406030204" pitchFamily="18" charset="0"/>
                          </a:rPr>
                          <m:t>𝜕</m:t>
                        </m:r>
                        <m:r>
                          <a:rPr lang="pt-BR" sz="2000" b="1" i="1">
                            <a:latin typeface="Cambria Math" panose="02040503050406030204" pitchFamily="18" charset="0"/>
                          </a:rPr>
                          <m:t>𝒂</m:t>
                        </m:r>
                      </m:den>
                    </m:f>
                  </m:oMath>
                </a14:m>
                <a:endParaRPr lang="pt-BR" sz="2000" dirty="0">
                  <a:latin typeface="Cambria Math" panose="02040503050406030204" pitchFamily="18" charset="0"/>
                  <a:ea typeface="Cambria Math" panose="02040503050406030204" pitchFamily="18" charset="0"/>
                </a:endParaRPr>
              </a:p>
              <a:p>
                <a:r>
                  <a:rPr lang="en-US" sz="2000" dirty="0"/>
                  <a:t>	</a:t>
                </a:r>
                <a14:m>
                  <m:oMath xmlns:m="http://schemas.openxmlformats.org/officeDocument/2006/math">
                    <m:r>
                      <a:rPr lang="pt-BR" sz="2000" b="1" i="1">
                        <a:latin typeface="Cambria Math" panose="02040503050406030204" pitchFamily="18" charset="0"/>
                      </a:rPr>
                      <m:t>𝒂</m:t>
                    </m:r>
                    <m:r>
                      <a:rPr lang="en-US" sz="2000" b="1" i="1">
                        <a:latin typeface="Cambria Math" panose="02040503050406030204" pitchFamily="18" charset="0"/>
                        <a:ea typeface="Cambria Math" panose="02040503050406030204" pitchFamily="18" charset="0"/>
                      </a:rPr>
                      <m:t>←</m:t>
                    </m:r>
                    <m:r>
                      <a:rPr lang="pt-BR" sz="2000" b="1" i="1">
                        <a:latin typeface="Cambria Math" panose="02040503050406030204" pitchFamily="18" charset="0"/>
                      </a:rPr>
                      <m:t>𝒂</m:t>
                    </m:r>
                    <m:r>
                      <a:rPr lang="pt-BR" sz="2000" i="1">
                        <a:latin typeface="Cambria Math" panose="02040503050406030204" pitchFamily="18" charset="0"/>
                        <a:ea typeface="Cambria Math" panose="02040503050406030204" pitchFamily="18" charset="0"/>
                      </a:rPr>
                      <m:t>−</m:t>
                    </m:r>
                    <m:r>
                      <a:rPr lang="pt-BR" sz="2000" i="1">
                        <a:latin typeface="Cambria Math" panose="02040503050406030204" pitchFamily="18" charset="0"/>
                        <a:ea typeface="Cambria Math" panose="02040503050406030204" pitchFamily="18" charset="0"/>
                      </a:rPr>
                      <m:t>𝛼𝛻</m:t>
                    </m:r>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𝐽</m:t>
                        </m:r>
                      </m:e>
                      <m:sub>
                        <m:r>
                          <a:rPr lang="pt-BR" sz="2000" i="1">
                            <a:latin typeface="Cambria Math" panose="02040503050406030204" pitchFamily="18" charset="0"/>
                            <a:ea typeface="Cambria Math" panose="02040503050406030204" pitchFamily="18" charset="0"/>
                          </a:rPr>
                          <m:t>𝑒</m:t>
                        </m:r>
                      </m:sub>
                    </m:sSub>
                    <m:r>
                      <a:rPr lang="pt-BR" sz="2000" i="1">
                        <a:latin typeface="Cambria Math" panose="02040503050406030204" pitchFamily="18" charset="0"/>
                        <a:ea typeface="Cambria Math" panose="02040503050406030204" pitchFamily="18" charset="0"/>
                      </a:rPr>
                      <m:t>(</m:t>
                    </m:r>
                    <m:r>
                      <a:rPr lang="pt-BR" sz="2000" b="1" i="1">
                        <a:latin typeface="Cambria Math" panose="02040503050406030204" pitchFamily="18" charset="0"/>
                        <a:ea typeface="Cambria Math" panose="02040503050406030204" pitchFamily="18" charset="0"/>
                      </a:rPr>
                      <m:t>𝒂</m:t>
                    </m:r>
                    <m:r>
                      <a:rPr lang="pt-BR" sz="2000" i="1">
                        <a:latin typeface="Cambria Math" panose="02040503050406030204" pitchFamily="18" charset="0"/>
                        <a:ea typeface="Cambria Math" panose="02040503050406030204" pitchFamily="18" charset="0"/>
                      </a:rPr>
                      <m:t>)</m:t>
                    </m:r>
                  </m:oMath>
                </a14:m>
                <a:r>
                  <a:rPr lang="nl-BE" sz="1600" dirty="0"/>
                  <a:t> </a:t>
                </a:r>
                <a:r>
                  <a:rPr lang="nl-BE" sz="2000" dirty="0">
                    <a:latin typeface="Cambria Math" panose="02040503050406030204" pitchFamily="18" charset="0"/>
                    <a:ea typeface="Cambria Math" panose="02040503050406030204" pitchFamily="18" charset="0"/>
                  </a:rPr>
                  <a:t>(</a:t>
                </a:r>
                <a:r>
                  <a:rPr lang="nl-BE" sz="2000" b="1" i="1" dirty="0">
                    <a:solidFill>
                      <a:srgbClr val="0070C0"/>
                    </a:solidFill>
                    <a:latin typeface="Cambria Math" panose="02040503050406030204" pitchFamily="18" charset="0"/>
                    <a:ea typeface="Cambria Math" panose="02040503050406030204" pitchFamily="18" charset="0"/>
                  </a:rPr>
                  <a:t>regra de atualização dos pesos</a:t>
                </a:r>
                <a:r>
                  <a:rPr lang="nl-BE" sz="2000" dirty="0">
                    <a:latin typeface="Cambria Math" panose="02040503050406030204" pitchFamily="18" charset="0"/>
                    <a:ea typeface="Cambria Math" panose="02040503050406030204" pitchFamily="18" charset="0"/>
                  </a:rPr>
                  <a:t>)</a:t>
                </a:r>
              </a:p>
            </p:txBody>
          </p:sp>
        </mc:Choice>
        <mc:Fallback>
          <p:sp>
            <p:nvSpPr>
              <p:cNvPr id="4" name="Rectangle 3">
                <a:extLst>
                  <a:ext uri="{FF2B5EF4-FFF2-40B4-BE49-F238E27FC236}">
                    <a16:creationId xmlns:a16="http://schemas.microsoft.com/office/drawing/2014/main" id="{D11492AC-9AA7-E1FA-2B1C-77DD666FCE33}"/>
                  </a:ext>
                </a:extLst>
              </p:cNvPr>
              <p:cNvSpPr>
                <a:spLocks noRot="1" noChangeAspect="1" noMove="1" noResize="1" noEditPoints="1" noAdjustHandles="1" noChangeArrowheads="1" noChangeShapeType="1" noTextEdit="1"/>
              </p:cNvSpPr>
              <p:nvPr/>
            </p:nvSpPr>
            <p:spPr>
              <a:xfrm>
                <a:off x="134816" y="2288644"/>
                <a:ext cx="8223924" cy="1782155"/>
              </a:xfrm>
              <a:prstGeom prst="rect">
                <a:avLst/>
              </a:prstGeom>
              <a:blipFill>
                <a:blip r:embed="rId4"/>
                <a:stretch>
                  <a:fillRect l="-666" b="-4068"/>
                </a:stretch>
              </a:blipFill>
              <a:ln>
                <a:solidFill>
                  <a:schemeClr val="tx1"/>
                </a:solidFill>
              </a:ln>
            </p:spPr>
            <p:txBody>
              <a:bodyPr/>
              <a:lstStyle/>
              <a:p>
                <a:r>
                  <a:rPr lang="en-US">
                    <a:noFill/>
                  </a:rPr>
                  <a:t> </a:t>
                </a:r>
              </a:p>
            </p:txBody>
          </p:sp>
        </mc:Fallback>
      </mc:AlternateContent>
      <p:pic>
        <p:nvPicPr>
          <p:cNvPr id="5" name="Picture 5">
            <a:extLst>
              <a:ext uri="{FF2B5EF4-FFF2-40B4-BE49-F238E27FC236}">
                <a16:creationId xmlns:a16="http://schemas.microsoft.com/office/drawing/2014/main" id="{17772289-26AB-6310-C7E0-257BB687CC30}"/>
              </a:ext>
            </a:extLst>
          </p:cNvPr>
          <p:cNvPicPr>
            <a:picLocks noChangeAspect="1"/>
          </p:cNvPicPr>
          <p:nvPr/>
        </p:nvPicPr>
        <p:blipFill rotWithShape="1">
          <a:blip r:embed="rId5">
            <a:extLst>
              <a:ext uri="{28A0092B-C50C-407E-A947-70E740481C1C}">
                <a14:useLocalDpi xmlns:a14="http://schemas.microsoft.com/office/drawing/2010/main" val="0"/>
              </a:ext>
            </a:extLst>
          </a:blip>
          <a:srcRect t="48368" r="2754" b="1527"/>
          <a:stretch/>
        </p:blipFill>
        <p:spPr>
          <a:xfrm>
            <a:off x="8830547" y="2076116"/>
            <a:ext cx="3226637" cy="2120496"/>
          </a:xfrm>
          <a:prstGeom prst="rect">
            <a:avLst/>
          </a:prstGeom>
        </p:spPr>
      </p:pic>
      <p:sp>
        <p:nvSpPr>
          <p:cNvPr id="6" name="Seta: para a Direita 5">
            <a:extLst>
              <a:ext uri="{FF2B5EF4-FFF2-40B4-BE49-F238E27FC236}">
                <a16:creationId xmlns:a16="http://schemas.microsoft.com/office/drawing/2014/main" id="{5F262DCD-E874-A929-9087-AED5FF9F773D}"/>
              </a:ext>
            </a:extLst>
          </p:cNvPr>
          <p:cNvSpPr/>
          <p:nvPr/>
        </p:nvSpPr>
        <p:spPr>
          <a:xfrm>
            <a:off x="8440616" y="2823582"/>
            <a:ext cx="359787" cy="482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8" name="Conector de Seta Reta 7">
            <a:extLst>
              <a:ext uri="{FF2B5EF4-FFF2-40B4-BE49-F238E27FC236}">
                <a16:creationId xmlns:a16="http://schemas.microsoft.com/office/drawing/2014/main" id="{B9B50EF9-F67C-8FBE-728F-78F5235FE671}"/>
              </a:ext>
            </a:extLst>
          </p:cNvPr>
          <p:cNvCxnSpPr/>
          <p:nvPr/>
        </p:nvCxnSpPr>
        <p:spPr>
          <a:xfrm>
            <a:off x="8830547" y="4395109"/>
            <a:ext cx="370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7E3B1491-9652-4614-6496-5AFDA6F56CB0}"/>
              </a:ext>
            </a:extLst>
          </p:cNvPr>
          <p:cNvSpPr txBox="1"/>
          <p:nvPr/>
        </p:nvSpPr>
        <p:spPr>
          <a:xfrm>
            <a:off x="9200561" y="4256610"/>
            <a:ext cx="2205873" cy="276999"/>
          </a:xfrm>
          <a:prstGeom prst="rect">
            <a:avLst/>
          </a:prstGeom>
          <a:noFill/>
        </p:spPr>
        <p:txBody>
          <a:bodyPr wrap="square" rtlCol="0">
            <a:spAutoFit/>
          </a:bodyPr>
          <a:lstStyle/>
          <a:p>
            <a:r>
              <a:rPr lang="pt-BR" sz="1200" dirty="0"/>
              <a:t>Iteração de atualização do peso</a:t>
            </a:r>
          </a:p>
        </p:txBody>
      </p:sp>
    </p:spTree>
    <p:extLst>
      <p:ext uri="{BB962C8B-B14F-4D97-AF65-F5344CB8AC3E}">
        <p14:creationId xmlns:p14="http://schemas.microsoft.com/office/powerpoint/2010/main" val="4207599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A65558-3D14-0478-D170-D74E5487F54F}"/>
              </a:ext>
            </a:extLst>
          </p:cNvPr>
          <p:cNvSpPr>
            <a:spLocks noGrp="1"/>
          </p:cNvSpPr>
          <p:nvPr>
            <p:ph type="title"/>
          </p:nvPr>
        </p:nvSpPr>
        <p:spPr/>
        <p:txBody>
          <a:bodyPr/>
          <a:lstStyle/>
          <a:p>
            <a:r>
              <a:rPr lang="pt-BR" dirty="0"/>
              <a:t>Calculando o 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A1E79540-B9F5-F7ED-2DD8-EAD3ABC204C2}"/>
                  </a:ext>
                </a:extLst>
              </p:cNvPr>
              <p:cNvSpPr>
                <a:spLocks noGrp="1"/>
              </p:cNvSpPr>
              <p:nvPr>
                <p:ph idx="1"/>
              </p:nvPr>
            </p:nvSpPr>
            <p:spPr>
              <a:xfrm>
                <a:off x="838199" y="1825624"/>
                <a:ext cx="11185188" cy="5032375"/>
              </a:xfrm>
            </p:spPr>
            <p:txBody>
              <a:bodyPr>
                <a:normAutofit/>
              </a:bodyPr>
              <a:lstStyle/>
              <a:p>
                <a:r>
                  <a:rPr lang="pt-BR" dirty="0"/>
                  <a:t>Para calcularmos o vetor gradiente, vamos considerar o </a:t>
                </a:r>
                <a:r>
                  <a:rPr lang="pt-BR" b="1" i="1" dirty="0">
                    <a:solidFill>
                      <a:srgbClr val="00B050"/>
                    </a:solidFill>
                  </a:rPr>
                  <a:t>EQM</a:t>
                </a:r>
                <a:r>
                  <a:rPr lang="pt-BR" dirty="0"/>
                  <a:t> como </a:t>
                </a:r>
                <a:r>
                  <a:rPr lang="pt-BR" b="1" i="1" dirty="0">
                    <a:solidFill>
                      <a:srgbClr val="00B050"/>
                    </a:solidFill>
                  </a:rPr>
                  <a:t>função de erro</a:t>
                </a:r>
                <a:r>
                  <a:rPr lang="pt-BR" dirty="0"/>
                  <a:t> e o </a:t>
                </a:r>
                <a:r>
                  <a:rPr lang="pt-BR" b="1" i="1" dirty="0">
                    <a:solidFill>
                      <a:srgbClr val="00B050"/>
                    </a:solidFill>
                  </a:rPr>
                  <a:t>hiperplano </a:t>
                </a:r>
                <a:r>
                  <a:rPr lang="pt-BR" dirty="0"/>
                  <a:t>como </a:t>
                </a:r>
                <a:r>
                  <a:rPr lang="pt-BR" b="1" i="1" dirty="0">
                    <a:solidFill>
                      <a:srgbClr val="00B050"/>
                    </a:solidFill>
                  </a:rPr>
                  <a:t>função hipótese</a:t>
                </a:r>
                <a:r>
                  <a:rPr lang="pt-BR" dirty="0"/>
                  <a:t>:</a:t>
                </a:r>
              </a:p>
              <a:p>
                <a:pPr marL="0" indent="0">
                  <a:buNone/>
                </a:pPr>
                <a14:m>
                  <m:oMathPara xmlns:m="http://schemas.openxmlformats.org/officeDocument/2006/math">
                    <m:o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r>
                        <a:rPr lang="pt-BR" b="0" i="1" smtClean="0">
                          <a:latin typeface="Cambria Math" panose="02040503050406030204" pitchFamily="18" charset="0"/>
                        </a:rPr>
                        <m:t>ℎ</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𝐾</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𝑖</m:t>
                          </m:r>
                          <m:r>
                            <a:rPr lang="pt-BR" b="0" i="1" smtClean="0">
                              <a:latin typeface="Cambria Math" panose="02040503050406030204" pitchFamily="18" charset="0"/>
                            </a:rPr>
                            <m:t>=0</m:t>
                          </m:r>
                        </m:sub>
                        <m:sup>
                          <m:r>
                            <a:rPr lang="pt-BR" b="0" i="1" smtClean="0">
                              <a:latin typeface="Cambria Math" panose="02040503050406030204" pitchFamily="18" charset="0"/>
                            </a:rPr>
                            <m:t>𝐾</m:t>
                          </m:r>
                        </m:sup>
                        <m:e>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𝑖</m:t>
                              </m:r>
                            </m:sub>
                          </m:sSub>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𝑖</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b="0"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rPr>
                      <m:t>𝑛</m:t>
                    </m:r>
                    <m:r>
                      <a:rPr lang="pt-BR" i="1">
                        <a:latin typeface="Cambria Math" panose="02040503050406030204" pitchFamily="18" charset="0"/>
                      </a:rPr>
                      <m:t> </m:t>
                    </m:r>
                  </m:oMath>
                </a14:m>
                <a:r>
                  <a:rPr lang="pt-BR" dirty="0"/>
                  <a:t>é o </a:t>
                </a:r>
                <a:r>
                  <a:rPr lang="pt-BR" b="1" i="1" dirty="0">
                    <a:solidFill>
                      <a:srgbClr val="00B050"/>
                    </a:solidFill>
                  </a:rPr>
                  <a:t>número da amostra</a:t>
                </a:r>
                <a:r>
                  <a:rPr lang="pt-BR" dirty="0"/>
                  <a:t>, </a:t>
                </a:r>
                <a14:m>
                  <m:oMath xmlns:m="http://schemas.openxmlformats.org/officeDocument/2006/math">
                    <m:r>
                      <a:rPr lang="pt-BR" i="1">
                        <a:latin typeface="Cambria Math" panose="02040503050406030204" pitchFamily="18" charset="0"/>
                      </a:rPr>
                      <m:t>𝐾</m:t>
                    </m:r>
                  </m:oMath>
                </a14:m>
                <a:r>
                  <a:rPr lang="pt-BR" dirty="0"/>
                  <a:t> é o </a:t>
                </a:r>
                <a:r>
                  <a:rPr lang="pt-BR" b="1" i="1" dirty="0">
                    <a:solidFill>
                      <a:srgbClr val="00B050"/>
                    </a:solidFill>
                  </a:rPr>
                  <a:t>número atributos</a:t>
                </a:r>
                <a:r>
                  <a:rPr lang="pt-BR" dirty="0"/>
                  <a:t>, </a:t>
                </a:r>
                <a14:m>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𝑖</m:t>
                        </m:r>
                      </m:sub>
                    </m:sSub>
                    <m:r>
                      <a:rPr lang="pt-BR" b="0" i="1" smtClean="0">
                        <a:latin typeface="Cambria Math" panose="02040503050406030204" pitchFamily="18" charset="0"/>
                      </a:rPr>
                      <m:t>, </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𝑖</m:t>
                    </m:r>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𝑖</m:t>
                    </m:r>
                  </m:oMath>
                </a14:m>
                <a:r>
                  <a:rPr lang="pt-BR" dirty="0"/>
                  <a:t> são os </a:t>
                </a:r>
                <a:r>
                  <a:rPr lang="pt-BR" b="1" i="1" dirty="0">
                    <a:solidFill>
                      <a:srgbClr val="00B050"/>
                    </a:solidFill>
                  </a:rPr>
                  <a:t>pesos e atributos da função hipótese</a:t>
                </a:r>
                <a:r>
                  <a:rPr lang="pt-BR" dirty="0"/>
                  <a:t>, respectivamente,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0</m:t>
                        </m:r>
                      </m:sub>
                    </m:sSub>
                    <m:r>
                      <a:rPr lang="pt-BR" b="0" i="1" smtClean="0">
                        <a:latin typeface="Cambria Math" panose="02040503050406030204" pitchFamily="18" charset="0"/>
                      </a:rPr>
                      <m:t>=1</m:t>
                    </m:r>
                  </m:oMath>
                </a14:m>
                <a:r>
                  <a:rPr lang="pt-BR" dirty="0"/>
                  <a:t> é o atributo de </a:t>
                </a:r>
                <a:r>
                  <a:rPr lang="pt-BR" i="1" dirty="0"/>
                  <a:t>bias</a:t>
                </a:r>
                <a:r>
                  <a:rPr lang="pt-BR" dirty="0"/>
                  <a:t> e </a:t>
                </a:r>
                <a14:m>
                  <m:oMath xmlns:m="http://schemas.openxmlformats.org/officeDocument/2006/math">
                    <m:r>
                      <a:rPr lang="pt-BR" b="1" i="1">
                        <a:latin typeface="Cambria Math" panose="02040503050406030204" pitchFamily="18" charset="0"/>
                      </a:rPr>
                      <m:t>𝒂</m:t>
                    </m:r>
                  </m:oMath>
                </a14:m>
                <a:r>
                  <a:rPr lang="pt-BR" dirty="0"/>
                  <a:t> e </a:t>
                </a:r>
                <a14:m>
                  <m:oMath xmlns:m="http://schemas.openxmlformats.org/officeDocument/2006/math">
                    <m:r>
                      <a:rPr lang="pt-BR" b="1" i="1">
                        <a:latin typeface="Cambria Math" panose="02040503050406030204" pitchFamily="18" charset="0"/>
                      </a:rPr>
                      <m:t>𝒙</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oMath>
                </a14:m>
                <a:r>
                  <a:rPr lang="pt-BR" dirty="0"/>
                  <a:t> são vetores coluna contendo todos os pesos e atributos da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 respectivamente.</a:t>
                </a:r>
              </a:p>
              <a:p>
                <a:r>
                  <a:rPr lang="pt-BR" dirty="0"/>
                  <a:t>Agora podemos encontrar o vetor gradiente.</a:t>
                </a:r>
              </a:p>
            </p:txBody>
          </p:sp>
        </mc:Choice>
        <mc:Fallback>
          <p:sp>
            <p:nvSpPr>
              <p:cNvPr id="3" name="Espaço Reservado para Conteúdo 2">
                <a:extLst>
                  <a:ext uri="{FF2B5EF4-FFF2-40B4-BE49-F238E27FC236}">
                    <a16:creationId xmlns:a16="http://schemas.microsoft.com/office/drawing/2014/main" id="{A1E79540-B9F5-F7ED-2DD8-EAD3ABC204C2}"/>
                  </a:ext>
                </a:extLst>
              </p:cNvPr>
              <p:cNvSpPr>
                <a:spLocks noGrp="1" noRot="1" noChangeAspect="1" noMove="1" noResize="1" noEditPoints="1" noAdjustHandles="1" noChangeArrowheads="1" noChangeShapeType="1" noTextEdit="1"/>
              </p:cNvSpPr>
              <p:nvPr>
                <p:ph idx="1"/>
              </p:nvPr>
            </p:nvSpPr>
            <p:spPr>
              <a:xfrm>
                <a:off x="838199" y="1825624"/>
                <a:ext cx="11185188" cy="5032375"/>
              </a:xfrm>
              <a:blipFill>
                <a:blip r:embed="rId2"/>
                <a:stretch>
                  <a:fillRect l="-1090" t="-1937" r="-1635"/>
                </a:stretch>
              </a:blipFill>
            </p:spPr>
            <p:txBody>
              <a:bodyPr/>
              <a:lstStyle/>
              <a:p>
                <a:r>
                  <a:rPr lang="en-US">
                    <a:noFill/>
                  </a:rPr>
                  <a:t> </a:t>
                </a:r>
              </a:p>
            </p:txBody>
          </p:sp>
        </mc:Fallback>
      </mc:AlternateContent>
    </p:spTree>
    <p:extLst>
      <p:ext uri="{BB962C8B-B14F-4D97-AF65-F5344CB8AC3E}">
        <p14:creationId xmlns:p14="http://schemas.microsoft.com/office/powerpoint/2010/main" val="1785129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86E35-2132-957C-5119-8416C939A543}"/>
              </a:ext>
            </a:extLst>
          </p:cNvPr>
          <p:cNvSpPr>
            <a:spLocks noGrp="1"/>
          </p:cNvSpPr>
          <p:nvPr>
            <p:ph type="title"/>
          </p:nvPr>
        </p:nvSpPr>
        <p:spPr/>
        <p:txBody>
          <a:bodyPr/>
          <a:lstStyle/>
          <a:p>
            <a:r>
              <a:rPr lang="pt-BR" dirty="0"/>
              <a:t>Calculando o vetor gradiente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DC5EC678-4C25-1184-B2F1-399C0F236041}"/>
                  </a:ext>
                </a:extLst>
              </p:cNvPr>
              <p:cNvSpPr>
                <a:spLocks noGrp="1"/>
              </p:cNvSpPr>
              <p:nvPr>
                <p:ph idx="1"/>
              </p:nvPr>
            </p:nvSpPr>
            <p:spPr>
              <a:xfrm>
                <a:off x="838198" y="1777430"/>
                <a:ext cx="11353801" cy="5080570"/>
              </a:xfrm>
            </p:spPr>
            <p:txBody>
              <a:bodyPr>
                <a:normAutofit/>
              </a:bodyPr>
              <a:lstStyle/>
              <a:p>
                <a:r>
                  <a:rPr lang="pt-BR" dirty="0"/>
                  <a:t>O </a:t>
                </a:r>
                <a:r>
                  <a:rPr lang="pt-BR" b="1" i="1" dirty="0"/>
                  <a:t>vetor gradiente </a:t>
                </a:r>
                <a:r>
                  <a:rPr lang="pt-BR" dirty="0"/>
                  <a:t>da</a:t>
                </a:r>
                <a:r>
                  <a:rPr lang="pt-BR" b="1" i="1" dirty="0"/>
                  <a:t> função de erro em relação aos pesos </a:t>
                </a:r>
                <a:r>
                  <a:rPr lang="pt-BR" dirty="0"/>
                  <a:t>é dado por</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num>
                        <m:den>
                          <m:r>
                            <a:rPr lang="pt-BR" i="1">
                              <a:latin typeface="Cambria Math" panose="02040503050406030204" pitchFamily="18" charset="0"/>
                            </a:rPr>
                            <m:t>𝜕</m:t>
                          </m:r>
                          <m:r>
                            <a:rPr lang="pt-BR" b="1" i="1">
                              <a:latin typeface="Cambria Math" panose="02040503050406030204" pitchFamily="18" charset="0"/>
                            </a:rPr>
                            <m:t>𝒂</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e>
                          </m:nary>
                        </m:e>
                      </m:d>
                      <m:r>
                        <a:rPr lang="pt-BR" b="1"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m:t>
                                  </m:r>
                                </m:num>
                                <m:den>
                                  <m:r>
                                    <a:rPr lang="pt-BR" i="1">
                                      <a:latin typeface="Cambria Math" panose="02040503050406030204" pitchFamily="18" charset="0"/>
                                    </a:rPr>
                                    <m:t>𝜕</m:t>
                                  </m:r>
                                  <m:r>
                                    <a:rPr lang="pt-BR" b="1" i="1">
                                      <a:latin typeface="Cambria Math" panose="02040503050406030204" pitchFamily="18" charset="0"/>
                                    </a:rPr>
                                    <m:t>𝒂</m:t>
                                  </m:r>
                                </m:den>
                              </m:f>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e>
                      </m:nary>
                    </m:oMath>
                  </m:oMathPara>
                </a14:m>
                <a:endParaRPr lang="pt-BR" b="1" i="1" dirty="0">
                  <a:latin typeface="Cambria Math" panose="02040503050406030204" pitchFamily="18" charset="0"/>
                </a:endParaRPr>
              </a:p>
              <a:p>
                <a:pPr marL="0" indent="0">
                  <a:buNone/>
                </a:pPr>
                <a:endParaRPr lang="pt-BR" sz="1000" b="1" i="1" dirty="0">
                  <a:latin typeface="Cambria Math" panose="02040503050406030204" pitchFamily="18" charset="0"/>
                </a:endParaRPr>
              </a:p>
              <a:p>
                <a:pPr marL="0" indent="0">
                  <a:buNone/>
                </a:pPr>
                <a14:m>
                  <m:oMathPara xmlns:m="http://schemas.openxmlformats.org/officeDocument/2006/math">
                    <m:oMath>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r>
                        <a:rPr lang="pt-BR" b="0" i="1" smtClean="0">
                          <a:latin typeface="Cambria Math" panose="02040503050406030204" pitchFamily="18" charset="0"/>
                        </a:rPr>
                        <m:t>,</m:t>
                      </m:r>
                    </m:oMath>
                  </m:oMathPara>
                </a14:m>
                <a:endParaRPr lang="pt-BR" dirty="0"/>
              </a:p>
              <a:p>
                <a:pPr marL="0" indent="0">
                  <a:buNone/>
                </a:pPr>
                <a:r>
                  <a:rPr lang="nl-BE" dirty="0"/>
                  <a:t>onde </a:t>
                </a:r>
                <a14:m>
                  <m:oMath xmlns:m="http://schemas.openxmlformats.org/officeDocument/2006/math">
                    <m:r>
                      <a:rPr lang="pt-BR" b="1" i="1" smtClean="0">
                        <a:latin typeface="Cambria Math" panose="02040503050406030204" pitchFamily="18" charset="0"/>
                      </a:rPr>
                      <m:t>𝑿</m:t>
                    </m:r>
                    <m:r>
                      <a:rPr lang="pt-BR" b="1" i="1" smtClean="0">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rPr>
                          <m:t>𝑁</m:t>
                        </m:r>
                        <m:r>
                          <a:rPr lang="pt-BR" i="1" dirty="0">
                            <a:latin typeface="Cambria Math" panose="02040503050406030204" pitchFamily="18" charset="0"/>
                            <a:ea typeface="Cambria Math" panose="02040503050406030204" pitchFamily="18" charset="0"/>
                          </a:rPr>
                          <m:t>×</m:t>
                        </m:r>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m:t>
                        </m:r>
                      </m:sup>
                    </m:sSup>
                  </m:oMath>
                </a14:m>
                <a:r>
                  <a:rPr lang="nl-BE" dirty="0"/>
                  <a:t> é a matriz de atributos e </a:t>
                </a:r>
                <a14:m>
                  <m:oMath xmlns:m="http://schemas.openxmlformats.org/officeDocument/2006/math">
                    <m:r>
                      <a:rPr lang="pt-BR" b="1" i="1">
                        <a:latin typeface="Cambria Math" panose="02040503050406030204" pitchFamily="18" charset="0"/>
                      </a:rPr>
                      <m:t>𝒚</m:t>
                    </m:r>
                  </m:oMath>
                </a14:m>
                <a:r>
                  <a:rPr lang="nl-BE" dirty="0"/>
                  <a:t> e </a:t>
                </a:r>
                <a14:m>
                  <m:oMath xmlns:m="http://schemas.openxmlformats.org/officeDocument/2006/math">
                    <m:acc>
                      <m:accPr>
                        <m:chr m:val="̂"/>
                        <m:ctrlPr>
                          <a:rPr lang="pt-BR" b="1" i="1">
                            <a:latin typeface="Cambria Math" panose="02040503050406030204" pitchFamily="18" charset="0"/>
                          </a:rPr>
                        </m:ctrlPr>
                      </m:accPr>
                      <m:e>
                        <m:r>
                          <a:rPr lang="pt-BR" b="1" i="1">
                            <a:latin typeface="Cambria Math" panose="02040503050406030204" pitchFamily="18" charset="0"/>
                          </a:rPr>
                          <m:t>𝒚</m:t>
                        </m:r>
                      </m:e>
                    </m:acc>
                  </m:oMath>
                </a14:m>
                <a:r>
                  <a:rPr lang="pt-BR" b="1" dirty="0">
                    <a:ea typeface="Cambria Math" panose="02040503050406030204" pitchFamily="18" charset="0"/>
                  </a:rPr>
                  <a:t> </a:t>
                </a:r>
                <a14:m>
                  <m:oMath xmlns:m="http://schemas.openxmlformats.org/officeDocument/2006/math">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rPr>
                          <m:t>𝑁</m:t>
                        </m:r>
                        <m:r>
                          <a:rPr lang="pt-BR" i="1" dirty="0">
                            <a:latin typeface="Cambria Math" panose="02040503050406030204" pitchFamily="18" charset="0"/>
                            <a:ea typeface="Cambria Math" panose="02040503050406030204" pitchFamily="18" charset="0"/>
                          </a:rPr>
                          <m:t>×1</m:t>
                        </m:r>
                      </m:sup>
                    </m:sSup>
                  </m:oMath>
                </a14:m>
                <a:r>
                  <a:rPr lang="nl-BE" dirty="0"/>
                  <a:t> são vetores contendo todos os valores esperados e de saída da função hipótese para os </a:t>
                </a:r>
                <a14:m>
                  <m:oMath xmlns:m="http://schemas.openxmlformats.org/officeDocument/2006/math">
                    <m:r>
                      <a:rPr lang="pt-BR" i="1">
                        <a:latin typeface="Cambria Math" panose="02040503050406030204" pitchFamily="18" charset="0"/>
                      </a:rPr>
                      <m:t>𝑁</m:t>
                    </m:r>
                  </m:oMath>
                </a14:m>
                <a:r>
                  <a:rPr lang="nl-BE" dirty="0"/>
                  <a:t> vetores de atributos, respectivamente.</a:t>
                </a:r>
              </a:p>
              <a:p>
                <a:r>
                  <a:rPr lang="nl-BE" b="1" dirty="0"/>
                  <a:t>OBS</a:t>
                </a:r>
                <a:r>
                  <a:rPr lang="nl-BE" dirty="0"/>
                  <a:t>.: Esse cálculo pode ser diretamente estendido para polinômios.</a:t>
                </a:r>
              </a:p>
            </p:txBody>
          </p:sp>
        </mc:Choice>
        <mc:Fallback>
          <p:sp>
            <p:nvSpPr>
              <p:cNvPr id="3" name="Espaço Reservado para Conteúdo 2">
                <a:extLst>
                  <a:ext uri="{FF2B5EF4-FFF2-40B4-BE49-F238E27FC236}">
                    <a16:creationId xmlns:a16="http://schemas.microsoft.com/office/drawing/2014/main" id="{DC5EC678-4C25-1184-B2F1-399C0F236041}"/>
                  </a:ext>
                </a:extLst>
              </p:cNvPr>
              <p:cNvSpPr>
                <a:spLocks noGrp="1" noRot="1" noChangeAspect="1" noMove="1" noResize="1" noEditPoints="1" noAdjustHandles="1" noChangeArrowheads="1" noChangeShapeType="1" noTextEdit="1"/>
              </p:cNvSpPr>
              <p:nvPr>
                <p:ph idx="1"/>
              </p:nvPr>
            </p:nvSpPr>
            <p:spPr>
              <a:xfrm>
                <a:off x="838198" y="1777430"/>
                <a:ext cx="11353801" cy="5080570"/>
              </a:xfrm>
              <a:blipFill>
                <a:blip r:embed="rId3"/>
                <a:stretch>
                  <a:fillRect l="-1074" t="-2041"/>
                </a:stretch>
              </a:blipFill>
            </p:spPr>
            <p:txBody>
              <a:bodyPr/>
              <a:lstStyle/>
              <a:p>
                <a:r>
                  <a:rPr lang="en-US">
                    <a:noFill/>
                  </a:rPr>
                  <a:t> </a:t>
                </a:r>
              </a:p>
            </p:txBody>
          </p:sp>
        </mc:Fallback>
      </mc:AlternateContent>
      <p:sp>
        <p:nvSpPr>
          <p:cNvPr id="6" name="Retângulo 5">
            <a:extLst>
              <a:ext uri="{FF2B5EF4-FFF2-40B4-BE49-F238E27FC236}">
                <a16:creationId xmlns:a16="http://schemas.microsoft.com/office/drawing/2014/main" id="{BA4B978A-523C-6701-A9EE-47D262659609}"/>
              </a:ext>
            </a:extLst>
          </p:cNvPr>
          <p:cNvSpPr/>
          <p:nvPr/>
        </p:nvSpPr>
        <p:spPr>
          <a:xfrm>
            <a:off x="7715853" y="3779847"/>
            <a:ext cx="2381459" cy="89554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990E9781-5851-F216-16CE-AB5772B05103}"/>
              </a:ext>
            </a:extLst>
          </p:cNvPr>
          <p:cNvSpPr txBox="1"/>
          <p:nvPr/>
        </p:nvSpPr>
        <p:spPr>
          <a:xfrm>
            <a:off x="10379947" y="3823223"/>
            <a:ext cx="1376623" cy="461665"/>
          </a:xfrm>
          <a:prstGeom prst="rect">
            <a:avLst/>
          </a:prstGeom>
          <a:noFill/>
        </p:spPr>
        <p:txBody>
          <a:bodyPr wrap="square" rtlCol="0">
            <a:spAutoFit/>
          </a:bodyPr>
          <a:lstStyle/>
          <a:p>
            <a:pPr algn="ctr"/>
            <a:r>
              <a:rPr lang="pt-BR" sz="1200" dirty="0"/>
              <a:t>Versão matricial do vetor gradiente</a:t>
            </a:r>
          </a:p>
        </p:txBody>
      </p:sp>
      <p:cxnSp>
        <p:nvCxnSpPr>
          <p:cNvPr id="9" name="Conector de Seta Reta 8">
            <a:extLst>
              <a:ext uri="{FF2B5EF4-FFF2-40B4-BE49-F238E27FC236}">
                <a16:creationId xmlns:a16="http://schemas.microsoft.com/office/drawing/2014/main" id="{973FDB4F-E2A3-6110-52E8-6C66752677FB}"/>
              </a:ext>
            </a:extLst>
          </p:cNvPr>
          <p:cNvCxnSpPr/>
          <p:nvPr/>
        </p:nvCxnSpPr>
        <p:spPr>
          <a:xfrm flipV="1">
            <a:off x="10115341" y="4040851"/>
            <a:ext cx="321547" cy="2813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CaixaDeTexto 3">
            <a:extLst>
              <a:ext uri="{FF2B5EF4-FFF2-40B4-BE49-F238E27FC236}">
                <a16:creationId xmlns:a16="http://schemas.microsoft.com/office/drawing/2014/main" id="{EB7B7DF7-4620-FAFB-14F2-76188CA2CB96}"/>
              </a:ext>
            </a:extLst>
          </p:cNvPr>
          <p:cNvSpPr txBox="1"/>
          <p:nvPr/>
        </p:nvSpPr>
        <p:spPr>
          <a:xfrm>
            <a:off x="7334655" y="6585626"/>
            <a:ext cx="4857345" cy="276999"/>
          </a:xfrm>
          <a:prstGeom prst="rect">
            <a:avLst/>
          </a:prstGeom>
          <a:noFill/>
        </p:spPr>
        <p:txBody>
          <a:bodyPr wrap="square" rtlCol="0">
            <a:spAutoFit/>
          </a:bodyPr>
          <a:lstStyle/>
          <a:p>
            <a:r>
              <a:rPr lang="pt-BR" sz="1200" b="1" dirty="0"/>
              <a:t>OBS</a:t>
            </a:r>
            <a:r>
              <a:rPr lang="pt-BR" sz="1200" dirty="0"/>
              <a:t>.: detalhes sobre como encontrar o vetor gradiente estão nos anexos.</a:t>
            </a:r>
            <a:endParaRPr lang="en-US" sz="1200" dirty="0"/>
          </a:p>
        </p:txBody>
      </p:sp>
    </p:spTree>
    <p:extLst>
      <p:ext uri="{BB962C8B-B14F-4D97-AF65-F5344CB8AC3E}">
        <p14:creationId xmlns:p14="http://schemas.microsoft.com/office/powerpoint/2010/main" val="558431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21E05-ABDD-6B49-2AC1-594A009F1D15}"/>
              </a:ext>
            </a:extLst>
          </p:cNvPr>
          <p:cNvSpPr>
            <a:spLocks noGrp="1"/>
          </p:cNvSpPr>
          <p:nvPr>
            <p:ph type="title"/>
          </p:nvPr>
        </p:nvSpPr>
        <p:spPr/>
        <p:txBody>
          <a:bodyPr/>
          <a:lstStyle/>
          <a:p>
            <a:r>
              <a:rPr lang="pt-BR" dirty="0"/>
              <a:t>Atualizando os pesos</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1CB9A1FC-3F15-B216-8074-C6DE6730400A}"/>
                  </a:ext>
                </a:extLst>
              </p:cNvPr>
              <p:cNvSpPr>
                <a:spLocks noGrp="1"/>
              </p:cNvSpPr>
              <p:nvPr>
                <p:ph idx="1"/>
              </p:nvPr>
            </p:nvSpPr>
            <p:spPr>
              <a:xfrm>
                <a:off x="838200" y="1690688"/>
                <a:ext cx="11353800" cy="5167311"/>
              </a:xfrm>
            </p:spPr>
            <p:txBody>
              <a:bodyPr>
                <a:normAutofit lnSpcReduction="10000"/>
              </a:bodyPr>
              <a:lstStyle/>
              <a:p>
                <a:r>
                  <a:rPr lang="pt-BR" dirty="0"/>
                  <a:t>Substituindo o </a:t>
                </a:r>
                <a:r>
                  <a:rPr lang="pt-BR" b="1" i="1" dirty="0"/>
                  <a:t>vetor gradiente</a:t>
                </a:r>
                <a:r>
                  <a:rPr lang="pt-BR" dirty="0"/>
                  <a:t> na </a:t>
                </a:r>
                <a:r>
                  <a:rPr lang="pt-BR" b="1" i="1" dirty="0"/>
                  <a:t>equação de atualização dos pesos</a:t>
                </a:r>
                <a:r>
                  <a:rPr lang="pt-BR" dirty="0"/>
                  <a:t>, temos</a:t>
                </a:r>
              </a:p>
              <a:p>
                <a:pPr marL="0" indent="0">
                  <a:buNone/>
                </a:pPr>
                <a14:m>
                  <m:oMathPara xmlns:m="http://schemas.openxmlformats.org/officeDocument/2006/math">
                    <m:oMath>
                      <m:r>
                        <a:rPr lang="pt-BR" sz="2600" b="1" i="1" smtClean="0">
                          <a:latin typeface="Cambria Math" panose="02040503050406030204" pitchFamily="18" charset="0"/>
                        </a:rPr>
                        <m:t>𝒂</m:t>
                      </m:r>
                      <m:r>
                        <a:rPr lang="pt-BR" sz="2600" b="1" i="1" smtClean="0">
                          <a:latin typeface="Cambria Math" panose="02040503050406030204" pitchFamily="18" charset="0"/>
                        </a:rPr>
                        <m:t>=</m:t>
                      </m:r>
                      <m:r>
                        <a:rPr lang="pt-BR" sz="2600" b="1" i="1" smtClean="0">
                          <a:latin typeface="Cambria Math" panose="02040503050406030204" pitchFamily="18" charset="0"/>
                        </a:rPr>
                        <m:t>𝒂</m:t>
                      </m:r>
                      <m:r>
                        <a:rPr lang="pt-BR" sz="2600" b="1" i="1" smtClean="0">
                          <a:latin typeface="Cambria Math" panose="02040503050406030204" pitchFamily="18" charset="0"/>
                        </a:rPr>
                        <m:t>−</m:t>
                      </m:r>
                      <m:r>
                        <a:rPr lang="pt-BR" sz="2600" i="1">
                          <a:latin typeface="Cambria Math" panose="02040503050406030204" pitchFamily="18" charset="0"/>
                          <a:ea typeface="Cambria Math" panose="02040503050406030204" pitchFamily="18" charset="0"/>
                        </a:rPr>
                        <m:t>𝛼</m:t>
                      </m:r>
                      <m:f>
                        <m:fPr>
                          <m:ctrlPr>
                            <a:rPr lang="pt-BR" sz="2600" i="1">
                              <a:latin typeface="Cambria Math" panose="02040503050406030204" pitchFamily="18" charset="0"/>
                            </a:rPr>
                          </m:ctrlPr>
                        </m:fPr>
                        <m:num>
                          <m:r>
                            <a:rPr lang="pt-BR" sz="2600" i="1">
                              <a:latin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𝐽</m:t>
                              </m:r>
                            </m:e>
                            <m:sub>
                              <m:r>
                                <a:rPr lang="pt-BR" sz="2600" i="1">
                                  <a:latin typeface="Cambria Math" panose="02040503050406030204" pitchFamily="18" charset="0"/>
                                </a:rPr>
                                <m:t>𝑒</m:t>
                              </m:r>
                            </m:sub>
                          </m:sSub>
                          <m:d>
                            <m:dPr>
                              <m:ctrlPr>
                                <a:rPr lang="pt-BR" sz="2600" b="1" i="1">
                                  <a:latin typeface="Cambria Math" panose="02040503050406030204" pitchFamily="18" charset="0"/>
                                </a:rPr>
                              </m:ctrlPr>
                            </m:dPr>
                            <m:e>
                              <m:r>
                                <a:rPr lang="pt-BR" sz="2600" b="1" i="1">
                                  <a:latin typeface="Cambria Math" panose="02040503050406030204" pitchFamily="18" charset="0"/>
                                </a:rPr>
                                <m:t>𝒂</m:t>
                              </m:r>
                            </m:e>
                          </m:d>
                        </m:num>
                        <m:den>
                          <m:r>
                            <a:rPr lang="pt-BR" sz="2600" i="1">
                              <a:latin typeface="Cambria Math" panose="02040503050406030204" pitchFamily="18" charset="0"/>
                            </a:rPr>
                            <m:t>𝜕</m:t>
                          </m:r>
                          <m:r>
                            <a:rPr lang="pt-BR" sz="2600" b="1" i="1">
                              <a:latin typeface="Cambria Math" panose="02040503050406030204" pitchFamily="18" charset="0"/>
                            </a:rPr>
                            <m:t>𝒂</m:t>
                          </m:r>
                        </m:den>
                      </m:f>
                      <m:r>
                        <a:rPr lang="pt-BR" sz="2600" b="1" i="1">
                          <a:latin typeface="Cambria Math" panose="02040503050406030204" pitchFamily="18" charset="0"/>
                        </a:rPr>
                        <m:t>=</m:t>
                      </m:r>
                      <m:r>
                        <a:rPr lang="pt-BR" sz="2600" b="1" i="1">
                          <a:latin typeface="Cambria Math" panose="02040503050406030204" pitchFamily="18" charset="0"/>
                        </a:rPr>
                        <m:t>𝒂</m:t>
                      </m:r>
                      <m:r>
                        <a:rPr lang="pt-BR" sz="2600" b="0" i="1" smtClean="0">
                          <a:latin typeface="Cambria Math" panose="02040503050406030204" pitchFamily="18" charset="0"/>
                        </a:rPr>
                        <m:t>+</m:t>
                      </m:r>
                      <m:r>
                        <a:rPr lang="pt-BR" sz="2600" i="1">
                          <a:latin typeface="Cambria Math" panose="02040503050406030204" pitchFamily="18" charset="0"/>
                          <a:ea typeface="Cambria Math" panose="02040503050406030204" pitchFamily="18" charset="0"/>
                        </a:rPr>
                        <m:t>𝛼</m:t>
                      </m:r>
                      <m:f>
                        <m:fPr>
                          <m:ctrlPr>
                            <a:rPr lang="pt-BR" sz="2600" i="1">
                              <a:latin typeface="Cambria Math" panose="02040503050406030204" pitchFamily="18" charset="0"/>
                            </a:rPr>
                          </m:ctrlPr>
                        </m:fPr>
                        <m:num>
                          <m:r>
                            <a:rPr lang="pt-BR" sz="2600" i="1">
                              <a:latin typeface="Cambria Math" panose="02040503050406030204" pitchFamily="18" charset="0"/>
                            </a:rPr>
                            <m:t>2</m:t>
                          </m:r>
                        </m:num>
                        <m:den>
                          <m:r>
                            <a:rPr lang="pt-BR" sz="2600" i="1">
                              <a:latin typeface="Cambria Math" panose="02040503050406030204" pitchFamily="18" charset="0"/>
                            </a:rPr>
                            <m:t>𝑁</m:t>
                          </m:r>
                        </m:den>
                      </m:f>
                      <m:nary>
                        <m:naryPr>
                          <m:chr m:val="∑"/>
                          <m:ctrlPr>
                            <a:rPr lang="pt-BR" sz="2600" i="1">
                              <a:latin typeface="Cambria Math" panose="02040503050406030204" pitchFamily="18" charset="0"/>
                            </a:rPr>
                          </m:ctrlPr>
                        </m:naryPr>
                        <m:sub>
                          <m:r>
                            <a:rPr lang="pt-BR" sz="2600" i="1">
                              <a:latin typeface="Cambria Math" panose="02040503050406030204" pitchFamily="18" charset="0"/>
                            </a:rPr>
                            <m:t>𝑛</m:t>
                          </m:r>
                          <m:r>
                            <a:rPr lang="pt-BR" sz="2600" i="1">
                              <a:latin typeface="Cambria Math" panose="02040503050406030204" pitchFamily="18" charset="0"/>
                            </a:rPr>
                            <m:t>=0</m:t>
                          </m:r>
                        </m:sub>
                        <m:sup>
                          <m:r>
                            <a:rPr lang="pt-BR" sz="2600" i="1">
                              <a:latin typeface="Cambria Math" panose="02040503050406030204" pitchFamily="18" charset="0"/>
                            </a:rPr>
                            <m:t>𝑁</m:t>
                          </m:r>
                          <m:r>
                            <a:rPr lang="pt-BR" sz="2600" i="1">
                              <a:latin typeface="Cambria Math" panose="02040503050406030204" pitchFamily="18" charset="0"/>
                            </a:rPr>
                            <m:t>−1</m:t>
                          </m:r>
                        </m:sup>
                        <m:e>
                          <m:d>
                            <m:dPr>
                              <m:begChr m:val="["/>
                              <m:endChr m:val="]"/>
                              <m:ctrlPr>
                                <a:rPr lang="pt-BR" sz="2600" i="1">
                                  <a:latin typeface="Cambria Math" panose="02040503050406030204" pitchFamily="18" charset="0"/>
                                </a:rPr>
                              </m:ctrlPr>
                            </m:dPr>
                            <m:e>
                              <m:r>
                                <a:rPr lang="pt-BR" sz="2600" i="1">
                                  <a:latin typeface="Cambria Math" panose="02040503050406030204" pitchFamily="18" charset="0"/>
                                </a:rPr>
                                <m:t>𝑦</m:t>
                              </m:r>
                              <m:d>
                                <m:dPr>
                                  <m:ctrlPr>
                                    <a:rPr lang="pt-BR" sz="2600" i="1">
                                      <a:latin typeface="Cambria Math" panose="02040503050406030204" pitchFamily="18" charset="0"/>
                                    </a:rPr>
                                  </m:ctrlPr>
                                </m:dPr>
                                <m:e>
                                  <m:r>
                                    <a:rPr lang="pt-BR" sz="2600" i="1">
                                      <a:latin typeface="Cambria Math" panose="02040503050406030204" pitchFamily="18" charset="0"/>
                                    </a:rPr>
                                    <m:t>𝑛</m:t>
                                  </m:r>
                                </m:e>
                              </m:d>
                              <m:r>
                                <a:rPr lang="pt-BR" sz="2600" i="1">
                                  <a:latin typeface="Cambria Math" panose="02040503050406030204" pitchFamily="18" charset="0"/>
                                </a:rPr>
                                <m:t>−</m:t>
                              </m:r>
                              <m:acc>
                                <m:accPr>
                                  <m:chr m:val="̂"/>
                                  <m:ctrlPr>
                                    <a:rPr lang="pt-BR" sz="2600" i="1">
                                      <a:latin typeface="Cambria Math" panose="02040503050406030204" pitchFamily="18" charset="0"/>
                                    </a:rPr>
                                  </m:ctrlPr>
                                </m:accPr>
                                <m:e>
                                  <m:r>
                                    <a:rPr lang="pt-BR" sz="2600" i="1">
                                      <a:latin typeface="Cambria Math" panose="02040503050406030204" pitchFamily="18" charset="0"/>
                                    </a:rPr>
                                    <m:t>𝑦</m:t>
                                  </m:r>
                                </m:e>
                              </m:acc>
                              <m:d>
                                <m:dPr>
                                  <m:ctrlPr>
                                    <a:rPr lang="pt-BR" sz="2600" i="1">
                                      <a:latin typeface="Cambria Math" panose="02040503050406030204" pitchFamily="18" charset="0"/>
                                    </a:rPr>
                                  </m:ctrlPr>
                                </m:dPr>
                                <m:e>
                                  <m:r>
                                    <a:rPr lang="pt-BR" sz="2600" i="1">
                                      <a:latin typeface="Cambria Math" panose="02040503050406030204" pitchFamily="18" charset="0"/>
                                    </a:rPr>
                                    <m:t>𝑛</m:t>
                                  </m:r>
                                </m:e>
                              </m:d>
                            </m:e>
                          </m:d>
                          <m:r>
                            <a:rPr lang="pt-BR" sz="2600" b="1" i="1">
                              <a:latin typeface="Cambria Math" panose="02040503050406030204" pitchFamily="18" charset="0"/>
                            </a:rPr>
                            <m:t>𝒙</m:t>
                          </m:r>
                          <m:d>
                            <m:dPr>
                              <m:ctrlPr>
                                <a:rPr lang="pt-BR" sz="2600" i="1">
                                  <a:latin typeface="Cambria Math" panose="02040503050406030204" pitchFamily="18" charset="0"/>
                                </a:rPr>
                              </m:ctrlPr>
                            </m:dPr>
                            <m:e>
                              <m:r>
                                <a:rPr lang="pt-BR" sz="2600" i="1">
                                  <a:latin typeface="Cambria Math" panose="02040503050406030204" pitchFamily="18" charset="0"/>
                                </a:rPr>
                                <m:t>𝑛</m:t>
                              </m:r>
                            </m:e>
                          </m:d>
                        </m:e>
                      </m:nary>
                      <m:r>
                        <a:rPr lang="pt-BR" sz="2600" b="1" i="1" smtClean="0">
                          <a:latin typeface="Cambria Math" panose="02040503050406030204" pitchFamily="18" charset="0"/>
                        </a:rPr>
                        <m:t>=</m:t>
                      </m:r>
                      <m:sSup>
                        <m:sSupPr>
                          <m:ctrlPr>
                            <a:rPr lang="pt-BR" sz="2600" b="1" i="1">
                              <a:latin typeface="Cambria Math" panose="02040503050406030204" pitchFamily="18" charset="0"/>
                            </a:rPr>
                          </m:ctrlPr>
                        </m:sSupPr>
                        <m:e>
                          <m:r>
                            <a:rPr lang="pt-BR" sz="2600" b="1" i="1">
                              <a:latin typeface="Cambria Math" panose="02040503050406030204" pitchFamily="18" charset="0"/>
                            </a:rPr>
                            <m:t>𝒂</m:t>
                          </m:r>
                          <m:r>
                            <a:rPr lang="pt-BR" sz="2600" b="0" i="1" smtClean="0">
                              <a:latin typeface="Cambria Math" panose="02040503050406030204" pitchFamily="18" charset="0"/>
                            </a:rPr>
                            <m:t>+</m:t>
                          </m:r>
                          <m:f>
                            <m:fPr>
                              <m:ctrlPr>
                                <a:rPr lang="pt-BR" sz="2600" i="1">
                                  <a:latin typeface="Cambria Math" panose="02040503050406030204" pitchFamily="18" charset="0"/>
                                </a:rPr>
                              </m:ctrlPr>
                            </m:fPr>
                            <m:num>
                              <m:r>
                                <a:rPr lang="pt-BR" sz="2600" i="1">
                                  <a:latin typeface="Cambria Math" panose="02040503050406030204" pitchFamily="18" charset="0"/>
                                </a:rPr>
                                <m:t>2</m:t>
                              </m:r>
                              <m:r>
                                <a:rPr lang="pt-BR" sz="2600" i="1">
                                  <a:latin typeface="Cambria Math" panose="02040503050406030204" pitchFamily="18" charset="0"/>
                                  <a:ea typeface="Cambria Math" panose="02040503050406030204" pitchFamily="18" charset="0"/>
                                </a:rPr>
                                <m:t>𝛼</m:t>
                              </m:r>
                            </m:num>
                            <m:den>
                              <m:r>
                                <a:rPr lang="pt-BR" sz="2600" i="1">
                                  <a:latin typeface="Cambria Math" panose="02040503050406030204" pitchFamily="18" charset="0"/>
                                </a:rPr>
                                <m:t>𝑁</m:t>
                              </m:r>
                            </m:den>
                          </m:f>
                          <m:r>
                            <a:rPr lang="pt-BR" sz="2600" b="1" i="1">
                              <a:latin typeface="Cambria Math" panose="02040503050406030204" pitchFamily="18" charset="0"/>
                            </a:rPr>
                            <m:t>𝑿</m:t>
                          </m:r>
                        </m:e>
                        <m:sup>
                          <m:r>
                            <a:rPr lang="pt-BR" sz="2600" i="1">
                              <a:latin typeface="Cambria Math" panose="02040503050406030204" pitchFamily="18" charset="0"/>
                            </a:rPr>
                            <m:t>𝑇</m:t>
                          </m:r>
                        </m:sup>
                      </m:sSup>
                      <m:d>
                        <m:dPr>
                          <m:ctrlPr>
                            <a:rPr lang="pt-BR" sz="2600" b="1" i="1">
                              <a:latin typeface="Cambria Math" panose="02040503050406030204" pitchFamily="18" charset="0"/>
                            </a:rPr>
                          </m:ctrlPr>
                        </m:dPr>
                        <m:e>
                          <m:r>
                            <a:rPr lang="pt-BR" sz="2600" b="1" i="1">
                              <a:latin typeface="Cambria Math" panose="02040503050406030204" pitchFamily="18" charset="0"/>
                            </a:rPr>
                            <m:t>𝒚</m:t>
                          </m:r>
                          <m:r>
                            <a:rPr lang="pt-BR" sz="2600" i="1">
                              <a:latin typeface="Cambria Math" panose="02040503050406030204" pitchFamily="18" charset="0"/>
                            </a:rPr>
                            <m:t>−</m:t>
                          </m:r>
                          <m:acc>
                            <m:accPr>
                              <m:chr m:val="̂"/>
                              <m:ctrlPr>
                                <a:rPr lang="pt-BR" sz="2600" b="1" i="1">
                                  <a:latin typeface="Cambria Math" panose="02040503050406030204" pitchFamily="18" charset="0"/>
                                </a:rPr>
                              </m:ctrlPr>
                            </m:accPr>
                            <m:e>
                              <m:r>
                                <a:rPr lang="pt-BR" sz="2600" b="1" i="1">
                                  <a:latin typeface="Cambria Math" panose="02040503050406030204" pitchFamily="18" charset="0"/>
                                </a:rPr>
                                <m:t>𝒚</m:t>
                              </m:r>
                            </m:e>
                          </m:acc>
                        </m:e>
                      </m:d>
                      <m:r>
                        <a:rPr lang="pt-BR" sz="2600" b="0" i="0" smtClean="0">
                          <a:latin typeface="Cambria Math" panose="02040503050406030204" pitchFamily="18" charset="0"/>
                        </a:rPr>
                        <m:t>.</m:t>
                      </m:r>
                    </m:oMath>
                  </m:oMathPara>
                </a14:m>
                <a:endParaRPr lang="pt-BR" sz="2600" dirty="0"/>
              </a:p>
              <a:p>
                <a:r>
                  <a:rPr lang="pt-BR" dirty="0"/>
                  <a:t>Percebam que o vetor gradiente é a </a:t>
                </a:r>
                <a:r>
                  <a:rPr lang="pt-BR" b="1" i="1" dirty="0">
                    <a:solidFill>
                      <a:srgbClr val="00B050"/>
                    </a:solidFill>
                  </a:rPr>
                  <a:t>média da diferença </a:t>
                </a:r>
                <a:r>
                  <a:rPr lang="pt-BR" dirty="0"/>
                  <a:t>entre o rótulo e a saída da função hipótese vezes o vetor de atributos </a:t>
                </a:r>
                <a:r>
                  <a:rPr lang="pt-BR" b="1" i="1" dirty="0">
                    <a:solidFill>
                      <a:srgbClr val="00B050"/>
                    </a:solidFill>
                  </a:rPr>
                  <a:t>tomada ao </a:t>
                </a:r>
                <a:r>
                  <a:rPr lang="pt-BR" b="1" i="1" dirty="0">
                    <a:solidFill>
                      <a:schemeClr val="accent2"/>
                    </a:solidFill>
                  </a:rPr>
                  <a:t>longo de todos os </a:t>
                </a:r>
                <a14:m>
                  <m:oMath xmlns:m="http://schemas.openxmlformats.org/officeDocument/2006/math">
                    <m:r>
                      <a:rPr lang="pt-BR" b="1" i="1" smtClean="0">
                        <a:solidFill>
                          <a:schemeClr val="accent2"/>
                        </a:solidFill>
                        <a:latin typeface="Cambria Math" panose="02040503050406030204" pitchFamily="18" charset="0"/>
                      </a:rPr>
                      <m:t>𝑵</m:t>
                    </m:r>
                  </m:oMath>
                </a14:m>
                <a:r>
                  <a:rPr lang="pt-BR" b="1" i="1" dirty="0">
                    <a:solidFill>
                      <a:schemeClr val="accent2"/>
                    </a:solidFill>
                  </a:rPr>
                  <a:t> exemplos</a:t>
                </a:r>
                <a:r>
                  <a:rPr lang="pt-BR" b="1" i="1" dirty="0">
                    <a:solidFill>
                      <a:srgbClr val="00B050"/>
                    </a:solidFill>
                  </a:rPr>
                  <a:t> do conjunto de treinamento.</a:t>
                </a:r>
              </a:p>
              <a:p>
                <a:r>
                  <a:rPr lang="pt-BR" dirty="0"/>
                  <a:t>Assim, quanto </a:t>
                </a:r>
                <a:r>
                  <a:rPr lang="pt-BR" b="1" i="1" dirty="0">
                    <a:solidFill>
                      <a:srgbClr val="7030A0"/>
                    </a:solidFill>
                  </a:rPr>
                  <a:t>mais amostras</a:t>
                </a:r>
                <a:r>
                  <a:rPr lang="pt-BR" dirty="0"/>
                  <a:t>, </a:t>
                </a:r>
                <a:r>
                  <a:rPr lang="pt-BR" b="1" i="1" dirty="0">
                    <a:solidFill>
                      <a:srgbClr val="7030A0"/>
                    </a:solidFill>
                  </a:rPr>
                  <a:t>melhor</a:t>
                </a:r>
                <a:r>
                  <a:rPr lang="pt-BR" dirty="0"/>
                  <a:t> será a </a:t>
                </a:r>
                <a:r>
                  <a:rPr lang="pt-BR" b="1" i="1" dirty="0">
                    <a:solidFill>
                      <a:srgbClr val="7030A0"/>
                    </a:solidFill>
                  </a:rPr>
                  <a:t>estimativa do vetor gradiente</a:t>
                </a:r>
                <a:r>
                  <a:rPr lang="pt-BR" dirty="0"/>
                  <a:t>.</a:t>
                </a:r>
              </a:p>
              <a:p>
                <a:r>
                  <a:rPr lang="pt-BR" b="1" dirty="0"/>
                  <a:t>Observações</a:t>
                </a:r>
                <a:r>
                  <a:rPr lang="pt-BR" dirty="0"/>
                  <a:t>: </a:t>
                </a:r>
              </a:p>
              <a:p>
                <a:pPr lvl="1">
                  <a:buFont typeface="Wingdings" panose="05000000000000000000" pitchFamily="2" charset="2"/>
                  <a:buChar char="§"/>
                </a:pPr>
                <a:r>
                  <a:rPr lang="pt-BR" dirty="0"/>
                  <a:t>O sinal + é devido ao vetor gradiente encontrado ter sinal negativo.</a:t>
                </a:r>
              </a:p>
              <a:p>
                <a:pPr lvl="1">
                  <a:buFont typeface="Wingdings" panose="05000000000000000000" pitchFamily="2" charset="2"/>
                  <a:buChar char="§"/>
                </a:pPr>
                <a:r>
                  <a:rPr lang="pt-BR" dirty="0"/>
                  <a:t>Por ser constante, o termo </a:t>
                </a:r>
                <a14:m>
                  <m:oMath xmlns:m="http://schemas.openxmlformats.org/officeDocument/2006/math">
                    <m:f>
                      <m:fPr>
                        <m:type m:val="lin"/>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num>
                      <m:den>
                        <m:r>
                          <a:rPr lang="pt-BR" sz="1400" b="0" i="1" smtClean="0">
                            <a:latin typeface="Cambria Math" panose="02040503050406030204" pitchFamily="18" charset="0"/>
                          </a:rPr>
                          <m:t>𝑁</m:t>
                        </m:r>
                      </m:den>
                    </m:f>
                  </m:oMath>
                </a14:m>
                <a:r>
                  <a:rPr lang="pt-BR" dirty="0"/>
                  <a:t> pode ser absorvido por </a:t>
                </a:r>
                <a14:m>
                  <m:oMath xmlns:m="http://schemas.openxmlformats.org/officeDocument/2006/math">
                    <m:r>
                      <a:rPr lang="pt-BR" i="1" smtClean="0">
                        <a:latin typeface="Cambria Math" panose="02040503050406030204" pitchFamily="18" charset="0"/>
                        <a:ea typeface="Cambria Math" panose="02040503050406030204" pitchFamily="18" charset="0"/>
                      </a:rPr>
                      <m:t>𝛼</m:t>
                    </m:r>
                  </m:oMath>
                </a14:m>
                <a:r>
                  <a:rPr lang="pt-BR" dirty="0"/>
                  <a:t>.</a:t>
                </a:r>
              </a:p>
            </p:txBody>
          </p:sp>
        </mc:Choice>
        <mc:Fallback>
          <p:sp>
            <p:nvSpPr>
              <p:cNvPr id="3" name="Espaço Reservado para Conteúdo 2">
                <a:extLst>
                  <a:ext uri="{FF2B5EF4-FFF2-40B4-BE49-F238E27FC236}">
                    <a16:creationId xmlns:a16="http://schemas.microsoft.com/office/drawing/2014/main" id="{1CB9A1FC-3F15-B216-8074-C6DE6730400A}"/>
                  </a:ext>
                </a:extLst>
              </p:cNvPr>
              <p:cNvSpPr>
                <a:spLocks noGrp="1" noRot="1" noChangeAspect="1" noMove="1" noResize="1" noEditPoints="1" noAdjustHandles="1" noChangeArrowheads="1" noChangeShapeType="1" noTextEdit="1"/>
              </p:cNvSpPr>
              <p:nvPr>
                <p:ph idx="1"/>
              </p:nvPr>
            </p:nvSpPr>
            <p:spPr>
              <a:xfrm>
                <a:off x="838200" y="1690688"/>
                <a:ext cx="11353800" cy="5167311"/>
              </a:xfrm>
              <a:blipFill>
                <a:blip r:embed="rId3"/>
                <a:stretch>
                  <a:fillRect l="-967" t="-2594" b="-3892"/>
                </a:stretch>
              </a:blipFill>
            </p:spPr>
            <p:txBody>
              <a:bodyPr/>
              <a:lstStyle/>
              <a:p>
                <a:r>
                  <a:rPr lang="en-US">
                    <a:noFill/>
                  </a:rPr>
                  <a:t> </a:t>
                </a:r>
              </a:p>
            </p:txBody>
          </p:sp>
        </mc:Fallback>
      </mc:AlternateContent>
      <p:sp>
        <p:nvSpPr>
          <p:cNvPr id="5" name="Retângulo 4">
            <a:extLst>
              <a:ext uri="{FF2B5EF4-FFF2-40B4-BE49-F238E27FC236}">
                <a16:creationId xmlns:a16="http://schemas.microsoft.com/office/drawing/2014/main" id="{C19FEA55-6A13-F1A8-7D20-259D842CF6CA}"/>
              </a:ext>
            </a:extLst>
          </p:cNvPr>
          <p:cNvSpPr/>
          <p:nvPr/>
        </p:nvSpPr>
        <p:spPr>
          <a:xfrm>
            <a:off x="4564092" y="2758465"/>
            <a:ext cx="299740" cy="35992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C9CC0C85-AF04-2846-CDB2-7A24FB80D12D}"/>
              </a:ext>
            </a:extLst>
          </p:cNvPr>
          <p:cNvSpPr/>
          <p:nvPr/>
        </p:nvSpPr>
        <p:spPr>
          <a:xfrm>
            <a:off x="9269031" y="2749413"/>
            <a:ext cx="299740" cy="35992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ight Brace 5">
            <a:extLst>
              <a:ext uri="{FF2B5EF4-FFF2-40B4-BE49-F238E27FC236}">
                <a16:creationId xmlns:a16="http://schemas.microsoft.com/office/drawing/2014/main" id="{0641A3DC-E98E-1326-DFE3-3BD83CDA4753}"/>
              </a:ext>
            </a:extLst>
          </p:cNvPr>
          <p:cNvSpPr/>
          <p:nvPr/>
        </p:nvSpPr>
        <p:spPr>
          <a:xfrm rot="5400000">
            <a:off x="2900057" y="2379628"/>
            <a:ext cx="143483" cy="1896894"/>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00647544-33E1-BD72-E6EF-5407C259BD13}"/>
              </a:ext>
            </a:extLst>
          </p:cNvPr>
          <p:cNvSpPr txBox="1"/>
          <p:nvPr/>
        </p:nvSpPr>
        <p:spPr>
          <a:xfrm>
            <a:off x="2093881" y="3343796"/>
            <a:ext cx="1806905" cy="261610"/>
          </a:xfrm>
          <a:prstGeom prst="rect">
            <a:avLst/>
          </a:prstGeom>
          <a:noFill/>
        </p:spPr>
        <p:txBody>
          <a:bodyPr wrap="none" rtlCol="0">
            <a:spAutoFit/>
          </a:bodyPr>
          <a:lstStyle/>
          <a:p>
            <a:r>
              <a:rPr lang="pt-BR" sz="1100" dirty="0"/>
              <a:t>Eq. de atualização dos pesos</a:t>
            </a:r>
            <a:endParaRPr lang="en-US" sz="1100" dirty="0"/>
          </a:p>
        </p:txBody>
      </p:sp>
    </p:spTree>
    <p:extLst>
      <p:ext uri="{BB962C8B-B14F-4D97-AF65-F5344CB8AC3E}">
        <p14:creationId xmlns:p14="http://schemas.microsoft.com/office/powerpoint/2010/main" val="985320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21E05-ABDD-6B49-2AC1-594A009F1D15}"/>
              </a:ext>
            </a:extLst>
          </p:cNvPr>
          <p:cNvSpPr>
            <a:spLocks noGrp="1"/>
          </p:cNvSpPr>
          <p:nvPr>
            <p:ph type="title"/>
          </p:nvPr>
        </p:nvSpPr>
        <p:spPr/>
        <p:txBody>
          <a:bodyPr/>
          <a:lstStyle/>
          <a:p>
            <a:r>
              <a:rPr lang="pt-BR" dirty="0"/>
              <a:t>Atualizando os pesos</a:t>
            </a:r>
          </a:p>
        </p:txBody>
      </p:sp>
      <p:sp>
        <p:nvSpPr>
          <p:cNvPr id="3" name="Espaço Reservado para Conteúdo 2">
            <a:extLst>
              <a:ext uri="{FF2B5EF4-FFF2-40B4-BE49-F238E27FC236}">
                <a16:creationId xmlns:a16="http://schemas.microsoft.com/office/drawing/2014/main" id="{1CB9A1FC-3F15-B216-8074-C6DE6730400A}"/>
              </a:ext>
            </a:extLst>
          </p:cNvPr>
          <p:cNvSpPr>
            <a:spLocks noGrp="1"/>
          </p:cNvSpPr>
          <p:nvPr>
            <p:ph idx="1"/>
          </p:nvPr>
        </p:nvSpPr>
        <p:spPr>
          <a:xfrm>
            <a:off x="838200" y="3861881"/>
            <a:ext cx="11226282" cy="2996118"/>
          </a:xfrm>
        </p:spPr>
        <p:txBody>
          <a:bodyPr>
            <a:normAutofit/>
          </a:bodyPr>
          <a:lstStyle/>
          <a:p>
            <a:r>
              <a:rPr lang="pt-BR" dirty="0"/>
              <a:t>Lembrem-se que </a:t>
            </a:r>
            <a:r>
              <a:rPr lang="pt-BR" b="1" i="1" dirty="0">
                <a:solidFill>
                  <a:schemeClr val="accent2"/>
                </a:solidFill>
              </a:rPr>
              <a:t>a cada iteração</a:t>
            </a:r>
            <a:r>
              <a:rPr lang="pt-BR" b="1" dirty="0">
                <a:solidFill>
                  <a:schemeClr val="accent2"/>
                </a:solidFill>
              </a:rPr>
              <a:t> </a:t>
            </a:r>
            <a:r>
              <a:rPr lang="pt-BR" dirty="0"/>
              <a:t>(i.e., </a:t>
            </a:r>
            <a:r>
              <a:rPr lang="pt-BR" b="1" i="1" dirty="0"/>
              <a:t>loop</a:t>
            </a:r>
            <a:r>
              <a:rPr lang="pt-BR" dirty="0"/>
              <a:t>) do algoritmo do gradiente descendente, precisamos </a:t>
            </a:r>
            <a:r>
              <a:rPr lang="pt-BR" b="1" i="1" dirty="0">
                <a:solidFill>
                  <a:srgbClr val="00B050"/>
                </a:solidFill>
              </a:rPr>
              <a:t>calcular o vetor gradiente</a:t>
            </a:r>
            <a:r>
              <a:rPr lang="pt-BR" dirty="0"/>
              <a:t>.</a:t>
            </a:r>
          </a:p>
          <a:p>
            <a:r>
              <a:rPr lang="pt-BR" dirty="0"/>
              <a:t>Isso envolve </a:t>
            </a:r>
            <a:r>
              <a:rPr lang="pt-BR" b="1" i="1" dirty="0">
                <a:solidFill>
                  <a:srgbClr val="00B050"/>
                </a:solidFill>
              </a:rPr>
              <a:t>calcular o somatório acima a cada iteração.</a:t>
            </a:r>
            <a:endParaRPr lang="pt-BR" dirty="0"/>
          </a:p>
          <a:p>
            <a:r>
              <a:rPr lang="pt-BR" dirty="0"/>
              <a:t>Assim, </a:t>
            </a:r>
            <a:r>
              <a:rPr lang="pt-BR" b="1" i="1" dirty="0">
                <a:solidFill>
                  <a:srgbClr val="7030A0"/>
                </a:solidFill>
              </a:rPr>
              <a:t>se o conjunto de treinamento e o modelo forem muito grandes</a:t>
            </a:r>
            <a:r>
              <a:rPr lang="pt-BR" dirty="0"/>
              <a:t>, o </a:t>
            </a:r>
            <a:r>
              <a:rPr lang="pt-BR" b="1" i="1" dirty="0">
                <a:solidFill>
                  <a:srgbClr val="FF0000"/>
                </a:solidFill>
              </a:rPr>
              <a:t>treinamento pode ser muito longo e consumir muita CPU e memória</a:t>
            </a:r>
            <a:r>
              <a:rPr lang="pt-BR" dirty="0"/>
              <a:t>.</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7B55FC7F-CCAF-A80B-4B1F-3688C9727694}"/>
                  </a:ext>
                </a:extLst>
              </p:cNvPr>
              <p:cNvSpPr/>
              <p:nvPr/>
            </p:nvSpPr>
            <p:spPr>
              <a:xfrm>
                <a:off x="1170561" y="2099625"/>
                <a:ext cx="9850878" cy="1722651"/>
              </a:xfrm>
              <a:prstGeom prst="rect">
                <a:avLst/>
              </a:prstGeom>
              <a:ln>
                <a:solidFill>
                  <a:schemeClr val="tx1"/>
                </a:solidFill>
              </a:ln>
            </p:spPr>
            <p:txBody>
              <a:bodyPr wrap="square">
                <a:spAutoFit/>
              </a:bodyPr>
              <a:lstStyle/>
              <a:p>
                <a14:m>
                  <m:oMath xmlns:m="http://schemas.openxmlformats.org/officeDocument/2006/math">
                    <m:r>
                      <a:rPr lang="pt-BR" sz="2400" b="1" i="1" smtClean="0">
                        <a:latin typeface="Cambria Math" panose="02040503050406030204" pitchFamily="18" charset="0"/>
                      </a:rPr>
                      <m:t>𝒂</m:t>
                    </m:r>
                    <m:r>
                      <a:rPr lang="pt-BR" sz="2400" b="1" i="1" smtClean="0">
                        <a:latin typeface="Cambria Math" panose="02040503050406030204" pitchFamily="18" charset="0"/>
                      </a:rPr>
                      <m:t> </m:t>
                    </m:r>
                  </m:oMath>
                </a14:m>
                <a:r>
                  <a:rPr lang="en-US" sz="2400" b="1" dirty="0"/>
                  <a:t> </a:t>
                </a:r>
                <a14:m>
                  <m:oMath xmlns:m="http://schemas.openxmlformats.org/officeDocument/2006/math">
                    <m:r>
                      <a:rPr lang="en-US" sz="2400" b="1" i="1" dirty="0">
                        <a:latin typeface="Cambria Math" panose="02040503050406030204" pitchFamily="18" charset="0"/>
                        <a:ea typeface="Cambria Math" panose="02040503050406030204" pitchFamily="18" charset="0"/>
                      </a:rPr>
                      <m:t>←</m:t>
                    </m:r>
                    <m:r>
                      <m:rPr>
                        <m:sty m:val="p"/>
                      </m:rPr>
                      <a:rPr lang="en-US" sz="2400" dirty="0">
                        <a:latin typeface="Cambria Math" panose="02040503050406030204" pitchFamily="18" charset="0"/>
                        <a:ea typeface="Cambria Math" panose="02040503050406030204" pitchFamily="18" charset="0"/>
                      </a:rPr>
                      <m:t>inicializa</m:t>
                    </m:r>
                    <m:r>
                      <a:rPr lang="en-US" sz="2400" dirty="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o</m:t>
                    </m:r>
                    <m:r>
                      <a:rPr lang="pt-BR" sz="2400" b="0" i="0" dirty="0" smtClean="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vetor</m:t>
                    </m:r>
                    <m:r>
                      <a:rPr lang="pt-BR" sz="2400" b="0" i="0" dirty="0" smtClean="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de</m:t>
                    </m:r>
                    <m:r>
                      <a:rPr lang="pt-BR" sz="2400" b="0" i="0" dirty="0" smtClean="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pesos</m:t>
                    </m:r>
                    <m:r>
                      <a:rPr lang="pt-BR" sz="2400" b="0" i="0" dirty="0" smtClean="0">
                        <a:latin typeface="Cambria Math" panose="02040503050406030204" pitchFamily="18" charset="0"/>
                        <a:ea typeface="Cambria Math" panose="02040503050406030204" pitchFamily="18" charset="0"/>
                      </a:rPr>
                      <m:t> </m:t>
                    </m:r>
                    <m:r>
                      <m:rPr>
                        <m:sty m:val="p"/>
                      </m:rPr>
                      <a:rPr lang="en-US" sz="2400" dirty="0">
                        <a:latin typeface="Cambria Math" panose="02040503050406030204" pitchFamily="18" charset="0"/>
                        <a:ea typeface="Cambria Math" panose="02040503050406030204" pitchFamily="18" charset="0"/>
                      </a:rPr>
                      <m:t>em</m:t>
                    </m:r>
                    <m:r>
                      <a:rPr lang="en-US"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um</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ponto</m:t>
                    </m:r>
                    <m:r>
                      <a:rPr lang="pt-BR" sz="2400" dirty="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aleat</m:t>
                    </m:r>
                    <m:r>
                      <a:rPr lang="pt-BR" sz="2400" b="0" i="0" dirty="0" smtClean="0">
                        <a:latin typeface="Cambria Math" panose="02040503050406030204" pitchFamily="18" charset="0"/>
                        <a:ea typeface="Cambria Math" panose="02040503050406030204" pitchFamily="18" charset="0"/>
                      </a:rPr>
                      <m:t>ó</m:t>
                    </m:r>
                    <m:r>
                      <m:rPr>
                        <m:sty m:val="p"/>
                      </m:rPr>
                      <a:rPr lang="pt-BR" sz="2400" b="0" i="0" dirty="0" smtClean="0">
                        <a:latin typeface="Cambria Math" panose="02040503050406030204" pitchFamily="18" charset="0"/>
                        <a:ea typeface="Cambria Math" panose="02040503050406030204" pitchFamily="18" charset="0"/>
                      </a:rPr>
                      <m:t>rio</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do</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espa</m:t>
                    </m:r>
                    <m:r>
                      <a:rPr lang="pt-BR" sz="2400" dirty="0">
                        <a:latin typeface="Cambria Math" panose="02040503050406030204" pitchFamily="18" charset="0"/>
                        <a:ea typeface="Cambria Math" panose="02040503050406030204" pitchFamily="18" charset="0"/>
                      </a:rPr>
                      <m:t>ç</m:t>
                    </m:r>
                    <m:r>
                      <m:rPr>
                        <m:sty m:val="p"/>
                      </m:rPr>
                      <a:rPr lang="pt-BR" sz="2400" dirty="0">
                        <a:latin typeface="Cambria Math" panose="02040503050406030204" pitchFamily="18" charset="0"/>
                        <a:ea typeface="Cambria Math" panose="02040503050406030204" pitchFamily="18" charset="0"/>
                      </a:rPr>
                      <m:t>o</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de</m:t>
                    </m:r>
                    <m:r>
                      <a:rPr lang="pt-BR" sz="2400" dirty="0">
                        <a:latin typeface="Cambria Math" panose="02040503050406030204" pitchFamily="18" charset="0"/>
                        <a:ea typeface="Cambria Math" panose="02040503050406030204" pitchFamily="18" charset="0"/>
                      </a:rPr>
                      <m:t> </m:t>
                    </m:r>
                    <m:r>
                      <m:rPr>
                        <m:sty m:val="p"/>
                      </m:rPr>
                      <a:rPr lang="pt-BR" sz="2400" b="0" i="0" dirty="0" smtClean="0">
                        <a:latin typeface="Cambria Math" panose="02040503050406030204" pitchFamily="18" charset="0"/>
                        <a:ea typeface="Cambria Math" panose="02040503050406030204" pitchFamily="18" charset="0"/>
                      </a:rPr>
                      <m:t>pesos</m:t>
                    </m:r>
                  </m:oMath>
                </a14:m>
                <a:endParaRPr lang="pt-BR" sz="2400" b="0" dirty="0">
                  <a:ea typeface="Cambria Math" panose="02040503050406030204" pitchFamily="18" charset="0"/>
                </a:endParaRPr>
              </a:p>
              <a:p>
                <a14:m>
                  <m:oMath xmlns:m="http://schemas.openxmlformats.org/officeDocument/2006/math">
                    <m:r>
                      <a:rPr lang="pt-BR" sz="2400" i="1">
                        <a:latin typeface="Cambria Math" panose="02040503050406030204" pitchFamily="18" charset="0"/>
                        <a:ea typeface="Cambria Math" panose="02040503050406030204" pitchFamily="18" charset="0"/>
                      </a:rPr>
                      <m:t>𝛼</m:t>
                    </m:r>
                  </m:oMath>
                </a14:m>
                <a:r>
                  <a:rPr lang="en-US" sz="2400" b="1" dirty="0">
                    <a:ea typeface="Cambria Math" panose="02040503050406030204" pitchFamily="18" charset="0"/>
                  </a:rPr>
                  <a:t> </a:t>
                </a:r>
                <a14:m>
                  <m:oMath xmlns:m="http://schemas.openxmlformats.org/officeDocument/2006/math">
                    <m:r>
                      <a:rPr lang="en-US" sz="2400" b="1" i="1" dirty="0">
                        <a:latin typeface="Cambria Math" panose="02040503050406030204" pitchFamily="18" charset="0"/>
                        <a:ea typeface="Cambria Math" panose="02040503050406030204" pitchFamily="18" charset="0"/>
                      </a:rPr>
                      <m:t>←</m:t>
                    </m:r>
                    <m:r>
                      <m:rPr>
                        <m:sty m:val="p"/>
                      </m:rPr>
                      <a:rPr lang="en-US" sz="2400" dirty="0">
                        <a:latin typeface="Cambria Math" panose="02040503050406030204" pitchFamily="18" charset="0"/>
                        <a:ea typeface="Cambria Math" panose="02040503050406030204" pitchFamily="18" charset="0"/>
                      </a:rPr>
                      <m:t>inicializa</m:t>
                    </m:r>
                    <m:r>
                      <a:rPr lang="en-US"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a</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taxa</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de</m:t>
                    </m:r>
                    <m:r>
                      <a:rPr lang="pt-BR" sz="2400" dirty="0">
                        <a:latin typeface="Cambria Math" panose="02040503050406030204" pitchFamily="18" charset="0"/>
                        <a:ea typeface="Cambria Math" panose="02040503050406030204" pitchFamily="18" charset="0"/>
                      </a:rPr>
                      <m:t> </m:t>
                    </m:r>
                    <m:r>
                      <m:rPr>
                        <m:sty m:val="p"/>
                      </m:rPr>
                      <a:rPr lang="pt-BR" sz="2400" dirty="0">
                        <a:latin typeface="Cambria Math" panose="02040503050406030204" pitchFamily="18" charset="0"/>
                        <a:ea typeface="Cambria Math" panose="02040503050406030204" pitchFamily="18" charset="0"/>
                      </a:rPr>
                      <m:t>aprendizagem</m:t>
                    </m:r>
                  </m:oMath>
                </a14:m>
                <a:endParaRPr lang="pt-BR" sz="2400" b="0" dirty="0">
                  <a:ea typeface="Cambria Math" panose="02040503050406030204" pitchFamily="18" charset="0"/>
                </a:endParaRPr>
              </a:p>
              <a:p>
                <a:r>
                  <a:rPr lang="pt-BR" sz="2400" b="1" dirty="0">
                    <a:latin typeface="Cambria Math" panose="02040503050406030204" pitchFamily="18" charset="0"/>
                    <a:ea typeface="Cambria Math" panose="02040503050406030204" pitchFamily="18" charset="0"/>
                  </a:rPr>
                  <a:t>loop até </a:t>
                </a:r>
                <a:r>
                  <a:rPr lang="pt-BR" sz="2400" dirty="0">
                    <a:latin typeface="Cambria Math" panose="02040503050406030204" pitchFamily="18" charset="0"/>
                    <a:ea typeface="Cambria Math" panose="02040503050406030204" pitchFamily="18" charset="0"/>
                  </a:rPr>
                  <a:t>convergir </a:t>
                </a:r>
                <a:r>
                  <a:rPr lang="pt-BR" sz="2400" b="1" dirty="0">
                    <a:latin typeface="Cambria Math" panose="02040503050406030204" pitchFamily="18" charset="0"/>
                    <a:ea typeface="Cambria Math" panose="02040503050406030204" pitchFamily="18" charset="0"/>
                  </a:rPr>
                  <a:t>ou </a:t>
                </a:r>
                <a:r>
                  <a:rPr lang="pt-BR" sz="2400" dirty="0">
                    <a:latin typeface="Cambria Math" panose="02040503050406030204" pitchFamily="18" charset="0"/>
                    <a:ea typeface="Cambria Math" panose="02040503050406030204" pitchFamily="18" charset="0"/>
                  </a:rPr>
                  <a:t>atingir o número máximo de iterações </a:t>
                </a:r>
                <a:r>
                  <a:rPr lang="pt-BR" sz="2400" b="1" dirty="0">
                    <a:latin typeface="Cambria Math" panose="02040503050406030204" pitchFamily="18" charset="0"/>
                    <a:ea typeface="Cambria Math" panose="02040503050406030204" pitchFamily="18" charset="0"/>
                  </a:rPr>
                  <a:t>do</a:t>
                </a:r>
                <a:endParaRPr lang="pt-BR" sz="2400" dirty="0">
                  <a:latin typeface="Cambria Math" panose="02040503050406030204" pitchFamily="18" charset="0"/>
                  <a:ea typeface="Cambria Math" panose="02040503050406030204" pitchFamily="18" charset="0"/>
                </a:endParaRPr>
              </a:p>
              <a:p>
                <a:r>
                  <a:rPr lang="en-US" sz="2400" dirty="0"/>
                  <a:t>	</a:t>
                </a:r>
                <a14:m>
                  <m:oMath xmlns:m="http://schemas.openxmlformats.org/officeDocument/2006/math">
                    <m:r>
                      <a:rPr lang="pt-BR" sz="2400" b="1" i="1">
                        <a:latin typeface="Cambria Math" panose="02040503050406030204" pitchFamily="18" charset="0"/>
                      </a:rPr>
                      <m:t>𝒂</m:t>
                    </m:r>
                    <m:r>
                      <a:rPr lang="en-US" sz="2400" b="1" i="1">
                        <a:latin typeface="Cambria Math" panose="02040503050406030204" pitchFamily="18" charset="0"/>
                        <a:ea typeface="Cambria Math" panose="02040503050406030204" pitchFamily="18" charset="0"/>
                      </a:rPr>
                      <m:t>←</m:t>
                    </m:r>
                    <m:r>
                      <a:rPr lang="pt-BR" sz="2400" b="1" i="1">
                        <a:latin typeface="Cambria Math" panose="02040503050406030204" pitchFamily="18" charset="0"/>
                      </a:rPr>
                      <m:t>𝒂</m:t>
                    </m:r>
                    <m:r>
                      <a:rPr lang="pt-BR" sz="2400" b="0" i="1" smtClean="0">
                        <a:latin typeface="Cambria Math" panose="02040503050406030204" pitchFamily="18" charset="0"/>
                      </a:rPr>
                      <m:t>+</m:t>
                    </m:r>
                    <m:r>
                      <a:rPr lang="pt-BR" sz="2400" i="1">
                        <a:latin typeface="Cambria Math" panose="02040503050406030204" pitchFamily="18" charset="0"/>
                        <a:ea typeface="Cambria Math" panose="02040503050406030204" pitchFamily="18" charset="0"/>
                      </a:rPr>
                      <m:t>𝛼</m:t>
                    </m:r>
                    <m:f>
                      <m:fPr>
                        <m:ctrlPr>
                          <a:rPr lang="pt-BR" sz="2400" i="1">
                            <a:latin typeface="Cambria Math" panose="02040503050406030204" pitchFamily="18" charset="0"/>
                          </a:rPr>
                        </m:ctrlPr>
                      </m:fPr>
                      <m:num>
                        <m:r>
                          <a:rPr lang="pt-BR" sz="2400" i="1">
                            <a:latin typeface="Cambria Math" panose="02040503050406030204" pitchFamily="18" charset="0"/>
                          </a:rPr>
                          <m:t>2</m:t>
                        </m:r>
                      </m:num>
                      <m:den>
                        <m:r>
                          <a:rPr lang="pt-BR" sz="2400" i="1">
                            <a:latin typeface="Cambria Math" panose="02040503050406030204" pitchFamily="18" charset="0"/>
                          </a:rPr>
                          <m:t>𝑁</m:t>
                        </m:r>
                      </m:den>
                    </m:f>
                    <m:nary>
                      <m:naryPr>
                        <m:chr m:val="∑"/>
                        <m:ctrlPr>
                          <a:rPr lang="pt-BR" sz="2400" i="1">
                            <a:latin typeface="Cambria Math" panose="02040503050406030204" pitchFamily="18" charset="0"/>
                          </a:rPr>
                        </m:ctrlPr>
                      </m:naryPr>
                      <m:sub>
                        <m:r>
                          <a:rPr lang="pt-BR" sz="2400" i="1">
                            <a:latin typeface="Cambria Math" panose="02040503050406030204" pitchFamily="18" charset="0"/>
                          </a:rPr>
                          <m:t>𝑛</m:t>
                        </m:r>
                        <m:r>
                          <a:rPr lang="pt-BR" sz="2400" i="1">
                            <a:latin typeface="Cambria Math" panose="02040503050406030204" pitchFamily="18" charset="0"/>
                          </a:rPr>
                          <m:t>=0</m:t>
                        </m:r>
                      </m:sub>
                      <m:sup>
                        <m:r>
                          <a:rPr lang="pt-BR" sz="2400" i="1">
                            <a:latin typeface="Cambria Math" panose="02040503050406030204" pitchFamily="18" charset="0"/>
                          </a:rPr>
                          <m:t>𝑁</m:t>
                        </m:r>
                        <m:r>
                          <a:rPr lang="pt-BR" sz="2400" i="1">
                            <a:latin typeface="Cambria Math" panose="02040503050406030204" pitchFamily="18" charset="0"/>
                          </a:rPr>
                          <m:t>−1</m:t>
                        </m:r>
                      </m:sup>
                      <m:e>
                        <m:d>
                          <m:dPr>
                            <m:begChr m:val="["/>
                            <m:endChr m:val="]"/>
                            <m:ctrlPr>
                              <a:rPr lang="pt-BR" sz="2400" i="1">
                                <a:latin typeface="Cambria Math" panose="02040503050406030204" pitchFamily="18" charset="0"/>
                              </a:rPr>
                            </m:ctrlPr>
                          </m:dPr>
                          <m:e>
                            <m:r>
                              <a:rPr lang="pt-BR" sz="2400" i="1">
                                <a:latin typeface="Cambria Math" panose="02040503050406030204" pitchFamily="18" charset="0"/>
                              </a:rPr>
                              <m:t>𝑦</m:t>
                            </m:r>
                            <m:d>
                              <m:dPr>
                                <m:ctrlPr>
                                  <a:rPr lang="pt-BR" sz="2400" i="1">
                                    <a:latin typeface="Cambria Math" panose="02040503050406030204" pitchFamily="18" charset="0"/>
                                  </a:rPr>
                                </m:ctrlPr>
                              </m:dPr>
                              <m:e>
                                <m:r>
                                  <a:rPr lang="pt-BR" sz="2400" i="1">
                                    <a:latin typeface="Cambria Math" panose="02040503050406030204" pitchFamily="18" charset="0"/>
                                  </a:rPr>
                                  <m:t>𝑛</m:t>
                                </m:r>
                              </m:e>
                            </m:d>
                            <m:r>
                              <a:rPr lang="pt-BR" sz="2400" i="1">
                                <a:latin typeface="Cambria Math" panose="02040503050406030204" pitchFamily="18" charset="0"/>
                              </a:rPr>
                              <m:t>−</m:t>
                            </m:r>
                            <m:acc>
                              <m:accPr>
                                <m:chr m:val="̂"/>
                                <m:ctrlPr>
                                  <a:rPr lang="pt-BR" sz="2400" i="1">
                                    <a:latin typeface="Cambria Math" panose="02040503050406030204" pitchFamily="18" charset="0"/>
                                  </a:rPr>
                                </m:ctrlPr>
                              </m:accPr>
                              <m:e>
                                <m:r>
                                  <a:rPr lang="pt-BR" sz="2400" i="1">
                                    <a:latin typeface="Cambria Math" panose="02040503050406030204" pitchFamily="18" charset="0"/>
                                  </a:rPr>
                                  <m:t>𝑦</m:t>
                                </m:r>
                              </m:e>
                            </m:acc>
                            <m:d>
                              <m:dPr>
                                <m:ctrlPr>
                                  <a:rPr lang="pt-BR" sz="2400" i="1">
                                    <a:latin typeface="Cambria Math" panose="02040503050406030204" pitchFamily="18" charset="0"/>
                                  </a:rPr>
                                </m:ctrlPr>
                              </m:dPr>
                              <m:e>
                                <m:r>
                                  <a:rPr lang="pt-BR" sz="2400" i="1">
                                    <a:latin typeface="Cambria Math" panose="02040503050406030204" pitchFamily="18" charset="0"/>
                                  </a:rPr>
                                  <m:t>𝑛</m:t>
                                </m:r>
                              </m:e>
                            </m:d>
                          </m:e>
                        </m:d>
                        <m:r>
                          <a:rPr lang="pt-BR" sz="2400" b="1" i="1">
                            <a:latin typeface="Cambria Math" panose="02040503050406030204" pitchFamily="18" charset="0"/>
                          </a:rPr>
                          <m:t>𝒙</m:t>
                        </m:r>
                        <m:d>
                          <m:dPr>
                            <m:ctrlPr>
                              <a:rPr lang="pt-BR" sz="2400" i="1">
                                <a:latin typeface="Cambria Math" panose="02040503050406030204" pitchFamily="18" charset="0"/>
                              </a:rPr>
                            </m:ctrlPr>
                          </m:dPr>
                          <m:e>
                            <m:r>
                              <a:rPr lang="pt-BR" sz="2400" i="1">
                                <a:latin typeface="Cambria Math" panose="02040503050406030204" pitchFamily="18" charset="0"/>
                              </a:rPr>
                              <m:t>𝑛</m:t>
                            </m:r>
                          </m:e>
                        </m:d>
                      </m:e>
                    </m:nary>
                  </m:oMath>
                </a14:m>
                <a:endParaRPr lang="nl-BE" sz="2400" dirty="0">
                  <a:latin typeface="Cambria Math" panose="02040503050406030204" pitchFamily="18" charset="0"/>
                  <a:ea typeface="Cambria Math" panose="02040503050406030204" pitchFamily="18" charset="0"/>
                </a:endParaRPr>
              </a:p>
            </p:txBody>
          </p:sp>
        </mc:Choice>
        <mc:Fallback>
          <p:sp>
            <p:nvSpPr>
              <p:cNvPr id="4" name="Rectangle 3">
                <a:extLst>
                  <a:ext uri="{FF2B5EF4-FFF2-40B4-BE49-F238E27FC236}">
                    <a16:creationId xmlns:a16="http://schemas.microsoft.com/office/drawing/2014/main" id="{7B55FC7F-CCAF-A80B-4B1F-3688C9727694}"/>
                  </a:ext>
                </a:extLst>
              </p:cNvPr>
              <p:cNvSpPr>
                <a:spLocks noRot="1" noChangeAspect="1" noMove="1" noResize="1" noEditPoints="1" noAdjustHandles="1" noChangeArrowheads="1" noChangeShapeType="1" noTextEdit="1"/>
              </p:cNvSpPr>
              <p:nvPr/>
            </p:nvSpPr>
            <p:spPr>
              <a:xfrm>
                <a:off x="1170561" y="2099625"/>
                <a:ext cx="9850878" cy="1722651"/>
              </a:xfrm>
              <a:prstGeom prst="rect">
                <a:avLst/>
              </a:prstGeom>
              <a:blipFill>
                <a:blip r:embed="rId3"/>
                <a:stretch>
                  <a:fillRect l="-865"/>
                </a:stretch>
              </a:blipFill>
              <a:ln>
                <a:solidFill>
                  <a:schemeClr val="tx1"/>
                </a:solidFill>
              </a:ln>
            </p:spPr>
            <p:txBody>
              <a:bodyPr/>
              <a:lstStyle/>
              <a:p>
                <a:r>
                  <a:rPr lang="en-US">
                    <a:noFill/>
                  </a:rPr>
                  <a:t> </a:t>
                </a:r>
              </a:p>
            </p:txBody>
          </p:sp>
        </mc:Fallback>
      </mc:AlternateContent>
      <p:sp>
        <p:nvSpPr>
          <p:cNvPr id="5" name="Retângulo 4">
            <a:extLst>
              <a:ext uri="{FF2B5EF4-FFF2-40B4-BE49-F238E27FC236}">
                <a16:creationId xmlns:a16="http://schemas.microsoft.com/office/drawing/2014/main" id="{9E87A86B-E7EA-E3F4-AFEB-F7174C298A4B}"/>
              </a:ext>
            </a:extLst>
          </p:cNvPr>
          <p:cNvSpPr/>
          <p:nvPr/>
        </p:nvSpPr>
        <p:spPr>
          <a:xfrm>
            <a:off x="3774332" y="3264853"/>
            <a:ext cx="3180945" cy="4667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100794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B1E14-1BA1-4132-00A6-EC0429769BF9}"/>
              </a:ext>
            </a:extLst>
          </p:cNvPr>
          <p:cNvSpPr>
            <a:spLocks noGrp="1"/>
          </p:cNvSpPr>
          <p:nvPr>
            <p:ph type="title"/>
          </p:nvPr>
        </p:nvSpPr>
        <p:spPr/>
        <p:txBody>
          <a:bodyPr/>
          <a:lstStyle/>
          <a:p>
            <a:r>
              <a:rPr lang="pt-BR" dirty="0"/>
              <a:t>Versões do gradiente descendente</a:t>
            </a:r>
          </a:p>
        </p:txBody>
      </p:sp>
      <p:sp>
        <p:nvSpPr>
          <p:cNvPr id="3" name="Espaço Reservado para Conteúdo 2">
            <a:extLst>
              <a:ext uri="{FF2B5EF4-FFF2-40B4-BE49-F238E27FC236}">
                <a16:creationId xmlns:a16="http://schemas.microsoft.com/office/drawing/2014/main" id="{59542C4E-A9F9-D022-F021-906D31DBC3CA}"/>
              </a:ext>
            </a:extLst>
          </p:cNvPr>
          <p:cNvSpPr>
            <a:spLocks noGrp="1"/>
          </p:cNvSpPr>
          <p:nvPr>
            <p:ph idx="1"/>
          </p:nvPr>
        </p:nvSpPr>
        <p:spPr>
          <a:xfrm>
            <a:off x="838200" y="1825624"/>
            <a:ext cx="10978662" cy="5032375"/>
          </a:xfrm>
        </p:spPr>
        <p:txBody>
          <a:bodyPr/>
          <a:lstStyle/>
          <a:p>
            <a:r>
              <a:rPr lang="pt-BR" dirty="0"/>
              <a:t>Portanto, para lidar com essa situação, nós podemos ter </a:t>
            </a:r>
            <a:r>
              <a:rPr lang="pt-BR" b="1" i="1" dirty="0">
                <a:solidFill>
                  <a:srgbClr val="00B050"/>
                </a:solidFill>
              </a:rPr>
              <a:t>3 versões diferentes, dependendo da </a:t>
            </a:r>
            <a:r>
              <a:rPr lang="pt-BR" b="1" i="1" dirty="0">
                <a:solidFill>
                  <a:schemeClr val="accent2"/>
                </a:solidFill>
              </a:rPr>
              <a:t>quantidade de exemplos </a:t>
            </a:r>
            <a:r>
              <a:rPr lang="pt-BR" dirty="0"/>
              <a:t>considerados no </a:t>
            </a:r>
            <a:r>
              <a:rPr lang="pt-BR" b="1" i="1" dirty="0">
                <a:solidFill>
                  <a:schemeClr val="accent2"/>
                </a:solidFill>
              </a:rPr>
              <a:t>cálculo do vetor gradiente</a:t>
            </a:r>
            <a:r>
              <a:rPr lang="pt-BR" dirty="0"/>
              <a:t>:</a:t>
            </a:r>
          </a:p>
          <a:p>
            <a:pPr lvl="1">
              <a:buFont typeface="Wingdings" panose="05000000000000000000" pitchFamily="2" charset="2"/>
              <a:buChar char="§"/>
            </a:pPr>
            <a:r>
              <a:rPr lang="pt-BR" b="1" i="1" dirty="0"/>
              <a:t>Gradiente descendente em batelada</a:t>
            </a:r>
            <a:r>
              <a:rPr lang="pt-BR" b="1" dirty="0"/>
              <a:t> (GDB)</a:t>
            </a:r>
            <a:endParaRPr lang="pt-BR" dirty="0"/>
          </a:p>
          <a:p>
            <a:pPr lvl="1">
              <a:buFont typeface="Wingdings" panose="05000000000000000000" pitchFamily="2" charset="2"/>
              <a:buChar char="§"/>
            </a:pPr>
            <a:r>
              <a:rPr lang="pt-BR" b="1" i="1" dirty="0"/>
              <a:t>Gradiente descendente estocástico </a:t>
            </a:r>
            <a:r>
              <a:rPr lang="pt-BR" b="1" dirty="0"/>
              <a:t>(GDE)</a:t>
            </a:r>
          </a:p>
          <a:p>
            <a:pPr lvl="1">
              <a:buFont typeface="Wingdings" panose="05000000000000000000" pitchFamily="2" charset="2"/>
              <a:buChar char="§"/>
            </a:pPr>
            <a:r>
              <a:rPr lang="nl-BE" b="1" i="1" dirty="0"/>
              <a:t>Gradiente descendente em mini-lotes</a:t>
            </a:r>
            <a:r>
              <a:rPr lang="pt-BR" b="1" i="1" dirty="0"/>
              <a:t> </a:t>
            </a:r>
            <a:r>
              <a:rPr lang="pt-BR" b="1" dirty="0"/>
              <a:t>(GDML)</a:t>
            </a:r>
          </a:p>
          <a:p>
            <a:endParaRPr lang="pt-BR" dirty="0"/>
          </a:p>
        </p:txBody>
      </p:sp>
    </p:spTree>
    <p:extLst>
      <p:ext uri="{BB962C8B-B14F-4D97-AF65-F5344CB8AC3E}">
        <p14:creationId xmlns:p14="http://schemas.microsoft.com/office/powerpoint/2010/main" val="1009657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0F601B-9F35-DB4F-53EF-66B6454A5D38}"/>
              </a:ext>
            </a:extLst>
          </p:cNvPr>
          <p:cNvSpPr>
            <a:spLocks noGrp="1"/>
          </p:cNvSpPr>
          <p:nvPr>
            <p:ph type="title"/>
          </p:nvPr>
        </p:nvSpPr>
        <p:spPr/>
        <p:txBody>
          <a:bodyPr/>
          <a:lstStyle/>
          <a:p>
            <a:r>
              <a:rPr lang="pt-BR" dirty="0"/>
              <a:t>Gradiente descendente em batelada</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FE62D125-E010-56FF-87A2-C717DD37DE78}"/>
                  </a:ext>
                </a:extLst>
              </p:cNvPr>
              <p:cNvSpPr>
                <a:spLocks noGrp="1"/>
              </p:cNvSpPr>
              <p:nvPr>
                <p:ph idx="1"/>
              </p:nvPr>
            </p:nvSpPr>
            <p:spPr>
              <a:xfrm>
                <a:off x="838200" y="1825624"/>
                <a:ext cx="11353800" cy="5032375"/>
              </a:xfrm>
            </p:spPr>
            <p:txBody>
              <a:bodyPr>
                <a:normAutofit lnSpcReduction="10000"/>
              </a:bodyPr>
              <a:lstStyle/>
              <a:p>
                <a:pPr marL="0" indent="0">
                  <a:buNone/>
                </a:pPr>
                <a14:m>
                  <m:oMathPara xmlns:m="http://schemas.openxmlformats.org/officeDocument/2006/math">
                    <m:oMath>
                      <m:r>
                        <a:rPr lang="pt-BR" b="1" i="1" smtClean="0">
                          <a:latin typeface="Cambria Math" panose="02040503050406030204" pitchFamily="18" charset="0"/>
                        </a:rPr>
                        <m:t>𝒂</m:t>
                      </m:r>
                      <m:r>
                        <a:rPr lang="pt-BR" b="1" i="1">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b="0" i="1" smtClean="0">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0" smtClean="0">
                          <a:latin typeface="Cambria Math" panose="02040503050406030204" pitchFamily="18" charset="0"/>
                        </a:rPr>
                        <m:t>.</m:t>
                      </m:r>
                    </m:oMath>
                  </m:oMathPara>
                </a14:m>
                <a:endParaRPr lang="pt-BR" dirty="0"/>
              </a:p>
              <a:p>
                <a:r>
                  <a:rPr lang="pt-BR" dirty="0"/>
                  <a:t>Calcula o gradiente usando </a:t>
                </a:r>
                <a:r>
                  <a:rPr lang="pt-BR" b="1" dirty="0">
                    <a:solidFill>
                      <a:srgbClr val="00B050"/>
                    </a:solidFill>
                  </a:rPr>
                  <a:t>todas as amostras </a:t>
                </a:r>
                <a:r>
                  <a:rPr lang="pt-BR" dirty="0"/>
                  <a:t>de treinamento, resultando em uma </a:t>
                </a:r>
                <a:r>
                  <a:rPr lang="pt-BR" b="1" dirty="0">
                    <a:solidFill>
                      <a:srgbClr val="00B050"/>
                    </a:solidFill>
                  </a:rPr>
                  <a:t>descida suave e direta </a:t>
                </a:r>
                <a:r>
                  <a:rPr lang="pt-BR" dirty="0"/>
                  <a:t>em direção ao ponto de mínimo.</a:t>
                </a:r>
              </a:p>
              <a:p>
                <a:r>
                  <a:rPr lang="pt-BR" b="1" i="1" dirty="0">
                    <a:solidFill>
                      <a:srgbClr val="00B050"/>
                    </a:solidFill>
                  </a:rPr>
                  <a:t>Convergência</a:t>
                </a:r>
                <a:r>
                  <a:rPr lang="pt-BR" dirty="0"/>
                  <a:t> para o </a:t>
                </a:r>
                <a:r>
                  <a:rPr lang="pt-BR" b="1" i="1" dirty="0">
                    <a:solidFill>
                      <a:schemeClr val="accent2"/>
                    </a:solidFill>
                  </a:rPr>
                  <a:t>mínimo global </a:t>
                </a:r>
                <a:r>
                  <a:rPr lang="pt-BR" dirty="0"/>
                  <a:t>é </a:t>
                </a:r>
                <a:r>
                  <a:rPr lang="pt-BR" b="1" i="1" dirty="0">
                    <a:solidFill>
                      <a:srgbClr val="00B050"/>
                    </a:solidFill>
                  </a:rPr>
                  <a:t>garantida</a:t>
                </a:r>
                <a:r>
                  <a:rPr lang="pt-BR" dirty="0"/>
                  <a:t> quando a função de erro é </a:t>
                </a:r>
                <a:r>
                  <a:rPr lang="pt-BR" b="1" i="1" dirty="0">
                    <a:solidFill>
                      <a:srgbClr val="00B050"/>
                    </a:solidFill>
                  </a:rPr>
                  <a:t>convexa</a:t>
                </a:r>
                <a:r>
                  <a:rPr lang="pt-BR" dirty="0"/>
                  <a:t> e a taxa de aprendizagem, </a:t>
                </a:r>
                <a14:m>
                  <m:oMath xmlns:m="http://schemas.openxmlformats.org/officeDocument/2006/math">
                    <m:r>
                      <a:rPr lang="pt-BR" i="1">
                        <a:latin typeface="Cambria Math" panose="02040503050406030204" pitchFamily="18" charset="0"/>
                        <a:ea typeface="Cambria Math" panose="02040503050406030204" pitchFamily="18" charset="0"/>
                      </a:rPr>
                      <m:t>𝛼</m:t>
                    </m:r>
                  </m:oMath>
                </a14:m>
                <a:r>
                  <a:rPr lang="pt-BR" dirty="0"/>
                  <a:t>, não for muito grande.</a:t>
                </a:r>
              </a:p>
              <a:p>
                <a:r>
                  <a:rPr lang="pt-BR" dirty="0"/>
                  <a:t>Pode ser </a:t>
                </a:r>
                <a:r>
                  <a:rPr lang="pt-BR" b="1" i="1" dirty="0">
                    <a:solidFill>
                      <a:srgbClr val="00B050"/>
                    </a:solidFill>
                  </a:rPr>
                  <a:t>computacionalmente custoso</a:t>
                </a:r>
                <a:r>
                  <a:rPr lang="pt-BR" dirty="0"/>
                  <a:t> dependendo do tamanho do modelo e do conjunto de dados.</a:t>
                </a:r>
              </a:p>
              <a:p>
                <a:pPr lvl="1">
                  <a:buFont typeface="Wingdings" panose="05000000000000000000" pitchFamily="2" charset="2"/>
                  <a:buChar char="§"/>
                </a:pPr>
                <a:r>
                  <a:rPr lang="pt-BR" dirty="0"/>
                  <a:t>Por ter que processar todos os exemplos a cada iteração, pode ser lento e consumir muita CPU e memória com modelos e conjuntos muito grandes.</a:t>
                </a:r>
              </a:p>
              <a:p>
                <a:r>
                  <a:rPr lang="pt-BR" dirty="0"/>
                  <a:t>Dentre as três versões, é a que </a:t>
                </a:r>
                <a:r>
                  <a:rPr lang="pt-BR" b="1" i="1" dirty="0">
                    <a:solidFill>
                      <a:srgbClr val="00B050"/>
                    </a:solidFill>
                  </a:rPr>
                  <a:t>obtém os melhores resultados</a:t>
                </a:r>
                <a:r>
                  <a:rPr lang="pt-BR" dirty="0"/>
                  <a:t>.</a:t>
                </a:r>
              </a:p>
            </p:txBody>
          </p:sp>
        </mc:Choice>
        <mc:Fallback>
          <p:sp>
            <p:nvSpPr>
              <p:cNvPr id="3" name="Espaço Reservado para Conteúdo 2">
                <a:extLst>
                  <a:ext uri="{FF2B5EF4-FFF2-40B4-BE49-F238E27FC236}">
                    <a16:creationId xmlns:a16="http://schemas.microsoft.com/office/drawing/2014/main" id="{FE62D125-E010-56FF-87A2-C717DD37DE78}"/>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3"/>
                <a:stretch>
                  <a:fillRect l="-967" r="-128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CAC613CF-76D5-C454-BC4C-B439E5C2A74B}"/>
              </a:ext>
            </a:extLst>
          </p:cNvPr>
          <p:cNvSpPr/>
          <p:nvPr/>
        </p:nvSpPr>
        <p:spPr>
          <a:xfrm>
            <a:off x="5710680" y="1765300"/>
            <a:ext cx="571500" cy="12636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5C9769F7-F39F-76D7-377D-FD8F1BEAB995}"/>
              </a:ext>
            </a:extLst>
          </p:cNvPr>
          <p:cNvSpPr txBox="1"/>
          <p:nvPr/>
        </p:nvSpPr>
        <p:spPr>
          <a:xfrm>
            <a:off x="9106293" y="6581000"/>
            <a:ext cx="3085707" cy="276999"/>
          </a:xfrm>
          <a:prstGeom prst="rect">
            <a:avLst/>
          </a:prstGeom>
          <a:noFill/>
        </p:spPr>
        <p:txBody>
          <a:bodyPr wrap="square">
            <a:spAutoFit/>
          </a:bodyPr>
          <a:lstStyle/>
          <a:p>
            <a:r>
              <a:rPr lang="pt-BR" sz="1200" dirty="0">
                <a:hlinkClick r:id="rId4"/>
              </a:rPr>
              <a:t>E</a:t>
            </a:r>
            <a:r>
              <a:rPr lang="pt-BR" sz="1200" b="0" i="0" dirty="0">
                <a:hlinkClick r:id="rId4"/>
              </a:rPr>
              <a:t>xemplo</a:t>
            </a:r>
            <a:r>
              <a:rPr lang="pt-BR" sz="1200" dirty="0">
                <a:hlinkClick r:id="rId4"/>
              </a:rPr>
              <a:t>: </a:t>
            </a:r>
            <a:r>
              <a:rPr lang="pt-BR" sz="1200" b="0" i="0" dirty="0">
                <a:hlinkClick r:id="rId4"/>
              </a:rPr>
              <a:t>gradiente</a:t>
            </a:r>
            <a:r>
              <a:rPr lang="pt-BR" sz="1200" dirty="0">
                <a:hlinkClick r:id="rId4"/>
              </a:rPr>
              <a:t> </a:t>
            </a:r>
            <a:r>
              <a:rPr lang="pt-BR" sz="1200" b="0" i="0" dirty="0">
                <a:hlinkClick r:id="rId4"/>
              </a:rPr>
              <a:t>descendente</a:t>
            </a:r>
            <a:r>
              <a:rPr lang="pt-BR" sz="1200" dirty="0">
                <a:hlinkClick r:id="rId4"/>
              </a:rPr>
              <a:t> em </a:t>
            </a:r>
            <a:r>
              <a:rPr lang="pt-BR" sz="1200" b="0" i="0" dirty="0">
                <a:hlinkClick r:id="rId4"/>
              </a:rPr>
              <a:t>batelada</a:t>
            </a:r>
            <a:endParaRPr lang="pt-BR" sz="1200" dirty="0"/>
          </a:p>
        </p:txBody>
      </p:sp>
    </p:spTree>
    <p:extLst>
      <p:ext uri="{BB962C8B-B14F-4D97-AF65-F5344CB8AC3E}">
        <p14:creationId xmlns:p14="http://schemas.microsoft.com/office/powerpoint/2010/main" val="2343424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31422EA-9EAF-7531-8D3B-D0D8B94412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38" b="1404"/>
          <a:stretch/>
        </p:blipFill>
        <p:spPr bwMode="auto">
          <a:xfrm>
            <a:off x="9130734" y="1558880"/>
            <a:ext cx="2275776" cy="228099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E3C1BBF-F54F-D913-C3B5-0150BDDA23D3}"/>
              </a:ext>
            </a:extLst>
          </p:cNvPr>
          <p:cNvSpPr>
            <a:spLocks noGrp="1"/>
          </p:cNvSpPr>
          <p:nvPr>
            <p:ph type="title"/>
          </p:nvPr>
        </p:nvSpPr>
        <p:spPr/>
        <p:txBody>
          <a:bodyPr/>
          <a:lstStyle/>
          <a:p>
            <a:r>
              <a:rPr lang="pt-BR" dirty="0"/>
              <a:t>Características do GD em batelada</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E0F2183B-F952-D37C-75F7-C33714DE2823}"/>
                  </a:ext>
                </a:extLst>
              </p:cNvPr>
              <p:cNvSpPr>
                <a:spLocks noGrp="1"/>
              </p:cNvSpPr>
              <p:nvPr>
                <p:ph idx="1"/>
              </p:nvPr>
            </p:nvSpPr>
            <p:spPr>
              <a:xfrm>
                <a:off x="838200" y="3873500"/>
                <a:ext cx="11087100" cy="2968388"/>
              </a:xfrm>
            </p:spPr>
            <p:txBody>
              <a:bodyPr>
                <a:normAutofit lnSpcReduction="10000"/>
              </a:bodyPr>
              <a:lstStyle/>
              <a:p>
                <a:pPr>
                  <a:spcBef>
                    <a:spcPts val="600"/>
                  </a:spcBef>
                </a:pPr>
                <a:r>
                  <a:rPr lang="pt-BR" dirty="0"/>
                  <a:t>Por usar todos os exemplos, </a:t>
                </a:r>
                <a:r>
                  <a:rPr lang="pt-BR" b="1" i="1" dirty="0">
                    <a:solidFill>
                      <a:srgbClr val="00B050"/>
                    </a:solidFill>
                  </a:rPr>
                  <a:t>segue diretamente</a:t>
                </a:r>
                <a:r>
                  <a:rPr lang="pt-BR" dirty="0"/>
                  <a:t>, sem alterar a direção, para o </a:t>
                </a:r>
                <a:r>
                  <a:rPr lang="pt-BR" b="1" i="1" dirty="0">
                    <a:solidFill>
                      <a:srgbClr val="00B050"/>
                    </a:solidFill>
                  </a:rPr>
                  <a:t>ponto de mínimo</a:t>
                </a:r>
                <a:r>
                  <a:rPr lang="pt-BR" dirty="0"/>
                  <a:t>.</a:t>
                </a:r>
              </a:p>
              <a:p>
                <a:pPr lvl="1">
                  <a:spcBef>
                    <a:spcPts val="600"/>
                  </a:spcBef>
                  <a:buFont typeface="Wingdings" panose="05000000000000000000" pitchFamily="2" charset="2"/>
                  <a:buChar char="§"/>
                </a:pPr>
                <a:r>
                  <a:rPr lang="pt-BR" dirty="0"/>
                  <a:t>Nesse exemplo, segue uma linha reta entre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2</m:t>
                        </m:r>
                      </m:sub>
                    </m:sSub>
                  </m:oMath>
                </a14:m>
                <a:r>
                  <a:rPr lang="pt-BR" dirty="0"/>
                  <a:t>, pois a taxa de decrescimento da superfície de erro é igual para os dois pesos (contornos são circulares).</a:t>
                </a:r>
              </a:p>
              <a:p>
                <a:pPr>
                  <a:spcBef>
                    <a:spcPts val="600"/>
                  </a:spcBef>
                </a:pPr>
                <a:r>
                  <a:rPr lang="pt-BR" b="1" i="1" dirty="0">
                    <a:solidFill>
                      <a:srgbClr val="00B050"/>
                    </a:solidFill>
                  </a:rPr>
                  <a:t>Convergência é garantida </a:t>
                </a:r>
                <a:r>
                  <a:rPr lang="pt-BR" dirty="0"/>
                  <a:t>dado que a </a:t>
                </a:r>
                <a:r>
                  <a:rPr lang="pt-BR" b="1" i="1" dirty="0">
                    <a:solidFill>
                      <a:srgbClr val="00B050"/>
                    </a:solidFill>
                  </a:rPr>
                  <a:t>taxa de aprendizagem não seja muito grande</a:t>
                </a:r>
                <a:r>
                  <a:rPr lang="pt-BR" dirty="0"/>
                  <a:t> e se </a:t>
                </a:r>
                <a:r>
                  <a:rPr lang="pt-BR" b="1" i="1" dirty="0">
                    <a:solidFill>
                      <a:srgbClr val="00B050"/>
                    </a:solidFill>
                  </a:rPr>
                  <a:t>espere tempo suficiente</a:t>
                </a:r>
                <a:r>
                  <a:rPr lang="pt-BR" dirty="0"/>
                  <a:t>.</a:t>
                </a:r>
              </a:p>
              <a:p>
                <a:pPr lvl="1">
                  <a:spcBef>
                    <a:spcPts val="600"/>
                  </a:spcBef>
                  <a:buFont typeface="Wingdings" panose="05000000000000000000" pitchFamily="2" charset="2"/>
                  <a:buChar char="§"/>
                </a:pPr>
                <a:r>
                  <a:rPr lang="pt-BR" dirty="0"/>
                  <a:t>Não fica “</a:t>
                </a:r>
                <a:r>
                  <a:rPr lang="pt-BR" i="1" dirty="0"/>
                  <a:t>oscilando</a:t>
                </a:r>
                <a:r>
                  <a:rPr lang="pt-BR" dirty="0"/>
                  <a:t>” em torno do ponto de mínimo após alcançá-lo, pois o vetor gradiente neste ponto é praticamente nulo.</a:t>
                </a:r>
              </a:p>
            </p:txBody>
          </p:sp>
        </mc:Choice>
        <mc:Fallback>
          <p:sp>
            <p:nvSpPr>
              <p:cNvPr id="3" name="Espaço Reservado para Conteúdo 2">
                <a:extLst>
                  <a:ext uri="{FF2B5EF4-FFF2-40B4-BE49-F238E27FC236}">
                    <a16:creationId xmlns:a16="http://schemas.microsoft.com/office/drawing/2014/main" id="{E0F2183B-F952-D37C-75F7-C33714DE2823}"/>
                  </a:ext>
                </a:extLst>
              </p:cNvPr>
              <p:cNvSpPr>
                <a:spLocks noGrp="1" noRot="1" noChangeAspect="1" noMove="1" noResize="1" noEditPoints="1" noAdjustHandles="1" noChangeArrowheads="1" noChangeShapeType="1" noTextEdit="1"/>
              </p:cNvSpPr>
              <p:nvPr>
                <p:ph idx="1"/>
              </p:nvPr>
            </p:nvSpPr>
            <p:spPr>
              <a:xfrm>
                <a:off x="838200" y="3873500"/>
                <a:ext cx="11087100" cy="2968388"/>
              </a:xfrm>
              <a:blipFill>
                <a:blip r:embed="rId3"/>
                <a:stretch>
                  <a:fillRect l="-990" t="-4517" b="-1232"/>
                </a:stretch>
              </a:blipFill>
            </p:spPr>
            <p:txBody>
              <a:bodyPr/>
              <a:lstStyle/>
              <a:p>
                <a:r>
                  <a:rPr lang="en-US">
                    <a:noFill/>
                  </a:rPr>
                  <a:t> </a:t>
                </a:r>
              </a:p>
            </p:txBody>
          </p:sp>
        </mc:Fallback>
      </mc:AlternateContent>
      <p:pic>
        <p:nvPicPr>
          <p:cNvPr id="4" name="Picture 5">
            <a:extLst>
              <a:ext uri="{FF2B5EF4-FFF2-40B4-BE49-F238E27FC236}">
                <a16:creationId xmlns:a16="http://schemas.microsoft.com/office/drawing/2014/main" id="{E2428E7A-A901-E7EB-200F-B34720C72F0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972" t="17580" r="1383" b="9839"/>
          <a:stretch/>
        </p:blipFill>
        <p:spPr>
          <a:xfrm>
            <a:off x="1570160" y="1609539"/>
            <a:ext cx="2446728" cy="2202055"/>
          </a:xfrm>
          <a:prstGeom prst="rect">
            <a:avLst/>
          </a:prstGeom>
        </p:spPr>
      </p:pic>
      <p:pic>
        <p:nvPicPr>
          <p:cNvPr id="5" name="Picture 7">
            <a:extLst>
              <a:ext uri="{FF2B5EF4-FFF2-40B4-BE49-F238E27FC236}">
                <a16:creationId xmlns:a16="http://schemas.microsoft.com/office/drawing/2014/main" id="{02794A20-4298-D565-9DD4-4B265CF0001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1451" r="9463" b="2262"/>
          <a:stretch/>
        </p:blipFill>
        <p:spPr>
          <a:xfrm>
            <a:off x="4931791" y="1592505"/>
            <a:ext cx="2328417" cy="2219089"/>
          </a:xfrm>
          <a:prstGeom prst="rect">
            <a:avLst/>
          </a:prstGeom>
        </p:spPr>
      </p:pic>
      <p:sp>
        <p:nvSpPr>
          <p:cNvPr id="7" name="Retângulo 6">
            <a:extLst>
              <a:ext uri="{FF2B5EF4-FFF2-40B4-BE49-F238E27FC236}">
                <a16:creationId xmlns:a16="http://schemas.microsoft.com/office/drawing/2014/main" id="{6E233580-1C72-049D-C2FC-0B68D7AF7808}"/>
              </a:ext>
            </a:extLst>
          </p:cNvPr>
          <p:cNvSpPr/>
          <p:nvPr/>
        </p:nvSpPr>
        <p:spPr>
          <a:xfrm>
            <a:off x="10500527" y="3428999"/>
            <a:ext cx="853272" cy="1270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 name="Conector de Seta Reta 9">
            <a:extLst>
              <a:ext uri="{FF2B5EF4-FFF2-40B4-BE49-F238E27FC236}">
                <a16:creationId xmlns:a16="http://schemas.microsoft.com/office/drawing/2014/main" id="{AF98DC83-C81D-B4D6-B5F5-18F8508C8CFE}"/>
              </a:ext>
            </a:extLst>
          </p:cNvPr>
          <p:cNvCxnSpPr>
            <a:cxnSpLocks/>
          </p:cNvCxnSpPr>
          <p:nvPr/>
        </p:nvCxnSpPr>
        <p:spPr>
          <a:xfrm>
            <a:off x="8242737" y="3031985"/>
            <a:ext cx="2257789" cy="4695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1">
            <a:extLst>
              <a:ext uri="{FF2B5EF4-FFF2-40B4-BE49-F238E27FC236}">
                <a16:creationId xmlns:a16="http://schemas.microsoft.com/office/drawing/2014/main" id="{DDC78DD7-203F-A9BD-EBC3-A7E688B8CBBC}"/>
              </a:ext>
            </a:extLst>
          </p:cNvPr>
          <p:cNvCxnSpPr>
            <a:cxnSpLocks/>
          </p:cNvCxnSpPr>
          <p:nvPr/>
        </p:nvCxnSpPr>
        <p:spPr>
          <a:xfrm flipH="1" flipV="1">
            <a:off x="6298163" y="2588642"/>
            <a:ext cx="1427084" cy="3048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CaixaDeTexto 16">
            <a:extLst>
              <a:ext uri="{FF2B5EF4-FFF2-40B4-BE49-F238E27FC236}">
                <a16:creationId xmlns:a16="http://schemas.microsoft.com/office/drawing/2014/main" id="{EAB19D43-92F8-8C60-722C-2733DA40553E}"/>
              </a:ext>
            </a:extLst>
          </p:cNvPr>
          <p:cNvSpPr txBox="1"/>
          <p:nvPr/>
        </p:nvSpPr>
        <p:spPr>
          <a:xfrm>
            <a:off x="7542500" y="2816892"/>
            <a:ext cx="1034980" cy="276999"/>
          </a:xfrm>
          <a:prstGeom prst="rect">
            <a:avLst/>
          </a:prstGeom>
          <a:noFill/>
        </p:spPr>
        <p:txBody>
          <a:bodyPr wrap="square" rtlCol="0">
            <a:spAutoFit/>
          </a:bodyPr>
          <a:lstStyle/>
          <a:p>
            <a:pPr algn="ctr"/>
            <a:r>
              <a:rPr lang="pt-BR" sz="1200" b="1" dirty="0">
                <a:solidFill>
                  <a:srgbClr val="00B050"/>
                </a:solidFill>
              </a:rPr>
              <a:t>convergência</a:t>
            </a:r>
          </a:p>
        </p:txBody>
      </p:sp>
    </p:spTree>
    <p:extLst>
      <p:ext uri="{BB962C8B-B14F-4D97-AF65-F5344CB8AC3E}">
        <p14:creationId xmlns:p14="http://schemas.microsoft.com/office/powerpoint/2010/main" val="534611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DFD749-6701-ADC5-DAA0-0A6612B19952}"/>
              </a:ext>
            </a:extLst>
          </p:cNvPr>
          <p:cNvSpPr>
            <a:spLocks noGrp="1"/>
          </p:cNvSpPr>
          <p:nvPr>
            <p:ph type="title"/>
          </p:nvPr>
        </p:nvSpPr>
        <p:spPr/>
        <p:txBody>
          <a:bodyPr/>
          <a:lstStyle/>
          <a:p>
            <a:r>
              <a:rPr lang="pt-BR" dirty="0"/>
              <a:t>Gradiente descendente estocástico</a:t>
            </a:r>
          </a:p>
        </p:txBody>
      </p:sp>
      <p:sp>
        <p:nvSpPr>
          <p:cNvPr id="3" name="Espaço Reservado para Conteúdo 2">
            <a:extLst>
              <a:ext uri="{FF2B5EF4-FFF2-40B4-BE49-F238E27FC236}">
                <a16:creationId xmlns:a16="http://schemas.microsoft.com/office/drawing/2014/main" id="{94256AAC-9738-C59F-FEF1-F2C33694D5E4}"/>
              </a:ext>
            </a:extLst>
          </p:cNvPr>
          <p:cNvSpPr>
            <a:spLocks noGrp="1"/>
          </p:cNvSpPr>
          <p:nvPr>
            <p:ph idx="1"/>
          </p:nvPr>
        </p:nvSpPr>
        <p:spPr>
          <a:xfrm>
            <a:off x="4474724" y="2490281"/>
            <a:ext cx="7717276" cy="4367718"/>
          </a:xfrm>
        </p:spPr>
        <p:txBody>
          <a:bodyPr>
            <a:normAutofit/>
          </a:bodyPr>
          <a:lstStyle/>
          <a:p>
            <a:r>
              <a:rPr lang="pt-BR" dirty="0"/>
              <a:t>Utiliza a cada </a:t>
            </a:r>
            <a:r>
              <a:rPr lang="pt-BR" b="1" i="1" dirty="0">
                <a:solidFill>
                  <a:srgbClr val="FF0000"/>
                </a:solidFill>
              </a:rPr>
              <a:t>iteração de atualização dos pesos</a:t>
            </a:r>
            <a:r>
              <a:rPr lang="pt-BR" dirty="0"/>
              <a:t> </a:t>
            </a:r>
            <a:r>
              <a:rPr lang="pt-BR" b="1" i="1" dirty="0">
                <a:solidFill>
                  <a:srgbClr val="00B050"/>
                </a:solidFill>
              </a:rPr>
              <a:t>apenas </a:t>
            </a:r>
            <a:r>
              <a:rPr lang="pt-BR" b="1" i="1" dirty="0">
                <a:solidFill>
                  <a:srgbClr val="FF0000"/>
                </a:solidFill>
              </a:rPr>
              <a:t>um</a:t>
            </a:r>
            <a:r>
              <a:rPr lang="pt-BR" b="1" i="1" dirty="0">
                <a:solidFill>
                  <a:srgbClr val="00B050"/>
                </a:solidFill>
              </a:rPr>
              <a:t> exemplo</a:t>
            </a:r>
            <a:r>
              <a:rPr lang="pt-BR" dirty="0"/>
              <a:t> do conjunto de treinamento para calcular uma </a:t>
            </a:r>
            <a:r>
              <a:rPr lang="pt-BR" b="1" i="1" dirty="0">
                <a:solidFill>
                  <a:srgbClr val="7030A0"/>
                </a:solidFill>
              </a:rPr>
              <a:t>estimativa estocástica</a:t>
            </a:r>
            <a:r>
              <a:rPr lang="pt-BR" b="1" i="1" dirty="0">
                <a:solidFill>
                  <a:srgbClr val="00B050"/>
                </a:solidFill>
              </a:rPr>
              <a:t> do vetor gradiente</a:t>
            </a:r>
            <a:r>
              <a:rPr lang="pt-BR" dirty="0"/>
              <a:t>.</a:t>
            </a:r>
          </a:p>
          <a:p>
            <a:pPr lvl="1">
              <a:buFont typeface="Wingdings" panose="05000000000000000000" pitchFamily="2" charset="2"/>
              <a:buChar char="§"/>
            </a:pPr>
            <a:r>
              <a:rPr lang="pt-BR" dirty="0"/>
              <a:t>É estocástica pois a cada iteração toma-se </a:t>
            </a:r>
            <a:r>
              <a:rPr lang="pt-BR" b="1" i="1" dirty="0">
                <a:solidFill>
                  <a:srgbClr val="00B050"/>
                </a:solidFill>
              </a:rPr>
              <a:t>uma amostra aleatória</a:t>
            </a:r>
            <a:r>
              <a:rPr lang="pt-BR" dirty="0"/>
              <a:t> </a:t>
            </a:r>
            <a:r>
              <a:rPr lang="pt-BR" b="1" i="1" dirty="0">
                <a:solidFill>
                  <a:schemeClr val="accent2"/>
                </a:solidFill>
              </a:rPr>
              <a:t>sem reposição </a:t>
            </a:r>
            <a:r>
              <a:rPr lang="pt-BR" dirty="0"/>
              <a:t>do conjunto de treinamento para calcular a estimativa do vetor gradiente.</a:t>
            </a:r>
          </a:p>
          <a:p>
            <a:r>
              <a:rPr lang="pt-BR" dirty="0"/>
              <a:t>Por usar uma amostra, </a:t>
            </a:r>
            <a:r>
              <a:rPr lang="pt-BR" b="1" i="1" dirty="0">
                <a:solidFill>
                  <a:srgbClr val="00B050"/>
                </a:solidFill>
              </a:rPr>
              <a:t>não segue diretamente a direção de máxima declividade da função de erro</a:t>
            </a:r>
            <a:r>
              <a:rPr lang="pt-BR" dirty="0"/>
              <a:t>,</a:t>
            </a:r>
            <a:r>
              <a:rPr lang="pt-BR" b="1" i="1" dirty="0">
                <a:solidFill>
                  <a:srgbClr val="00B050"/>
                </a:solidFill>
              </a:rPr>
              <a:t> </a:t>
            </a:r>
            <a:r>
              <a:rPr lang="pt-BR" b="1" i="1" dirty="0">
                <a:solidFill>
                  <a:srgbClr val="7030A0"/>
                </a:solidFill>
              </a:rPr>
              <a:t>mudando de direção várias vezes</a:t>
            </a:r>
            <a:r>
              <a:rPr lang="pt-BR" dirty="0"/>
              <a:t>.</a:t>
            </a:r>
          </a:p>
        </p:txBody>
      </p:sp>
      <p:pic>
        <p:nvPicPr>
          <p:cNvPr id="1026" name="Picture 2">
            <a:extLst>
              <a:ext uri="{FF2B5EF4-FFF2-40B4-BE49-F238E27FC236}">
                <a16:creationId xmlns:a16="http://schemas.microsoft.com/office/drawing/2014/main" id="{1E40FF8E-75E3-2B77-EEF9-A3E0C2F1A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37" y="2853979"/>
            <a:ext cx="3608252" cy="363889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F398B25-EDB3-EEE9-9834-2E002191F31B}"/>
                  </a:ext>
                </a:extLst>
              </p:cNvPr>
              <p:cNvSpPr txBox="1"/>
              <p:nvPr/>
            </p:nvSpPr>
            <p:spPr>
              <a:xfrm>
                <a:off x="838200" y="1799690"/>
                <a:ext cx="11353799" cy="523220"/>
              </a:xfrm>
              <a:prstGeom prst="rect">
                <a:avLst/>
              </a:prstGeom>
              <a:noFill/>
            </p:spPr>
            <p:txBody>
              <a:bodyPr wrap="square">
                <a:spAutoFit/>
              </a:bodyPr>
              <a:lstStyle/>
              <a:p>
                <a:pPr marL="0" indent="0">
                  <a:buNone/>
                </a:pPr>
                <a14:m>
                  <m:oMathPara xmlns:m="http://schemas.openxmlformats.org/officeDocument/2006/math">
                    <m:oMath>
                      <m:r>
                        <a:rPr lang="pt-BR" sz="2800" b="1" i="1" smtClean="0">
                          <a:latin typeface="Cambria Math" panose="02040503050406030204" pitchFamily="18" charset="0"/>
                        </a:rPr>
                        <m:t>𝒂</m:t>
                      </m:r>
                      <m:r>
                        <a:rPr lang="pt-BR" sz="2800" b="1" i="1">
                          <a:latin typeface="Cambria Math" panose="02040503050406030204" pitchFamily="18" charset="0"/>
                        </a:rPr>
                        <m:t>=</m:t>
                      </m:r>
                      <m:r>
                        <a:rPr lang="pt-BR" sz="2800" b="1" i="1">
                          <a:latin typeface="Cambria Math" panose="02040503050406030204" pitchFamily="18" charset="0"/>
                        </a:rPr>
                        <m:t>𝒂</m:t>
                      </m:r>
                      <m:r>
                        <a:rPr lang="pt-BR" sz="2800" b="0" i="1" smtClean="0">
                          <a:latin typeface="Cambria Math" panose="02040503050406030204" pitchFamily="18" charset="0"/>
                        </a:rPr>
                        <m:t>+</m:t>
                      </m:r>
                      <m:r>
                        <a:rPr lang="pt-BR" sz="2800" i="1">
                          <a:latin typeface="Cambria Math" panose="02040503050406030204" pitchFamily="18" charset="0"/>
                          <a:ea typeface="Cambria Math" panose="02040503050406030204" pitchFamily="18" charset="0"/>
                        </a:rPr>
                        <m:t>𝛼</m:t>
                      </m:r>
                      <m:r>
                        <a:rPr lang="pt-BR" sz="2800" b="0" i="1" smtClean="0">
                          <a:latin typeface="Cambria Math" panose="02040503050406030204" pitchFamily="18" charset="0"/>
                          <a:ea typeface="Cambria Math" panose="02040503050406030204" pitchFamily="18" charset="0"/>
                        </a:rPr>
                        <m:t>2</m:t>
                      </m:r>
                      <m:d>
                        <m:dPr>
                          <m:begChr m:val="["/>
                          <m:endChr m:val="]"/>
                          <m:ctrlPr>
                            <a:rPr lang="pt-BR" sz="2800" i="1">
                              <a:latin typeface="Cambria Math" panose="02040503050406030204" pitchFamily="18" charset="0"/>
                            </a:rPr>
                          </m:ctrlPr>
                        </m:dPr>
                        <m:e>
                          <m:r>
                            <a:rPr lang="pt-BR" sz="2800" i="1">
                              <a:latin typeface="Cambria Math" panose="02040503050406030204" pitchFamily="18" charset="0"/>
                            </a:rPr>
                            <m:t>𝑦</m:t>
                          </m:r>
                          <m:d>
                            <m:dPr>
                              <m:ctrlPr>
                                <a:rPr lang="pt-BR" sz="2800" i="1" smtClean="0">
                                  <a:latin typeface="Cambria Math" panose="02040503050406030204" pitchFamily="18" charset="0"/>
                                </a:rPr>
                              </m:ctrlPr>
                            </m:dPr>
                            <m:e>
                              <m:sSub>
                                <m:sSubPr>
                                  <m:ctrlPr>
                                    <a:rPr lang="pt-BR" sz="2800" b="0" i="1" smtClean="0">
                                      <a:latin typeface="Cambria Math" panose="02040503050406030204" pitchFamily="18" charset="0"/>
                                    </a:rPr>
                                  </m:ctrlPr>
                                </m:sSubPr>
                                <m:e>
                                  <m:r>
                                    <a:rPr lang="pt-BR" sz="2800" b="0" i="1" smtClean="0">
                                      <a:latin typeface="Cambria Math" panose="02040503050406030204" pitchFamily="18" charset="0"/>
                                    </a:rPr>
                                    <m:t>𝑛</m:t>
                                  </m:r>
                                </m:e>
                                <m:sub>
                                  <m:r>
                                    <m:rPr>
                                      <m:sty m:val="p"/>
                                    </m:rPr>
                                    <a:rPr lang="pt-BR" sz="2800" b="0" i="0" smtClean="0">
                                      <a:latin typeface="Cambria Math" panose="02040503050406030204" pitchFamily="18" charset="0"/>
                                    </a:rPr>
                                    <m:t>random</m:t>
                                  </m:r>
                                </m:sub>
                              </m:sSub>
                            </m:e>
                          </m:d>
                          <m:r>
                            <a:rPr lang="pt-BR" sz="2800" i="1">
                              <a:latin typeface="Cambria Math" panose="02040503050406030204" pitchFamily="18" charset="0"/>
                            </a:rPr>
                            <m:t>−</m:t>
                          </m:r>
                          <m:acc>
                            <m:accPr>
                              <m:chr m:val="̂"/>
                              <m:ctrlPr>
                                <a:rPr lang="pt-BR" sz="2800" i="1">
                                  <a:latin typeface="Cambria Math" panose="02040503050406030204" pitchFamily="18" charset="0"/>
                                </a:rPr>
                              </m:ctrlPr>
                            </m:accPr>
                            <m:e>
                              <m:r>
                                <a:rPr lang="pt-BR" sz="2800" i="1">
                                  <a:latin typeface="Cambria Math" panose="02040503050406030204" pitchFamily="18" charset="0"/>
                                </a:rPr>
                                <m:t>𝑦</m:t>
                              </m:r>
                            </m:e>
                          </m:acc>
                          <m:d>
                            <m:dPr>
                              <m:ctrlPr>
                                <a:rPr lang="pt-BR" sz="2800" i="1">
                                  <a:latin typeface="Cambria Math" panose="02040503050406030204" pitchFamily="18" charset="0"/>
                                </a:rPr>
                              </m:ctrlPr>
                            </m:dPr>
                            <m:e>
                              <m:sSub>
                                <m:sSubPr>
                                  <m:ctrlPr>
                                    <a:rPr lang="pt-BR" sz="2800" i="1">
                                      <a:latin typeface="Cambria Math" panose="02040503050406030204" pitchFamily="18" charset="0"/>
                                    </a:rPr>
                                  </m:ctrlPr>
                                </m:sSubPr>
                                <m:e>
                                  <m:r>
                                    <a:rPr lang="pt-BR" sz="2800" i="1">
                                      <a:latin typeface="Cambria Math" panose="02040503050406030204" pitchFamily="18" charset="0"/>
                                    </a:rPr>
                                    <m:t>𝑛</m:t>
                                  </m:r>
                                </m:e>
                                <m:sub>
                                  <m:r>
                                    <m:rPr>
                                      <m:sty m:val="p"/>
                                    </m:rPr>
                                    <a:rPr lang="pt-BR" sz="2800">
                                      <a:latin typeface="Cambria Math" panose="02040503050406030204" pitchFamily="18" charset="0"/>
                                    </a:rPr>
                                    <m:t>random</m:t>
                                  </m:r>
                                </m:sub>
                              </m:sSub>
                            </m:e>
                          </m:d>
                        </m:e>
                      </m:d>
                      <m:r>
                        <a:rPr lang="pt-BR" sz="2800" b="1" i="1">
                          <a:latin typeface="Cambria Math" panose="02040503050406030204" pitchFamily="18" charset="0"/>
                        </a:rPr>
                        <m:t>𝒙</m:t>
                      </m:r>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𝑛</m:t>
                          </m:r>
                        </m:e>
                        <m:sub>
                          <m:r>
                            <m:rPr>
                              <m:sty m:val="p"/>
                            </m:rPr>
                            <a:rPr lang="pt-BR" sz="2800">
                              <a:latin typeface="Cambria Math" panose="02040503050406030204" pitchFamily="18" charset="0"/>
                            </a:rPr>
                            <m:t>random</m:t>
                          </m:r>
                        </m:sub>
                      </m:sSub>
                      <m:r>
                        <a:rPr lang="pt-BR" sz="2800" i="1">
                          <a:latin typeface="Cambria Math" panose="02040503050406030204" pitchFamily="18" charset="0"/>
                        </a:rPr>
                        <m:t>)</m:t>
                      </m:r>
                      <m:r>
                        <a:rPr lang="pt-BR" sz="2800" b="0" i="0" smtClean="0">
                          <a:latin typeface="Cambria Math" panose="02040503050406030204" pitchFamily="18" charset="0"/>
                        </a:rPr>
                        <m:t>.</m:t>
                      </m:r>
                    </m:oMath>
                  </m:oMathPara>
                </a14:m>
                <a:endParaRPr lang="pt-BR" sz="2800" b="0" i="0" dirty="0"/>
              </a:p>
            </p:txBody>
          </p:sp>
        </mc:Choice>
        <mc:Fallback xmlns="">
          <p:sp>
            <p:nvSpPr>
              <p:cNvPr id="5" name="TextBox 4">
                <a:extLst>
                  <a:ext uri="{FF2B5EF4-FFF2-40B4-BE49-F238E27FC236}">
                    <a16:creationId xmlns:a16="http://schemas.microsoft.com/office/drawing/2014/main" id="{3F398B25-EDB3-EEE9-9834-2E002191F31B}"/>
                  </a:ext>
                </a:extLst>
              </p:cNvPr>
              <p:cNvSpPr txBox="1">
                <a:spLocks noRot="1" noChangeAspect="1" noMove="1" noResize="1" noEditPoints="1" noAdjustHandles="1" noChangeArrowheads="1" noChangeShapeType="1" noTextEdit="1"/>
              </p:cNvSpPr>
              <p:nvPr/>
            </p:nvSpPr>
            <p:spPr>
              <a:xfrm>
                <a:off x="838200" y="1799690"/>
                <a:ext cx="11353799" cy="5232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0602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DFD749-6701-ADC5-DAA0-0A6612B19952}"/>
              </a:ext>
            </a:extLst>
          </p:cNvPr>
          <p:cNvSpPr>
            <a:spLocks noGrp="1"/>
          </p:cNvSpPr>
          <p:nvPr>
            <p:ph type="title"/>
          </p:nvPr>
        </p:nvSpPr>
        <p:spPr/>
        <p:txBody>
          <a:bodyPr/>
          <a:lstStyle/>
          <a:p>
            <a:r>
              <a:rPr lang="pt-BR" dirty="0"/>
              <a:t>Gradiente descendente estocástico</a:t>
            </a:r>
          </a:p>
        </p:txBody>
      </p:sp>
      <p:sp>
        <p:nvSpPr>
          <p:cNvPr id="3" name="Espaço Reservado para Conteúdo 2">
            <a:extLst>
              <a:ext uri="{FF2B5EF4-FFF2-40B4-BE49-F238E27FC236}">
                <a16:creationId xmlns:a16="http://schemas.microsoft.com/office/drawing/2014/main" id="{94256AAC-9738-C59F-FEF1-F2C33694D5E4}"/>
              </a:ext>
            </a:extLst>
          </p:cNvPr>
          <p:cNvSpPr>
            <a:spLocks noGrp="1"/>
          </p:cNvSpPr>
          <p:nvPr>
            <p:ph idx="1"/>
          </p:nvPr>
        </p:nvSpPr>
        <p:spPr>
          <a:xfrm>
            <a:off x="4513633" y="2568102"/>
            <a:ext cx="7487865" cy="4289897"/>
          </a:xfrm>
        </p:spPr>
        <p:txBody>
          <a:bodyPr>
            <a:normAutofit/>
          </a:bodyPr>
          <a:lstStyle/>
          <a:p>
            <a:r>
              <a:rPr lang="pt-BR" dirty="0"/>
              <a:t>Quando os </a:t>
            </a:r>
            <a:r>
              <a:rPr lang="pt-BR" b="1" i="1" dirty="0">
                <a:solidFill>
                  <a:srgbClr val="00B050"/>
                </a:solidFill>
              </a:rPr>
              <a:t>d</a:t>
            </a:r>
            <a:r>
              <a:rPr lang="pt-BR" b="1" i="1" dirty="0">
                <a:solidFill>
                  <a:srgbClr val="00B050"/>
                </a:solidFill>
                <a:effectLst/>
              </a:rPr>
              <a:t>ados de treinamento estão </a:t>
            </a:r>
            <a:r>
              <a:rPr lang="pt-BR" b="1" i="1" dirty="0">
                <a:solidFill>
                  <a:srgbClr val="7030A0"/>
                </a:solidFill>
                <a:effectLst/>
              </a:rPr>
              <a:t>contaminados com ruído</a:t>
            </a:r>
            <a:r>
              <a:rPr lang="pt-BR" b="0" i="0" dirty="0">
                <a:effectLst/>
              </a:rPr>
              <a:t>, a</a:t>
            </a:r>
            <a:r>
              <a:rPr lang="pt-BR" dirty="0"/>
              <a:t> </a:t>
            </a:r>
            <a:r>
              <a:rPr lang="pt-BR" b="1" i="1" dirty="0">
                <a:solidFill>
                  <a:srgbClr val="00B050"/>
                </a:solidFill>
              </a:rPr>
              <a:t>estimativa</a:t>
            </a:r>
            <a:r>
              <a:rPr lang="pt-BR" dirty="0"/>
              <a:t> do gradiente é </a:t>
            </a:r>
            <a:r>
              <a:rPr lang="pt-BR" b="1" i="1" dirty="0">
                <a:solidFill>
                  <a:srgbClr val="00B050"/>
                </a:solidFill>
              </a:rPr>
              <a:t>ruidosa</a:t>
            </a:r>
            <a:r>
              <a:rPr lang="pt-BR" dirty="0"/>
              <a:t>, fazendo com que a </a:t>
            </a:r>
            <a:r>
              <a:rPr lang="pt-BR" b="1" i="1" dirty="0">
                <a:solidFill>
                  <a:srgbClr val="00B050"/>
                </a:solidFill>
              </a:rPr>
              <a:t>convergência </a:t>
            </a:r>
            <a:r>
              <a:rPr lang="pt-BR" b="1" i="1" dirty="0">
                <a:solidFill>
                  <a:srgbClr val="FF0000"/>
                </a:solidFill>
              </a:rPr>
              <a:t>não ocorra</a:t>
            </a:r>
            <a:r>
              <a:rPr lang="pt-BR" dirty="0"/>
              <a:t>.</a:t>
            </a:r>
          </a:p>
          <a:p>
            <a:pPr lvl="1">
              <a:buFont typeface="Wingdings" panose="05000000000000000000" pitchFamily="2" charset="2"/>
              <a:buChar char="§"/>
            </a:pPr>
            <a:r>
              <a:rPr lang="pt-BR" dirty="0"/>
              <a:t>O algoritmo </a:t>
            </a:r>
            <a:r>
              <a:rPr lang="pt-BR" b="1" i="1" dirty="0"/>
              <a:t>oscila</a:t>
            </a:r>
            <a:r>
              <a:rPr lang="pt-BR" dirty="0"/>
              <a:t> em torno do ponto de mínimo </a:t>
            </a:r>
            <a:r>
              <a:rPr lang="pt-BR" b="1" i="1" dirty="0"/>
              <a:t>sem nunca convergir</a:t>
            </a:r>
            <a:r>
              <a:rPr lang="pt-BR" dirty="0"/>
              <a:t>. </a:t>
            </a:r>
          </a:p>
          <a:p>
            <a:r>
              <a:rPr lang="pt-BR" dirty="0"/>
              <a:t>Entretanto, é </a:t>
            </a:r>
            <a:r>
              <a:rPr lang="pt-BR" b="1" i="1" dirty="0">
                <a:solidFill>
                  <a:srgbClr val="0070C0"/>
                </a:solidFill>
              </a:rPr>
              <a:t>mais rápido e menos complexo computacionalmente</a:t>
            </a:r>
            <a:r>
              <a:rPr lang="pt-BR" dirty="0"/>
              <a:t>, usando menos CPU e memória do que o GDB.</a:t>
            </a:r>
          </a:p>
        </p:txBody>
      </p:sp>
      <p:sp>
        <p:nvSpPr>
          <p:cNvPr id="4" name="TextBox 7">
            <a:extLst>
              <a:ext uri="{FF2B5EF4-FFF2-40B4-BE49-F238E27FC236}">
                <a16:creationId xmlns:a16="http://schemas.microsoft.com/office/drawing/2014/main" id="{AAC5363E-FD4F-BA03-42FC-969AED7F5B77}"/>
              </a:ext>
            </a:extLst>
          </p:cNvPr>
          <p:cNvSpPr txBox="1"/>
          <p:nvPr/>
        </p:nvSpPr>
        <p:spPr>
          <a:xfrm>
            <a:off x="9208487" y="6581000"/>
            <a:ext cx="2983513" cy="276999"/>
          </a:xfrm>
          <a:prstGeom prst="rect">
            <a:avLst/>
          </a:prstGeom>
          <a:noFill/>
        </p:spPr>
        <p:txBody>
          <a:bodyPr wrap="square" rtlCol="0">
            <a:spAutoFit/>
          </a:bodyPr>
          <a:lstStyle/>
          <a:p>
            <a:r>
              <a:rPr lang="pt-BR" sz="1200" u="sng" dirty="0">
                <a:solidFill>
                  <a:srgbClr val="0563C1"/>
                </a:solidFill>
                <a:hlinkClick r:id="rId3"/>
              </a:rPr>
              <a:t>Exemplo</a:t>
            </a:r>
            <a:r>
              <a:rPr lang="pt-BR" sz="1200" u="sng" dirty="0">
                <a:hlinkClick r:id="rId3"/>
              </a:rPr>
              <a:t>: gradiente descendente estocástico</a:t>
            </a:r>
            <a:endParaRPr lang="pt-BR" sz="1200" u="sng" dirty="0"/>
          </a:p>
        </p:txBody>
      </p:sp>
      <p:pic>
        <p:nvPicPr>
          <p:cNvPr id="5" name="Picture 4">
            <a:extLst>
              <a:ext uri="{FF2B5EF4-FFF2-40B4-BE49-F238E27FC236}">
                <a16:creationId xmlns:a16="http://schemas.microsoft.com/office/drawing/2014/main" id="{10CCB1CC-F1AF-F95C-B487-43FFC4F2A4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1913" r="9292" b="2280"/>
          <a:stretch/>
        </p:blipFill>
        <p:spPr>
          <a:xfrm>
            <a:off x="326688" y="2830803"/>
            <a:ext cx="3603286" cy="340857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AEAEE0E-EEDB-36B5-3380-9A360CAF3C0E}"/>
                  </a:ext>
                </a:extLst>
              </p:cNvPr>
              <p:cNvSpPr txBox="1"/>
              <p:nvPr/>
            </p:nvSpPr>
            <p:spPr>
              <a:xfrm>
                <a:off x="838200" y="1799690"/>
                <a:ext cx="11353799" cy="523220"/>
              </a:xfrm>
              <a:prstGeom prst="rect">
                <a:avLst/>
              </a:prstGeom>
              <a:noFill/>
            </p:spPr>
            <p:txBody>
              <a:bodyPr wrap="square">
                <a:spAutoFit/>
              </a:bodyPr>
              <a:lstStyle/>
              <a:p>
                <a:pPr marL="0" indent="0">
                  <a:buNone/>
                </a:pPr>
                <a14:m>
                  <m:oMathPara xmlns:m="http://schemas.openxmlformats.org/officeDocument/2006/math">
                    <m:oMath>
                      <m:r>
                        <a:rPr lang="pt-BR" sz="2800" b="1" i="1" smtClean="0">
                          <a:latin typeface="Cambria Math" panose="02040503050406030204" pitchFamily="18" charset="0"/>
                        </a:rPr>
                        <m:t>𝒂</m:t>
                      </m:r>
                      <m:r>
                        <a:rPr lang="pt-BR" sz="2800" b="1" i="1">
                          <a:latin typeface="Cambria Math" panose="02040503050406030204" pitchFamily="18" charset="0"/>
                        </a:rPr>
                        <m:t>=</m:t>
                      </m:r>
                      <m:r>
                        <a:rPr lang="pt-BR" sz="2800" b="1" i="1">
                          <a:latin typeface="Cambria Math" panose="02040503050406030204" pitchFamily="18" charset="0"/>
                        </a:rPr>
                        <m:t>𝒂</m:t>
                      </m:r>
                      <m:r>
                        <a:rPr lang="pt-BR" sz="2800" b="0" i="1" smtClean="0">
                          <a:latin typeface="Cambria Math" panose="02040503050406030204" pitchFamily="18" charset="0"/>
                        </a:rPr>
                        <m:t>+</m:t>
                      </m:r>
                      <m:r>
                        <a:rPr lang="pt-BR" sz="2800" i="1">
                          <a:latin typeface="Cambria Math" panose="02040503050406030204" pitchFamily="18" charset="0"/>
                          <a:ea typeface="Cambria Math" panose="02040503050406030204" pitchFamily="18" charset="0"/>
                        </a:rPr>
                        <m:t>𝛼</m:t>
                      </m:r>
                      <m:r>
                        <a:rPr lang="pt-BR" sz="2800" b="0" i="1" smtClean="0">
                          <a:latin typeface="Cambria Math" panose="02040503050406030204" pitchFamily="18" charset="0"/>
                          <a:ea typeface="Cambria Math" panose="02040503050406030204" pitchFamily="18" charset="0"/>
                        </a:rPr>
                        <m:t>2</m:t>
                      </m:r>
                      <m:d>
                        <m:dPr>
                          <m:begChr m:val="["/>
                          <m:endChr m:val="]"/>
                          <m:ctrlPr>
                            <a:rPr lang="pt-BR" sz="2800" i="1">
                              <a:latin typeface="Cambria Math" panose="02040503050406030204" pitchFamily="18" charset="0"/>
                            </a:rPr>
                          </m:ctrlPr>
                        </m:dPr>
                        <m:e>
                          <m:r>
                            <a:rPr lang="pt-BR" sz="2800" i="1">
                              <a:latin typeface="Cambria Math" panose="02040503050406030204" pitchFamily="18" charset="0"/>
                            </a:rPr>
                            <m:t>𝑦</m:t>
                          </m:r>
                          <m:d>
                            <m:dPr>
                              <m:ctrlPr>
                                <a:rPr lang="pt-BR" sz="2800" i="1" smtClean="0">
                                  <a:latin typeface="Cambria Math" panose="02040503050406030204" pitchFamily="18" charset="0"/>
                                </a:rPr>
                              </m:ctrlPr>
                            </m:dPr>
                            <m:e>
                              <m:sSub>
                                <m:sSubPr>
                                  <m:ctrlPr>
                                    <a:rPr lang="pt-BR" sz="2800" b="0" i="1" smtClean="0">
                                      <a:latin typeface="Cambria Math" panose="02040503050406030204" pitchFamily="18" charset="0"/>
                                    </a:rPr>
                                  </m:ctrlPr>
                                </m:sSubPr>
                                <m:e>
                                  <m:r>
                                    <a:rPr lang="pt-BR" sz="2800" b="0" i="1" smtClean="0">
                                      <a:latin typeface="Cambria Math" panose="02040503050406030204" pitchFamily="18" charset="0"/>
                                    </a:rPr>
                                    <m:t>𝑛</m:t>
                                  </m:r>
                                </m:e>
                                <m:sub>
                                  <m:r>
                                    <m:rPr>
                                      <m:sty m:val="p"/>
                                    </m:rPr>
                                    <a:rPr lang="pt-BR" sz="2800" b="0" i="0" smtClean="0">
                                      <a:latin typeface="Cambria Math" panose="02040503050406030204" pitchFamily="18" charset="0"/>
                                    </a:rPr>
                                    <m:t>random</m:t>
                                  </m:r>
                                </m:sub>
                              </m:sSub>
                            </m:e>
                          </m:d>
                          <m:r>
                            <a:rPr lang="pt-BR" sz="2800" i="1">
                              <a:latin typeface="Cambria Math" panose="02040503050406030204" pitchFamily="18" charset="0"/>
                            </a:rPr>
                            <m:t>−</m:t>
                          </m:r>
                          <m:acc>
                            <m:accPr>
                              <m:chr m:val="̂"/>
                              <m:ctrlPr>
                                <a:rPr lang="pt-BR" sz="2800" i="1">
                                  <a:latin typeface="Cambria Math" panose="02040503050406030204" pitchFamily="18" charset="0"/>
                                </a:rPr>
                              </m:ctrlPr>
                            </m:accPr>
                            <m:e>
                              <m:r>
                                <a:rPr lang="pt-BR" sz="2800" i="1">
                                  <a:latin typeface="Cambria Math" panose="02040503050406030204" pitchFamily="18" charset="0"/>
                                </a:rPr>
                                <m:t>𝑦</m:t>
                              </m:r>
                            </m:e>
                          </m:acc>
                          <m:d>
                            <m:dPr>
                              <m:ctrlPr>
                                <a:rPr lang="pt-BR" sz="2800" i="1">
                                  <a:latin typeface="Cambria Math" panose="02040503050406030204" pitchFamily="18" charset="0"/>
                                </a:rPr>
                              </m:ctrlPr>
                            </m:dPr>
                            <m:e>
                              <m:sSub>
                                <m:sSubPr>
                                  <m:ctrlPr>
                                    <a:rPr lang="pt-BR" sz="2800" i="1">
                                      <a:latin typeface="Cambria Math" panose="02040503050406030204" pitchFamily="18" charset="0"/>
                                    </a:rPr>
                                  </m:ctrlPr>
                                </m:sSubPr>
                                <m:e>
                                  <m:r>
                                    <a:rPr lang="pt-BR" sz="2800" i="1">
                                      <a:latin typeface="Cambria Math" panose="02040503050406030204" pitchFamily="18" charset="0"/>
                                    </a:rPr>
                                    <m:t>𝑛</m:t>
                                  </m:r>
                                </m:e>
                                <m:sub>
                                  <m:r>
                                    <m:rPr>
                                      <m:sty m:val="p"/>
                                    </m:rPr>
                                    <a:rPr lang="pt-BR" sz="2800">
                                      <a:latin typeface="Cambria Math" panose="02040503050406030204" pitchFamily="18" charset="0"/>
                                    </a:rPr>
                                    <m:t>random</m:t>
                                  </m:r>
                                </m:sub>
                              </m:sSub>
                            </m:e>
                          </m:d>
                        </m:e>
                      </m:d>
                      <m:r>
                        <a:rPr lang="pt-BR" sz="2800" b="1" i="1">
                          <a:latin typeface="Cambria Math" panose="02040503050406030204" pitchFamily="18" charset="0"/>
                        </a:rPr>
                        <m:t>𝒙</m:t>
                      </m:r>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𝑛</m:t>
                          </m:r>
                        </m:e>
                        <m:sub>
                          <m:r>
                            <m:rPr>
                              <m:sty m:val="p"/>
                            </m:rPr>
                            <a:rPr lang="pt-BR" sz="2800">
                              <a:latin typeface="Cambria Math" panose="02040503050406030204" pitchFamily="18" charset="0"/>
                            </a:rPr>
                            <m:t>random</m:t>
                          </m:r>
                        </m:sub>
                      </m:sSub>
                      <m:r>
                        <a:rPr lang="pt-BR" sz="2800" i="1">
                          <a:latin typeface="Cambria Math" panose="02040503050406030204" pitchFamily="18" charset="0"/>
                        </a:rPr>
                        <m:t>)</m:t>
                      </m:r>
                      <m:r>
                        <a:rPr lang="pt-BR" sz="2800" b="0" i="0" smtClean="0">
                          <a:latin typeface="Cambria Math" panose="02040503050406030204" pitchFamily="18" charset="0"/>
                        </a:rPr>
                        <m:t>.</m:t>
                      </m:r>
                    </m:oMath>
                  </m:oMathPara>
                </a14:m>
                <a:endParaRPr lang="pt-BR" sz="2800" b="0" i="0" dirty="0"/>
              </a:p>
            </p:txBody>
          </p:sp>
        </mc:Choice>
        <mc:Fallback xmlns="">
          <p:sp>
            <p:nvSpPr>
              <p:cNvPr id="6" name="TextBox 5">
                <a:extLst>
                  <a:ext uri="{FF2B5EF4-FFF2-40B4-BE49-F238E27FC236}">
                    <a16:creationId xmlns:a16="http://schemas.microsoft.com/office/drawing/2014/main" id="{6AEAEE0E-EEDB-36B5-3380-9A360CAF3C0E}"/>
                  </a:ext>
                </a:extLst>
              </p:cNvPr>
              <p:cNvSpPr txBox="1">
                <a:spLocks noRot="1" noChangeAspect="1" noMove="1" noResize="1" noEditPoints="1" noAdjustHandles="1" noChangeArrowheads="1" noChangeShapeType="1" noTextEdit="1"/>
              </p:cNvSpPr>
              <p:nvPr/>
            </p:nvSpPr>
            <p:spPr>
              <a:xfrm>
                <a:off x="838200" y="1799690"/>
                <a:ext cx="11353799" cy="52322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876391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5F8366-7EBB-1253-94D2-B24206612D22}"/>
              </a:ext>
            </a:extLst>
          </p:cNvPr>
          <p:cNvSpPr>
            <a:spLocks noGrp="1"/>
          </p:cNvSpPr>
          <p:nvPr>
            <p:ph type="title"/>
          </p:nvPr>
        </p:nvSpPr>
        <p:spPr/>
        <p:txBody>
          <a:bodyPr/>
          <a:lstStyle/>
          <a:p>
            <a:r>
              <a:rPr lang="pt-BR" dirty="0"/>
              <a:t>Características do GD estocástico</a:t>
            </a:r>
          </a:p>
        </p:txBody>
      </p:sp>
      <p:sp>
        <p:nvSpPr>
          <p:cNvPr id="3" name="Espaço Reservado para Conteúdo 2">
            <a:extLst>
              <a:ext uri="{FF2B5EF4-FFF2-40B4-BE49-F238E27FC236}">
                <a16:creationId xmlns:a16="http://schemas.microsoft.com/office/drawing/2014/main" id="{BC789945-AA19-BE0E-B64E-05B138B94ED8}"/>
              </a:ext>
            </a:extLst>
          </p:cNvPr>
          <p:cNvSpPr>
            <a:spLocks noGrp="1"/>
          </p:cNvSpPr>
          <p:nvPr>
            <p:ph idx="1"/>
          </p:nvPr>
        </p:nvSpPr>
        <p:spPr>
          <a:xfrm>
            <a:off x="838199" y="4094922"/>
            <a:ext cx="11353801" cy="2763077"/>
          </a:xfrm>
        </p:spPr>
        <p:txBody>
          <a:bodyPr>
            <a:normAutofit lnSpcReduction="10000"/>
          </a:bodyPr>
          <a:lstStyle/>
          <a:p>
            <a:pPr>
              <a:spcBef>
                <a:spcPts val="600"/>
              </a:spcBef>
            </a:pPr>
            <a:r>
              <a:rPr lang="pt-BR" sz="2800" b="1" i="1" dirty="0"/>
              <a:t>Apresenta um caminho </a:t>
            </a:r>
            <a:r>
              <a:rPr lang="pt-BR" sz="2800" b="1" i="1" dirty="0">
                <a:solidFill>
                  <a:srgbClr val="7030A0"/>
                </a:solidFill>
              </a:rPr>
              <a:t>irregular</a:t>
            </a:r>
            <a:r>
              <a:rPr lang="pt-BR" sz="2800" b="1" i="1" dirty="0"/>
              <a:t> para o ponto de mínimo</a:t>
            </a:r>
            <a:r>
              <a:rPr lang="pt-BR" sz="2800" dirty="0"/>
              <a:t>, mudando de direção várias vezes. </a:t>
            </a:r>
          </a:p>
          <a:p>
            <a:pPr>
              <a:spcBef>
                <a:spcPts val="600"/>
              </a:spcBef>
            </a:pPr>
            <a:r>
              <a:rPr lang="pt-BR" sz="2800" dirty="0"/>
              <a:t>Quando as </a:t>
            </a:r>
            <a:r>
              <a:rPr lang="pt-BR" sz="2800" b="1" i="1" dirty="0"/>
              <a:t>amostras contém ruído (caso acima)</a:t>
            </a:r>
            <a:r>
              <a:rPr lang="pt-BR" sz="2800" dirty="0"/>
              <a:t>, </a:t>
            </a:r>
            <a:r>
              <a:rPr lang="pt-BR" sz="2800" b="1" i="1" dirty="0"/>
              <a:t>não converge para o ponto de mínimo</a:t>
            </a:r>
            <a:r>
              <a:rPr lang="pt-BR" sz="2800" dirty="0"/>
              <a:t>, “</a:t>
            </a:r>
            <a:r>
              <a:rPr lang="pt-BR" sz="2800" i="1" dirty="0"/>
              <a:t>oscilando</a:t>
            </a:r>
            <a:r>
              <a:rPr lang="pt-BR" sz="2800" dirty="0"/>
              <a:t>” em torno dele.</a:t>
            </a:r>
          </a:p>
          <a:p>
            <a:pPr lvl="1">
              <a:spcBef>
                <a:spcPts val="600"/>
              </a:spcBef>
              <a:buFont typeface="Wingdings" panose="05000000000000000000" pitchFamily="2" charset="2"/>
              <a:buChar char="§"/>
            </a:pPr>
            <a:r>
              <a:rPr lang="pt-BR" dirty="0"/>
              <a:t>Essa oscilação também pode ser vista na curva de erro.</a:t>
            </a:r>
          </a:p>
          <a:p>
            <a:pPr>
              <a:spcBef>
                <a:spcPts val="600"/>
              </a:spcBef>
            </a:pPr>
            <a:r>
              <a:rPr lang="pt-BR" sz="2800" dirty="0"/>
              <a:t>Algumas técnicas podem ser usadas para torná-lo mais comportado e talvez convergir: redução do passo, </a:t>
            </a:r>
            <a:r>
              <a:rPr lang="pt-BR" sz="2800" i="1" dirty="0"/>
              <a:t>early</a:t>
            </a:r>
            <a:r>
              <a:rPr lang="pt-BR" i="1" dirty="0"/>
              <a:t>-stopping</a:t>
            </a:r>
            <a:r>
              <a:rPr lang="pt-BR" dirty="0"/>
              <a:t>, termo momentum, etc</a:t>
            </a:r>
            <a:r>
              <a:rPr lang="pt-BR" sz="2800" dirty="0"/>
              <a:t>.</a:t>
            </a:r>
          </a:p>
        </p:txBody>
      </p:sp>
      <p:pic>
        <p:nvPicPr>
          <p:cNvPr id="4" name="Picture 10">
            <a:extLst>
              <a:ext uri="{FF2B5EF4-FFF2-40B4-BE49-F238E27FC236}">
                <a16:creationId xmlns:a16="http://schemas.microsoft.com/office/drawing/2014/main" id="{9D861C42-BA73-C3D2-EFFB-BDC1F306C02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72" t="17580" r="1383" b="9839"/>
          <a:stretch/>
        </p:blipFill>
        <p:spPr>
          <a:xfrm>
            <a:off x="1144433" y="1754042"/>
            <a:ext cx="2480001" cy="2232000"/>
          </a:xfrm>
          <a:prstGeom prst="rect">
            <a:avLst/>
          </a:prstGeom>
        </p:spPr>
      </p:pic>
      <p:pic>
        <p:nvPicPr>
          <p:cNvPr id="5" name="Picture 4">
            <a:extLst>
              <a:ext uri="{FF2B5EF4-FFF2-40B4-BE49-F238E27FC236}">
                <a16:creationId xmlns:a16="http://schemas.microsoft.com/office/drawing/2014/main" id="{D253F535-9756-5F7B-6082-569E679D90F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913" r="9292" b="2280"/>
          <a:stretch/>
        </p:blipFill>
        <p:spPr>
          <a:xfrm>
            <a:off x="5129626" y="1754042"/>
            <a:ext cx="2359500" cy="2232000"/>
          </a:xfrm>
          <a:prstGeom prst="rect">
            <a:avLst/>
          </a:prstGeom>
        </p:spPr>
      </p:pic>
      <p:pic>
        <p:nvPicPr>
          <p:cNvPr id="6" name="Picture 5">
            <a:extLst>
              <a:ext uri="{FF2B5EF4-FFF2-40B4-BE49-F238E27FC236}">
                <a16:creationId xmlns:a16="http://schemas.microsoft.com/office/drawing/2014/main" id="{E16771B7-0D4B-2C47-B862-453742E3AC2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17" t="11837" r="5983" b="3248"/>
          <a:stretch/>
        </p:blipFill>
        <p:spPr>
          <a:xfrm>
            <a:off x="9200896" y="1754042"/>
            <a:ext cx="2431391" cy="2232000"/>
          </a:xfrm>
          <a:prstGeom prst="rect">
            <a:avLst/>
          </a:prstGeom>
        </p:spPr>
      </p:pic>
      <p:sp>
        <p:nvSpPr>
          <p:cNvPr id="7" name="Retângulo 6">
            <a:extLst>
              <a:ext uri="{FF2B5EF4-FFF2-40B4-BE49-F238E27FC236}">
                <a16:creationId xmlns:a16="http://schemas.microsoft.com/office/drawing/2014/main" id="{AC02833D-7450-555A-A848-1B5AEEE6F02A}"/>
              </a:ext>
            </a:extLst>
          </p:cNvPr>
          <p:cNvSpPr/>
          <p:nvPr/>
        </p:nvSpPr>
        <p:spPr>
          <a:xfrm>
            <a:off x="9575617" y="3244029"/>
            <a:ext cx="1984780" cy="4695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8" name="Conector de Seta Reta 7">
            <a:extLst>
              <a:ext uri="{FF2B5EF4-FFF2-40B4-BE49-F238E27FC236}">
                <a16:creationId xmlns:a16="http://schemas.microsoft.com/office/drawing/2014/main" id="{D779996E-DE34-3C69-97C6-694BCE55726B}"/>
              </a:ext>
            </a:extLst>
          </p:cNvPr>
          <p:cNvCxnSpPr>
            <a:cxnSpLocks/>
          </p:cNvCxnSpPr>
          <p:nvPr/>
        </p:nvCxnSpPr>
        <p:spPr>
          <a:xfrm>
            <a:off x="8729044" y="3299910"/>
            <a:ext cx="851084" cy="2653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55A3915F-87EF-3392-E898-531FF2A90727}"/>
              </a:ext>
            </a:extLst>
          </p:cNvPr>
          <p:cNvCxnSpPr>
            <a:cxnSpLocks/>
          </p:cNvCxnSpPr>
          <p:nvPr/>
        </p:nvCxnSpPr>
        <p:spPr>
          <a:xfrm flipH="1" flipV="1">
            <a:off x="6564330" y="2732519"/>
            <a:ext cx="1396648" cy="4448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BE7BCDB1-11B8-7146-FA56-0E393FC967AA}"/>
              </a:ext>
            </a:extLst>
          </p:cNvPr>
          <p:cNvSpPr txBox="1"/>
          <p:nvPr/>
        </p:nvSpPr>
        <p:spPr>
          <a:xfrm>
            <a:off x="7960978" y="2967335"/>
            <a:ext cx="777088" cy="461665"/>
          </a:xfrm>
          <a:prstGeom prst="rect">
            <a:avLst/>
          </a:prstGeom>
          <a:noFill/>
        </p:spPr>
        <p:txBody>
          <a:bodyPr wrap="square" rtlCol="0">
            <a:spAutoFit/>
          </a:bodyPr>
          <a:lstStyle/>
          <a:p>
            <a:pPr algn="ctr"/>
            <a:r>
              <a:rPr lang="pt-BR" sz="1200" b="1" dirty="0">
                <a:solidFill>
                  <a:srgbClr val="7030A0"/>
                </a:solidFill>
              </a:rPr>
              <a:t>Não converge</a:t>
            </a:r>
          </a:p>
        </p:txBody>
      </p:sp>
    </p:spTree>
    <p:extLst>
      <p:ext uri="{BB962C8B-B14F-4D97-AF65-F5344CB8AC3E}">
        <p14:creationId xmlns:p14="http://schemas.microsoft.com/office/powerpoint/2010/main" val="527918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2A5BB-4554-C140-C4FA-0015A4C7E1DE}"/>
              </a:ext>
            </a:extLst>
          </p:cNvPr>
          <p:cNvSpPr>
            <a:spLocks noGrp="1"/>
          </p:cNvSpPr>
          <p:nvPr>
            <p:ph type="title"/>
          </p:nvPr>
        </p:nvSpPr>
        <p:spPr/>
        <p:txBody>
          <a:bodyPr/>
          <a:lstStyle/>
          <a:p>
            <a:r>
              <a:rPr lang="pt-BR" dirty="0"/>
              <a:t>Gradiente descendente em mini-lotes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7AC0EF6-98AD-3BF4-053F-55150437291C}"/>
                  </a:ext>
                </a:extLst>
              </p:cNvPr>
              <p:cNvSpPr>
                <a:spLocks noGrp="1"/>
              </p:cNvSpPr>
              <p:nvPr>
                <p:ph idx="1"/>
              </p:nvPr>
            </p:nvSpPr>
            <p:spPr>
              <a:xfrm>
                <a:off x="838200" y="1690689"/>
                <a:ext cx="11258550" cy="5177250"/>
              </a:xfrm>
            </p:spPr>
            <p:txBody>
              <a:bodyPr>
                <a:normAutofit/>
              </a:bodyPr>
              <a:lstStyle/>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𝑀𝐵</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b="0" i="1" smtClean="0">
                              <a:latin typeface="Cambria Math" panose="02040503050406030204" pitchFamily="18" charset="0"/>
                            </a:rPr>
                            <m:t>𝑀𝐵</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0" smtClean="0">
                          <a:latin typeface="Cambria Math" panose="02040503050406030204" pitchFamily="18" charset="0"/>
                        </a:rPr>
                        <m:t>.</m:t>
                      </m:r>
                    </m:oMath>
                  </m:oMathPara>
                </a14:m>
                <a:endParaRPr lang="pt-BR" b="0" i="0" dirty="0">
                  <a:latin typeface="Cambria Math" panose="02040503050406030204" pitchFamily="18" charset="0"/>
                </a:endParaRPr>
              </a:p>
              <a:p>
                <a:r>
                  <a:rPr lang="pt-BR" dirty="0"/>
                  <a:t>Utiliza a cada iteração um </a:t>
                </a:r>
                <a:r>
                  <a:rPr lang="pt-BR" b="1" i="1" dirty="0">
                    <a:solidFill>
                      <a:srgbClr val="00B050"/>
                    </a:solidFill>
                  </a:rPr>
                  <a:t>subconjunto </a:t>
                </a:r>
                <a:r>
                  <a:rPr lang="pt-BR" b="1" i="1" dirty="0">
                    <a:solidFill>
                      <a:srgbClr val="7030A0"/>
                    </a:solidFill>
                  </a:rPr>
                  <a:t>aleatório</a:t>
                </a:r>
                <a:r>
                  <a:rPr lang="pt-BR" b="1" i="1" dirty="0">
                    <a:solidFill>
                      <a:srgbClr val="00B050"/>
                    </a:solidFill>
                  </a:rPr>
                  <a:t> de exemplos</a:t>
                </a:r>
                <a:r>
                  <a:rPr lang="pt-BR" dirty="0"/>
                  <a:t>, de tamanho </a:t>
                </a:r>
                <a14:m>
                  <m:oMath xmlns:m="http://schemas.openxmlformats.org/officeDocument/2006/math">
                    <m:r>
                      <a:rPr lang="pt-BR" i="1">
                        <a:latin typeface="Cambria Math" panose="02040503050406030204" pitchFamily="18" charset="0"/>
                      </a:rPr>
                      <m:t>𝑀𝐵</m:t>
                    </m:r>
                  </m:oMath>
                </a14:m>
                <a:r>
                  <a:rPr lang="pt-BR" dirty="0"/>
                  <a:t>, do conjunto de treinamento para o cálculo do vetor gradiente</a:t>
                </a:r>
                <a:r>
                  <a:rPr lang="nl-BE" dirty="0"/>
                  <a:t>.</a:t>
                </a:r>
              </a:p>
              <a:p>
                <a:r>
                  <a:rPr lang="nl-BE" dirty="0"/>
                  <a:t>Em geral, </a:t>
                </a:r>
                <a14:m>
                  <m:oMath xmlns:m="http://schemas.openxmlformats.org/officeDocument/2006/math">
                    <m:r>
                      <a:rPr lang="pt-BR" b="0" i="0" smtClean="0">
                        <a:latin typeface="Cambria Math" panose="02040503050406030204" pitchFamily="18" charset="0"/>
                      </a:rPr>
                      <m:t>1&lt;</m:t>
                    </m:r>
                    <m:r>
                      <a:rPr lang="pt-BR" i="1">
                        <a:latin typeface="Cambria Math" panose="02040503050406030204" pitchFamily="18" charset="0"/>
                      </a:rPr>
                      <m:t>𝑀𝐵</m:t>
                    </m:r>
                    <m:r>
                      <a:rPr lang="pt-BR" b="0" i="0" smtClean="0">
                        <a:latin typeface="Cambria Math" panose="02040503050406030204" pitchFamily="18" charset="0"/>
                      </a:rPr>
                      <m:t>&lt;</m:t>
                    </m:r>
                    <m:r>
                      <a:rPr lang="pt-BR" b="0" i="1" smtClean="0">
                        <a:latin typeface="Cambria Math" panose="02040503050406030204" pitchFamily="18" charset="0"/>
                      </a:rPr>
                      <m:t>𝑁</m:t>
                    </m:r>
                  </m:oMath>
                </a14:m>
                <a:r>
                  <a:rPr lang="pt-BR" dirty="0"/>
                  <a:t>, portanto é </a:t>
                </a:r>
                <a:r>
                  <a:rPr lang="pt-BR" b="1" dirty="0">
                    <a:solidFill>
                      <a:schemeClr val="accent2"/>
                    </a:solidFill>
                  </a:rPr>
                  <a:t>mais rápido que o GDB </a:t>
                </a:r>
                <a:r>
                  <a:rPr lang="pt-BR" dirty="0"/>
                  <a:t>e </a:t>
                </a:r>
                <a:r>
                  <a:rPr lang="pt-BR" b="1" dirty="0">
                    <a:solidFill>
                      <a:schemeClr val="accent5"/>
                    </a:solidFill>
                  </a:rPr>
                  <a:t>mais preciso e estável do que o GDE</a:t>
                </a:r>
                <a:r>
                  <a:rPr lang="pt-BR" dirty="0"/>
                  <a:t>.</a:t>
                </a:r>
              </a:p>
              <a:p>
                <a:r>
                  <a:rPr lang="pt-BR" dirty="0"/>
                  <a:t>Podemos escolher </a:t>
                </a:r>
                <a14:m>
                  <m:oMath xmlns:m="http://schemas.openxmlformats.org/officeDocument/2006/math">
                    <m:r>
                      <a:rPr lang="pt-BR" i="1">
                        <a:latin typeface="Cambria Math" panose="02040503050406030204" pitchFamily="18" charset="0"/>
                      </a:rPr>
                      <m:t>𝑀𝐵</m:t>
                    </m:r>
                  </m:oMath>
                </a14:m>
                <a:r>
                  <a:rPr lang="pt-BR" dirty="0"/>
                  <a:t> para que a </a:t>
                </a:r>
                <a:r>
                  <a:rPr lang="pt-BR" b="1" dirty="0">
                    <a:solidFill>
                      <a:schemeClr val="accent6"/>
                    </a:solidFill>
                  </a:rPr>
                  <a:t>complexidade</a:t>
                </a:r>
                <a:r>
                  <a:rPr lang="pt-BR" dirty="0"/>
                  <a:t> computacional do algoritmo se </a:t>
                </a:r>
                <a:r>
                  <a:rPr lang="pt-BR" b="1" dirty="0">
                    <a:solidFill>
                      <a:schemeClr val="accent6"/>
                    </a:solidFill>
                  </a:rPr>
                  <a:t>adeque ao </a:t>
                </a:r>
                <a:r>
                  <a:rPr lang="pt-BR" b="1" i="1" dirty="0">
                    <a:solidFill>
                      <a:schemeClr val="accent6"/>
                    </a:solidFill>
                  </a:rPr>
                  <a:t>hardware</a:t>
                </a:r>
                <a:r>
                  <a:rPr lang="pt-BR" b="1" dirty="0">
                    <a:solidFill>
                      <a:schemeClr val="accent6"/>
                    </a:solidFill>
                  </a:rPr>
                  <a:t> de treinamento</a:t>
                </a:r>
                <a:r>
                  <a:rPr lang="pt-BR" dirty="0"/>
                  <a:t>.</a:t>
                </a:r>
              </a:p>
            </p:txBody>
          </p:sp>
        </mc:Choice>
        <mc:Fallback xmlns="">
          <p:sp>
            <p:nvSpPr>
              <p:cNvPr id="3" name="Espaço Reservado para Conteúdo 2">
                <a:extLst>
                  <a:ext uri="{FF2B5EF4-FFF2-40B4-BE49-F238E27FC236}">
                    <a16:creationId xmlns:a16="http://schemas.microsoft.com/office/drawing/2014/main" id="{F7AC0EF6-98AD-3BF4-053F-55150437291C}"/>
                  </a:ext>
                </a:extLst>
              </p:cNvPr>
              <p:cNvSpPr>
                <a:spLocks noGrp="1" noRot="1" noChangeAspect="1" noMove="1" noResize="1" noEditPoints="1" noAdjustHandles="1" noChangeArrowheads="1" noChangeShapeType="1" noTextEdit="1"/>
              </p:cNvSpPr>
              <p:nvPr>
                <p:ph idx="1"/>
              </p:nvPr>
            </p:nvSpPr>
            <p:spPr>
              <a:xfrm>
                <a:off x="838200" y="1690689"/>
                <a:ext cx="11258550" cy="5177250"/>
              </a:xfrm>
              <a:blipFill>
                <a:blip r:embed="rId3"/>
                <a:stretch>
                  <a:fillRect l="-975" r="-1733"/>
                </a:stretch>
              </a:blipFill>
            </p:spPr>
            <p:txBody>
              <a:bodyPr/>
              <a:lstStyle/>
              <a:p>
                <a:r>
                  <a:rPr lang="en-US">
                    <a:noFill/>
                  </a:rPr>
                  <a:t> </a:t>
                </a:r>
              </a:p>
            </p:txBody>
          </p:sp>
        </mc:Fallback>
      </mc:AlternateContent>
      <p:sp>
        <p:nvSpPr>
          <p:cNvPr id="5" name="Rectangle 3">
            <a:extLst>
              <a:ext uri="{FF2B5EF4-FFF2-40B4-BE49-F238E27FC236}">
                <a16:creationId xmlns:a16="http://schemas.microsoft.com/office/drawing/2014/main" id="{B467F2B4-E55B-2059-5805-608AE3B92F59}"/>
              </a:ext>
            </a:extLst>
          </p:cNvPr>
          <p:cNvSpPr/>
          <p:nvPr/>
        </p:nvSpPr>
        <p:spPr>
          <a:xfrm>
            <a:off x="5685871" y="1568933"/>
            <a:ext cx="800654" cy="13255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243174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2A5BB-4554-C140-C4FA-0015A4C7E1DE}"/>
              </a:ext>
            </a:extLst>
          </p:cNvPr>
          <p:cNvSpPr>
            <a:spLocks noGrp="1"/>
          </p:cNvSpPr>
          <p:nvPr>
            <p:ph type="title"/>
          </p:nvPr>
        </p:nvSpPr>
        <p:spPr/>
        <p:txBody>
          <a:bodyPr/>
          <a:lstStyle/>
          <a:p>
            <a:r>
              <a:rPr lang="pt-BR" dirty="0"/>
              <a:t>Gradiente descendente em mini-lotes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7AC0EF6-98AD-3BF4-053F-55150437291C}"/>
                  </a:ext>
                </a:extLst>
              </p:cNvPr>
              <p:cNvSpPr>
                <a:spLocks noGrp="1"/>
              </p:cNvSpPr>
              <p:nvPr>
                <p:ph idx="1"/>
              </p:nvPr>
            </p:nvSpPr>
            <p:spPr>
              <a:xfrm>
                <a:off x="838200" y="1690689"/>
                <a:ext cx="11258550" cy="5177250"/>
              </a:xfrm>
            </p:spPr>
            <p:txBody>
              <a:bodyPr>
                <a:normAutofit/>
              </a:bodyPr>
              <a:lstStyle/>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𝑀𝐵</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b="0" i="1" smtClean="0">
                              <a:latin typeface="Cambria Math" panose="02040503050406030204" pitchFamily="18" charset="0"/>
                            </a:rPr>
                            <m:t>𝑀𝐵</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e>
                      </m:nary>
                      <m:r>
                        <a:rPr lang="pt-BR" b="0" i="0" smtClean="0">
                          <a:latin typeface="Cambria Math" panose="02040503050406030204" pitchFamily="18" charset="0"/>
                        </a:rPr>
                        <m:t>.</m:t>
                      </m:r>
                    </m:oMath>
                  </m:oMathPara>
                </a14:m>
                <a:endParaRPr lang="pt-BR" dirty="0"/>
              </a:p>
              <a:p>
                <a:r>
                  <a:rPr lang="pt-BR" dirty="0"/>
                  <a:t>Por </a:t>
                </a:r>
                <a14:m>
                  <m:oMath xmlns:m="http://schemas.openxmlformats.org/officeDocument/2006/math">
                    <m:r>
                      <a:rPr lang="pt-BR" b="0" i="1" smtClean="0">
                        <a:latin typeface="Cambria Math" panose="02040503050406030204" pitchFamily="18" charset="0"/>
                      </a:rPr>
                      <m:t>𝑀𝐵</m:t>
                    </m:r>
                  </m:oMath>
                </a14:m>
                <a:r>
                  <a:rPr lang="pt-BR" dirty="0"/>
                  <a:t> ser variável, essa versão é vista como uma </a:t>
                </a:r>
                <a:r>
                  <a:rPr lang="pt-BR" b="1" i="1" dirty="0">
                    <a:solidFill>
                      <a:srgbClr val="00B050"/>
                    </a:solidFill>
                  </a:rPr>
                  <a:t>generalização</a:t>
                </a:r>
                <a:r>
                  <a:rPr lang="pt-BR" dirty="0"/>
                  <a:t> das duas versões anteriores, pois </a:t>
                </a:r>
                <a14:m>
                  <m:oMath xmlns:m="http://schemas.openxmlformats.org/officeDocument/2006/math">
                    <m:r>
                      <a:rPr lang="pt-BR" i="1">
                        <a:latin typeface="Cambria Math" panose="02040503050406030204" pitchFamily="18" charset="0"/>
                      </a:rPr>
                      <m:t>𝑀𝐵</m:t>
                    </m:r>
                  </m:oMath>
                </a14:m>
                <a:r>
                  <a:rPr lang="pt-BR" dirty="0"/>
                  <a:t> pode ser feito igual a 1 ou </a:t>
                </a:r>
                <a14:m>
                  <m:oMath xmlns:m="http://schemas.openxmlformats.org/officeDocument/2006/math">
                    <m:r>
                      <a:rPr lang="pt-BR" b="0" i="1" smtClean="0">
                        <a:latin typeface="Cambria Math" panose="02040503050406030204" pitchFamily="18" charset="0"/>
                      </a:rPr>
                      <m:t>𝑁</m:t>
                    </m:r>
                  </m:oMath>
                </a14:m>
                <a:r>
                  <a:rPr lang="pt-BR" dirty="0"/>
                  <a:t>.</a:t>
                </a:r>
              </a:p>
              <a:p>
                <a:r>
                  <a:rPr lang="pt-BR" dirty="0"/>
                  <a:t>Em caso de </a:t>
                </a:r>
                <a:r>
                  <a:rPr lang="pt-BR" b="1" i="1" dirty="0">
                    <a:solidFill>
                      <a:srgbClr val="00B050"/>
                    </a:solidFill>
                  </a:rPr>
                  <a:t>amostras ruidosas</a:t>
                </a:r>
                <a:r>
                  <a:rPr lang="pt-BR" dirty="0"/>
                  <a:t>, a convergência depende do tamanho de </a:t>
                </a:r>
                <a14:m>
                  <m:oMath xmlns:m="http://schemas.openxmlformats.org/officeDocument/2006/math">
                    <m:r>
                      <a:rPr lang="pt-BR" b="0" i="1" smtClean="0">
                        <a:latin typeface="Cambria Math" panose="02040503050406030204" pitchFamily="18" charset="0"/>
                      </a:rPr>
                      <m:t>𝑀𝐵</m:t>
                    </m:r>
                  </m:oMath>
                </a14:m>
                <a:r>
                  <a:rPr lang="pt-BR" dirty="0"/>
                  <a:t>, </a:t>
                </a:r>
                <a:r>
                  <a:rPr lang="pt-BR" b="1" i="1" dirty="0">
                    <a:solidFill>
                      <a:srgbClr val="00B050"/>
                    </a:solidFill>
                  </a:rPr>
                  <a:t>quanto maior, melhor é a estimativa </a:t>
                </a:r>
                <a:r>
                  <a:rPr lang="pt-BR" dirty="0"/>
                  <a:t>do vetor gradiente e, consequentemente, </a:t>
                </a:r>
                <a:r>
                  <a:rPr lang="pt-BR" b="1" i="1" dirty="0">
                    <a:solidFill>
                      <a:srgbClr val="00B050"/>
                    </a:solidFill>
                  </a:rPr>
                  <a:t>maior a chance de convergência</a:t>
                </a:r>
                <a:r>
                  <a:rPr lang="pt-BR" dirty="0"/>
                  <a:t>.</a:t>
                </a:r>
              </a:p>
            </p:txBody>
          </p:sp>
        </mc:Choice>
        <mc:Fallback xmlns="">
          <p:sp>
            <p:nvSpPr>
              <p:cNvPr id="3" name="Espaço Reservado para Conteúdo 2">
                <a:extLst>
                  <a:ext uri="{FF2B5EF4-FFF2-40B4-BE49-F238E27FC236}">
                    <a16:creationId xmlns:a16="http://schemas.microsoft.com/office/drawing/2014/main" id="{F7AC0EF6-98AD-3BF4-053F-55150437291C}"/>
                  </a:ext>
                </a:extLst>
              </p:cNvPr>
              <p:cNvSpPr>
                <a:spLocks noGrp="1" noRot="1" noChangeAspect="1" noMove="1" noResize="1" noEditPoints="1" noAdjustHandles="1" noChangeArrowheads="1" noChangeShapeType="1" noTextEdit="1"/>
              </p:cNvSpPr>
              <p:nvPr>
                <p:ph idx="1"/>
              </p:nvPr>
            </p:nvSpPr>
            <p:spPr>
              <a:xfrm>
                <a:off x="838200" y="1690689"/>
                <a:ext cx="11258550" cy="5177250"/>
              </a:xfrm>
              <a:blipFill>
                <a:blip r:embed="rId3"/>
                <a:stretch>
                  <a:fillRect l="-975" r="-921"/>
                </a:stretch>
              </a:blipFill>
            </p:spPr>
            <p:txBody>
              <a:bodyPr/>
              <a:lstStyle/>
              <a:p>
                <a:r>
                  <a:rPr lang="en-US">
                    <a:noFill/>
                  </a:rPr>
                  <a:t> </a:t>
                </a:r>
              </a:p>
            </p:txBody>
          </p:sp>
        </mc:Fallback>
      </mc:AlternateContent>
      <p:sp>
        <p:nvSpPr>
          <p:cNvPr id="4" name="TextBox 4">
            <a:extLst>
              <a:ext uri="{FF2B5EF4-FFF2-40B4-BE49-F238E27FC236}">
                <a16:creationId xmlns:a16="http://schemas.microsoft.com/office/drawing/2014/main" id="{50287A2F-B7CE-132B-6E11-098600465D58}"/>
              </a:ext>
            </a:extLst>
          </p:cNvPr>
          <p:cNvSpPr txBox="1"/>
          <p:nvPr/>
        </p:nvSpPr>
        <p:spPr>
          <a:xfrm>
            <a:off x="9056559" y="6581000"/>
            <a:ext cx="3135441" cy="276999"/>
          </a:xfrm>
          <a:prstGeom prst="rect">
            <a:avLst/>
          </a:prstGeom>
          <a:noFill/>
        </p:spPr>
        <p:txBody>
          <a:bodyPr wrap="square" rtlCol="0">
            <a:spAutoFit/>
          </a:bodyPr>
          <a:lstStyle/>
          <a:p>
            <a:r>
              <a:rPr lang="pt-BR" sz="1200" dirty="0">
                <a:hlinkClick r:id="rId4"/>
              </a:rPr>
              <a:t>Exemplo: gradiente descendente em mini-lotes</a:t>
            </a:r>
            <a:endParaRPr lang="pt-BR" sz="1200" dirty="0"/>
          </a:p>
        </p:txBody>
      </p:sp>
      <p:sp>
        <p:nvSpPr>
          <p:cNvPr id="5" name="Rectangle 3">
            <a:extLst>
              <a:ext uri="{FF2B5EF4-FFF2-40B4-BE49-F238E27FC236}">
                <a16:creationId xmlns:a16="http://schemas.microsoft.com/office/drawing/2014/main" id="{B467F2B4-E55B-2059-5805-608AE3B92F59}"/>
              </a:ext>
            </a:extLst>
          </p:cNvPr>
          <p:cNvSpPr/>
          <p:nvPr/>
        </p:nvSpPr>
        <p:spPr>
          <a:xfrm>
            <a:off x="5685871" y="1568933"/>
            <a:ext cx="800654" cy="13255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260881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EDE67-081C-D72E-B39C-B03A5DF6406A}"/>
              </a:ext>
            </a:extLst>
          </p:cNvPr>
          <p:cNvSpPr>
            <a:spLocks noGrp="1"/>
          </p:cNvSpPr>
          <p:nvPr>
            <p:ph type="title"/>
          </p:nvPr>
        </p:nvSpPr>
        <p:spPr/>
        <p:txBody>
          <a:bodyPr/>
          <a:lstStyle/>
          <a:p>
            <a:r>
              <a:rPr lang="pt-BR" dirty="0"/>
              <a:t>Características do GD em mini-lotes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1E63B2AC-3192-E390-0814-21A3EB06B923}"/>
                  </a:ext>
                </a:extLst>
              </p:cNvPr>
              <p:cNvSpPr>
                <a:spLocks noGrp="1"/>
              </p:cNvSpPr>
              <p:nvPr>
                <p:ph idx="1"/>
              </p:nvPr>
            </p:nvSpPr>
            <p:spPr>
              <a:xfrm>
                <a:off x="6342308" y="1825624"/>
                <a:ext cx="5849692" cy="5032375"/>
              </a:xfrm>
            </p:spPr>
            <p:txBody>
              <a:bodyPr>
                <a:normAutofit/>
              </a:bodyPr>
              <a:lstStyle/>
              <a:p>
                <a:pPr>
                  <a:spcBef>
                    <a:spcPts val="0"/>
                  </a:spcBef>
                </a:pPr>
                <a:r>
                  <a:rPr lang="pt-BR" dirty="0"/>
                  <a:t>Vejam que conforme </a:t>
                </a:r>
                <a14:m>
                  <m:oMath xmlns:m="http://schemas.openxmlformats.org/officeDocument/2006/math">
                    <m:r>
                      <a:rPr lang="pt-BR" b="0" i="1" smtClean="0">
                        <a:latin typeface="Cambria Math" panose="02040503050406030204" pitchFamily="18" charset="0"/>
                      </a:rPr>
                      <m:t>𝑀𝐵</m:t>
                    </m:r>
                  </m:oMath>
                </a14:m>
                <a:r>
                  <a:rPr lang="pt-BR" dirty="0"/>
                  <a:t> aumenta, </a:t>
                </a:r>
              </a:p>
              <a:p>
                <a:pPr lvl="1">
                  <a:spcBef>
                    <a:spcPts val="0"/>
                  </a:spcBef>
                  <a:buFont typeface="Wingdings" panose="05000000000000000000" pitchFamily="2" charset="2"/>
                  <a:buChar char="§"/>
                </a:pPr>
                <a:r>
                  <a:rPr lang="pt-BR" dirty="0"/>
                  <a:t>o progresso se torna menos irregular do que o do GDE, </a:t>
                </a:r>
              </a:p>
              <a:p>
                <a:pPr lvl="1">
                  <a:spcBef>
                    <a:spcPts val="0"/>
                  </a:spcBef>
                  <a:buFont typeface="Wingdings" panose="05000000000000000000" pitchFamily="2" charset="2"/>
                  <a:buChar char="§"/>
                </a:pPr>
                <a:r>
                  <a:rPr lang="pt-BR" dirty="0"/>
                  <a:t>e a oscilação ao redor do ponto de mínimo diminui.</a:t>
                </a:r>
              </a:p>
              <a:p>
                <a:pPr>
                  <a:spcBef>
                    <a:spcPts val="0"/>
                  </a:spcBef>
                </a:pPr>
                <a:r>
                  <a:rPr lang="pt-BR" dirty="0"/>
                  <a:t>Comportamento se aproxima ao do GDB conforme os mini-lotes aumentam.</a:t>
                </a:r>
              </a:p>
              <a:p>
                <a:pPr>
                  <a:spcBef>
                    <a:spcPts val="0"/>
                  </a:spcBef>
                </a:pPr>
                <a:r>
                  <a:rPr lang="pt-BR" dirty="0"/>
                  <a:t>Para </a:t>
                </a:r>
                <a14:m>
                  <m:oMath xmlns:m="http://schemas.openxmlformats.org/officeDocument/2006/math">
                    <m:r>
                      <a:rPr lang="pt-BR" b="0" i="1" smtClean="0">
                        <a:latin typeface="Cambria Math" panose="02040503050406030204" pitchFamily="18" charset="0"/>
                      </a:rPr>
                      <m:t>𝑀𝐵</m:t>
                    </m:r>
                  </m:oMath>
                </a14:m>
                <a:r>
                  <a:rPr lang="pt-BR" dirty="0"/>
                  <a:t> pequenos, pode se beneficiar de </a:t>
                </a:r>
                <a:r>
                  <a:rPr lang="pt-BR" sz="2800" dirty="0"/>
                  <a:t>técnicas para torná-lo mais comportado e talvez convergir.</a:t>
                </a:r>
              </a:p>
              <a:p>
                <a:pPr lvl="1">
                  <a:spcBef>
                    <a:spcPts val="0"/>
                  </a:spcBef>
                  <a:buFont typeface="Wingdings" panose="05000000000000000000" pitchFamily="2" charset="2"/>
                  <a:buChar char="§"/>
                </a:pPr>
                <a:r>
                  <a:rPr lang="pt-BR" dirty="0"/>
                  <a:t>Essas técnicas podem ajudar a </a:t>
                </a:r>
                <a:r>
                  <a:rPr lang="pt-BR" b="1" i="1" dirty="0">
                    <a:solidFill>
                      <a:srgbClr val="00B050"/>
                    </a:solidFill>
                  </a:rPr>
                  <a:t>balancear rapidez e convergência</a:t>
                </a:r>
                <a:r>
                  <a:rPr lang="pt-BR" dirty="0"/>
                  <a:t>.</a:t>
                </a:r>
              </a:p>
            </p:txBody>
          </p:sp>
        </mc:Choice>
        <mc:Fallback xmlns="">
          <p:sp>
            <p:nvSpPr>
              <p:cNvPr id="3" name="Espaço Reservado para Conteúdo 2">
                <a:extLst>
                  <a:ext uri="{FF2B5EF4-FFF2-40B4-BE49-F238E27FC236}">
                    <a16:creationId xmlns:a16="http://schemas.microsoft.com/office/drawing/2014/main" id="{1E63B2AC-3192-E390-0814-21A3EB06B923}"/>
                  </a:ext>
                </a:extLst>
              </p:cNvPr>
              <p:cNvSpPr>
                <a:spLocks noGrp="1" noRot="1" noChangeAspect="1" noMove="1" noResize="1" noEditPoints="1" noAdjustHandles="1" noChangeArrowheads="1" noChangeShapeType="1" noTextEdit="1"/>
              </p:cNvSpPr>
              <p:nvPr>
                <p:ph idx="1"/>
              </p:nvPr>
            </p:nvSpPr>
            <p:spPr>
              <a:xfrm>
                <a:off x="6342308" y="1825624"/>
                <a:ext cx="5849692" cy="5032375"/>
              </a:xfrm>
              <a:blipFill>
                <a:blip r:embed="rId3"/>
                <a:stretch>
                  <a:fillRect l="-1875" t="-1937" r="-2188"/>
                </a:stretch>
              </a:blipFill>
            </p:spPr>
            <p:txBody>
              <a:bodyPr/>
              <a:lstStyle/>
              <a:p>
                <a:r>
                  <a:rPr lang="en-US">
                    <a:noFill/>
                  </a:rPr>
                  <a:t> </a:t>
                </a:r>
              </a:p>
            </p:txBody>
          </p:sp>
        </mc:Fallback>
      </mc:AlternateContent>
      <p:sp>
        <p:nvSpPr>
          <p:cNvPr id="4" name="TextBox 7">
            <a:extLst>
              <a:ext uri="{FF2B5EF4-FFF2-40B4-BE49-F238E27FC236}">
                <a16:creationId xmlns:a16="http://schemas.microsoft.com/office/drawing/2014/main" id="{15E27590-D150-C917-1224-55B107998371}"/>
              </a:ext>
            </a:extLst>
          </p:cNvPr>
          <p:cNvSpPr txBox="1"/>
          <p:nvPr/>
        </p:nvSpPr>
        <p:spPr>
          <a:xfrm>
            <a:off x="4116932" y="2185215"/>
            <a:ext cx="2329073" cy="276999"/>
          </a:xfrm>
          <a:prstGeom prst="rect">
            <a:avLst/>
          </a:prstGeom>
          <a:noFill/>
        </p:spPr>
        <p:txBody>
          <a:bodyPr wrap="square" rtlCol="0">
            <a:spAutoFit/>
          </a:bodyPr>
          <a:lstStyle/>
          <a:p>
            <a:pPr algn="ctr"/>
            <a:r>
              <a:rPr lang="pt-BR" sz="1200" dirty="0"/>
              <a:t>Tamanho do </a:t>
            </a:r>
            <a:r>
              <a:rPr lang="pt-BR" sz="1200" dirty="0" err="1"/>
              <a:t>mini-batch</a:t>
            </a:r>
            <a:r>
              <a:rPr lang="pt-BR" sz="1200" dirty="0"/>
              <a:t>: 100</a:t>
            </a:r>
          </a:p>
        </p:txBody>
      </p:sp>
      <p:sp>
        <p:nvSpPr>
          <p:cNvPr id="5" name="TextBox 14">
            <a:extLst>
              <a:ext uri="{FF2B5EF4-FFF2-40B4-BE49-F238E27FC236}">
                <a16:creationId xmlns:a16="http://schemas.microsoft.com/office/drawing/2014/main" id="{4BE50EF0-4D1C-1DA3-4ECE-9F3966F18F9C}"/>
              </a:ext>
            </a:extLst>
          </p:cNvPr>
          <p:cNvSpPr txBox="1"/>
          <p:nvPr/>
        </p:nvSpPr>
        <p:spPr>
          <a:xfrm>
            <a:off x="2254041" y="2185215"/>
            <a:ext cx="1936393" cy="276999"/>
          </a:xfrm>
          <a:prstGeom prst="rect">
            <a:avLst/>
          </a:prstGeom>
          <a:noFill/>
        </p:spPr>
        <p:txBody>
          <a:bodyPr wrap="square" rtlCol="0">
            <a:spAutoFit/>
          </a:bodyPr>
          <a:lstStyle/>
          <a:p>
            <a:pPr algn="ctr"/>
            <a:r>
              <a:rPr lang="pt-BR" sz="1200" dirty="0"/>
              <a:t>Tamanho do mini-batch: 50</a:t>
            </a:r>
          </a:p>
        </p:txBody>
      </p:sp>
      <p:sp>
        <p:nvSpPr>
          <p:cNvPr id="6" name="TextBox 15">
            <a:extLst>
              <a:ext uri="{FF2B5EF4-FFF2-40B4-BE49-F238E27FC236}">
                <a16:creationId xmlns:a16="http://schemas.microsoft.com/office/drawing/2014/main" id="{5B273173-7EAC-7BC7-7DB9-AC10FC7F5790}"/>
              </a:ext>
            </a:extLst>
          </p:cNvPr>
          <p:cNvSpPr txBox="1"/>
          <p:nvPr/>
        </p:nvSpPr>
        <p:spPr>
          <a:xfrm>
            <a:off x="272514" y="2186495"/>
            <a:ext cx="1982216" cy="276999"/>
          </a:xfrm>
          <a:prstGeom prst="rect">
            <a:avLst/>
          </a:prstGeom>
          <a:noFill/>
        </p:spPr>
        <p:txBody>
          <a:bodyPr wrap="square" rtlCol="0">
            <a:spAutoFit/>
          </a:bodyPr>
          <a:lstStyle/>
          <a:p>
            <a:pPr algn="ctr"/>
            <a:r>
              <a:rPr lang="pt-BR" sz="1200" dirty="0"/>
              <a:t>Tamanho do </a:t>
            </a:r>
            <a:r>
              <a:rPr lang="pt-BR" sz="1200" dirty="0" err="1"/>
              <a:t>mini-batch</a:t>
            </a:r>
            <a:r>
              <a:rPr lang="pt-BR" sz="1200" dirty="0"/>
              <a:t>: 10</a:t>
            </a:r>
          </a:p>
        </p:txBody>
      </p:sp>
      <p:pic>
        <p:nvPicPr>
          <p:cNvPr id="7" name="Picture 5">
            <a:extLst>
              <a:ext uri="{FF2B5EF4-FFF2-40B4-BE49-F238E27FC236}">
                <a16:creationId xmlns:a16="http://schemas.microsoft.com/office/drawing/2014/main" id="{CB0B57E1-6A5A-E4EA-05C8-1950984E46E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1647" r="9351" b="2321"/>
          <a:stretch/>
        </p:blipFill>
        <p:spPr>
          <a:xfrm>
            <a:off x="272514" y="2485514"/>
            <a:ext cx="1867468" cy="1772339"/>
          </a:xfrm>
          <a:prstGeom prst="rect">
            <a:avLst/>
          </a:prstGeom>
        </p:spPr>
      </p:pic>
      <p:pic>
        <p:nvPicPr>
          <p:cNvPr id="8" name="Picture 6">
            <a:extLst>
              <a:ext uri="{FF2B5EF4-FFF2-40B4-BE49-F238E27FC236}">
                <a16:creationId xmlns:a16="http://schemas.microsoft.com/office/drawing/2014/main" id="{14C7A035-BB33-D8FF-89FB-5D35BD03AB1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139" t="11841" r="7750" b="3714"/>
          <a:stretch/>
        </p:blipFill>
        <p:spPr>
          <a:xfrm>
            <a:off x="272514" y="4471654"/>
            <a:ext cx="1867468" cy="1730824"/>
          </a:xfrm>
          <a:prstGeom prst="rect">
            <a:avLst/>
          </a:prstGeom>
        </p:spPr>
      </p:pic>
      <p:pic>
        <p:nvPicPr>
          <p:cNvPr id="9" name="Picture 10">
            <a:extLst>
              <a:ext uri="{FF2B5EF4-FFF2-40B4-BE49-F238E27FC236}">
                <a16:creationId xmlns:a16="http://schemas.microsoft.com/office/drawing/2014/main" id="{DA7079EE-84CD-B336-E137-5DCE77E9D2C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11" t="11510" r="9734" b="2776"/>
          <a:stretch/>
        </p:blipFill>
        <p:spPr>
          <a:xfrm>
            <a:off x="2227630" y="2487862"/>
            <a:ext cx="1868541" cy="1770196"/>
          </a:xfrm>
          <a:prstGeom prst="rect">
            <a:avLst/>
          </a:prstGeom>
        </p:spPr>
      </p:pic>
      <p:pic>
        <p:nvPicPr>
          <p:cNvPr id="10" name="Picture 11">
            <a:extLst>
              <a:ext uri="{FF2B5EF4-FFF2-40B4-BE49-F238E27FC236}">
                <a16:creationId xmlns:a16="http://schemas.microsoft.com/office/drawing/2014/main" id="{3CCED9DF-3D18-3822-1ADF-40E1CE3A0AB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429" t="11234" r="9365" b="3687"/>
          <a:stretch/>
        </p:blipFill>
        <p:spPr>
          <a:xfrm>
            <a:off x="2227630" y="4471654"/>
            <a:ext cx="1868541" cy="1782096"/>
          </a:xfrm>
          <a:prstGeom prst="rect">
            <a:avLst/>
          </a:prstGeom>
        </p:spPr>
      </p:pic>
      <p:pic>
        <p:nvPicPr>
          <p:cNvPr id="11" name="Picture 12">
            <a:extLst>
              <a:ext uri="{FF2B5EF4-FFF2-40B4-BE49-F238E27FC236}">
                <a16:creationId xmlns:a16="http://schemas.microsoft.com/office/drawing/2014/main" id="{ED604385-563B-2238-9890-5A37A6172ED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6" t="11626" r="9233" b="2731"/>
          <a:stretch/>
        </p:blipFill>
        <p:spPr>
          <a:xfrm>
            <a:off x="4203800" y="2458025"/>
            <a:ext cx="1876633" cy="1770196"/>
          </a:xfrm>
          <a:prstGeom prst="rect">
            <a:avLst/>
          </a:prstGeom>
        </p:spPr>
      </p:pic>
      <p:pic>
        <p:nvPicPr>
          <p:cNvPr id="12" name="Picture 13">
            <a:extLst>
              <a:ext uri="{FF2B5EF4-FFF2-40B4-BE49-F238E27FC236}">
                <a16:creationId xmlns:a16="http://schemas.microsoft.com/office/drawing/2014/main" id="{C155D28E-0854-0B27-CA87-C6852104C9D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634" t="10953" r="9477" b="3968"/>
          <a:stretch/>
        </p:blipFill>
        <p:spPr>
          <a:xfrm>
            <a:off x="4203800" y="4433198"/>
            <a:ext cx="1876634" cy="1796207"/>
          </a:xfrm>
          <a:prstGeom prst="rect">
            <a:avLst/>
          </a:prstGeom>
        </p:spPr>
      </p:pic>
    </p:spTree>
    <p:extLst>
      <p:ext uri="{BB962C8B-B14F-4D97-AF65-F5344CB8AC3E}">
        <p14:creationId xmlns:p14="http://schemas.microsoft.com/office/powerpoint/2010/main" val="1402657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199" y="1825624"/>
            <a:ext cx="11007811" cy="4590165"/>
          </a:xfrm>
        </p:spPr>
        <p:txBody>
          <a:bodyPr/>
          <a:lstStyle/>
          <a:p>
            <a:r>
              <a:rPr lang="pt-BR" b="1" dirty="0"/>
              <a:t>Quiz</a:t>
            </a:r>
            <a:r>
              <a:rPr lang="pt-BR" dirty="0"/>
              <a:t>: “</a:t>
            </a:r>
            <a:r>
              <a:rPr lang="pt-BR" i="1" dirty="0"/>
              <a:t>T319 - Quiz - Regressão: Parte II</a:t>
            </a:r>
            <a:r>
              <a:rPr lang="pt-BR" dirty="0"/>
              <a:t>” que se encontra no MS Teams.</a:t>
            </a:r>
          </a:p>
          <a:p>
            <a:r>
              <a:rPr lang="pt-BR" b="1" dirty="0"/>
              <a:t>Exercício Prático</a:t>
            </a:r>
            <a:r>
              <a:rPr lang="pt-BR" dirty="0"/>
              <a:t>: </a:t>
            </a:r>
            <a:r>
              <a:rPr lang="pt-BR" b="1" dirty="0">
                <a:hlinkClick r:id="rId3"/>
              </a:rPr>
              <a:t>Laboratório #3</a:t>
            </a:r>
            <a:r>
              <a:rPr lang="pt-BR" dirty="0"/>
              <a:t>.</a:t>
            </a:r>
          </a:p>
          <a:p>
            <a:pPr lvl="1">
              <a:buFont typeface="Wingdings" panose="05000000000000000000" pitchFamily="2" charset="2"/>
              <a:buChar char="§"/>
            </a:pPr>
            <a:r>
              <a:rPr lang="pt-BR" dirty="0"/>
              <a:t>Pode ser acessado através do link acima (Google </a:t>
            </a:r>
            <a:r>
              <a:rPr lang="pt-BR" dirty="0" err="1"/>
              <a:t>Colab</a:t>
            </a:r>
            <a:r>
              <a:rPr lang="pt-BR" dirty="0"/>
              <a:t>) ou no GitHub.</a:t>
            </a:r>
          </a:p>
          <a:p>
            <a:pPr lvl="1">
              <a:buFont typeface="Wingdings" panose="05000000000000000000" pitchFamily="2" charset="2"/>
              <a:buChar char="§"/>
            </a:pPr>
            <a:r>
              <a:rPr lang="pt-BR" dirty="0"/>
              <a:t>Vídeo explicando o laboratório: Arquivos -&gt; </a:t>
            </a:r>
            <a:r>
              <a:rPr lang="pt-BR" dirty="0" err="1"/>
              <a:t>Recordings</a:t>
            </a:r>
            <a:r>
              <a:rPr lang="pt-BR" dirty="0"/>
              <a:t> -&gt; Laboratório #3</a:t>
            </a:r>
          </a:p>
          <a:p>
            <a:pPr lvl="1">
              <a:buFont typeface="Wingdings" panose="05000000000000000000" pitchFamily="2" charset="2"/>
              <a:buChar char="§"/>
            </a:pPr>
            <a:r>
              <a:rPr lang="pt-BR" dirty="0"/>
              <a:t>Se atentem aos prazos de entrega.</a:t>
            </a:r>
          </a:p>
          <a:p>
            <a:pPr lvl="1">
              <a:buFont typeface="Wingdings" panose="05000000000000000000" pitchFamily="2" charset="2"/>
              <a:buChar char="§"/>
            </a:pPr>
            <a:r>
              <a:rPr lang="pt-BR" dirty="0">
                <a:hlinkClick r:id="rId4"/>
              </a:rPr>
              <a:t>Instruções para resolução e entrega dos laboratórios</a:t>
            </a:r>
            <a:r>
              <a:rPr lang="pt-BR" dirty="0"/>
              <a:t>.</a:t>
            </a:r>
          </a:p>
        </p:txBody>
      </p:sp>
    </p:spTree>
    <p:extLst>
      <p:ext uri="{BB962C8B-B14F-4D97-AF65-F5344CB8AC3E}">
        <p14:creationId xmlns:p14="http://schemas.microsoft.com/office/powerpoint/2010/main" val="250701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E231AE-E944-223C-A392-CD6538DD773A}"/>
              </a:ext>
            </a:extLst>
          </p:cNvPr>
          <p:cNvSpPr>
            <a:spLocks noGrp="1"/>
          </p:cNvSpPr>
          <p:nvPr>
            <p:ph type="title"/>
          </p:nvPr>
        </p:nvSpPr>
        <p:spPr/>
        <p:txBody>
          <a:bodyPr/>
          <a:lstStyle/>
          <a:p>
            <a:r>
              <a:rPr lang="pt-BR" dirty="0"/>
              <a:t>Referências	</a:t>
            </a:r>
          </a:p>
        </p:txBody>
      </p:sp>
      <p:sp>
        <p:nvSpPr>
          <p:cNvPr id="3" name="Espaço Reservado para Conteúdo 2">
            <a:extLst>
              <a:ext uri="{FF2B5EF4-FFF2-40B4-BE49-F238E27FC236}">
                <a16:creationId xmlns:a16="http://schemas.microsoft.com/office/drawing/2014/main" id="{16FF1158-2BC5-45B1-E262-493E9FAA3075}"/>
              </a:ext>
            </a:extLst>
          </p:cNvPr>
          <p:cNvSpPr>
            <a:spLocks noGrp="1"/>
          </p:cNvSpPr>
          <p:nvPr>
            <p:ph idx="1"/>
          </p:nvPr>
        </p:nvSpPr>
        <p:spPr/>
        <p:txBody>
          <a:bodyPr/>
          <a:lstStyle/>
          <a:p>
            <a:pPr marL="0" indent="0">
              <a:buNone/>
            </a:pPr>
            <a:r>
              <a:rPr lang="pt-BR" dirty="0"/>
              <a:t>[1] Marcos Eduardo Valle, “Derivadas Direcionais e o Vetor Gradiente”, </a:t>
            </a:r>
            <a:r>
              <a:rPr lang="pt-BR" dirty="0">
                <a:hlinkClick r:id="rId2"/>
              </a:rPr>
              <a:t>https://www.ime.unicamp.br/~valle/Teaching/MA211/Aula6.pdf</a:t>
            </a:r>
            <a:endParaRPr lang="pt-BR" dirty="0"/>
          </a:p>
          <a:p>
            <a:pPr marL="0" indent="0">
              <a:buNone/>
            </a:pPr>
            <a:r>
              <a:rPr lang="pt-BR" dirty="0"/>
              <a:t>[2] Marcos Eduardo Valle, “Fatoração de </a:t>
            </a:r>
            <a:r>
              <a:rPr lang="pt-BR" dirty="0" err="1"/>
              <a:t>Cholesky</a:t>
            </a:r>
            <a:r>
              <a:rPr lang="pt-BR" dirty="0"/>
              <a:t> e Condicionamento de uma Matriz.” </a:t>
            </a:r>
            <a:r>
              <a:rPr lang="pt-BR" dirty="0">
                <a:hlinkClick r:id="rId3"/>
              </a:rPr>
              <a:t>https://www.ime.unicamp.br/~valle/Teaching/MS211/Aula06.pdf</a:t>
            </a:r>
            <a:endParaRPr lang="pt-BR" dirty="0"/>
          </a:p>
          <a:p>
            <a:pPr marL="0" indent="0">
              <a:buNone/>
            </a:pPr>
            <a:r>
              <a:rPr lang="pt-BR" dirty="0"/>
              <a:t>[3] </a:t>
            </a:r>
            <a:r>
              <a:rPr lang="pt-BR" dirty="0" err="1"/>
              <a:t>IFSul</a:t>
            </a:r>
            <a:r>
              <a:rPr lang="pt-BR" dirty="0"/>
              <a:t>, “Matrizes, Determinantes e Sistemas Lineares”, </a:t>
            </a:r>
            <a:r>
              <a:rPr lang="pt-BR" dirty="0">
                <a:hlinkClick r:id="rId4"/>
              </a:rPr>
              <a:t>http://tics.ifsul.edu.br/matriz/conteudo/disciplinas/algl/ue/1/4.html</a:t>
            </a:r>
            <a:endParaRPr lang="pt-BR" dirty="0"/>
          </a:p>
          <a:p>
            <a:pPr marL="0" indent="0">
              <a:buNone/>
            </a:pPr>
            <a:endParaRPr lang="pt-BR" dirty="0"/>
          </a:p>
          <a:p>
            <a:pPr marL="0" indent="0">
              <a:buNone/>
            </a:pPr>
            <a:endParaRPr lang="pt-BR" dirty="0"/>
          </a:p>
          <a:p>
            <a:endParaRPr lang="pt-BR" dirty="0"/>
          </a:p>
        </p:txBody>
      </p:sp>
    </p:spTree>
    <p:extLst>
      <p:ext uri="{BB962C8B-B14F-4D97-AF65-F5344CB8AC3E}">
        <p14:creationId xmlns:p14="http://schemas.microsoft.com/office/powerpoint/2010/main" val="4269313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p>
        </p:txBody>
      </p:sp>
    </p:spTree>
    <p:extLst>
      <p:ext uri="{BB962C8B-B14F-4D97-AF65-F5344CB8AC3E}">
        <p14:creationId xmlns:p14="http://schemas.microsoft.com/office/powerpoint/2010/main" val="309872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eep learning kicking linear regression away | Funny relatable memes,  Stupid memes, Jok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091" y="279485"/>
            <a:ext cx="3661310" cy="303262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mplete this course and you will be earning millions | Machine learning  course, Machine learning,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9283" y="220887"/>
            <a:ext cx="3966574" cy="361949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When you advertise, it's artificial intelligence. When you hire, it's  machine learning. When you implement, it's linear regression. - The cycle  of AI | Make a Me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183" y="3840386"/>
            <a:ext cx="3437126" cy="272678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Understanding Machine Learning through Memes | by Harsh Aryan | Nybles |  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68443" y="3312112"/>
            <a:ext cx="3312795" cy="33312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WHY DON'T YOU JUST USE NORMAL LINEAR REGRESSION Memegencomm Why Don't You  Just Use - Picard Wtf Meme on Memegen | Meme on ME.ME"/>
          <p:cNvPicPr>
            <a:picLocks noChangeAspect="1" noChangeArrowheads="1"/>
          </p:cNvPicPr>
          <p:nvPr/>
        </p:nvPicPr>
        <p:blipFill rotWithShape="1">
          <a:blip r:embed="rId6">
            <a:extLst>
              <a:ext uri="{28A0092B-C50C-407E-A947-70E740481C1C}">
                <a14:useLocalDpi xmlns:a14="http://schemas.microsoft.com/office/drawing/2010/main" val="0"/>
              </a:ext>
            </a:extLst>
          </a:blip>
          <a:srcRect b="23326"/>
          <a:stretch/>
        </p:blipFill>
        <p:spPr bwMode="auto">
          <a:xfrm>
            <a:off x="4379283" y="4014412"/>
            <a:ext cx="3743094" cy="26289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Regression (Lab)"/>
          <p:cNvPicPr>
            <a:picLocks noChangeAspect="1" noChangeArrowheads="1"/>
          </p:cNvPicPr>
          <p:nvPr/>
        </p:nvPicPr>
        <p:blipFill rotWithShape="1">
          <a:blip r:embed="rId7">
            <a:extLst>
              <a:ext uri="{28A0092B-C50C-407E-A947-70E740481C1C}">
                <a14:useLocalDpi xmlns:a14="http://schemas.microsoft.com/office/drawing/2010/main" val="0"/>
              </a:ext>
            </a:extLst>
          </a:blip>
          <a:srcRect b="14987"/>
          <a:stretch/>
        </p:blipFill>
        <p:spPr bwMode="auto">
          <a:xfrm>
            <a:off x="8606581" y="501984"/>
            <a:ext cx="3474657" cy="2587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185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F20CD40C-581D-767F-12ED-42D2CB7861C4}"/>
              </a:ext>
            </a:extLst>
          </p:cNvPr>
          <p:cNvSpPr>
            <a:spLocks noGrp="1"/>
          </p:cNvSpPr>
          <p:nvPr>
            <p:ph idx="1"/>
          </p:nvPr>
        </p:nvSpPr>
        <p:spPr>
          <a:xfrm>
            <a:off x="838200" y="1825625"/>
            <a:ext cx="10515600" cy="3188164"/>
          </a:xfrm>
        </p:spPr>
        <p:txBody>
          <a:bodyPr>
            <a:normAutofit/>
          </a:bodyPr>
          <a:lstStyle/>
          <a:p>
            <a:pPr marL="0" indent="0" algn="ctr">
              <a:buNone/>
            </a:pPr>
            <a:r>
              <a:rPr lang="pt-BR" sz="7200" dirty="0"/>
              <a:t>Anexo I:</a:t>
            </a:r>
          </a:p>
          <a:p>
            <a:pPr marL="0" indent="0" algn="ctr">
              <a:buNone/>
            </a:pPr>
            <a:r>
              <a:rPr lang="pt-BR" sz="7200" dirty="0"/>
              <a:t>Cálculo do vetor gradiente</a:t>
            </a:r>
          </a:p>
        </p:txBody>
      </p:sp>
    </p:spTree>
    <p:extLst>
      <p:ext uri="{BB962C8B-B14F-4D97-AF65-F5344CB8AC3E}">
        <p14:creationId xmlns:p14="http://schemas.microsoft.com/office/powerpoint/2010/main" val="4210949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86E35-2132-957C-5119-8416C939A543}"/>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C5EC678-4C25-1184-B2F1-399C0F236041}"/>
                  </a:ext>
                </a:extLst>
              </p:cNvPr>
              <p:cNvSpPr>
                <a:spLocks noGrp="1"/>
              </p:cNvSpPr>
              <p:nvPr>
                <p:ph idx="1"/>
              </p:nvPr>
            </p:nvSpPr>
            <p:spPr>
              <a:xfrm>
                <a:off x="838199" y="1825624"/>
                <a:ext cx="11146971" cy="5032375"/>
              </a:xfrm>
            </p:spPr>
            <p:txBody>
              <a:bodyPr>
                <a:normAutofit/>
              </a:bodyPr>
              <a:lstStyle/>
              <a:p>
                <a:pPr marL="0" indent="0">
                  <a:buNone/>
                </a:pPr>
                <a:r>
                  <a:rPr lang="pt-BR" dirty="0"/>
                  <a:t>Vamos considerar o hiperplano como a função hipótese</a:t>
                </a:r>
              </a:p>
              <a:p>
                <a:pPr marL="0" indent="0">
                  <a:buNone/>
                </a:pPr>
                <a14:m>
                  <m:oMathPara xmlns:m="http://schemas.openxmlformats.org/officeDocument/2006/math">
                    <m:o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oMath>
                  </m:oMathPara>
                </a14:m>
                <a:endParaRPr lang="pt-BR" dirty="0"/>
              </a:p>
              <a:p>
                <a:pPr marL="0" indent="0">
                  <a:buNone/>
                </a:pPr>
                <a:r>
                  <a:rPr lang="pt-BR" dirty="0"/>
                  <a:t>O vetor gradiente é calculado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sSup>
                        <m:sSupPr>
                          <m:ctrlPr>
                            <a:rPr lang="pt-BR" b="1" i="1" smtClean="0">
                              <a:latin typeface="Cambria Math" panose="02040503050406030204" pitchFamily="18" charset="0"/>
                            </a:rPr>
                          </m:ctrlPr>
                        </m:sSupPr>
                        <m:e>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den>
                                    </m:f>
                                  </m:e>
                                  <m:e>
                                    <m:r>
                                      <a:rPr lang="pt-BR" b="1" i="1" smtClean="0">
                                        <a:latin typeface="Cambria Math" panose="02040503050406030204" pitchFamily="18" charset="0"/>
                                      </a:rPr>
                                      <m:t>⋯</m:t>
                                    </m:r>
                                  </m:e>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𝐾</m:t>
                                            </m:r>
                                          </m:sub>
                                        </m:sSub>
                                      </m:den>
                                    </m:f>
                                  </m:e>
                                </m:mr>
                              </m:m>
                            </m:e>
                          </m:d>
                        </m:e>
                        <m:sup>
                          <m:r>
                            <a:rPr lang="pt-BR" b="0" i="1" smtClean="0">
                              <a:latin typeface="Cambria Math" panose="02040503050406030204" pitchFamily="18" charset="0"/>
                            </a:rPr>
                            <m:t>𝑇</m:t>
                          </m:r>
                        </m:sup>
                      </m:sSup>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dirty="0"/>
                  <a:t>Assim, o vetor gradiente da função de erro em relação aos pesos é dado por</a:t>
                </a:r>
                <a:endParaRPr lang="pt-BR" b="1" i="1" dirty="0">
                  <a:latin typeface="Cambria Math" panose="02040503050406030204" pitchFamily="18" charset="0"/>
                </a:endParaRP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num>
                        <m:den>
                          <m:r>
                            <a:rPr lang="pt-BR" i="1">
                              <a:latin typeface="Cambria Math" panose="02040503050406030204" pitchFamily="18" charset="0"/>
                            </a:rPr>
                            <m:t>𝜕</m:t>
                          </m:r>
                          <m:r>
                            <a:rPr lang="pt-BR" b="1" i="1">
                              <a:latin typeface="Cambria Math" panose="02040503050406030204" pitchFamily="18" charset="0"/>
                            </a:rPr>
                            <m:t>𝒂</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=0</m:t>
                              </m:r>
                            </m:sub>
                            <m:sup>
                              <m:r>
                                <a:rPr lang="pt-BR" b="0" i="1" smtClean="0">
                                  <a:latin typeface="Cambria Math" panose="02040503050406030204" pitchFamily="18" charset="0"/>
                                </a:rPr>
                                <m:t>𝑁</m:t>
                              </m:r>
                              <m:r>
                                <a:rPr lang="pt-BR" b="0" i="1" smtClean="0">
                                  <a:latin typeface="Cambria Math" panose="02040503050406030204" pitchFamily="18" charset="0"/>
                                </a:rPr>
                                <m:t>−1</m:t>
                              </m:r>
                            </m:sup>
                            <m:e>
                              <m:sSup>
                                <m:sSupPr>
                                  <m:ctrlPr>
                                    <a:rPr lang="pt-BR"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b="0" i="1" smtClean="0">
                                      <a:latin typeface="Cambria Math" panose="02040503050406030204" pitchFamily="18" charset="0"/>
                                    </a:rPr>
                                    <m:t>2</m:t>
                                  </m:r>
                                </m:sup>
                              </m:sSup>
                            </m:e>
                          </m:nary>
                        </m:e>
                      </m:d>
                      <m:r>
                        <a:rPr lang="pt-BR" b="1" i="1" smtClean="0">
                          <a:latin typeface="Cambria Math" panose="02040503050406030204" pitchFamily="18" charset="0"/>
                        </a:rPr>
                        <m:t>.</m:t>
                      </m:r>
                    </m:oMath>
                  </m:oMathPara>
                </a14:m>
                <a:endParaRPr lang="pt-BR" b="1" i="1" dirty="0">
                  <a:latin typeface="Cambria Math" panose="02040503050406030204" pitchFamily="18" charset="0"/>
                </a:endParaRPr>
              </a:p>
            </p:txBody>
          </p:sp>
        </mc:Choice>
        <mc:Fallback xmlns="">
          <p:sp>
            <p:nvSpPr>
              <p:cNvPr id="3" name="Espaço Reservado para Conteúdo 2">
                <a:extLst>
                  <a:ext uri="{FF2B5EF4-FFF2-40B4-BE49-F238E27FC236}">
                    <a16:creationId xmlns:a16="http://schemas.microsoft.com/office/drawing/2014/main" id="{DC5EC678-4C25-1184-B2F1-399C0F236041}"/>
                  </a:ext>
                </a:extLst>
              </p:cNvPr>
              <p:cNvSpPr>
                <a:spLocks noGrp="1" noRot="1" noChangeAspect="1" noMove="1" noResize="1" noEditPoints="1" noAdjustHandles="1" noChangeArrowheads="1" noChangeShapeType="1" noTextEdit="1"/>
              </p:cNvSpPr>
              <p:nvPr>
                <p:ph idx="1"/>
              </p:nvPr>
            </p:nvSpPr>
            <p:spPr>
              <a:xfrm>
                <a:off x="838199" y="1825624"/>
                <a:ext cx="11146971" cy="5032375"/>
              </a:xfrm>
              <a:blipFill>
                <a:blip r:embed="rId2"/>
                <a:stretch>
                  <a:fillRect l="-1093" t="-1937" r="-984"/>
                </a:stretch>
              </a:blipFill>
            </p:spPr>
            <p:txBody>
              <a:bodyPr/>
              <a:lstStyle/>
              <a:p>
                <a:r>
                  <a:rPr lang="pt-BR">
                    <a:noFill/>
                  </a:rPr>
                  <a:t> </a:t>
                </a:r>
              </a:p>
            </p:txBody>
          </p:sp>
        </mc:Fallback>
      </mc:AlternateContent>
    </p:spTree>
    <p:extLst>
      <p:ext uri="{BB962C8B-B14F-4D97-AF65-F5344CB8AC3E}">
        <p14:creationId xmlns:p14="http://schemas.microsoft.com/office/powerpoint/2010/main" val="1761365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8F244-8587-36D5-74B4-58E14CF70899}"/>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CF9ACC0-4818-6B4A-41ED-7792491481CA}"/>
                  </a:ext>
                </a:extLst>
              </p:cNvPr>
              <p:cNvSpPr>
                <a:spLocks noGrp="1"/>
              </p:cNvSpPr>
              <p:nvPr>
                <p:ph idx="1"/>
              </p:nvPr>
            </p:nvSpPr>
            <p:spPr>
              <a:xfrm>
                <a:off x="838200" y="1825624"/>
                <a:ext cx="11079822" cy="5032375"/>
              </a:xfrm>
            </p:spPr>
            <p:txBody>
              <a:bodyPr>
                <a:normAutofit/>
              </a:bodyPr>
              <a:lstStyle/>
              <a:p>
                <a:pPr marL="0" indent="0">
                  <a:buNone/>
                </a:pPr>
                <a:r>
                  <a:rPr lang="pt-BR" dirty="0"/>
                  <a:t>Como a operação de derivada é distributiva, podemos reescrever a equação acima como </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sz="2900" dirty="0"/>
                  <a:t>Substituindo a função hipótese na equação acima, temos</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i="1">
                                      <a:latin typeface="Cambria Math" panose="02040503050406030204" pitchFamily="18" charset="0"/>
                                    </a:rPr>
                                    <m:t>2</m:t>
                                  </m:r>
                                </m:sup>
                              </m:sSup>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endParaRPr lang="pt-BR" dirty="0"/>
              </a:p>
            </p:txBody>
          </p:sp>
        </mc:Choice>
        <mc:Fallback xmlns="">
          <p:sp>
            <p:nvSpPr>
              <p:cNvPr id="3" name="Espaço Reservado para Conteúdo 2">
                <a:extLst>
                  <a:ext uri="{FF2B5EF4-FFF2-40B4-BE49-F238E27FC236}">
                    <a16:creationId xmlns:a16="http://schemas.microsoft.com/office/drawing/2014/main" id="{7CF9ACC0-4818-6B4A-41ED-7792491481CA}"/>
                  </a:ext>
                </a:extLst>
              </p:cNvPr>
              <p:cNvSpPr>
                <a:spLocks noGrp="1" noRot="1" noChangeAspect="1" noMove="1" noResize="1" noEditPoints="1" noAdjustHandles="1" noChangeArrowheads="1" noChangeShapeType="1" noTextEdit="1"/>
              </p:cNvSpPr>
              <p:nvPr>
                <p:ph idx="1"/>
              </p:nvPr>
            </p:nvSpPr>
            <p:spPr>
              <a:xfrm>
                <a:off x="838200" y="1825624"/>
                <a:ext cx="11079822" cy="5032375"/>
              </a:xfrm>
              <a:blipFill>
                <a:blip r:embed="rId2"/>
                <a:stretch>
                  <a:fillRect l="-1211" t="-1937"/>
                </a:stretch>
              </a:blipFill>
            </p:spPr>
            <p:txBody>
              <a:bodyPr/>
              <a:lstStyle/>
              <a:p>
                <a:r>
                  <a:rPr lang="pt-BR">
                    <a:noFill/>
                  </a:rPr>
                  <a:t> </a:t>
                </a:r>
              </a:p>
            </p:txBody>
          </p:sp>
        </mc:Fallback>
      </mc:AlternateContent>
    </p:spTree>
    <p:extLst>
      <p:ext uri="{BB962C8B-B14F-4D97-AF65-F5344CB8AC3E}">
        <p14:creationId xmlns:p14="http://schemas.microsoft.com/office/powerpoint/2010/main" val="2209639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ABBBB-477C-EF02-B776-2500DDBDA6F8}"/>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4DE09F2-2B35-83A3-2A1C-AD25FB180510}"/>
                  </a:ext>
                </a:extLst>
              </p:cNvPr>
              <p:cNvSpPr>
                <a:spLocks noGrp="1"/>
              </p:cNvSpPr>
              <p:nvPr>
                <p:ph idx="1"/>
              </p:nvPr>
            </p:nvSpPr>
            <p:spPr/>
            <p:txBody>
              <a:bodyPr/>
              <a:lstStyle/>
              <a:p>
                <a:pPr marL="0" indent="0">
                  <a:buNone/>
                </a:pPr>
                <a:r>
                  <a:rPr lang="pt-BR" dirty="0"/>
                  <a:t>Aplicando a regra da cadeia, reescrevemos a equação anterior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e>
                          </m:d>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num>
                            <m:den>
                              <m:r>
                                <a:rPr lang="pt-BR" i="1">
                                  <a:latin typeface="Cambria Math" panose="02040503050406030204" pitchFamily="18" charset="0"/>
                                </a:rPr>
                                <m:t>𝜕</m:t>
                              </m:r>
                              <m:r>
                                <a:rPr lang="pt-BR" b="1" i="1">
                                  <a:latin typeface="Cambria Math" panose="02040503050406030204" pitchFamily="18" charset="0"/>
                                </a:rPr>
                                <m:t>𝒂</m:t>
                              </m:r>
                            </m:den>
                          </m:f>
                        </m:e>
                      </m:nary>
                      <m:r>
                        <a:rPr lang="pt-BR" b="1" i="1" smtClean="0">
                          <a:latin typeface="Cambria Math" panose="02040503050406030204" pitchFamily="18" charset="0"/>
                        </a:rPr>
                        <m:t>.</m:t>
                      </m:r>
                    </m:oMath>
                  </m:oMathPara>
                </a14:m>
                <a:endParaRPr lang="pt-BR" b="1" i="1" dirty="0">
                  <a:latin typeface="Cambria Math" panose="02040503050406030204" pitchFamily="18" charset="0"/>
                </a:endParaRPr>
              </a:p>
              <a:p>
                <a:pPr marL="0" indent="0">
                  <a:buNone/>
                </a:pPr>
                <a:r>
                  <a:rPr lang="pt-BR" sz="2900" dirty="0"/>
                  <a:t>Sabendo que a derivada de </a:t>
                </a:r>
                <a14:m>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m:t>
                        </m:r>
                        <m:sSup>
                          <m:sSupPr>
                            <m:ctrlPr>
                              <a:rPr lang="pt-BR" b="1" i="1">
                                <a:latin typeface="Cambria Math" panose="02040503050406030204" pitchFamily="18" charset="0"/>
                              </a:rPr>
                            </m:ctrlPr>
                          </m:sSupPr>
                          <m:e>
                            <m:r>
                              <a:rPr lang="pt-BR" b="1" i="1">
                                <a:latin typeface="Cambria Math" panose="02040503050406030204" pitchFamily="18" charset="0"/>
                              </a:rPr>
                              <m:t>𝒂</m:t>
                            </m:r>
                          </m:e>
                          <m:sup>
                            <m:r>
                              <a:rPr lang="pt-BR" i="1">
                                <a:latin typeface="Cambria Math" panose="02040503050406030204" pitchFamily="18" charset="0"/>
                              </a:rPr>
                              <m:t>𝑇</m:t>
                            </m:r>
                          </m:sup>
                        </m:sSup>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num>
                      <m:den>
                        <m:r>
                          <a:rPr lang="pt-BR" i="1">
                            <a:latin typeface="Cambria Math" panose="02040503050406030204" pitchFamily="18" charset="0"/>
                          </a:rPr>
                          <m:t>𝜕</m:t>
                        </m:r>
                        <m:r>
                          <a:rPr lang="pt-BR" b="1" i="1">
                            <a:latin typeface="Cambria Math" panose="02040503050406030204" pitchFamily="18" charset="0"/>
                          </a:rPr>
                          <m:t>𝒂</m:t>
                        </m:r>
                      </m:den>
                    </m:f>
                  </m:oMath>
                </a14:m>
                <a:r>
                  <a:rPr lang="pt-BR" b="1" i="1" dirty="0">
                    <a:latin typeface="Cambria Math" panose="02040503050406030204" pitchFamily="18" charset="0"/>
                  </a:rPr>
                  <a:t> </a:t>
                </a:r>
                <a:r>
                  <a:rPr lang="pt-BR" sz="2900" dirty="0"/>
                  <a:t>é igual a </a:t>
                </a:r>
                <a14:m>
                  <m:oMath xmlns:m="http://schemas.openxmlformats.org/officeDocument/2006/math">
                    <m:r>
                      <a:rPr lang="pt-BR" b="1" i="1">
                        <a:latin typeface="Cambria Math" panose="02040503050406030204" pitchFamily="18" charset="0"/>
                      </a:rPr>
                      <m:t>𝒙</m:t>
                    </m:r>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reescrevemos a equação anterior como</a:t>
                </a:r>
                <a:endParaRPr lang="pt-BR" sz="2900" dirty="0"/>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 </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smtClean="0">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b="0" i="1" smtClean="0">
                          <a:latin typeface="Cambria Math" panose="02040503050406030204" pitchFamily="18" charset="0"/>
                        </a:rPr>
                        <m:t>.</m:t>
                      </m:r>
                    </m:oMath>
                  </m:oMathPara>
                </a14:m>
                <a:endParaRPr lang="pt-BR" dirty="0"/>
              </a:p>
              <a:p>
                <a:endParaRPr lang="pt-BR" dirty="0"/>
              </a:p>
            </p:txBody>
          </p:sp>
        </mc:Choice>
        <mc:Fallback xmlns="">
          <p:sp>
            <p:nvSpPr>
              <p:cNvPr id="3" name="Espaço Reservado para Conteúdo 2">
                <a:extLst>
                  <a:ext uri="{FF2B5EF4-FFF2-40B4-BE49-F238E27FC236}">
                    <a16:creationId xmlns:a16="http://schemas.microsoft.com/office/drawing/2014/main" id="{44DE09F2-2B35-83A3-2A1C-AD25FB180510}"/>
                  </a:ext>
                </a:extLst>
              </p:cNvPr>
              <p:cNvSpPr>
                <a:spLocks noGrp="1" noRot="1" noChangeAspect="1" noMove="1" noResize="1" noEditPoints="1" noAdjustHandles="1" noChangeArrowheads="1" noChangeShapeType="1" noTextEdit="1"/>
              </p:cNvSpPr>
              <p:nvPr>
                <p:ph idx="1"/>
              </p:nvPr>
            </p:nvSpPr>
            <p:spPr>
              <a:blipFill>
                <a:blip r:embed="rId2"/>
                <a:stretch>
                  <a:fillRect l="-1275" t="-2241"/>
                </a:stretch>
              </a:blipFill>
            </p:spPr>
            <p:txBody>
              <a:bodyPr/>
              <a:lstStyle/>
              <a:p>
                <a:r>
                  <a:rPr lang="pt-BR">
                    <a:noFill/>
                  </a:rPr>
                  <a:t> </a:t>
                </a:r>
              </a:p>
            </p:txBody>
          </p:sp>
        </mc:Fallback>
      </mc:AlternateContent>
    </p:spTree>
    <p:extLst>
      <p:ext uri="{BB962C8B-B14F-4D97-AF65-F5344CB8AC3E}">
        <p14:creationId xmlns:p14="http://schemas.microsoft.com/office/powerpoint/2010/main" val="3466604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E0937-F834-88AD-E3E6-94886F7D8D32}"/>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047B17F-DE79-FCF4-4732-AC53E27E5744}"/>
                  </a:ext>
                </a:extLst>
              </p:cNvPr>
              <p:cNvSpPr>
                <a:spLocks noGrp="1"/>
              </p:cNvSpPr>
              <p:nvPr>
                <p:ph idx="1"/>
              </p:nvPr>
            </p:nvSpPr>
            <p:spPr>
              <a:xfrm>
                <a:off x="838199" y="1825625"/>
                <a:ext cx="11120919" cy="5032375"/>
              </a:xfrm>
            </p:spPr>
            <p:txBody>
              <a:bodyPr/>
              <a:lstStyle/>
              <a:p>
                <a:pPr marL="0" indent="0">
                  <a:buNone/>
                </a:pPr>
                <a:r>
                  <a:rPr lang="pt-BR" dirty="0"/>
                  <a:t>Fazendo</a:t>
                </a:r>
                <a:r>
                  <a:rPr lang="pt-BR" i="1" dirty="0">
                    <a:latin typeface="Cambria Math" panose="02040503050406030204" pitchFamily="18" charset="0"/>
                  </a:rPr>
                  <a:t> </a:t>
                </a:r>
                <a14:m>
                  <m:oMath xmlns:m="http://schemas.openxmlformats.org/officeDocument/2006/math">
                    <m:r>
                      <a:rPr lang="pt-BR"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r>
                      <a:rPr lang="pt-BR" b="0" i="1" smtClean="0">
                        <a:latin typeface="Cambria Math" panose="02040503050406030204" pitchFamily="18" charset="0"/>
                      </a:rPr>
                      <m:t>𝑑</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oMath>
                </a14:m>
                <a:endParaRPr lang="pt-BR" i="1" dirty="0">
                  <a:latin typeface="Cambria Math" panose="02040503050406030204" pitchFamily="18" charset="0"/>
                </a:endParaRP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 </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e>
                          </m:d>
                          <m:r>
                            <a:rPr lang="pt-BR" b="1" i="1" smtClean="0">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mr>
                              </m:m>
                            </m:e>
                          </m:d>
                          <m:r>
                            <a:rPr lang="pt-BR" b="0" i="1" smtClean="0">
                              <a:latin typeface="Cambria Math" panose="02040503050406030204" pitchFamily="18" charset="0"/>
                            </a:rPr>
                            <m:t>+</m:t>
                          </m:r>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1</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
                            </m:e>
                          </m:d>
                          <m:r>
                            <a:rPr lang="pt-BR" b="0" i="1" smtClean="0">
                              <a:latin typeface="Cambria Math" panose="02040503050406030204" pitchFamily="18" charset="0"/>
                            </a:rPr>
                            <m:t>+⋯+</m:t>
                          </m:r>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d>
                        </m:e>
                      </m:d>
                      <m:r>
                        <a:rPr lang="pt-BR" b="0" i="1" smtClean="0">
                          <a:latin typeface="Cambria Math" panose="02040503050406030204" pitchFamily="18" charset="0"/>
                        </a:rPr>
                        <m:t>=</m:t>
                      </m:r>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b="0" i="1" smtClean="0">
                                        <a:latin typeface="Cambria Math" panose="02040503050406030204" pitchFamily="18" charset="0"/>
                                      </a:rPr>
                                      <m:t>+</m:t>
                                    </m:r>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b="0" i="1" smtClean="0">
                                        <a:latin typeface="Cambria Math" panose="02040503050406030204" pitchFamily="18" charset="0"/>
                                      </a:rPr>
                                      <m:t>+</m:t>
                                    </m:r>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d>
                        </m:e>
                      </m:d>
                      <m:r>
                        <a:rPr lang="pt-BR" b="0" i="1" smtClean="0">
                          <a:latin typeface="Cambria Math" panose="02040503050406030204" pitchFamily="18" charset="0"/>
                        </a:rPr>
                        <m:t>.</m:t>
                      </m:r>
                    </m:oMath>
                  </m:oMathPara>
                </a14:m>
                <a:endParaRPr lang="pt-BR" dirty="0"/>
              </a:p>
              <a:p>
                <a:pPr marL="0" indent="0">
                  <a:buNone/>
                </a:pPr>
                <a:r>
                  <a:rPr lang="pt-BR" dirty="0"/>
                  <a:t>Notem que a equação acima é um </a:t>
                </a:r>
                <a:r>
                  <a:rPr lang="pt-BR" b="1" i="1" dirty="0"/>
                  <a:t>vetor coluna </a:t>
                </a:r>
                <a:r>
                  <a:rPr lang="pt-BR" dirty="0"/>
                  <a:t>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a:t>
                </a:r>
              </a:p>
            </p:txBody>
          </p:sp>
        </mc:Choice>
        <mc:Fallback xmlns="">
          <p:sp>
            <p:nvSpPr>
              <p:cNvPr id="3" name="Espaço Reservado para Conteúdo 2">
                <a:extLst>
                  <a:ext uri="{FF2B5EF4-FFF2-40B4-BE49-F238E27FC236}">
                    <a16:creationId xmlns:a16="http://schemas.microsoft.com/office/drawing/2014/main" id="{B047B17F-DE79-FCF4-4732-AC53E27E5744}"/>
                  </a:ext>
                </a:extLst>
              </p:cNvPr>
              <p:cNvSpPr>
                <a:spLocks noGrp="1" noRot="1" noChangeAspect="1" noMove="1" noResize="1" noEditPoints="1" noAdjustHandles="1" noChangeArrowheads="1" noChangeShapeType="1" noTextEdit="1"/>
              </p:cNvSpPr>
              <p:nvPr>
                <p:ph idx="1"/>
              </p:nvPr>
            </p:nvSpPr>
            <p:spPr>
              <a:xfrm>
                <a:off x="838199" y="1825625"/>
                <a:ext cx="11120919" cy="5032375"/>
              </a:xfrm>
              <a:blipFill>
                <a:blip r:embed="rId2"/>
                <a:stretch>
                  <a:fillRect l="-1096" t="-1937"/>
                </a:stretch>
              </a:blipFill>
            </p:spPr>
            <p:txBody>
              <a:bodyPr/>
              <a:lstStyle/>
              <a:p>
                <a:r>
                  <a:rPr lang="pt-BR">
                    <a:noFill/>
                  </a:rPr>
                  <a:t> </a:t>
                </a:r>
              </a:p>
            </p:txBody>
          </p:sp>
        </mc:Fallback>
      </mc:AlternateContent>
    </p:spTree>
    <p:extLst>
      <p:ext uri="{BB962C8B-B14F-4D97-AF65-F5344CB8AC3E}">
        <p14:creationId xmlns:p14="http://schemas.microsoft.com/office/powerpoint/2010/main" val="2643264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B9A54-37B4-8767-0F70-8AFDB27C5E5D}"/>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BD817CF-4D8D-9B30-5AB1-25FC1DC3EECD}"/>
                  </a:ext>
                </a:extLst>
              </p:cNvPr>
              <p:cNvSpPr>
                <a:spLocks noGrp="1"/>
              </p:cNvSpPr>
              <p:nvPr>
                <p:ph idx="1"/>
              </p:nvPr>
            </p:nvSpPr>
            <p:spPr>
              <a:xfrm>
                <a:off x="838199" y="1825624"/>
                <a:ext cx="11018179" cy="5032375"/>
              </a:xfrm>
            </p:spPr>
            <p:txBody>
              <a:bodyPr/>
              <a:lstStyle/>
              <a:p>
                <a:pPr marL="0" indent="0">
                  <a:buNone/>
                </a:pPr>
                <a:r>
                  <a:rPr lang="pt-BR" dirty="0"/>
                  <a:t>Podemos reescrever a equação (i.e., vetor) anterior como uma multiplicação matricial</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a:latin typeface="Cambria Math" panose="02040503050406030204" pitchFamily="18" charset="0"/>
                        </a:rPr>
                        <m:t>=</m:t>
                      </m:r>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e>
                                <m:m>
                                  <m:mPr>
                                    <m:mcs>
                                      <m:mc>
                                        <m:mcPr>
                                          <m:count m:val="2"/>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mr>
                            <m:mr>
                              <m:e>
                                <m:r>
                                  <a:rPr lang="pt-BR" b="1" i="1" smtClean="0">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begChr m:val="["/>
                          <m:endChr m:val="]"/>
                          <m:ctrlPr>
                            <a:rPr lang="pt-BR" b="1" i="1" smtClean="0">
                              <a:latin typeface="Cambria Math" panose="02040503050406030204" pitchFamily="18" charset="0"/>
                            </a:rPr>
                          </m:ctrlPr>
                        </m:dPr>
                        <m:e>
                          <m:m>
                            <m:mPr>
                              <m:mcs>
                                <m:mc>
                                  <m:mcPr>
                                    <m:count m:val="1"/>
                                    <m:mcJc m:val="center"/>
                                  </m:mcPr>
                                </m:mc>
                              </m:mcs>
                              <m:ctrlPr>
                                <a:rPr lang="pt-BR" b="1" i="1" smtClean="0">
                                  <a:latin typeface="Cambria Math" panose="02040503050406030204" pitchFamily="18" charset="0"/>
                                </a:rPr>
                              </m:ctrlPr>
                            </m:mPr>
                            <m:m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r>
                                        <a:rPr lang="pt-BR" i="1">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𝑁</m:t>
                                          </m:r>
                                          <m:r>
                                            <a:rPr lang="pt-BR" b="0" i="1" smtClean="0">
                                              <a:latin typeface="Cambria Math" panose="02040503050406030204" pitchFamily="18" charset="0"/>
                                            </a:rPr>
                                            <m:t>−1</m:t>
                                          </m:r>
                                        </m:e>
                                      </m:d>
                                    </m:e>
                                  </m:mr>
                                </m:m>
                              </m:e>
                            </m:mr>
                          </m:m>
                        </m:e>
                      </m:d>
                    </m:oMath>
                  </m:oMathPara>
                </a14:m>
                <a:endParaRPr lang="pt-BR" dirty="0"/>
              </a:p>
              <a:p>
                <a:pPr marL="0" indent="0">
                  <a:buNone/>
                </a:pPr>
                <a:r>
                  <a:rPr lang="pt-BR" dirty="0"/>
                  <a:t>Percebam que temos a multiplicação de uma matriz 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𝑁</m:t>
                    </m:r>
                  </m:oMath>
                </a14:m>
                <a:r>
                  <a:rPr lang="pt-BR" dirty="0"/>
                  <a:t> por um vetor coluna de dimensão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×1</m:t>
                    </m:r>
                  </m:oMath>
                </a14:m>
                <a:r>
                  <a:rPr lang="pt-BR" dirty="0"/>
                  <a:t>.</a:t>
                </a:r>
              </a:p>
              <a:p>
                <a:pPr marL="0" indent="0">
                  <a:buNone/>
                </a:pPr>
                <a:r>
                  <a:rPr lang="pt-BR" dirty="0"/>
                  <a:t>A matriz contém em cada linha todos os valores de </a:t>
                </a:r>
                <a14:m>
                  <m:oMath xmlns:m="http://schemas.openxmlformats.org/officeDocument/2006/math">
                    <m:r>
                      <a:rPr lang="pt-BR" b="0" i="1" smtClean="0">
                        <a:latin typeface="Cambria Math" panose="02040503050406030204" pitchFamily="18" charset="0"/>
                      </a:rPr>
                      <m:t>𝑛</m:t>
                    </m:r>
                    <m:r>
                      <a:rPr lang="pt-BR" b="0" i="1" smtClean="0">
                        <a:latin typeface="Cambria Math" panose="02040503050406030204" pitchFamily="18" charset="0"/>
                      </a:rPr>
                      <m:t>=0</m:t>
                    </m:r>
                  </m:oMath>
                </a14:m>
                <a:r>
                  <a:rPr lang="pt-BR" dirty="0"/>
                  <a:t> a </a:t>
                </a:r>
                <a14:m>
                  <m:oMath xmlns:m="http://schemas.openxmlformats.org/officeDocument/2006/math">
                    <m:r>
                      <a:rPr lang="pt-BR" b="0" i="1" smtClean="0">
                        <a:latin typeface="Cambria Math" panose="02040503050406030204" pitchFamily="18" charset="0"/>
                      </a:rPr>
                      <m:t>𝑛</m:t>
                    </m:r>
                    <m:r>
                      <a:rPr lang="pt-BR" b="0" i="1" smtClean="0">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oMath>
                </a14:m>
                <a:r>
                  <a:rPr lang="pt-BR" dirty="0"/>
                  <a:t> de um </a:t>
                </a:r>
                <a:r>
                  <a:rPr lang="pt-BR" b="1" i="1" dirty="0"/>
                  <a:t>único</a:t>
                </a:r>
                <a:r>
                  <a:rPr lang="pt-BR" dirty="0"/>
                  <a:t> atributo.</a:t>
                </a:r>
              </a:p>
              <a:p>
                <a:pPr marL="0" indent="0">
                  <a:buNone/>
                </a:pPr>
                <a:r>
                  <a:rPr lang="pt-BR" dirty="0"/>
                  <a:t>O vetor contém em cada linha a diferença </a:t>
                </a:r>
                <a14:m>
                  <m:oMath xmlns:m="http://schemas.openxmlformats.org/officeDocument/2006/math">
                    <m:r>
                      <a:rPr lang="pt-BR" b="0" i="1" smtClean="0">
                        <a:latin typeface="Cambria Math" panose="02040503050406030204" pitchFamily="18" charset="0"/>
                      </a:rPr>
                      <m:t>𝑑</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0" smtClean="0">
                        <a:latin typeface="Cambria Math" panose="02040503050406030204" pitchFamily="18" charset="0"/>
                      </a:rPr>
                      <m:t>=</m:t>
                    </m:r>
                    <m:r>
                      <a:rPr lang="pt-BR" i="1" smtClean="0">
                        <a:latin typeface="Cambria Math" panose="02040503050406030204" pitchFamily="18" charset="0"/>
                      </a:rPr>
                      <m:t>𝑦</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para </a:t>
                </a:r>
                <a14:m>
                  <m:oMath xmlns:m="http://schemas.openxmlformats.org/officeDocument/2006/math">
                    <m:r>
                      <a:rPr lang="pt-BR" i="1">
                        <a:latin typeface="Cambria Math" panose="02040503050406030204" pitchFamily="18" charset="0"/>
                      </a:rPr>
                      <m:t>𝑛</m:t>
                    </m:r>
                    <m:r>
                      <a:rPr lang="pt-BR" i="1">
                        <a:latin typeface="Cambria Math" panose="02040503050406030204" pitchFamily="18" charset="0"/>
                      </a:rPr>
                      <m:t>=0</m:t>
                    </m:r>
                  </m:oMath>
                </a14:m>
                <a:r>
                  <a:rPr lang="pt-BR" dirty="0"/>
                  <a:t> até </a:t>
                </a:r>
                <a14:m>
                  <m:oMath xmlns:m="http://schemas.openxmlformats.org/officeDocument/2006/math">
                    <m:r>
                      <a:rPr lang="pt-BR" i="1">
                        <a:latin typeface="Cambria Math" panose="02040503050406030204" pitchFamily="18" charset="0"/>
                      </a:rPr>
                      <m:t>𝑛</m:t>
                    </m:r>
                    <m:r>
                      <a:rPr lang="pt-BR" i="1">
                        <a:latin typeface="Cambria Math" panose="02040503050406030204" pitchFamily="18" charset="0"/>
                      </a:rPr>
                      <m:t>=</m:t>
                    </m:r>
                    <m:r>
                      <a:rPr lang="pt-BR" i="1">
                        <a:latin typeface="Cambria Math" panose="02040503050406030204" pitchFamily="18" charset="0"/>
                      </a:rPr>
                      <m:t>𝑁</m:t>
                    </m:r>
                    <m:r>
                      <a:rPr lang="pt-BR" i="1">
                        <a:latin typeface="Cambria Math" panose="02040503050406030204" pitchFamily="18" charset="0"/>
                      </a:rPr>
                      <m:t>−1</m:t>
                    </m:r>
                  </m:oMath>
                </a14:m>
                <a:r>
                  <a:rPr lang="pt-BR" dirty="0"/>
                  <a:t>.</a:t>
                </a:r>
              </a:p>
            </p:txBody>
          </p:sp>
        </mc:Choice>
        <mc:Fallback xmlns="">
          <p:sp>
            <p:nvSpPr>
              <p:cNvPr id="3" name="Espaço Reservado para Conteúdo 2">
                <a:extLst>
                  <a:ext uri="{FF2B5EF4-FFF2-40B4-BE49-F238E27FC236}">
                    <a16:creationId xmlns:a16="http://schemas.microsoft.com/office/drawing/2014/main" id="{7BD817CF-4D8D-9B30-5AB1-25FC1DC3EECD}"/>
                  </a:ext>
                </a:extLst>
              </p:cNvPr>
              <p:cNvSpPr>
                <a:spLocks noGrp="1" noRot="1" noChangeAspect="1" noMove="1" noResize="1" noEditPoints="1" noAdjustHandles="1" noChangeArrowheads="1" noChangeShapeType="1" noTextEdit="1"/>
              </p:cNvSpPr>
              <p:nvPr>
                <p:ph idx="1"/>
              </p:nvPr>
            </p:nvSpPr>
            <p:spPr>
              <a:xfrm>
                <a:off x="838199" y="1825624"/>
                <a:ext cx="11018179" cy="5032375"/>
              </a:xfrm>
              <a:blipFill>
                <a:blip r:embed="rId2"/>
                <a:stretch>
                  <a:fillRect l="-1106" t="-1937" b="-3269"/>
                </a:stretch>
              </a:blipFill>
            </p:spPr>
            <p:txBody>
              <a:bodyPr/>
              <a:lstStyle/>
              <a:p>
                <a:r>
                  <a:rPr lang="pt-BR">
                    <a:noFill/>
                  </a:rPr>
                  <a:t> </a:t>
                </a:r>
              </a:p>
            </p:txBody>
          </p:sp>
        </mc:Fallback>
      </mc:AlternateContent>
    </p:spTree>
    <p:extLst>
      <p:ext uri="{BB962C8B-B14F-4D97-AF65-F5344CB8AC3E}">
        <p14:creationId xmlns:p14="http://schemas.microsoft.com/office/powerpoint/2010/main" val="1899269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B7C6E-B23A-A079-E0B3-7110FA21C782}"/>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1955E10-4B16-2D29-24BC-850FAB262AA9}"/>
                  </a:ext>
                </a:extLst>
              </p:cNvPr>
              <p:cNvSpPr>
                <a:spLocks noGrp="1"/>
              </p:cNvSpPr>
              <p:nvPr>
                <p:ph idx="1"/>
              </p:nvPr>
            </p:nvSpPr>
            <p:spPr>
              <a:xfrm>
                <a:off x="838199" y="1825624"/>
                <a:ext cx="11100371" cy="5032375"/>
              </a:xfrm>
            </p:spPr>
            <p:txBody>
              <a:bodyPr>
                <a:normAutofit/>
              </a:bodyPr>
              <a:lstStyle/>
              <a:p>
                <a:pPr marL="0" indent="0">
                  <a:buNone/>
                </a:pPr>
                <a:r>
                  <a:rPr lang="pt-BR" dirty="0"/>
                  <a:t>Se definirmos uma matriz que contém todos os </a:t>
                </a:r>
                <a14:m>
                  <m:oMath xmlns:m="http://schemas.openxmlformats.org/officeDocument/2006/math">
                    <m:r>
                      <a:rPr lang="pt-BR" i="1">
                        <a:latin typeface="Cambria Math" panose="02040503050406030204" pitchFamily="18" charset="0"/>
                      </a:rPr>
                      <m:t>𝑁</m:t>
                    </m:r>
                    <m:r>
                      <a:rPr lang="pt-BR" i="1">
                        <a:latin typeface="Cambria Math" panose="02040503050406030204" pitchFamily="18" charset="0"/>
                      </a:rPr>
                      <m:t> </m:t>
                    </m:r>
                  </m:oMath>
                </a14:m>
                <a:r>
                  <a:rPr lang="pt-BR" dirty="0"/>
                  <a:t>exemplos de todos os </a:t>
                </a:r>
                <a14:m>
                  <m:oMath xmlns:m="http://schemas.openxmlformats.org/officeDocument/2006/math">
                    <m:r>
                      <a:rPr lang="pt-BR" i="1">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r>
                      <a:rPr lang="pt-BR" i="1">
                        <a:latin typeface="Cambria Math" panose="02040503050406030204" pitchFamily="18" charset="0"/>
                        <a:ea typeface="Cambria Math" panose="02040503050406030204" pitchFamily="18" charset="0"/>
                      </a:rPr>
                      <m:t> </m:t>
                    </m:r>
                  </m:oMath>
                </a14:m>
                <a:r>
                  <a:rPr lang="pt-BR" dirty="0"/>
                  <a:t>atributos e que tem dimensão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m:t>
                    </m:r>
                  </m:oMath>
                </a14:m>
                <a:endParaRPr lang="pt-BR" dirty="0"/>
              </a:p>
              <a:p>
                <a:pPr marL="0" indent="0">
                  <a:buNone/>
                </a:pPr>
                <a14:m>
                  <m:oMathPara xmlns:m="http://schemas.openxmlformats.org/officeDocument/2006/math">
                    <m:oMath>
                      <m:r>
                        <a:rPr lang="pt-BR" b="1" i="1" smtClean="0">
                          <a:latin typeface="Cambria Math" panose="02040503050406030204" pitchFamily="18" charset="0"/>
                        </a:rPr>
                        <m:t>𝑿</m:t>
                      </m:r>
                      <m:r>
                        <a:rPr lang="pt-BR" b="1" i="1" smtClean="0">
                          <a:latin typeface="Cambria Math" panose="02040503050406030204" pitchFamily="18" charset="0"/>
                        </a:rPr>
                        <m:t>=</m:t>
                      </m:r>
                      <m:d>
                        <m:dPr>
                          <m:begChr m:val="["/>
                          <m:endChr m:val="]"/>
                          <m:ctrlPr>
                            <a:rPr lang="pt-BR" b="1" i="1" smtClean="0">
                              <a:latin typeface="Cambria Math" panose="02040503050406030204" pitchFamily="18" charset="0"/>
                            </a:rPr>
                          </m:ctrlPr>
                        </m:dPr>
                        <m:e>
                          <m:m>
                            <m:mPr>
                              <m:mcs>
                                <m:mc>
                                  <m:mcPr>
                                    <m:count m:val="3"/>
                                    <m:mcJc m:val="center"/>
                                  </m:mcPr>
                                </m:mc>
                              </m:mcs>
                              <m:ctrlPr>
                                <a:rPr lang="pt-BR" b="1" i="1" smtClean="0">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𝐾</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1</m:t>
                                    </m:r>
                                  </m:e>
                                </m:d>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e>
                                <m:r>
                                  <m:rPr>
                                    <m:brk m:alnAt="7"/>
                                  </m:rPr>
                                  <a:rPr lang="pt-BR" b="1" i="1">
                                    <a:latin typeface="Cambria Math" panose="02040503050406030204" pitchFamily="18" charset="0"/>
                                  </a:rPr>
                                  <m:t>⋯</m:t>
                                </m:r>
                              </m:e>
                              <m:e>
                                <m:m>
                                  <m:mPr>
                                    <m:mcs>
                                      <m:mc>
                                        <m:mcPr>
                                          <m:count m:val="1"/>
                                          <m:mcJc m:val="center"/>
                                        </m:mcPr>
                                      </m:mc>
                                    </m:mcs>
                                    <m:ctrlPr>
                                      <a:rPr lang="pt-BR" i="1" smtClean="0">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smtClean="0">
                          <a:latin typeface="Cambria Math" panose="02040503050406030204" pitchFamily="18" charset="0"/>
                        </a:rPr>
                        <m:t>,</m:t>
                      </m:r>
                    </m:oMath>
                  </m:oMathPara>
                </a14:m>
                <a:endParaRPr lang="pt-BR" dirty="0"/>
              </a:p>
              <a:p>
                <a:pPr marL="0" indent="0">
                  <a:buNone/>
                </a:pPr>
                <a:r>
                  <a:rPr lang="pt-BR" dirty="0"/>
                  <a:t>e dois vetores coluna com dimensões </a:t>
                </a:r>
                <a14:m>
                  <m:oMath xmlns:m="http://schemas.openxmlformats.org/officeDocument/2006/math">
                    <m:r>
                      <a:rPr lang="pt-BR" b="0" i="1" smtClean="0">
                        <a:latin typeface="Cambria Math" panose="02040503050406030204" pitchFamily="18" charset="0"/>
                      </a:rPr>
                      <m:t>𝑁</m:t>
                    </m:r>
                    <m:r>
                      <a:rPr lang="pt-BR" b="0" i="1" smtClean="0">
                        <a:latin typeface="Cambria Math" panose="02040503050406030204" pitchFamily="18" charset="0"/>
                      </a:rPr>
                      <m:t>×1</m:t>
                    </m:r>
                  </m:oMath>
                </a14:m>
                <a:r>
                  <a:rPr lang="pt-BR" dirty="0"/>
                  <a:t> contendo todos os valores esperados (i.e., rótulos) e todos os valores preditos</a:t>
                </a:r>
              </a:p>
              <a:p>
                <a:pPr marL="0" indent="0" algn="ctr">
                  <a:buNone/>
                </a:pPr>
                <a14:m>
                  <m:oMath xmlns:m="http://schemas.openxmlformats.org/officeDocument/2006/math">
                    <m:r>
                      <a:rPr lang="pt-BR" b="1" i="1" smtClean="0">
                        <a:latin typeface="Cambria Math" panose="02040503050406030204" pitchFamily="18" charset="0"/>
                      </a:rPr>
                      <m:t>𝒚</m:t>
                    </m:r>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r>
                                <m:rPr>
                                  <m:brk m:alnAt="7"/>
                                </m:rPr>
                                <a:rPr lang="pt-BR" b="0" i="1" smtClean="0">
                                  <a:latin typeface="Cambria Math" panose="02040503050406030204" pitchFamily="18" charset="0"/>
                                </a:rPr>
                                <m:t>𝑦</m:t>
                              </m:r>
                              <m:r>
                                <a:rPr lang="pt-BR" b="0" i="1" smtClean="0">
                                  <a:latin typeface="Cambria Math" panose="02040503050406030204" pitchFamily="18" charset="0"/>
                                </a:rPr>
                                <m:t>(0)</m:t>
                              </m:r>
                            </m:e>
                          </m:mr>
                          <m:mr>
                            <m:e>
                              <m:r>
                                <a:rPr lang="pt-BR" b="0" i="1" smtClean="0">
                                  <a:latin typeface="Cambria Math" panose="02040503050406030204" pitchFamily="18" charset="0"/>
                                </a:rPr>
                                <m:t>⋮</m:t>
                              </m:r>
                            </m:e>
                          </m:mr>
                          <m:mr>
                            <m:e>
                              <m:r>
                                <a:rPr lang="pt-BR" b="0" i="1" smtClean="0">
                                  <a:latin typeface="Cambria Math" panose="02040503050406030204" pitchFamily="18" charset="0"/>
                                </a:rPr>
                                <m:t>𝑦</m:t>
                              </m:r>
                              <m:r>
                                <a:rPr lang="pt-BR" b="0" i="1" smtClean="0">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e>
                          </m:mr>
                        </m:m>
                      </m:e>
                    </m:d>
                  </m:oMath>
                </a14:m>
                <a:r>
                  <a:rPr lang="pt-BR" dirty="0"/>
                  <a:t>         e         </a:t>
                </a:r>
                <a14:m>
                  <m:oMath xmlns:m="http://schemas.openxmlformats.org/officeDocument/2006/math">
                    <m:acc>
                      <m:accPr>
                        <m:chr m:val="̂"/>
                        <m:ctrlPr>
                          <a:rPr lang="pt-BR" b="1" i="1" smtClean="0">
                            <a:latin typeface="Cambria Math" panose="02040503050406030204" pitchFamily="18" charset="0"/>
                          </a:rPr>
                        </m:ctrlPr>
                      </m:accPr>
                      <m:e>
                        <m:r>
                          <a:rPr lang="pt-BR" b="1" i="1" smtClean="0">
                            <a:latin typeface="Cambria Math" panose="02040503050406030204" pitchFamily="18" charset="0"/>
                          </a:rPr>
                          <m:t>𝒚</m:t>
                        </m:r>
                      </m:e>
                    </m:acc>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1"/>
                                  <m:mcJc m:val="center"/>
                                </m:mcPr>
                              </m:mc>
                            </m:mcs>
                            <m:ctrlPr>
                              <a:rPr lang="pt-BR" b="0" i="1" smtClean="0">
                                <a:latin typeface="Cambria Math" panose="02040503050406030204" pitchFamily="18" charset="0"/>
                              </a:rPr>
                            </m:ctrlPr>
                          </m:mPr>
                          <m:m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r>
                                <a:rPr lang="pt-BR" b="0" i="1" smtClean="0">
                                  <a:latin typeface="Cambria Math" panose="02040503050406030204" pitchFamily="18" charset="0"/>
                                </a:rPr>
                                <m:t>(0)</m:t>
                              </m:r>
                            </m:e>
                          </m:mr>
                          <m:mr>
                            <m:e>
                              <m:r>
                                <a:rPr lang="pt-BR"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b="0" i="1" smtClean="0">
                                  <a:latin typeface="Cambria Math" panose="02040503050406030204" pitchFamily="18" charset="0"/>
                                </a:rPr>
                                <m:t>𝑁</m:t>
                              </m:r>
                              <m:r>
                                <a:rPr lang="pt-BR" b="0" i="1" smtClean="0">
                                  <a:latin typeface="Cambria Math" panose="02040503050406030204" pitchFamily="18" charset="0"/>
                                </a:rPr>
                                <m:t>−1)</m:t>
                              </m:r>
                            </m:e>
                          </m:mr>
                        </m:m>
                      </m:e>
                    </m:d>
                  </m:oMath>
                </a14:m>
                <a:endParaRPr lang="pt-BR" dirty="0"/>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61955E10-4B16-2D29-24BC-850FAB262AA9}"/>
                  </a:ext>
                </a:extLst>
              </p:cNvPr>
              <p:cNvSpPr>
                <a:spLocks noGrp="1" noRot="1" noChangeAspect="1" noMove="1" noResize="1" noEditPoints="1" noAdjustHandles="1" noChangeArrowheads="1" noChangeShapeType="1" noTextEdit="1"/>
              </p:cNvSpPr>
              <p:nvPr>
                <p:ph idx="1"/>
              </p:nvPr>
            </p:nvSpPr>
            <p:spPr>
              <a:xfrm>
                <a:off x="838199" y="1825624"/>
                <a:ext cx="11100371" cy="5032375"/>
              </a:xfrm>
              <a:blipFill>
                <a:blip r:embed="rId2"/>
                <a:stretch>
                  <a:fillRect l="-1098" t="-1937"/>
                </a:stretch>
              </a:blipFill>
            </p:spPr>
            <p:txBody>
              <a:bodyPr/>
              <a:lstStyle/>
              <a:p>
                <a:r>
                  <a:rPr lang="pt-BR">
                    <a:noFill/>
                  </a:rPr>
                  <a:t> </a:t>
                </a:r>
              </a:p>
            </p:txBody>
          </p:sp>
        </mc:Fallback>
      </mc:AlternateContent>
    </p:spTree>
    <p:extLst>
      <p:ext uri="{BB962C8B-B14F-4D97-AF65-F5344CB8AC3E}">
        <p14:creationId xmlns:p14="http://schemas.microsoft.com/office/powerpoint/2010/main" val="22027198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6E48CD-5975-9166-CE39-4E765E641534}"/>
              </a:ext>
            </a:extLst>
          </p:cNvPr>
          <p:cNvSpPr>
            <a:spLocks noGrp="1"/>
          </p:cNvSpPr>
          <p:nvPr>
            <p:ph type="title"/>
          </p:nvPr>
        </p:nvSpPr>
        <p:spPr/>
        <p:txBody>
          <a:bodyPr/>
          <a:lstStyle/>
          <a:p>
            <a:r>
              <a:rPr lang="pt-BR" dirty="0"/>
              <a:t>Cálculo do vetor gradiente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9B6FE6F4-46A6-5D0C-B281-F2FF9F531349}"/>
                  </a:ext>
                </a:extLst>
              </p:cNvPr>
              <p:cNvSpPr>
                <a:spLocks noGrp="1"/>
              </p:cNvSpPr>
              <p:nvPr>
                <p:ph idx="1"/>
              </p:nvPr>
            </p:nvSpPr>
            <p:spPr>
              <a:xfrm>
                <a:off x="838199" y="1825624"/>
                <a:ext cx="11244209" cy="5032375"/>
              </a:xfrm>
            </p:spPr>
            <p:txBody>
              <a:bodyPr>
                <a:normAutofit lnSpcReduction="10000"/>
              </a:bodyPr>
              <a:lstStyle/>
              <a:p>
                <a:pPr marL="0" indent="0">
                  <a:buNone/>
                </a:pPr>
                <a:r>
                  <a:rPr lang="pt-BR" dirty="0"/>
                  <a:t>Usando a matriz e os vetores definidos no slide anterior, podemos reescrever o vetor gradiente como</a:t>
                </a:r>
              </a:p>
              <a:p>
                <a:pPr marL="0" indent="0">
                  <a:buNone/>
                </a:pPr>
                <a14:m>
                  <m:oMathPara xmlns:m="http://schemas.openxmlformats.org/officeDocument/2006/math">
                    <m:o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0" i="0" smtClean="0">
                          <a:latin typeface="Cambria Math" panose="02040503050406030204" pitchFamily="18" charset="0"/>
                        </a:rPr>
                        <m:t>=</m:t>
                      </m:r>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r>
                              <m:e>
                                <m:r>
                                  <a:rPr lang="pt-BR" b="1" i="1">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ctrlPr>
                            <a:rPr lang="pt-BR" b="1" i="1">
                              <a:latin typeface="Cambria Math" panose="02040503050406030204" pitchFamily="18" charset="0"/>
                            </a:rPr>
                          </m:ctrlPr>
                        </m:dPr>
                        <m:e>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r>
                                      <m:rPr>
                                        <m:brk m:alnAt="7"/>
                                      </m:rP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0</m:t>
                                        </m:r>
                                      </m:e>
                                    </m:d>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e>
                      </m:d>
                    </m:oMath>
                  </m:oMathPara>
                </a14:m>
                <a:endParaRPr lang="pt-BR" b="1" i="1" dirty="0">
                  <a:latin typeface="Cambria Math" panose="02040503050406030204" pitchFamily="18" charset="0"/>
                </a:endParaRPr>
              </a:p>
              <a:p>
                <a:pPr marL="0" indent="0">
                  <a:buNone/>
                </a:pPr>
                <a14:m>
                  <m:oMathPara xmlns:m="http://schemas.openxmlformats.org/officeDocument/2006/math">
                    <m:oMath>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oMath>
                  </m:oMathPara>
                </a14:m>
                <a:endParaRPr lang="pt-BR" dirty="0"/>
              </a:p>
              <a:p>
                <a:pPr marL="0" indent="0">
                  <a:buNone/>
                </a:pPr>
                <a:r>
                  <a:rPr lang="pt-BR" dirty="0"/>
                  <a:t>O resultado da multiplicação matricial acima continua resultando em um</a:t>
                </a:r>
                <a:r>
                  <a:rPr lang="pt-BR" b="1" i="1" dirty="0"/>
                  <a:t> vetor coluna </a:t>
                </a:r>
                <a:r>
                  <a:rPr lang="pt-BR" dirty="0"/>
                  <a:t>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 ou seja, </a:t>
                </a:r>
                <a14:m>
                  <m:oMath xmlns:m="http://schemas.openxmlformats.org/officeDocument/2006/math">
                    <m:d>
                      <m:dPr>
                        <m:ctrlPr>
                          <a:rPr lang="pt-BR" i="1">
                            <a:latin typeface="Cambria Math" panose="02040503050406030204" pitchFamily="18" charset="0"/>
                          </a:rPr>
                        </m:ctrlPr>
                      </m:dPr>
                      <m:e>
                        <m:r>
                          <a:rPr lang="pt-BR" i="1">
                            <a:latin typeface="Cambria Math" panose="02040503050406030204" pitchFamily="18" charset="0"/>
                          </a:rPr>
                          <m:t>𝐾</m:t>
                        </m:r>
                        <m:r>
                          <a:rPr lang="pt-BR" i="1">
                            <a:latin typeface="Cambria Math" panose="02040503050406030204" pitchFamily="18" charset="0"/>
                          </a:rPr>
                          <m:t>+1×</m:t>
                        </m:r>
                        <m:r>
                          <a:rPr lang="pt-BR" i="1">
                            <a:latin typeface="Cambria Math" panose="02040503050406030204" pitchFamily="18" charset="0"/>
                            <a:ea typeface="Cambria Math" panose="02040503050406030204" pitchFamily="18" charset="0"/>
                          </a:rPr>
                          <m:t>𝑁</m:t>
                        </m:r>
                      </m:e>
                    </m:d>
                    <m:r>
                      <a:rPr lang="pt-BR" b="0" i="1" smtClean="0">
                        <a:latin typeface="Cambria Math" panose="02040503050406030204" pitchFamily="18" charset="0"/>
                        <a:ea typeface="Cambria Math" panose="02040503050406030204" pitchFamily="18" charset="0"/>
                      </a:rPr>
                      <m:t>×</m:t>
                    </m:r>
                    <m:d>
                      <m:dPr>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𝑁</m:t>
                        </m:r>
                        <m:r>
                          <a:rPr lang="pt-BR" b="0" i="1" smtClean="0">
                            <a:latin typeface="Cambria Math" panose="02040503050406030204" pitchFamily="18" charset="0"/>
                            <a:ea typeface="Cambria Math" panose="02040503050406030204" pitchFamily="18" charset="0"/>
                          </a:rPr>
                          <m:t>×1</m:t>
                        </m:r>
                      </m:e>
                    </m:d>
                    <m:r>
                      <a:rPr lang="pt-BR" b="0" i="0"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𝐾</m:t>
                    </m:r>
                    <m:r>
                      <a:rPr lang="pt-BR" i="1">
                        <a:latin typeface="Cambria Math" panose="02040503050406030204" pitchFamily="18" charset="0"/>
                      </a:rPr>
                      <m:t>+1×1</m:t>
                    </m:r>
                  </m:oMath>
                </a14:m>
                <a:r>
                  <a:rPr lang="pt-BR" dirty="0"/>
                  <a:t>.</a:t>
                </a:r>
              </a:p>
            </p:txBody>
          </p:sp>
        </mc:Choice>
        <mc:Fallback xmlns="">
          <p:sp>
            <p:nvSpPr>
              <p:cNvPr id="3" name="Espaço Reservado para Conteúdo 2">
                <a:extLst>
                  <a:ext uri="{FF2B5EF4-FFF2-40B4-BE49-F238E27FC236}">
                    <a16:creationId xmlns:a16="http://schemas.microsoft.com/office/drawing/2014/main" id="{9B6FE6F4-46A6-5D0C-B281-F2FF9F531349}"/>
                  </a:ext>
                </a:extLst>
              </p:cNvPr>
              <p:cNvSpPr>
                <a:spLocks noGrp="1" noRot="1" noChangeAspect="1" noMove="1" noResize="1" noEditPoints="1" noAdjustHandles="1" noChangeArrowheads="1" noChangeShapeType="1" noTextEdit="1"/>
              </p:cNvSpPr>
              <p:nvPr>
                <p:ph idx="1"/>
              </p:nvPr>
            </p:nvSpPr>
            <p:spPr>
              <a:xfrm>
                <a:off x="838199" y="1825624"/>
                <a:ext cx="11244209" cy="5032375"/>
              </a:xfrm>
              <a:blipFill>
                <a:blip r:embed="rId2"/>
                <a:stretch>
                  <a:fillRect l="-1084" t="-2663" b="-969"/>
                </a:stretch>
              </a:blipFill>
            </p:spPr>
            <p:txBody>
              <a:bodyPr/>
              <a:lstStyle/>
              <a:p>
                <a:r>
                  <a:rPr lang="pt-BR">
                    <a:noFill/>
                  </a:rPr>
                  <a:t> </a:t>
                </a:r>
              </a:p>
            </p:txBody>
          </p:sp>
        </mc:Fallback>
      </mc:AlternateContent>
    </p:spTree>
    <p:extLst>
      <p:ext uri="{BB962C8B-B14F-4D97-AF65-F5344CB8AC3E}">
        <p14:creationId xmlns:p14="http://schemas.microsoft.com/office/powerpoint/2010/main" val="4683645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9A506-6095-A71D-6399-41F877CB26C7}"/>
              </a:ext>
            </a:extLst>
          </p:cNvPr>
          <p:cNvSpPr>
            <a:spLocks noGrp="1"/>
          </p:cNvSpPr>
          <p:nvPr>
            <p:ph type="title"/>
          </p:nvPr>
        </p:nvSpPr>
        <p:spPr/>
        <p:txBody>
          <a:bodyPr/>
          <a:lstStyle/>
          <a:p>
            <a:r>
              <a:rPr lang="pt-BR" dirty="0"/>
              <a:t>Equação de atualização dos pesos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89A84A6-B9EC-4293-8CA4-DDE6F7AF7C7D}"/>
                  </a:ext>
                </a:extLst>
              </p:cNvPr>
              <p:cNvSpPr>
                <a:spLocks noGrp="1"/>
              </p:cNvSpPr>
              <p:nvPr>
                <p:ph idx="1"/>
              </p:nvPr>
            </p:nvSpPr>
            <p:spPr>
              <a:xfrm>
                <a:off x="838199" y="1825624"/>
                <a:ext cx="11131193" cy="5032375"/>
              </a:xfrm>
            </p:spPr>
            <p:txBody>
              <a:bodyPr/>
              <a:lstStyle/>
              <a:p>
                <a:pPr marL="0" indent="0">
                  <a:buNone/>
                </a:pPr>
                <a:r>
                  <a:rPr lang="pt-BR" dirty="0"/>
                  <a:t>Utilizando o resultado anterior, podemos reescrever a equação de atualização dos pesos como</a:t>
                </a:r>
              </a:p>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smtClean="0">
                          <a:latin typeface="Cambria Math" panose="02040503050406030204" pitchFamily="18" charset="0"/>
                        </a:rPr>
                        <m:t>𝒂</m:t>
                      </m:r>
                      <m:r>
                        <a:rPr lang="pt-BR" b="1"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oMath>
                  </m:oMathPara>
                </a14:m>
                <a:endParaRPr lang="pt-BR" b="1" i="1" dirty="0">
                  <a:latin typeface="Cambria Math" panose="02040503050406030204" pitchFamily="18" charset="0"/>
                </a:endParaRPr>
              </a:p>
              <a:p>
                <a:pPr marL="0" indent="0">
                  <a:buNone/>
                </a:pPr>
                <a14:m>
                  <m:oMathPara xmlns:m="http://schemas.openxmlformats.org/officeDocument/2006/math">
                    <m:oMath>
                      <m:r>
                        <a:rPr lang="pt-BR" b="1" i="1" smtClean="0">
                          <a:latin typeface="Cambria Math" panose="02040503050406030204" pitchFamily="18" charset="0"/>
                        </a:rPr>
                        <m:t>               =</m:t>
                      </m:r>
                      <m:sSup>
                        <m:sSupPr>
                          <m:ctrlPr>
                            <a:rPr lang="pt-BR" b="1" i="1">
                              <a:latin typeface="Cambria Math" panose="02040503050406030204" pitchFamily="18" charset="0"/>
                            </a:rPr>
                          </m:ctrlPr>
                        </m:sSupPr>
                        <m:e>
                          <m:r>
                            <a:rPr lang="pt-BR" b="1" i="1">
                              <a:latin typeface="Cambria Math" panose="02040503050406030204" pitchFamily="18" charset="0"/>
                            </a:rPr>
                            <m:t>𝒂</m:t>
                          </m:r>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r>
                        <a:rPr lang="pt-BR" b="1" i="1" smtClean="0">
                          <a:latin typeface="Cambria Math" panose="02040503050406030204" pitchFamily="18" charset="0"/>
                        </a:rPr>
                        <m:t>.</m:t>
                      </m:r>
                    </m:oMath>
                  </m:oMathPara>
                </a14:m>
                <a:endParaRPr lang="pt-BR" dirty="0"/>
              </a:p>
              <a:p>
                <a:pPr marL="0" indent="0">
                  <a:buNone/>
                </a:pPr>
                <a:r>
                  <a:rPr lang="pt-BR" dirty="0"/>
                  <a:t>A soma acima deve resultar em um vetor coluna com dimensão </a:t>
                </a:r>
                <a14:m>
                  <m:oMath xmlns:m="http://schemas.openxmlformats.org/officeDocument/2006/math">
                    <m:r>
                      <a:rPr lang="pt-BR" b="0" i="1" smtClean="0">
                        <a:latin typeface="Cambria Math" panose="02040503050406030204" pitchFamily="18" charset="0"/>
                      </a:rPr>
                      <m:t>𝐾</m:t>
                    </m:r>
                    <m:r>
                      <a:rPr lang="pt-BR" b="0" i="1" smtClean="0">
                        <a:latin typeface="Cambria Math" panose="02040503050406030204" pitchFamily="18" charset="0"/>
                      </a:rPr>
                      <m:t>+1×1</m:t>
                    </m:r>
                  </m:oMath>
                </a14:m>
                <a:r>
                  <a:rPr lang="pt-BR" dirty="0"/>
                  <a:t>, pois esta é a dimensão dos dois vetores sendo somados. </a:t>
                </a:r>
              </a:p>
              <a:p>
                <a:pPr marL="0" indent="0">
                  <a:buNone/>
                </a:pPr>
                <a:r>
                  <a:rPr lang="pt-BR" dirty="0"/>
                  <a:t>Lembrem-se que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+1×1</m:t>
                    </m:r>
                  </m:oMath>
                </a14:m>
                <a:r>
                  <a:rPr lang="pt-BR" dirty="0"/>
                  <a:t> é a dimensão do vetor </a:t>
                </a:r>
                <a14:m>
                  <m:oMath xmlns:m="http://schemas.openxmlformats.org/officeDocument/2006/math">
                    <m:r>
                      <a:rPr lang="pt-BR" b="1" i="1">
                        <a:latin typeface="Cambria Math" panose="02040503050406030204" pitchFamily="18" charset="0"/>
                      </a:rPr>
                      <m:t>𝒂</m:t>
                    </m:r>
                  </m:oMath>
                </a14:m>
                <a:r>
                  <a:rPr lang="pt-BR" dirty="0"/>
                  <a:t>, o qual contém todos os pesos do modelo e que </a:t>
                </a:r>
                <a14:m>
                  <m:oMath xmlns:m="http://schemas.openxmlformats.org/officeDocument/2006/math">
                    <m:sSup>
                      <m:sSupPr>
                        <m:ctrlPr>
                          <a:rPr lang="pt-BR" i="1">
                            <a:latin typeface="Cambria Math" panose="02040503050406030204" pitchFamily="18" charset="0"/>
                          </a:rPr>
                        </m:ctrlPr>
                      </m:sSupPr>
                      <m:e>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r>
                          <a:rPr lang="pt-BR" b="1" i="1">
                            <a:latin typeface="Cambria Math" panose="02040503050406030204" pitchFamily="18" charset="0"/>
                          </a:rPr>
                          <m:t>𝑿</m:t>
                        </m:r>
                      </m:e>
                      <m:sup>
                        <m:r>
                          <a:rPr lang="pt-BR" i="1">
                            <a:latin typeface="Cambria Math" panose="02040503050406030204" pitchFamily="18" charset="0"/>
                          </a:rPr>
                          <m:t>𝑇</m:t>
                        </m:r>
                      </m:sup>
                    </m:sSup>
                    <m:d>
                      <m:dPr>
                        <m:ctrlPr>
                          <a:rPr lang="pt-BR" b="1" i="1">
                            <a:latin typeface="Cambria Math" panose="02040503050406030204" pitchFamily="18" charset="0"/>
                          </a:rPr>
                        </m:ctrlPr>
                      </m:dPr>
                      <m:e>
                        <m:r>
                          <a:rPr lang="pt-BR" b="1" i="1">
                            <a:latin typeface="Cambria Math" panose="02040503050406030204" pitchFamily="18" charset="0"/>
                          </a:rPr>
                          <m:t>𝒚</m:t>
                        </m:r>
                        <m:r>
                          <a:rPr lang="pt-BR" i="1">
                            <a:latin typeface="Cambria Math" panose="02040503050406030204" pitchFamily="18" charset="0"/>
                          </a:rPr>
                          <m:t>−</m:t>
                        </m:r>
                        <m:acc>
                          <m:accPr>
                            <m:chr m:val="̂"/>
                            <m:ctrlPr>
                              <a:rPr lang="pt-BR" b="1" i="1">
                                <a:latin typeface="Cambria Math" panose="02040503050406030204" pitchFamily="18" charset="0"/>
                              </a:rPr>
                            </m:ctrlPr>
                          </m:accPr>
                          <m:e>
                            <m:r>
                              <a:rPr lang="pt-BR" b="1" i="1">
                                <a:latin typeface="Cambria Math" panose="02040503050406030204" pitchFamily="18" charset="0"/>
                              </a:rPr>
                              <m:t>𝒚</m:t>
                            </m:r>
                          </m:e>
                        </m:acc>
                      </m:e>
                    </m:d>
                  </m:oMath>
                </a14:m>
                <a:r>
                  <a:rPr lang="pt-BR" dirty="0"/>
                  <a:t> tem dimensão </a:t>
                </a:r>
                <a14:m>
                  <m:oMath xmlns:m="http://schemas.openxmlformats.org/officeDocument/2006/math">
                    <m:r>
                      <a:rPr lang="pt-BR" i="1">
                        <a:latin typeface="Cambria Math" panose="02040503050406030204" pitchFamily="18" charset="0"/>
                      </a:rPr>
                      <m:t>𝐾</m:t>
                    </m:r>
                    <m:r>
                      <a:rPr lang="pt-BR" i="1">
                        <a:latin typeface="Cambria Math" panose="02040503050406030204" pitchFamily="18" charset="0"/>
                      </a:rPr>
                      <m:t>+1×1</m:t>
                    </m:r>
                  </m:oMath>
                </a14:m>
                <a:r>
                  <a:rPr lang="pt-BR" dirty="0"/>
                  <a:t> também.</a:t>
                </a:r>
              </a:p>
            </p:txBody>
          </p:sp>
        </mc:Choice>
        <mc:Fallback xmlns="">
          <p:sp>
            <p:nvSpPr>
              <p:cNvPr id="3" name="Espaço Reservado para Conteúdo 2">
                <a:extLst>
                  <a:ext uri="{FF2B5EF4-FFF2-40B4-BE49-F238E27FC236}">
                    <a16:creationId xmlns:a16="http://schemas.microsoft.com/office/drawing/2014/main" id="{D89A84A6-B9EC-4293-8CA4-DDE6F7AF7C7D}"/>
                  </a:ext>
                </a:extLst>
              </p:cNvPr>
              <p:cNvSpPr>
                <a:spLocks noGrp="1" noRot="1" noChangeAspect="1" noMove="1" noResize="1" noEditPoints="1" noAdjustHandles="1" noChangeArrowheads="1" noChangeShapeType="1" noTextEdit="1"/>
              </p:cNvSpPr>
              <p:nvPr>
                <p:ph idx="1"/>
              </p:nvPr>
            </p:nvSpPr>
            <p:spPr>
              <a:xfrm>
                <a:off x="838199" y="1825624"/>
                <a:ext cx="11131193" cy="5032375"/>
              </a:xfrm>
              <a:blipFill>
                <a:blip r:embed="rId2"/>
                <a:stretch>
                  <a:fillRect l="-1095" t="-1937" r="-548"/>
                </a:stretch>
              </a:blipFill>
            </p:spPr>
            <p:txBody>
              <a:bodyPr/>
              <a:lstStyle/>
              <a:p>
                <a:r>
                  <a:rPr lang="pt-BR">
                    <a:noFill/>
                  </a:rPr>
                  <a:t> </a:t>
                </a:r>
              </a:p>
            </p:txBody>
          </p:sp>
        </mc:Fallback>
      </mc:AlternateContent>
    </p:spTree>
    <p:extLst>
      <p:ext uri="{BB962C8B-B14F-4D97-AF65-F5344CB8AC3E}">
        <p14:creationId xmlns:p14="http://schemas.microsoft.com/office/powerpoint/2010/main" val="21388599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9A506-6095-A71D-6399-41F877CB26C7}"/>
              </a:ext>
            </a:extLst>
          </p:cNvPr>
          <p:cNvSpPr>
            <a:spLocks noGrp="1"/>
          </p:cNvSpPr>
          <p:nvPr>
            <p:ph type="title"/>
          </p:nvPr>
        </p:nvSpPr>
        <p:spPr/>
        <p:txBody>
          <a:bodyPr/>
          <a:lstStyle/>
          <a:p>
            <a:r>
              <a:rPr lang="pt-BR" dirty="0"/>
              <a:t>Equação de atualização dos pesos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89A84A6-B9EC-4293-8CA4-DDE6F7AF7C7D}"/>
                  </a:ext>
                </a:extLst>
              </p:cNvPr>
              <p:cNvSpPr>
                <a:spLocks noGrp="1"/>
              </p:cNvSpPr>
              <p:nvPr>
                <p:ph idx="1"/>
              </p:nvPr>
            </p:nvSpPr>
            <p:spPr>
              <a:xfrm>
                <a:off x="838199" y="1825624"/>
                <a:ext cx="11353801" cy="5032375"/>
              </a:xfrm>
            </p:spPr>
            <p:txBody>
              <a:bodyPr>
                <a:normAutofit fontScale="92500"/>
              </a:bodyPr>
              <a:lstStyle/>
              <a:p>
                <a:pPr marL="0" indent="0">
                  <a:buNone/>
                </a:pPr>
                <a:r>
                  <a:rPr lang="pt-BR" dirty="0"/>
                  <a:t>Podemos reescrever a equação de atualização dos pesos como</a:t>
                </a:r>
              </a:p>
              <a:p>
                <a:pPr marL="0" indent="0">
                  <a:buNone/>
                </a:pPr>
                <a14:m>
                  <m:oMathPara xmlns:m="http://schemas.openxmlformats.org/officeDocument/2006/math">
                    <m:oMath>
                      <m:r>
                        <a:rPr lang="pt-BR" b="1" i="1" smtClean="0">
                          <a:latin typeface="Cambria Math" panose="02040503050406030204" pitchFamily="18" charset="0"/>
                        </a:rPr>
                        <m:t>𝒂</m:t>
                      </m:r>
                      <m:r>
                        <a:rPr lang="pt-BR" b="1" i="1" smtClean="0">
                          <a:latin typeface="Cambria Math" panose="02040503050406030204" pitchFamily="18" charset="0"/>
                        </a:rPr>
                        <m:t>=</m:t>
                      </m:r>
                      <m:r>
                        <a:rPr lang="pt-BR" b="1" i="1" smtClean="0">
                          <a:latin typeface="Cambria Math" panose="02040503050406030204" pitchFamily="18" charset="0"/>
                        </a:rPr>
                        <m:t>𝒂</m:t>
                      </m:r>
                      <m:r>
                        <a:rPr lang="pt-BR" b="1"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r>
                            <a:rPr lang="pt-BR" b="1" i="1">
                              <a:latin typeface="Cambria Math" panose="02040503050406030204" pitchFamily="18" charset="0"/>
                            </a:rPr>
                            <m:t>𝒂</m:t>
                          </m:r>
                        </m:den>
                      </m:f>
                      <m:r>
                        <a:rPr lang="pt-BR" b="1" i="1" smtClean="0">
                          <a:latin typeface="Cambria Math" panose="02040503050406030204" pitchFamily="18" charset="0"/>
                        </a:rPr>
                        <m:t>=</m:t>
                      </m:r>
                      <m:d>
                        <m:dPr>
                          <m:begChr m:val="["/>
                          <m:endChr m:val="]"/>
                          <m:ctrlPr>
                            <a:rPr lang="pt-BR" b="1" i="1" smtClean="0">
                              <a:latin typeface="Cambria Math" panose="02040503050406030204" pitchFamily="18" charset="0"/>
                            </a:rPr>
                          </m:ctrlPr>
                        </m:dPr>
                        <m:e>
                          <m:m>
                            <m:mPr>
                              <m:mcs>
                                <m:mc>
                                  <m:mcPr>
                                    <m:count m:val="1"/>
                                    <m:mcJc m:val="center"/>
                                  </m:mcPr>
                                </m:mc>
                              </m:mcs>
                              <m:ctrlPr>
                                <a:rPr lang="pt-BR" b="1" i="1" smtClean="0">
                                  <a:latin typeface="Cambria Math" panose="02040503050406030204" pitchFamily="18" charset="0"/>
                                </a:rPr>
                              </m:ctrlPr>
                            </m:mPr>
                            <m:m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e>
                            </m:mr>
                            <m:mr>
                              <m:e>
                                <m:m>
                                  <m:mPr>
                                    <m:mcs>
                                      <m:mc>
                                        <m:mcPr>
                                          <m:count m:val="1"/>
                                          <m:mcJc m:val="center"/>
                                        </m:mcPr>
                                      </m:mc>
                                    </m:mcs>
                                    <m:ctrlPr>
                                      <a:rPr lang="pt-BR" b="1" i="1" smtClean="0">
                                        <a:latin typeface="Cambria Math" panose="02040503050406030204" pitchFamily="18" charset="0"/>
                                      </a:rPr>
                                    </m:ctrlPr>
                                  </m:mPr>
                                  <m:mr>
                                    <m:e>
                                      <m:r>
                                        <m:rPr>
                                          <m:brk m:alnAt="7"/>
                                        </m:rPr>
                                        <a:rPr lang="pt-BR" b="1" i="1" smtClean="0">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b="0" i="1" smtClean="0">
                                              <a:latin typeface="Cambria Math" panose="02040503050406030204" pitchFamily="18" charset="0"/>
                                            </a:rPr>
                                            <m:t>𝐾</m:t>
                                          </m:r>
                                        </m:sub>
                                      </m:sSub>
                                    </m:e>
                                  </m:mr>
                                </m:m>
                              </m:e>
                            </m:mr>
                          </m:m>
                        </m:e>
                      </m:d>
                      <m:r>
                        <a:rPr lang="pt-BR" b="1" i="1" smtClean="0">
                          <a:latin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𝛼</m:t>
                      </m:r>
                      <m:d>
                        <m:dPr>
                          <m:begChr m:val="["/>
                          <m:endChr m:val="]"/>
                          <m:ctrlPr>
                            <a:rPr lang="pt-BR" b="0" i="1" smtClean="0">
                              <a:latin typeface="Cambria Math" panose="02040503050406030204" pitchFamily="18" charset="0"/>
                              <a:ea typeface="Cambria Math" panose="02040503050406030204" pitchFamily="18" charset="0"/>
                            </a:rPr>
                          </m:ctrlPr>
                        </m:dPr>
                        <m:e>
                          <m:m>
                            <m:mPr>
                              <m:mcs>
                                <m:mc>
                                  <m:mcPr>
                                    <m:count m:val="1"/>
                                    <m:mcJc m:val="center"/>
                                  </m:mcPr>
                                </m:mc>
                              </m:mcs>
                              <m:ctrlPr>
                                <a:rPr lang="pt-BR" b="0" i="1" smtClean="0">
                                  <a:latin typeface="Cambria Math" panose="02040503050406030204" pitchFamily="18" charset="0"/>
                                  <a:ea typeface="Cambria Math" panose="02040503050406030204" pitchFamily="18" charset="0"/>
                                </a:rPr>
                              </m:ctrlPr>
                            </m:mP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den>
                                </m:f>
                              </m:e>
                            </m:mr>
                            <m:mr>
                              <m:e>
                                <m:r>
                                  <a:rPr lang="pt-BR" b="0" i="1" smtClean="0">
                                    <a:latin typeface="Cambria Math" panose="02040503050406030204" pitchFamily="18" charset="0"/>
                                    <a:ea typeface="Cambria Math" panose="02040503050406030204" pitchFamily="18" charset="0"/>
                                  </a:rPr>
                                  <m:t>⋮</m:t>
                                </m:r>
                              </m:e>
                            </m:mr>
                            <m:mr>
                              <m:e>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b="1" i="1">
                                            <a:latin typeface="Cambria Math" panose="02040503050406030204" pitchFamily="18" charset="0"/>
                                          </a:rPr>
                                        </m:ctrlPr>
                                      </m:dPr>
                                      <m:e>
                                        <m:r>
                                          <a:rPr lang="pt-BR" b="1" i="1">
                                            <a:latin typeface="Cambria Math" panose="02040503050406030204" pitchFamily="18" charset="0"/>
                                          </a:rPr>
                                          <m:t>𝒂</m:t>
                                        </m:r>
                                      </m:e>
                                    </m:d>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den>
                                </m:f>
                              </m:e>
                            </m:mr>
                          </m:m>
                        </m:e>
                      </m:d>
                    </m:oMath>
                  </m:oMathPara>
                </a14:m>
                <a:endParaRPr lang="pt-BR" b="0" i="1" dirty="0">
                  <a:latin typeface="Cambria Math" panose="02040503050406030204" pitchFamily="18" charset="0"/>
                  <a:ea typeface="Cambria Math" panose="02040503050406030204" pitchFamily="18" charset="0"/>
                </a:endParaRPr>
              </a:p>
              <a:p>
                <a:pPr marL="0" indent="0">
                  <a:buNone/>
                </a:pPr>
                <a:r>
                  <a:rPr lang="pt-BR" b="1" dirty="0"/>
                  <a:t> </a:t>
                </a:r>
                <a14:m>
                  <m:oMath xmlns:m="http://schemas.openxmlformats.org/officeDocument/2006/math">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e>
                                </m:mr>
                              </m:m>
                            </m:e>
                          </m:mr>
                        </m:m>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r>
                            <m:e>
                              <m:r>
                                <a:rPr lang="pt-BR" b="1" i="1">
                                  <a:latin typeface="Cambria Math" panose="02040503050406030204" pitchFamily="18" charset="0"/>
                                </a:rPr>
                                <m:t>⋮</m:t>
                              </m:r>
                            </m:e>
                            <m:e>
                              <m:r>
                                <a:rPr lang="pt-BR" b="1" i="1">
                                  <a:latin typeface="Cambria Math" panose="02040503050406030204" pitchFamily="18" charset="0"/>
                                </a:rPr>
                                <m:t>⋮</m:t>
                              </m:r>
                            </m:e>
                            <m:e>
                              <m: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d>
                      <m:dPr>
                        <m:ctrlPr>
                          <a:rPr lang="pt-BR" b="1" i="1">
                            <a:latin typeface="Cambria Math" panose="02040503050406030204" pitchFamily="18" charset="0"/>
                          </a:rPr>
                        </m:ctrlPr>
                      </m:dPr>
                      <m:e>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r>
                                    <m:rPr>
                                      <m:brk m:alnAt="7"/>
                                    </m:rP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0</m:t>
                                      </m:r>
                                    </m:e>
                                  </m:d>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r>
                          <a:rPr lang="pt-BR" b="1" i="1">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0</m:t>
                                      </m:r>
                                    </m:e>
                                  </m:d>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1</m:t>
                                      </m:r>
                                    </m:e>
                                  </m:d>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acc>
                                          <m:accPr>
                                            <m:chr m:val="̂"/>
                                            <m:ctrlPr>
                                              <a:rPr lang="pt-BR" i="1">
                                                <a:latin typeface="Cambria Math" panose="02040503050406030204" pitchFamily="18" charset="0"/>
                                              </a:rPr>
                                            </m:ctrlPr>
                                          </m:accPr>
                                          <m:e>
                                            <m:r>
                                              <a:rPr lang="pt-BR" i="1">
                                                <a:latin typeface="Cambria Math" panose="02040503050406030204" pitchFamily="18" charset="0"/>
                                              </a:rPr>
                                              <m:t>𝑦</m:t>
                                            </m:r>
                                          </m:e>
                                        </m:acc>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mr>
                            </m:m>
                          </m:e>
                        </m:d>
                      </m:e>
                    </m:d>
                  </m:oMath>
                </a14:m>
                <a:endParaRPr lang="pt-BR" b="1" i="1" dirty="0">
                  <a:latin typeface="Cambria Math" panose="02040503050406030204" pitchFamily="18" charset="0"/>
                </a:endParaRPr>
              </a:p>
              <a:p>
                <a:pPr marL="0" indent="0">
                  <a:buNone/>
                </a:pPr>
                <a14:m>
                  <m:oMathPara xmlns:m="http://schemas.openxmlformats.org/officeDocument/2006/math">
                    <m:oMath>
                      <m:r>
                        <a:rPr lang="pt-BR" b="1" i="1" smtClean="0">
                          <a:latin typeface="Cambria Math" panose="02040503050406030204" pitchFamily="18" charset="0"/>
                        </a:rPr>
                        <m:t>=</m:t>
                      </m:r>
                      <m:d>
                        <m:dPr>
                          <m:begChr m:val="["/>
                          <m:endChr m:val="]"/>
                          <m:ctrlPr>
                            <a:rPr lang="pt-BR" b="1" i="1">
                              <a:latin typeface="Cambria Math" panose="02040503050406030204" pitchFamily="18" charset="0"/>
                            </a:rPr>
                          </m:ctrlPr>
                        </m:dPr>
                        <m:e>
                          <m:m>
                            <m:mPr>
                              <m:mcs>
                                <m:mc>
                                  <m:mcPr>
                                    <m:count m:val="1"/>
                                    <m:mcJc m:val="center"/>
                                  </m:mcPr>
                                </m:mc>
                              </m:mcs>
                              <m:ctrlPr>
                                <a:rPr lang="pt-BR" b="1"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0</m:t>
                                    </m:r>
                                  </m:sub>
                                </m:sSub>
                              </m:e>
                            </m:mr>
                            <m:mr>
                              <m:e>
                                <m:m>
                                  <m:mPr>
                                    <m:mcs>
                                      <m:mc>
                                        <m:mcPr>
                                          <m:count m:val="1"/>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𝐾</m:t>
                                          </m:r>
                                        </m:sub>
                                      </m:sSub>
                                    </m:e>
                                  </m:mr>
                                </m:m>
                              </m:e>
                            </m:mr>
                          </m:m>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𝑁</m:t>
                          </m:r>
                        </m:den>
                      </m:f>
                      <m:d>
                        <m:dPr>
                          <m:begChr m:val="{"/>
                          <m:endChr m:val="}"/>
                          <m:ctrlPr>
                            <a:rPr lang="pt-BR" i="1">
                              <a:latin typeface="Cambria Math" panose="02040503050406030204" pitchFamily="18" charset="0"/>
                            </a:rPr>
                          </m:ctrlPr>
                        </m:dPr>
                        <m:e>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r>
                                  <m:e>
                                    <m:r>
                                      <a:rPr lang="pt-BR" i="1">
                                        <a:latin typeface="Cambria Math" panose="02040503050406030204" pitchFamily="18" charset="0"/>
                                      </a:rPr>
                                      <m:t>⋮</m:t>
                                    </m:r>
                                  </m:e>
                                </m:mr>
                                <m:mr>
                                  <m:e>
                                    <m:sSub>
                                      <m:sSubPr>
                                        <m:ctrlPr>
                                          <a:rPr lang="pt-BR" i="1">
                                            <a:latin typeface="Cambria Math" panose="02040503050406030204" pitchFamily="18" charset="0"/>
                                          </a:rPr>
                                        </m:ctrlPr>
                                      </m:sSubPr>
                                      <m:e>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0</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𝑑</m:t>
                                    </m:r>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𝐾</m:t>
                                        </m:r>
                                      </m:sub>
                                    </m:sSub>
                                    <m:d>
                                      <m:dPr>
                                        <m:ctrlPr>
                                          <a:rPr lang="pt-BR" i="1">
                                            <a:latin typeface="Cambria Math" panose="02040503050406030204" pitchFamily="18" charset="0"/>
                                          </a:rPr>
                                        </m:ctrlPr>
                                      </m:dPr>
                                      <m:e>
                                        <m:r>
                                          <a:rPr lang="pt-BR" i="1">
                                            <a:latin typeface="Cambria Math" panose="02040503050406030204" pitchFamily="18" charset="0"/>
                                          </a:rPr>
                                          <m:t>𝑁</m:t>
                                        </m:r>
                                        <m:r>
                                          <a:rPr lang="pt-BR" i="1">
                                            <a:latin typeface="Cambria Math" panose="02040503050406030204" pitchFamily="18" charset="0"/>
                                          </a:rPr>
                                          <m:t>−1</m:t>
                                        </m:r>
                                      </m:e>
                                    </m:d>
                                  </m:e>
                                </m:mr>
                              </m:m>
                            </m:e>
                          </m:d>
                        </m:e>
                      </m:d>
                      <m:r>
                        <a:rPr lang="pt-BR" b="0" i="1" smtClean="0">
                          <a:latin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a16="http://schemas.microsoft.com/office/drawing/2014/main" id="{D89A84A6-B9EC-4293-8CA4-DDE6F7AF7C7D}"/>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a:blip r:embed="rId2"/>
                <a:stretch>
                  <a:fillRect l="-913" t="-1816"/>
                </a:stretch>
              </a:blipFill>
            </p:spPr>
            <p:txBody>
              <a:bodyPr/>
              <a:lstStyle/>
              <a:p>
                <a:r>
                  <a:rPr lang="pt-BR">
                    <a:noFill/>
                  </a:rPr>
                  <a:t> </a:t>
                </a:r>
              </a:p>
            </p:txBody>
          </p:sp>
        </mc:Fallback>
      </mc:AlternateContent>
    </p:spTree>
    <p:extLst>
      <p:ext uri="{BB962C8B-B14F-4D97-AF65-F5344CB8AC3E}">
        <p14:creationId xmlns:p14="http://schemas.microsoft.com/office/powerpoint/2010/main" val="1215094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F20CD40C-581D-767F-12ED-42D2CB7861C4}"/>
              </a:ext>
            </a:extLst>
          </p:cNvPr>
          <p:cNvSpPr>
            <a:spLocks noGrp="1"/>
          </p:cNvSpPr>
          <p:nvPr>
            <p:ph idx="1"/>
          </p:nvPr>
        </p:nvSpPr>
        <p:spPr>
          <a:xfrm>
            <a:off x="838200" y="1825625"/>
            <a:ext cx="10515600" cy="3188164"/>
          </a:xfrm>
        </p:spPr>
        <p:txBody>
          <a:bodyPr>
            <a:normAutofit fontScale="92500" lnSpcReduction="20000"/>
          </a:bodyPr>
          <a:lstStyle/>
          <a:p>
            <a:pPr marL="0" indent="0" algn="ctr">
              <a:buNone/>
            </a:pPr>
            <a:r>
              <a:rPr lang="pt-BR" sz="7200" dirty="0"/>
              <a:t>Anexo II:</a:t>
            </a:r>
          </a:p>
          <a:p>
            <a:pPr marL="0" indent="0" algn="ctr">
              <a:buNone/>
            </a:pPr>
            <a:r>
              <a:rPr lang="pt-BR" sz="7200" dirty="0"/>
              <a:t>Cálculo do vetor gradiente de uma função hipótese com 2 pesos</a:t>
            </a:r>
          </a:p>
        </p:txBody>
      </p:sp>
    </p:spTree>
    <p:extLst>
      <p:ext uri="{BB962C8B-B14F-4D97-AF65-F5344CB8AC3E}">
        <p14:creationId xmlns:p14="http://schemas.microsoft.com/office/powerpoint/2010/main" val="1957188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95EBB-C5F7-1ED4-47E3-8B2DA711AB6A}"/>
              </a:ext>
            </a:extLst>
          </p:cNvPr>
          <p:cNvSpPr>
            <a:spLocks noGrp="1"/>
          </p:cNvSpPr>
          <p:nvPr>
            <p:ph type="title"/>
          </p:nvPr>
        </p:nvSpPr>
        <p:spPr/>
        <p:txBody>
          <a:bodyPr/>
          <a:lstStyle/>
          <a:p>
            <a:r>
              <a:rPr lang="pt-BR" sz="4400" dirty="0"/>
              <a:t>Cálculo do vetor gradiente</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4F931D6-37E3-E782-E6F2-324E1FBA74F9}"/>
                  </a:ext>
                </a:extLst>
              </p:cNvPr>
              <p:cNvSpPr>
                <a:spLocks noGrp="1"/>
              </p:cNvSpPr>
              <p:nvPr>
                <p:ph idx="1"/>
              </p:nvPr>
            </p:nvSpPr>
            <p:spPr>
              <a:xfrm>
                <a:off x="838199" y="1825625"/>
                <a:ext cx="11018855" cy="4936916"/>
              </a:xfrm>
            </p:spPr>
            <p:txBody>
              <a:bodyPr/>
              <a:lstStyle/>
              <a:p>
                <a:pPr marL="0" indent="0">
                  <a:buNone/>
                </a:pPr>
                <a:r>
                  <a:rPr lang="en-US" b="1" i="1" dirty="0"/>
                  <a:t>Função </a:t>
                </a:r>
                <a:r>
                  <a:rPr lang="en-US" b="1" i="1" dirty="0" err="1"/>
                  <a:t>hipótese</a:t>
                </a:r>
                <a:r>
                  <a:rPr lang="en-US" b="1" i="1" dirty="0"/>
                  <a:t> </a:t>
                </a:r>
                <a:r>
                  <a:rPr lang="en-US" dirty="0"/>
                  <a:t>com 2 pesos,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1</m:t>
                        </m:r>
                      </m:sub>
                    </m:sSub>
                  </m:oMath>
                </a14:m>
                <a:r>
                  <a:rPr lang="en-US" dirty="0"/>
                  <a:t> e</a:t>
                </a:r>
                <a14:m>
                  <m:oMath xmlns:m="http://schemas.openxmlformats.org/officeDocument/2006/math">
                    <m:r>
                      <a:rPr lang="pt-BR" b="0" i="0"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2</m:t>
                        </m:r>
                      </m:sub>
                    </m:sSub>
                  </m:oMath>
                </a14:m>
                <a:endParaRPr lang="en-US" dirty="0"/>
              </a:p>
              <a:p>
                <a:pPr marL="0" indent="0" algn="ctr">
                  <a:buNone/>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en-US" b="0" i="1" smtClean="0">
                          <a:latin typeface="Cambria Math" panose="02040503050406030204" pitchFamily="18" charset="0"/>
                        </a:rPr>
                        <m:t>= </m:t>
                      </m:r>
                      <m:r>
                        <a:rPr lang="en-US" b="0" i="1" smtClean="0">
                          <a:latin typeface="Cambria Math" panose="02040503050406030204" pitchFamily="18" charset="0"/>
                        </a:rPr>
                        <m:t>ℎ</m:t>
                      </m:r>
                      <m:d>
                        <m:dPr>
                          <m:ctrlPr>
                            <a:rPr lang="pt-BR" b="1" i="1" smtClean="0">
                              <a:latin typeface="Cambria Math" panose="02040503050406030204" pitchFamily="18" charset="0"/>
                            </a:rPr>
                          </m:ctrlPr>
                        </m:dPr>
                        <m:e>
                          <m:r>
                            <a:rPr lang="pt-BR" b="1" i="1" smtClean="0">
                              <a:latin typeface="Cambria Math" panose="02040503050406030204" pitchFamily="18" charset="0"/>
                            </a:rPr>
                            <m:t>𝒙</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r>
                        <a:rPr lang="pt-BR"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b="0" i="1" smtClean="0">
                              <a:latin typeface="Cambria Math" panose="02040503050406030204" pitchFamily="18" charset="0"/>
                            </a:rPr>
                            <m:t>1</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b="0" i="1" smtClean="0">
                              <a:latin typeface="Cambria Math" panose="02040503050406030204" pitchFamily="18" charset="0"/>
                            </a:rPr>
                            <m:t>2</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b="0" i="0" smtClean="0">
                          <a:latin typeface="Cambria Math" panose="02040503050406030204" pitchFamily="18" charset="0"/>
                        </a:rPr>
                        <m:t>.</m:t>
                      </m:r>
                    </m:oMath>
                  </m:oMathPara>
                </a14:m>
                <a:endParaRPr lang="nl-BE" dirty="0"/>
              </a:p>
              <a:p>
                <a:pPr marL="0" indent="0">
                  <a:buNone/>
                </a:pPr>
                <a:r>
                  <a:rPr lang="en-US" dirty="0"/>
                  <a:t>A </a:t>
                </a:r>
                <a:r>
                  <a:rPr lang="en-US" dirty="0" err="1"/>
                  <a:t>função</a:t>
                </a:r>
                <a:r>
                  <a:rPr lang="en-US" dirty="0"/>
                  <a:t> de </a:t>
                </a:r>
                <a:r>
                  <a:rPr lang="en-US" dirty="0" err="1"/>
                  <a:t>erro</a:t>
                </a:r>
                <a:r>
                  <a:rPr lang="en-US" dirty="0"/>
                  <a:t> é dada </a:t>
                </a:r>
                <a:r>
                  <a:rPr lang="en-US" dirty="0" err="1"/>
                  <a:t>por</a:t>
                </a:r>
                <a:endParaRPr lang="en-US" dirty="0"/>
              </a:p>
              <a:p>
                <a:pPr marL="0" indent="0" algn="ctr">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r>
                        <a:rPr lang="en-US"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smtClean="0">
                                  <a:latin typeface="Cambria Math" panose="02040503050406030204" pitchFamily="18" charset="0"/>
                                </a:rPr>
                              </m:ctrlPr>
                            </m:sSupPr>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dirty="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1</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2</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d>
                            </m:e>
                            <m:sup>
                              <m:r>
                                <a:rPr lang="pt-BR" b="0" i="1" smtClean="0">
                                  <a:latin typeface="Cambria Math" panose="02040503050406030204" pitchFamily="18" charset="0"/>
                                </a:rPr>
                                <m:t>2</m:t>
                              </m:r>
                            </m:sup>
                          </m:sSup>
                        </m:e>
                      </m:nary>
                      <m:r>
                        <a:rPr lang="pt-BR" b="0" i="1" smtClean="0">
                          <a:latin typeface="Cambria Math" panose="02040503050406030204" pitchFamily="18" charset="0"/>
                        </a:rPr>
                        <m:t>.</m:t>
                      </m:r>
                    </m:oMath>
                  </m:oMathPara>
                </a14:m>
                <a:endParaRPr lang="nl-BE" dirty="0"/>
              </a:p>
            </p:txBody>
          </p:sp>
        </mc:Choice>
        <mc:Fallback xmlns="">
          <p:sp>
            <p:nvSpPr>
              <p:cNvPr id="3" name="Espaço Reservado para Conteúdo 2">
                <a:extLst>
                  <a:ext uri="{FF2B5EF4-FFF2-40B4-BE49-F238E27FC236}">
                    <a16:creationId xmlns:a16="http://schemas.microsoft.com/office/drawing/2014/main" id="{F4F931D6-37E3-E782-E6F2-324E1FBA74F9}"/>
                  </a:ext>
                </a:extLst>
              </p:cNvPr>
              <p:cNvSpPr>
                <a:spLocks noGrp="1" noRot="1" noChangeAspect="1" noMove="1" noResize="1" noEditPoints="1" noAdjustHandles="1" noChangeArrowheads="1" noChangeShapeType="1" noTextEdit="1"/>
              </p:cNvSpPr>
              <p:nvPr>
                <p:ph idx="1"/>
              </p:nvPr>
            </p:nvSpPr>
            <p:spPr>
              <a:xfrm>
                <a:off x="838199" y="1825625"/>
                <a:ext cx="11018855" cy="4936916"/>
              </a:xfrm>
              <a:blipFill>
                <a:blip r:embed="rId3"/>
                <a:stretch>
                  <a:fillRect l="-1106" t="-1975"/>
                </a:stretch>
              </a:blipFill>
            </p:spPr>
            <p:txBody>
              <a:bodyPr/>
              <a:lstStyle/>
              <a:p>
                <a:r>
                  <a:rPr lang="pt-BR">
                    <a:noFill/>
                  </a:rPr>
                  <a:t> </a:t>
                </a:r>
              </a:p>
            </p:txBody>
          </p:sp>
        </mc:Fallback>
      </mc:AlternateContent>
    </p:spTree>
    <p:extLst>
      <p:ext uri="{BB962C8B-B14F-4D97-AF65-F5344CB8AC3E}">
        <p14:creationId xmlns:p14="http://schemas.microsoft.com/office/powerpoint/2010/main" val="2096151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5D3CD8-A7D1-EA5B-0EFB-B68A641810C7}"/>
              </a:ext>
            </a:extLst>
          </p:cNvPr>
          <p:cNvSpPr>
            <a:spLocks noGrp="1"/>
          </p:cNvSpPr>
          <p:nvPr>
            <p:ph type="title"/>
          </p:nvPr>
        </p:nvSpPr>
        <p:spPr/>
        <p:txBody>
          <a:bodyPr/>
          <a:lstStyle/>
          <a:p>
            <a:r>
              <a:rPr lang="pt-BR" sz="4400" dirty="0"/>
              <a:t>Cálculo do vetor gradiente</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DCE1316-F3CC-42AC-6492-E55A9803B437}"/>
                  </a:ext>
                </a:extLst>
              </p:cNvPr>
              <p:cNvSpPr>
                <a:spLocks noGrp="1"/>
              </p:cNvSpPr>
              <p:nvPr>
                <p:ph idx="1"/>
              </p:nvPr>
            </p:nvSpPr>
            <p:spPr>
              <a:xfrm>
                <a:off x="838199" y="1825624"/>
                <a:ext cx="11179629" cy="5032375"/>
              </a:xfrm>
            </p:spPr>
            <p:txBody>
              <a:bodyPr>
                <a:normAutofit/>
              </a:bodyPr>
              <a:lstStyle/>
              <a:p>
                <a:pPr marL="0" indent="0">
                  <a:buNone/>
                </a:pPr>
                <a:r>
                  <a:rPr lang="nl-BE" dirty="0"/>
                  <a:t>Cada elemento do vetor gradiente é dado por</a:t>
                </a:r>
              </a:p>
              <a:p>
                <a:pPr marL="0" indent="0" algn="ctr">
                  <a:buNone/>
                </a:pPr>
                <a14:m>
                  <m:oMathPara xmlns:m="http://schemas.openxmlformats.org/officeDocument/2006/math">
                    <m:oMath>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𝐽</m:t>
                              </m:r>
                            </m:e>
                            <m:sub>
                              <m:r>
                                <a:rPr lang="pt-BR" i="1">
                                  <a:latin typeface="Cambria Math" panose="02040503050406030204" pitchFamily="18" charset="0"/>
                                  <a:ea typeface="Cambria Math" panose="02040503050406030204" pitchFamily="18" charset="0"/>
                                </a:rPr>
                                <m:t>𝑒</m:t>
                              </m:r>
                            </m:sub>
                          </m:sSub>
                          <m:d>
                            <m:dPr>
                              <m:ctrlPr>
                                <a:rPr lang="pt-BR" b="1"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𝒂</m:t>
                              </m:r>
                            </m:e>
                          </m:d>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b="0" i="1" smtClean="0">
                                  <a:latin typeface="Cambria Math" panose="02040503050406030204" pitchFamily="18" charset="0"/>
                                </a:rPr>
                                <m:t>𝑘</m:t>
                              </m:r>
                            </m:sub>
                          </m:sSub>
                        </m:den>
                      </m:f>
                      <m:r>
                        <a:rPr lang="pt-BR" b="0" i="1" smtClean="0">
                          <a:latin typeface="Cambria Math" panose="02040503050406030204" pitchFamily="18" charset="0"/>
                        </a:rPr>
                        <m:t>=</m:t>
                      </m:r>
                      <m:f>
                        <m:fPr>
                          <m:ctrlPr>
                            <a:rPr lang="pt-BR" i="1">
                              <a:latin typeface="Cambria Math" panose="02040503050406030204" pitchFamily="18" charset="0"/>
                              <a:ea typeface="Cambria Math" panose="02040503050406030204" pitchFamily="18" charset="0"/>
                            </a:rPr>
                          </m:ctrlPr>
                        </m:fPr>
                        <m:num>
                          <m:r>
                            <a:rPr lang="pt-BR" i="1">
                              <a:latin typeface="Cambria Math" panose="02040503050406030204" pitchFamily="18" charset="0"/>
                              <a:ea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dirty="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d>
                                </m:e>
                                <m:sup>
                                  <m:r>
                                    <a:rPr lang="pt-BR" i="1">
                                      <a:latin typeface="Cambria Math" panose="02040503050406030204" pitchFamily="18" charset="0"/>
                                    </a:rPr>
                                    <m:t>2</m:t>
                                  </m:r>
                                </m:sup>
                              </m:sSup>
                            </m:e>
                          </m:nary>
                        </m:num>
                        <m:den>
                          <m:r>
                            <a:rPr lang="pt-BR"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𝑘</m:t>
                              </m:r>
                            </m:sub>
                          </m:sSub>
                        </m:den>
                      </m:f>
                    </m:oMath>
                  </m:oMathPara>
                </a14:m>
                <a:endParaRPr lang="pt-BR" i="1" dirty="0">
                  <a:latin typeface="Cambria Math" panose="02040503050406030204" pitchFamily="18" charset="0"/>
                </a:endParaRPr>
              </a:p>
              <a:p>
                <a:pPr marL="0" indent="0" algn="ctr">
                  <a:buNone/>
                </a:pPr>
                <a14:m>
                  <m:oMathPara xmlns:m="http://schemas.openxmlformats.org/officeDocument/2006/math">
                    <m:oMath>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f>
                            <m:fPr>
                              <m:ctrlPr>
                                <a:rPr lang="pt-BR" i="1" smtClean="0">
                                  <a:latin typeface="Cambria Math" panose="02040503050406030204" pitchFamily="18" charset="0"/>
                                </a:rPr>
                              </m:ctrlPr>
                            </m:fPr>
                            <m:num>
                              <m:r>
                                <a:rPr lang="pt-BR" i="1" smtClean="0">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dirty="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d>
                                </m:e>
                                <m:sup>
                                  <m:r>
                                    <a:rPr lang="pt-BR" i="1">
                                      <a:latin typeface="Cambria Math" panose="02040503050406030204" pitchFamily="18" charset="0"/>
                                    </a:rPr>
                                    <m:t>2</m:t>
                                  </m:r>
                                </m:sup>
                              </m:sSup>
                            </m:num>
                            <m:den>
                              <m:r>
                                <a:rPr lang="pt-BR"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𝑘</m:t>
                                  </m:r>
                                </m:sub>
                              </m:sSub>
                            </m:den>
                          </m:f>
                        </m:e>
                      </m:nary>
                    </m:oMath>
                  </m:oMathPara>
                </a14:m>
                <a:endParaRPr lang="pt-BR" i="1" dirty="0">
                  <a:latin typeface="Cambria Math" panose="02040503050406030204" pitchFamily="18" charset="0"/>
                </a:endParaRPr>
              </a:p>
              <a:p>
                <a:pPr marL="0" indent="0" algn="ctr">
                  <a:buNone/>
                </a:pPr>
                <a14:m>
                  <m:oMathPara xmlns:m="http://schemas.openxmlformats.org/officeDocument/2006/math">
                    <m:oMath>
                      <m:r>
                        <a:rPr lang="pt-BR" b="0" i="1" smtClean="0">
                          <a:latin typeface="Cambria Math" panose="02040503050406030204" pitchFamily="18" charset="0"/>
                        </a:rPr>
                        <m:t>=</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pt-BR" i="1">
                              <a:latin typeface="Cambria Math" panose="02040503050406030204" pitchFamily="18" charset="0"/>
                            </a:rPr>
                            <m:t>𝑁</m:t>
                          </m:r>
                        </m:den>
                      </m:f>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dirty="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1</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pt-BR"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i="1">
                                          <a:latin typeface="Cambria Math" panose="02040503050406030204" pitchFamily="18" charset="0"/>
                                        </a:rPr>
                                        <m:t>2</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d>
                          <m:sSub>
                            <m:sSubPr>
                              <m:ctrlPr>
                                <a:rPr lang="en-US" i="1">
                                  <a:latin typeface="Cambria Math" panose="02040503050406030204" pitchFamily="18" charset="0"/>
                                </a:rPr>
                              </m:ctrlPr>
                            </m:sSubPr>
                            <m:e>
                              <m:r>
                                <a:rPr lang="en-US" i="1">
                                  <a:latin typeface="Cambria Math" panose="02040503050406030204" pitchFamily="18" charset="0"/>
                                </a:rPr>
                                <m:t>𝑥</m:t>
                              </m:r>
                            </m:e>
                            <m:sub>
                              <m:r>
                                <a:rPr lang="pt-BR" b="0" i="1" smtClean="0">
                                  <a:latin typeface="Cambria Math" panose="02040503050406030204" pitchFamily="18" charset="0"/>
                                </a:rPr>
                                <m:t>𝑘</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nary>
                      <m:r>
                        <a:rPr lang="pt-BR" b="0" i="1" smtClean="0">
                          <a:latin typeface="Cambria Math" panose="02040503050406030204" pitchFamily="18" charset="0"/>
                        </a:rPr>
                        <m:t>, </m:t>
                      </m:r>
                      <m:r>
                        <a:rPr lang="pt-BR" b="0" i="1" smtClean="0">
                          <a:latin typeface="Cambria Math" panose="02040503050406030204" pitchFamily="18" charset="0"/>
                        </a:rPr>
                        <m:t>𝑘</m:t>
                      </m:r>
                      <m:r>
                        <a:rPr lang="pt-BR" b="0" i="1" smtClean="0">
                          <a:latin typeface="Cambria Math" panose="02040503050406030204" pitchFamily="18" charset="0"/>
                        </a:rPr>
                        <m:t>=1,2</m:t>
                      </m:r>
                    </m:oMath>
                  </m:oMathPara>
                </a14:m>
                <a:endParaRPr lang="en-US" i="1" dirty="0"/>
              </a:p>
            </p:txBody>
          </p:sp>
        </mc:Choice>
        <mc:Fallback xmlns="">
          <p:sp>
            <p:nvSpPr>
              <p:cNvPr id="3" name="Espaço Reservado para Conteúdo 2">
                <a:extLst>
                  <a:ext uri="{FF2B5EF4-FFF2-40B4-BE49-F238E27FC236}">
                    <a16:creationId xmlns:a16="http://schemas.microsoft.com/office/drawing/2014/main" id="{ADCE1316-F3CC-42AC-6492-E55A9803B437}"/>
                  </a:ext>
                </a:extLst>
              </p:cNvPr>
              <p:cNvSpPr>
                <a:spLocks noGrp="1" noRot="1" noChangeAspect="1" noMove="1" noResize="1" noEditPoints="1" noAdjustHandles="1" noChangeArrowheads="1" noChangeShapeType="1" noTextEdit="1"/>
              </p:cNvSpPr>
              <p:nvPr>
                <p:ph idx="1"/>
              </p:nvPr>
            </p:nvSpPr>
            <p:spPr>
              <a:xfrm>
                <a:off x="838199" y="1825624"/>
                <a:ext cx="11179629" cy="5032375"/>
              </a:xfrm>
              <a:blipFill>
                <a:blip r:embed="rId3"/>
                <a:stretch>
                  <a:fillRect l="-1091" t="-1937"/>
                </a:stretch>
              </a:blipFill>
            </p:spPr>
            <p:txBody>
              <a:bodyPr/>
              <a:lstStyle/>
              <a:p>
                <a:r>
                  <a:rPr lang="pt-BR">
                    <a:noFill/>
                  </a:rPr>
                  <a:t> </a:t>
                </a:r>
              </a:p>
            </p:txBody>
          </p:sp>
        </mc:Fallback>
      </mc:AlternateContent>
      <p:sp>
        <p:nvSpPr>
          <p:cNvPr id="4" name="TextBox 10">
            <a:extLst>
              <a:ext uri="{FF2B5EF4-FFF2-40B4-BE49-F238E27FC236}">
                <a16:creationId xmlns:a16="http://schemas.microsoft.com/office/drawing/2014/main" id="{EE297FAA-581F-DF70-2FEA-7127C0A04C23}"/>
              </a:ext>
            </a:extLst>
          </p:cNvPr>
          <p:cNvSpPr txBox="1"/>
          <p:nvPr/>
        </p:nvSpPr>
        <p:spPr>
          <a:xfrm>
            <a:off x="4915429" y="4041729"/>
            <a:ext cx="1383594" cy="600164"/>
          </a:xfrm>
          <a:prstGeom prst="rect">
            <a:avLst/>
          </a:prstGeom>
          <a:noFill/>
        </p:spPr>
        <p:txBody>
          <a:bodyPr wrap="square" rtlCol="0">
            <a:spAutoFit/>
          </a:bodyPr>
          <a:lstStyle/>
          <a:p>
            <a:pPr algn="ctr"/>
            <a:r>
              <a:rPr lang="pt-BR" sz="1100" dirty="0"/>
              <a:t>Operação da derivada parcial é distributiva.</a:t>
            </a:r>
          </a:p>
        </p:txBody>
      </p:sp>
      <p:cxnSp>
        <p:nvCxnSpPr>
          <p:cNvPr id="5" name="Straight Arrow Connector 11">
            <a:extLst>
              <a:ext uri="{FF2B5EF4-FFF2-40B4-BE49-F238E27FC236}">
                <a16:creationId xmlns:a16="http://schemas.microsoft.com/office/drawing/2014/main" id="{72521256-C5A9-F889-882C-9B0865174322}"/>
              </a:ext>
            </a:extLst>
          </p:cNvPr>
          <p:cNvCxnSpPr>
            <a:cxnSpLocks/>
          </p:cNvCxnSpPr>
          <p:nvPr/>
        </p:nvCxnSpPr>
        <p:spPr>
          <a:xfrm flipH="1" flipV="1">
            <a:off x="4732774" y="3684115"/>
            <a:ext cx="371789" cy="53619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473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569" y="2494549"/>
            <a:ext cx="10515600" cy="1325563"/>
          </a:xfrm>
        </p:spPr>
        <p:txBody>
          <a:bodyPr/>
          <a:lstStyle/>
          <a:p>
            <a:pPr algn="ctr"/>
            <a:r>
              <a:rPr lang="pt-BR" dirty="0"/>
              <a:t>FIGURAS</a:t>
            </a:r>
          </a:p>
        </p:txBody>
      </p:sp>
    </p:spTree>
    <p:extLst>
      <p:ext uri="{BB962C8B-B14F-4D97-AF65-F5344CB8AC3E}">
        <p14:creationId xmlns:p14="http://schemas.microsoft.com/office/powerpoint/2010/main" val="1748780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Agrupar 35">
            <a:extLst>
              <a:ext uri="{FF2B5EF4-FFF2-40B4-BE49-F238E27FC236}">
                <a16:creationId xmlns:a16="http://schemas.microsoft.com/office/drawing/2014/main" id="{FF5B73EB-D534-908A-A565-DE6D5A151BA6}"/>
              </a:ext>
            </a:extLst>
          </p:cNvPr>
          <p:cNvGrpSpPr/>
          <p:nvPr/>
        </p:nvGrpSpPr>
        <p:grpSpPr>
          <a:xfrm>
            <a:off x="2557851" y="1849057"/>
            <a:ext cx="5128513" cy="4788675"/>
            <a:chOff x="2557851" y="1849057"/>
            <a:chExt cx="5128513" cy="4788675"/>
          </a:xfrm>
        </p:grpSpPr>
        <p:grpSp>
          <p:nvGrpSpPr>
            <p:cNvPr id="30" name="Agrupar 29">
              <a:extLst>
                <a:ext uri="{FF2B5EF4-FFF2-40B4-BE49-F238E27FC236}">
                  <a16:creationId xmlns:a16="http://schemas.microsoft.com/office/drawing/2014/main" id="{4B31B99E-D78E-4235-31E0-5E261D83058B}"/>
                </a:ext>
              </a:extLst>
            </p:cNvPr>
            <p:cNvGrpSpPr/>
            <p:nvPr/>
          </p:nvGrpSpPr>
          <p:grpSpPr>
            <a:xfrm>
              <a:off x="2557851" y="1849057"/>
              <a:ext cx="5128513" cy="4788675"/>
              <a:chOff x="2557851" y="1849057"/>
              <a:chExt cx="5128513" cy="4788675"/>
            </a:xfrm>
          </p:grpSpPr>
          <p:cxnSp>
            <p:nvCxnSpPr>
              <p:cNvPr id="28" name="Conector reto 27">
                <a:extLst>
                  <a:ext uri="{FF2B5EF4-FFF2-40B4-BE49-F238E27FC236}">
                    <a16:creationId xmlns:a16="http://schemas.microsoft.com/office/drawing/2014/main" id="{E3E39E0A-8C56-E3B3-8ECE-6E3071EEF2A4}"/>
                  </a:ext>
                </a:extLst>
              </p:cNvPr>
              <p:cNvCxnSpPr>
                <a:cxnSpLocks/>
              </p:cNvCxnSpPr>
              <p:nvPr/>
            </p:nvCxnSpPr>
            <p:spPr>
              <a:xfrm flipV="1">
                <a:off x="3934885" y="2384497"/>
                <a:ext cx="955778" cy="148542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63110A15-1369-D226-8428-C3E17DE2CCC0}"/>
                  </a:ext>
                </a:extLst>
              </p:cNvPr>
              <p:cNvCxnSpPr/>
              <p:nvPr/>
            </p:nvCxnSpPr>
            <p:spPr>
              <a:xfrm>
                <a:off x="4395736" y="3184721"/>
                <a:ext cx="0" cy="7560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3">
                <a:extLst>
                  <a:ext uri="{FF2B5EF4-FFF2-40B4-BE49-F238E27FC236}">
                    <a16:creationId xmlns:a16="http://schemas.microsoft.com/office/drawing/2014/main" id="{45643FC4-024A-9D9C-6F14-D57B74DE287E}"/>
                  </a:ext>
                </a:extLst>
              </p:cNvPr>
              <p:cNvGrpSpPr/>
              <p:nvPr/>
            </p:nvGrpSpPr>
            <p:grpSpPr>
              <a:xfrm>
                <a:off x="3241169" y="1849057"/>
                <a:ext cx="4445195" cy="4788675"/>
                <a:chOff x="5592784" y="3280305"/>
                <a:chExt cx="4445195" cy="4788675"/>
              </a:xfrm>
            </p:grpSpPr>
            <p:grpSp>
              <p:nvGrpSpPr>
                <p:cNvPr id="18" name="Group 4">
                  <a:extLst>
                    <a:ext uri="{FF2B5EF4-FFF2-40B4-BE49-F238E27FC236}">
                      <a16:creationId xmlns:a16="http://schemas.microsoft.com/office/drawing/2014/main" id="{BD083BC0-98EF-0A5F-57CC-EEB73C4C7EEE}"/>
                    </a:ext>
                  </a:extLst>
                </p:cNvPr>
                <p:cNvGrpSpPr/>
                <p:nvPr/>
              </p:nvGrpSpPr>
              <p:grpSpPr>
                <a:xfrm>
                  <a:off x="6299200" y="4001293"/>
                  <a:ext cx="2806700" cy="4067687"/>
                  <a:chOff x="6299200" y="4001293"/>
                  <a:chExt cx="2806700" cy="4067687"/>
                </a:xfrm>
              </p:grpSpPr>
              <p:grpSp>
                <p:nvGrpSpPr>
                  <p:cNvPr id="23" name="Group 9">
                    <a:extLst>
                      <a:ext uri="{FF2B5EF4-FFF2-40B4-BE49-F238E27FC236}">
                        <a16:creationId xmlns:a16="http://schemas.microsoft.com/office/drawing/2014/main" id="{63CCA800-8129-5C3A-BD1B-367E6752C373}"/>
                      </a:ext>
                    </a:extLst>
                  </p:cNvPr>
                  <p:cNvGrpSpPr/>
                  <p:nvPr/>
                </p:nvGrpSpPr>
                <p:grpSpPr>
                  <a:xfrm>
                    <a:off x="6299200" y="4001293"/>
                    <a:ext cx="2806700" cy="4067687"/>
                    <a:chOff x="5943600" y="2032000"/>
                    <a:chExt cx="2806700" cy="4067687"/>
                  </a:xfrm>
                </p:grpSpPr>
                <p:sp>
                  <p:nvSpPr>
                    <p:cNvPr id="25" name="Oval 19">
                      <a:extLst>
                        <a:ext uri="{FF2B5EF4-FFF2-40B4-BE49-F238E27FC236}">
                          <a16:creationId xmlns:a16="http://schemas.microsoft.com/office/drawing/2014/main" id="{1327A4BE-15FE-B579-7FE0-81AD416F1AFD}"/>
                        </a:ext>
                      </a:extLst>
                    </p:cNvPr>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Rectangle 20">
                      <a:extLst>
                        <a:ext uri="{FF2B5EF4-FFF2-40B4-BE49-F238E27FC236}">
                          <a16:creationId xmlns:a16="http://schemas.microsoft.com/office/drawing/2014/main" id="{E06D2782-4799-198D-0FF1-93BB9FDE7026}"/>
                        </a:ext>
                      </a:extLst>
                    </p:cNvPr>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24" name="Flowchart: Connector 12">
                    <a:extLst>
                      <a:ext uri="{FF2B5EF4-FFF2-40B4-BE49-F238E27FC236}">
                        <a16:creationId xmlns:a16="http://schemas.microsoft.com/office/drawing/2014/main" id="{34548E73-7FD3-A330-E169-98C97490AFE2}"/>
                      </a:ext>
                    </a:extLst>
                  </p:cNvPr>
                  <p:cNvSpPr/>
                  <p:nvPr/>
                </p:nvSpPr>
                <p:spPr>
                  <a:xfrm>
                    <a:off x="6693351" y="4526911"/>
                    <a:ext cx="108000" cy="108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cxnSp>
              <p:nvCxnSpPr>
                <p:cNvPr id="19" name="Straight Arrow Connector 5">
                  <a:extLst>
                    <a:ext uri="{FF2B5EF4-FFF2-40B4-BE49-F238E27FC236}">
                      <a16:creationId xmlns:a16="http://schemas.microsoft.com/office/drawing/2014/main" id="{EFB31E86-E897-1312-8272-4AEBE75C31C9}"/>
                    </a:ext>
                  </a:extLst>
                </p:cNvPr>
                <p:cNvCxnSpPr/>
                <p:nvPr/>
              </p:nvCxnSpPr>
              <p:spPr>
                <a:xfrm>
                  <a:off x="5600700" y="3357184"/>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4A75BAA6-1B98-1366-C0B1-ABBDB48F212E}"/>
                    </a:ext>
                  </a:extLst>
                </p:cNvPr>
                <p:cNvCxnSpPr/>
                <p:nvPr/>
              </p:nvCxnSpPr>
              <p:spPr>
                <a:xfrm flipH="1">
                  <a:off x="5600700" y="5373686"/>
                  <a:ext cx="4104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7">
                      <a:extLst>
                        <a:ext uri="{FF2B5EF4-FFF2-40B4-BE49-F238E27FC236}">
                          <a16:creationId xmlns:a16="http://schemas.microsoft.com/office/drawing/2014/main" id="{A5625685-309C-EC21-6955-1B7FB8489FF6}"/>
                        </a:ext>
                      </a:extLst>
                    </p:cNvPr>
                    <p:cNvSpPr/>
                    <p:nvPr/>
                  </p:nvSpPr>
                  <p:spPr>
                    <a:xfrm>
                      <a:off x="5592784" y="3280305"/>
                      <a:ext cx="693716"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m:oMathPara>
                      </a14:m>
                      <a:endParaRPr lang="nl-BE" dirty="0"/>
                    </a:p>
                  </p:txBody>
                </p:sp>
              </mc:Choice>
              <mc:Fallback xmlns="">
                <p:sp>
                  <p:nvSpPr>
                    <p:cNvPr id="21" name="Rectangle 7">
                      <a:extLst>
                        <a:ext uri="{FF2B5EF4-FFF2-40B4-BE49-F238E27FC236}">
                          <a16:creationId xmlns:a16="http://schemas.microsoft.com/office/drawing/2014/main" id="{A5625685-309C-EC21-6955-1B7FB8489FF6}"/>
                        </a:ext>
                      </a:extLst>
                    </p:cNvPr>
                    <p:cNvSpPr>
                      <a:spLocks noRot="1" noChangeAspect="1" noMove="1" noResize="1" noEditPoints="1" noAdjustHandles="1" noChangeArrowheads="1" noChangeShapeType="1" noTextEdit="1"/>
                    </p:cNvSpPr>
                    <p:nvPr/>
                  </p:nvSpPr>
                  <p:spPr>
                    <a:xfrm>
                      <a:off x="5592784" y="3280305"/>
                      <a:ext cx="693716" cy="369332"/>
                    </a:xfrm>
                    <a:prstGeom prst="rect">
                      <a:avLst/>
                    </a:prstGeom>
                    <a:blipFill>
                      <a:blip r:embed="rId2"/>
                      <a:stretch>
                        <a:fillRect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Rectangle 8">
                      <a:extLst>
                        <a:ext uri="{FF2B5EF4-FFF2-40B4-BE49-F238E27FC236}">
                          <a16:creationId xmlns:a16="http://schemas.microsoft.com/office/drawing/2014/main" id="{161B0DD3-F136-6364-1357-D87AB20C91F9}"/>
                        </a:ext>
                      </a:extLst>
                    </p:cNvPr>
                    <p:cNvSpPr/>
                    <p:nvPr/>
                  </p:nvSpPr>
                  <p:spPr>
                    <a:xfrm>
                      <a:off x="9669994" y="5189020"/>
                      <a:ext cx="36798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𝑥</m:t>
                            </m:r>
                          </m:oMath>
                        </m:oMathPara>
                      </a14:m>
                      <a:endParaRPr lang="nl-BE" dirty="0"/>
                    </a:p>
                  </p:txBody>
                </p:sp>
              </mc:Choice>
              <mc:Fallback xmlns="">
                <p:sp>
                  <p:nvSpPr>
                    <p:cNvPr id="9" name="Rectangle 8"/>
                    <p:cNvSpPr>
                      <a:spLocks noRot="1" noChangeAspect="1" noMove="1" noResize="1" noEditPoints="1" noAdjustHandles="1" noChangeArrowheads="1" noChangeShapeType="1" noTextEdit="1"/>
                    </p:cNvSpPr>
                    <p:nvPr/>
                  </p:nvSpPr>
                  <p:spPr>
                    <a:xfrm>
                      <a:off x="9669994" y="5189020"/>
                      <a:ext cx="367985" cy="369332"/>
                    </a:xfrm>
                    <a:prstGeom prst="rect">
                      <a:avLst/>
                    </a:prstGeom>
                    <a:blipFill>
                      <a:blip r:embed="rId6"/>
                      <a:stretch>
                        <a:fillRect/>
                      </a:stretch>
                    </a:blipFill>
                  </p:spPr>
                  <p:txBody>
                    <a:bodyPr/>
                    <a:lstStyle/>
                    <a:p>
                      <a:r>
                        <a:rPr lang="nl-BE">
                          <a:noFill/>
                        </a:rPr>
                        <a:t> </a:t>
                      </a:r>
                    </a:p>
                  </p:txBody>
                </p:sp>
              </mc:Fallback>
            </mc:AlternateContent>
          </p:grpSp>
          <p:cxnSp>
            <p:nvCxnSpPr>
              <p:cNvPr id="9" name="Conector reto 8">
                <a:extLst>
                  <a:ext uri="{FF2B5EF4-FFF2-40B4-BE49-F238E27FC236}">
                    <a16:creationId xmlns:a16="http://schemas.microsoft.com/office/drawing/2014/main" id="{C7640199-8646-03FD-FD8B-5C874E0DA7A6}"/>
                  </a:ext>
                </a:extLst>
              </p:cNvPr>
              <p:cNvCxnSpPr/>
              <p:nvPr/>
            </p:nvCxnSpPr>
            <p:spPr>
              <a:xfrm flipH="1">
                <a:off x="3241736" y="3149663"/>
                <a:ext cx="11520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F68B3EA5-E817-37DC-1EC7-815544FF5209}"/>
                      </a:ext>
                    </a:extLst>
                  </p:cNvPr>
                  <p:cNvSpPr/>
                  <p:nvPr/>
                </p:nvSpPr>
                <p:spPr>
                  <a:xfrm>
                    <a:off x="4133953" y="3970255"/>
                    <a:ext cx="519566"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𝑥</m:t>
                          </m:r>
                          <m:r>
                            <a:rPr lang="pt-BR" sz="1200" b="0" i="1" smtClean="0">
                              <a:latin typeface="Cambria Math" panose="02040503050406030204" pitchFamily="18" charset="0"/>
                            </a:rPr>
                            <m:t>(0)</m:t>
                          </m:r>
                        </m:oMath>
                      </m:oMathPara>
                    </a14:m>
                    <a:endParaRPr lang="nl-BE" sz="1200" dirty="0"/>
                  </a:p>
                </p:txBody>
              </p:sp>
            </mc:Choice>
            <mc:Fallback xmlns="">
              <p:sp>
                <p:nvSpPr>
                  <p:cNvPr id="13" name="Rectangle 8">
                    <a:extLst>
                      <a:ext uri="{FF2B5EF4-FFF2-40B4-BE49-F238E27FC236}">
                        <a16:creationId xmlns:a16="http://schemas.microsoft.com/office/drawing/2014/main" id="{F68B3EA5-E817-37DC-1EC7-815544FF5209}"/>
                      </a:ext>
                    </a:extLst>
                  </p:cNvPr>
                  <p:cNvSpPr>
                    <a:spLocks noRot="1" noChangeAspect="1" noMove="1" noResize="1" noEditPoints="1" noAdjustHandles="1" noChangeArrowheads="1" noChangeShapeType="1" noTextEdit="1"/>
                  </p:cNvSpPr>
                  <p:nvPr/>
                </p:nvSpPr>
                <p:spPr>
                  <a:xfrm>
                    <a:off x="4133953" y="3970255"/>
                    <a:ext cx="519566" cy="276999"/>
                  </a:xfrm>
                  <a:prstGeom prst="rect">
                    <a:avLst/>
                  </a:prstGeom>
                  <a:blipFill>
                    <a:blip r:embed="rId7"/>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ctangle 7">
                    <a:extLst>
                      <a:ext uri="{FF2B5EF4-FFF2-40B4-BE49-F238E27FC236}">
                        <a16:creationId xmlns:a16="http://schemas.microsoft.com/office/drawing/2014/main" id="{D0769E4C-DD9D-ED39-DC62-054979614FEB}"/>
                      </a:ext>
                    </a:extLst>
                  </p:cNvPr>
                  <p:cNvSpPr/>
                  <p:nvPr/>
                </p:nvSpPr>
                <p:spPr>
                  <a:xfrm>
                    <a:off x="2557851" y="3011163"/>
                    <a:ext cx="736740"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r>
                                <a:rPr lang="pt-BR" sz="1200" i="1">
                                  <a:latin typeface="Cambria Math" panose="02040503050406030204" pitchFamily="18" charset="0"/>
                                </a:rPr>
                                <m:t>(0)</m:t>
                              </m:r>
                            </m:e>
                          </m:d>
                        </m:oMath>
                      </m:oMathPara>
                    </a14:m>
                    <a:endParaRPr lang="nl-BE" sz="1200" dirty="0"/>
                  </a:p>
                </p:txBody>
              </p:sp>
            </mc:Choice>
            <mc:Fallback xmlns="">
              <p:sp>
                <p:nvSpPr>
                  <p:cNvPr id="15" name="Rectangle 7">
                    <a:extLst>
                      <a:ext uri="{FF2B5EF4-FFF2-40B4-BE49-F238E27FC236}">
                        <a16:creationId xmlns:a16="http://schemas.microsoft.com/office/drawing/2014/main" id="{D0769E4C-DD9D-ED39-DC62-054979614FEB}"/>
                      </a:ext>
                    </a:extLst>
                  </p:cNvPr>
                  <p:cNvSpPr>
                    <a:spLocks noRot="1" noChangeAspect="1" noMove="1" noResize="1" noEditPoints="1" noAdjustHandles="1" noChangeArrowheads="1" noChangeShapeType="1" noTextEdit="1"/>
                  </p:cNvSpPr>
                  <p:nvPr/>
                </p:nvSpPr>
                <p:spPr>
                  <a:xfrm>
                    <a:off x="2557851" y="3011163"/>
                    <a:ext cx="736740" cy="276999"/>
                  </a:xfrm>
                  <a:prstGeom prst="rect">
                    <a:avLst/>
                  </a:prstGeom>
                  <a:blipFill>
                    <a:blip r:embed="rId8"/>
                    <a:stretch>
                      <a:fillRect b="-8889"/>
                    </a:stretch>
                  </a:blipFill>
                </p:spPr>
                <p:txBody>
                  <a:bodyPr/>
                  <a:lstStyle/>
                  <a:p>
                    <a:r>
                      <a:rPr lang="pt-BR">
                        <a:noFill/>
                      </a:rPr>
                      <a:t> </a:t>
                    </a:r>
                  </a:p>
                </p:txBody>
              </p:sp>
            </mc:Fallback>
          </mc:AlternateContent>
        </p:grpSp>
        <p:sp>
          <p:nvSpPr>
            <p:cNvPr id="31" name="CaixaDeTexto 30">
              <a:extLst>
                <a:ext uri="{FF2B5EF4-FFF2-40B4-BE49-F238E27FC236}">
                  <a16:creationId xmlns:a16="http://schemas.microsoft.com/office/drawing/2014/main" id="{64A4657C-960E-11D0-A7F3-D857EE94806A}"/>
                </a:ext>
              </a:extLst>
            </p:cNvPr>
            <p:cNvSpPr txBox="1"/>
            <p:nvPr/>
          </p:nvSpPr>
          <p:spPr>
            <a:xfrm>
              <a:off x="4331572" y="2146194"/>
              <a:ext cx="1118182" cy="276999"/>
            </a:xfrm>
            <a:prstGeom prst="rect">
              <a:avLst/>
            </a:prstGeom>
            <a:noFill/>
          </p:spPr>
          <p:txBody>
            <a:bodyPr wrap="square" rtlCol="0">
              <a:spAutoFit/>
            </a:bodyPr>
            <a:lstStyle/>
            <a:p>
              <a:pPr algn="ctr"/>
              <a:r>
                <a:rPr lang="pt-BR" sz="1200" dirty="0"/>
                <a:t>reta </a:t>
              </a:r>
              <a:r>
                <a:rPr lang="pt-BR" sz="1100" dirty="0"/>
                <a:t>tangente</a:t>
              </a:r>
              <a:endParaRPr lang="pt-BR" sz="1200" dirty="0"/>
            </a:p>
          </p:txBody>
        </p:sp>
        <p:cxnSp>
          <p:nvCxnSpPr>
            <p:cNvPr id="33" name="Conector de Seta Reta 32">
              <a:extLst>
                <a:ext uri="{FF2B5EF4-FFF2-40B4-BE49-F238E27FC236}">
                  <a16:creationId xmlns:a16="http://schemas.microsoft.com/office/drawing/2014/main" id="{F6EF6F6D-8D74-FA08-87F6-546EA051C046}"/>
                </a:ext>
              </a:extLst>
            </p:cNvPr>
            <p:cNvCxnSpPr>
              <a:cxnSpLocks/>
            </p:cNvCxnSpPr>
            <p:nvPr/>
          </p:nvCxnSpPr>
          <p:spPr>
            <a:xfrm>
              <a:off x="4462889" y="3149663"/>
              <a:ext cx="49692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FC568033-C4DD-8086-39C7-51BAF3389745}"/>
                </a:ext>
              </a:extLst>
            </p:cNvPr>
            <p:cNvSpPr txBox="1"/>
            <p:nvPr/>
          </p:nvSpPr>
          <p:spPr>
            <a:xfrm>
              <a:off x="4887385" y="2927386"/>
              <a:ext cx="1219200" cy="430887"/>
            </a:xfrm>
            <a:prstGeom prst="rect">
              <a:avLst/>
            </a:prstGeom>
            <a:noFill/>
          </p:spPr>
          <p:txBody>
            <a:bodyPr wrap="square" rtlCol="0">
              <a:spAutoFit/>
            </a:bodyPr>
            <a:lstStyle/>
            <a:p>
              <a:pPr algn="ctr"/>
              <a:r>
                <a:rPr lang="pt-BR" sz="1100" dirty="0"/>
                <a:t>direção apontada pelo gradiente</a:t>
              </a:r>
            </a:p>
          </p:txBody>
        </p:sp>
      </p:grpSp>
    </p:spTree>
    <p:extLst>
      <p:ext uri="{BB962C8B-B14F-4D97-AF65-F5344CB8AC3E}">
        <p14:creationId xmlns:p14="http://schemas.microsoft.com/office/powerpoint/2010/main" val="3142609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Grupo 71"/>
          <p:cNvGrpSpPr/>
          <p:nvPr/>
        </p:nvGrpSpPr>
        <p:grpSpPr>
          <a:xfrm>
            <a:off x="2848579" y="1571592"/>
            <a:ext cx="5159332" cy="4965656"/>
            <a:chOff x="2527032" y="1672076"/>
            <a:chExt cx="5159332" cy="4965656"/>
          </a:xfrm>
        </p:grpSpPr>
        <p:cxnSp>
          <p:nvCxnSpPr>
            <p:cNvPr id="17" name="Conector reto 16"/>
            <p:cNvCxnSpPr/>
            <p:nvPr/>
          </p:nvCxnSpPr>
          <p:spPr>
            <a:xfrm>
              <a:off x="4179935" y="3579404"/>
              <a:ext cx="0" cy="3600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3215769" y="1672076"/>
              <a:ext cx="4470595" cy="4965656"/>
              <a:chOff x="5567384" y="3103324"/>
              <a:chExt cx="4470595" cy="4965656"/>
            </a:xfrm>
          </p:grpSpPr>
          <p:grpSp>
            <p:nvGrpSpPr>
              <p:cNvPr id="5" name="Group 4"/>
              <p:cNvGrpSpPr/>
              <p:nvPr/>
            </p:nvGrpSpPr>
            <p:grpSpPr>
              <a:xfrm>
                <a:off x="6299200" y="4001293"/>
                <a:ext cx="2806700" cy="4067687"/>
                <a:chOff x="6299200" y="4001293"/>
                <a:chExt cx="2806700" cy="4067687"/>
              </a:xfrm>
            </p:grpSpPr>
            <p:grpSp>
              <p:nvGrpSpPr>
                <p:cNvPr id="10" name="Group 9"/>
                <p:cNvGrpSpPr/>
                <p:nvPr/>
              </p:nvGrpSpPr>
              <p:grpSpPr>
                <a:xfrm>
                  <a:off x="6299200" y="4001293"/>
                  <a:ext cx="2806700" cy="4067687"/>
                  <a:chOff x="5943600" y="2032000"/>
                  <a:chExt cx="2806700" cy="4067687"/>
                </a:xfrm>
              </p:grpSpPr>
              <p:sp>
                <p:nvSpPr>
                  <p:cNvPr id="20" name="Oval 19"/>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Rectangle 20"/>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13" name="Flowchart: Connector 12"/>
                <p:cNvSpPr/>
                <p:nvPr/>
              </p:nvSpPr>
              <p:spPr>
                <a:xfrm>
                  <a:off x="6478144" y="4933774"/>
                  <a:ext cx="108000" cy="108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cxnSp>
            <p:nvCxnSpPr>
              <p:cNvPr id="6" name="Straight Arrow Connector 5"/>
              <p:cNvCxnSpPr/>
              <p:nvPr/>
            </p:nvCxnSpPr>
            <p:spPr>
              <a:xfrm>
                <a:off x="5600700" y="3357184"/>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5600700" y="5373686"/>
                <a:ext cx="4104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p:cNvSpPr/>
                  <p:nvPr/>
                </p:nvSpPr>
                <p:spPr>
                  <a:xfrm>
                    <a:off x="5567384" y="3103324"/>
                    <a:ext cx="693716"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m:oMathPara>
                    </a14:m>
                    <a:endParaRPr lang="nl-BE" dirty="0"/>
                  </a:p>
                </p:txBody>
              </p:sp>
            </mc:Choice>
            <mc:Fallback xmlns="">
              <p:sp>
                <p:nvSpPr>
                  <p:cNvPr id="8" name="Rectangle 7"/>
                  <p:cNvSpPr>
                    <a:spLocks noRot="1" noChangeAspect="1" noMove="1" noResize="1" noEditPoints="1" noAdjustHandles="1" noChangeArrowheads="1" noChangeShapeType="1" noTextEdit="1"/>
                  </p:cNvSpPr>
                  <p:nvPr/>
                </p:nvSpPr>
                <p:spPr>
                  <a:xfrm>
                    <a:off x="5567384" y="3103324"/>
                    <a:ext cx="693716" cy="369332"/>
                  </a:xfrm>
                  <a:prstGeom prst="rect">
                    <a:avLst/>
                  </a:prstGeom>
                  <a:blipFill>
                    <a:blip r:embed="rId3"/>
                    <a:stretch>
                      <a:fillRect b="-1333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9669994" y="5189020"/>
                    <a:ext cx="36798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𝑥</m:t>
                          </m:r>
                        </m:oMath>
                      </m:oMathPara>
                    </a14:m>
                    <a:endParaRPr lang="nl-BE" dirty="0"/>
                  </a:p>
                </p:txBody>
              </p:sp>
            </mc:Choice>
            <mc:Fallback xmlns="">
              <p:sp>
                <p:nvSpPr>
                  <p:cNvPr id="9" name="Rectangle 8"/>
                  <p:cNvSpPr>
                    <a:spLocks noRot="1" noChangeAspect="1" noMove="1" noResize="1" noEditPoints="1" noAdjustHandles="1" noChangeArrowheads="1" noChangeShapeType="1" noTextEdit="1"/>
                  </p:cNvSpPr>
                  <p:nvPr/>
                </p:nvSpPr>
                <p:spPr>
                  <a:xfrm>
                    <a:off x="9669994" y="5189020"/>
                    <a:ext cx="367985" cy="369332"/>
                  </a:xfrm>
                  <a:prstGeom prst="rect">
                    <a:avLst/>
                  </a:prstGeom>
                  <a:blipFill>
                    <a:blip r:embed="rId6"/>
                    <a:stretch>
                      <a:fillRect/>
                    </a:stretch>
                  </a:blipFill>
                </p:spPr>
                <p:txBody>
                  <a:bodyPr/>
                  <a:lstStyle/>
                  <a:p>
                    <a:r>
                      <a:rPr lang="nl-BE">
                        <a:noFill/>
                      </a:rPr>
                      <a:t> </a:t>
                    </a:r>
                  </a:p>
                </p:txBody>
              </p:sp>
            </mc:Fallback>
          </mc:AlternateContent>
        </p:grpSp>
        <p:cxnSp>
          <p:nvCxnSpPr>
            <p:cNvPr id="42" name="Conector reto 41"/>
            <p:cNvCxnSpPr/>
            <p:nvPr/>
          </p:nvCxnSpPr>
          <p:spPr>
            <a:xfrm flipH="1">
              <a:off x="3256567" y="3556552"/>
              <a:ext cx="9000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8"/>
                <p:cNvSpPr/>
                <p:nvPr/>
              </p:nvSpPr>
              <p:spPr>
                <a:xfrm>
                  <a:off x="3876170" y="4026451"/>
                  <a:ext cx="519566"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𝑥</m:t>
                        </m:r>
                        <m:r>
                          <a:rPr lang="pt-BR" sz="1200" b="0" i="1" smtClean="0">
                            <a:latin typeface="Cambria Math" panose="02040503050406030204" pitchFamily="18" charset="0"/>
                          </a:rPr>
                          <m:t>(0)</m:t>
                        </m:r>
                      </m:oMath>
                    </m:oMathPara>
                  </a14:m>
                  <a:endParaRPr lang="nl-BE" sz="1200" dirty="0"/>
                </a:p>
              </p:txBody>
            </p:sp>
          </mc:Choice>
          <mc:Fallback xmlns="">
            <p:sp>
              <p:nvSpPr>
                <p:cNvPr id="60" name="Rectangle 8"/>
                <p:cNvSpPr>
                  <a:spLocks noRot="1" noChangeAspect="1" noMove="1" noResize="1" noEditPoints="1" noAdjustHandles="1" noChangeArrowheads="1" noChangeShapeType="1" noTextEdit="1"/>
                </p:cNvSpPr>
                <p:nvPr/>
              </p:nvSpPr>
              <p:spPr>
                <a:xfrm>
                  <a:off x="3876170" y="4026451"/>
                  <a:ext cx="519566" cy="276999"/>
                </a:xfrm>
                <a:prstGeom prst="rect">
                  <a:avLst/>
                </a:prstGeom>
                <a:blipFill rotWithShape="0">
                  <a:blip r:embed="rId7"/>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Rectangle 7"/>
                <p:cNvSpPr/>
                <p:nvPr/>
              </p:nvSpPr>
              <p:spPr>
                <a:xfrm>
                  <a:off x="2527032" y="3406222"/>
                  <a:ext cx="736740"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r>
                              <a:rPr lang="pt-BR" sz="1200" i="1">
                                <a:latin typeface="Cambria Math" panose="02040503050406030204" pitchFamily="18" charset="0"/>
                              </a:rPr>
                              <m:t>(0)</m:t>
                            </m:r>
                          </m:e>
                        </m:d>
                      </m:oMath>
                    </m:oMathPara>
                  </a14:m>
                  <a:endParaRPr lang="nl-BE" sz="1200" dirty="0"/>
                </a:p>
              </p:txBody>
            </p:sp>
          </mc:Choice>
          <mc:Fallback xmlns="">
            <p:sp>
              <p:nvSpPr>
                <p:cNvPr id="63" name="Rectangle 7"/>
                <p:cNvSpPr>
                  <a:spLocks noRot="1" noChangeAspect="1" noMove="1" noResize="1" noEditPoints="1" noAdjustHandles="1" noChangeArrowheads="1" noChangeShapeType="1" noTextEdit="1"/>
                </p:cNvSpPr>
                <p:nvPr/>
              </p:nvSpPr>
              <p:spPr>
                <a:xfrm>
                  <a:off x="2527032" y="3406222"/>
                  <a:ext cx="736740" cy="276999"/>
                </a:xfrm>
                <a:prstGeom prst="rect">
                  <a:avLst/>
                </a:prstGeom>
                <a:blipFill rotWithShape="0">
                  <a:blip r:embed="rId9"/>
                  <a:stretch>
                    <a:fillRect b="-8889"/>
                  </a:stretch>
                </a:blipFill>
              </p:spPr>
              <p:txBody>
                <a:bodyPr/>
                <a:lstStyle/>
                <a:p>
                  <a:r>
                    <a:rPr lang="pt-BR">
                      <a:noFill/>
                    </a:rPr>
                    <a:t> </a:t>
                  </a:r>
                </a:p>
              </p:txBody>
            </p:sp>
          </mc:Fallback>
        </mc:AlternateContent>
      </p:grpSp>
    </p:spTree>
    <p:extLst>
      <p:ext uri="{BB962C8B-B14F-4D97-AF65-F5344CB8AC3E}">
        <p14:creationId xmlns:p14="http://schemas.microsoft.com/office/powerpoint/2010/main" val="19882702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upo 73"/>
          <p:cNvGrpSpPr/>
          <p:nvPr/>
        </p:nvGrpSpPr>
        <p:grpSpPr>
          <a:xfrm>
            <a:off x="1892854" y="1571592"/>
            <a:ext cx="6131298" cy="4965656"/>
            <a:chOff x="1571307" y="1672076"/>
            <a:chExt cx="6131298" cy="4965656"/>
          </a:xfrm>
        </p:grpSpPr>
        <p:grpSp>
          <p:nvGrpSpPr>
            <p:cNvPr id="72" name="Grupo 71"/>
            <p:cNvGrpSpPr/>
            <p:nvPr/>
          </p:nvGrpSpPr>
          <p:grpSpPr>
            <a:xfrm>
              <a:off x="1571307" y="1672076"/>
              <a:ext cx="6115057" cy="4965656"/>
              <a:chOff x="1571307" y="1672076"/>
              <a:chExt cx="6115057" cy="4965656"/>
            </a:xfrm>
          </p:grpSpPr>
          <p:cxnSp>
            <p:nvCxnSpPr>
              <p:cNvPr id="17" name="Conector reto 16"/>
              <p:cNvCxnSpPr/>
              <p:nvPr/>
            </p:nvCxnSpPr>
            <p:spPr>
              <a:xfrm>
                <a:off x="4179935" y="3579404"/>
                <a:ext cx="0" cy="3600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3215769" y="1672076"/>
                <a:ext cx="4470595" cy="4965656"/>
                <a:chOff x="5567384" y="3103324"/>
                <a:chExt cx="4470595" cy="4965656"/>
              </a:xfrm>
            </p:grpSpPr>
            <p:grpSp>
              <p:nvGrpSpPr>
                <p:cNvPr id="5" name="Group 4"/>
                <p:cNvGrpSpPr/>
                <p:nvPr/>
              </p:nvGrpSpPr>
              <p:grpSpPr>
                <a:xfrm>
                  <a:off x="6299200" y="4001293"/>
                  <a:ext cx="2806700" cy="4067687"/>
                  <a:chOff x="6299200" y="4001293"/>
                  <a:chExt cx="2806700" cy="4067687"/>
                </a:xfrm>
              </p:grpSpPr>
              <p:grpSp>
                <p:nvGrpSpPr>
                  <p:cNvPr id="10" name="Group 9"/>
                  <p:cNvGrpSpPr/>
                  <p:nvPr/>
                </p:nvGrpSpPr>
                <p:grpSpPr>
                  <a:xfrm>
                    <a:off x="6299200" y="4001293"/>
                    <a:ext cx="2806700" cy="4067687"/>
                    <a:chOff x="5943600" y="2032000"/>
                    <a:chExt cx="2806700" cy="4067687"/>
                  </a:xfrm>
                </p:grpSpPr>
                <p:sp>
                  <p:nvSpPr>
                    <p:cNvPr id="20" name="Oval 19"/>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Rectangle 20"/>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13" name="Flowchart: Connector 12"/>
                  <p:cNvSpPr/>
                  <p:nvPr/>
                </p:nvSpPr>
                <p:spPr>
                  <a:xfrm>
                    <a:off x="6478144" y="4933774"/>
                    <a:ext cx="108000" cy="108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cxnSp>
              <p:nvCxnSpPr>
                <p:cNvPr id="6" name="Straight Arrow Connector 5"/>
                <p:cNvCxnSpPr/>
                <p:nvPr/>
              </p:nvCxnSpPr>
              <p:spPr>
                <a:xfrm>
                  <a:off x="5600700" y="3357184"/>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5600700" y="5373686"/>
                  <a:ext cx="4104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p:cNvSpPr/>
                    <p:nvPr/>
                  </p:nvSpPr>
                  <p:spPr>
                    <a:xfrm>
                      <a:off x="5567384" y="3103324"/>
                      <a:ext cx="693716"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m:oMathPara>
                      </a14:m>
                      <a:endParaRPr lang="nl-BE" dirty="0"/>
                    </a:p>
                  </p:txBody>
                </p:sp>
              </mc:Choice>
              <mc:Fallback xmlns="">
                <p:sp>
                  <p:nvSpPr>
                    <p:cNvPr id="8" name="Rectangle 7"/>
                    <p:cNvSpPr>
                      <a:spLocks noRot="1" noChangeAspect="1" noMove="1" noResize="1" noEditPoints="1" noAdjustHandles="1" noChangeArrowheads="1" noChangeShapeType="1" noTextEdit="1"/>
                    </p:cNvSpPr>
                    <p:nvPr/>
                  </p:nvSpPr>
                  <p:spPr>
                    <a:xfrm>
                      <a:off x="5567384" y="3103324"/>
                      <a:ext cx="693716" cy="369332"/>
                    </a:xfrm>
                    <a:prstGeom prst="rect">
                      <a:avLst/>
                    </a:prstGeom>
                    <a:blipFill>
                      <a:blip r:embed="rId3"/>
                      <a:stretch>
                        <a:fillRect b="-1333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9669994" y="5189020"/>
                      <a:ext cx="36798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𝑥</m:t>
                            </m:r>
                          </m:oMath>
                        </m:oMathPara>
                      </a14:m>
                      <a:endParaRPr lang="nl-BE" dirty="0"/>
                    </a:p>
                  </p:txBody>
                </p:sp>
              </mc:Choice>
              <mc:Fallback xmlns="">
                <p:sp>
                  <p:nvSpPr>
                    <p:cNvPr id="9" name="Rectangle 8"/>
                    <p:cNvSpPr>
                      <a:spLocks noRot="1" noChangeAspect="1" noMove="1" noResize="1" noEditPoints="1" noAdjustHandles="1" noChangeArrowheads="1" noChangeShapeType="1" noTextEdit="1"/>
                    </p:cNvSpPr>
                    <p:nvPr/>
                  </p:nvSpPr>
                  <p:spPr>
                    <a:xfrm>
                      <a:off x="9669994" y="5189020"/>
                      <a:ext cx="367985" cy="369332"/>
                    </a:xfrm>
                    <a:prstGeom prst="rect">
                      <a:avLst/>
                    </a:prstGeom>
                    <a:blipFill>
                      <a:blip r:embed="rId6"/>
                      <a:stretch>
                        <a:fillRect/>
                      </a:stretch>
                    </a:blipFill>
                  </p:spPr>
                  <p:txBody>
                    <a:bodyPr/>
                    <a:lstStyle/>
                    <a:p>
                      <a:r>
                        <a:rPr lang="nl-BE">
                          <a:noFill/>
                        </a:rPr>
                        <a:t> </a:t>
                      </a:r>
                    </a:p>
                  </p:txBody>
                </p:sp>
              </mc:Fallback>
            </mc:AlternateContent>
          </p:grpSp>
          <p:cxnSp>
            <p:nvCxnSpPr>
              <p:cNvPr id="42" name="Conector reto 41"/>
              <p:cNvCxnSpPr/>
              <p:nvPr/>
            </p:nvCxnSpPr>
            <p:spPr>
              <a:xfrm flipH="1">
                <a:off x="3256567" y="3556552"/>
                <a:ext cx="9000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3" name="Flowchart: Connector 12"/>
              <p:cNvSpPr/>
              <p:nvPr/>
            </p:nvSpPr>
            <p:spPr>
              <a:xfrm>
                <a:off x="4848323" y="2640903"/>
                <a:ext cx="108000" cy="108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44" name="Conector reto 43"/>
              <p:cNvCxnSpPr/>
              <p:nvPr/>
            </p:nvCxnSpPr>
            <p:spPr>
              <a:xfrm>
                <a:off x="4911376" y="2685850"/>
                <a:ext cx="0" cy="12600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Conector reto 56"/>
              <p:cNvCxnSpPr/>
              <p:nvPr/>
            </p:nvCxnSpPr>
            <p:spPr>
              <a:xfrm flipV="1">
                <a:off x="3262206" y="2698102"/>
                <a:ext cx="1620000" cy="557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8"/>
                  <p:cNvSpPr/>
                  <p:nvPr/>
                </p:nvSpPr>
                <p:spPr>
                  <a:xfrm>
                    <a:off x="3876170" y="4026451"/>
                    <a:ext cx="519566"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𝑥</m:t>
                          </m:r>
                          <m:r>
                            <a:rPr lang="pt-BR" sz="1200" b="0" i="1" smtClean="0">
                              <a:latin typeface="Cambria Math" panose="02040503050406030204" pitchFamily="18" charset="0"/>
                            </a:rPr>
                            <m:t>(0)</m:t>
                          </m:r>
                        </m:oMath>
                      </m:oMathPara>
                    </a14:m>
                    <a:endParaRPr lang="nl-BE" sz="1200" dirty="0"/>
                  </a:p>
                </p:txBody>
              </p:sp>
            </mc:Choice>
            <mc:Fallback xmlns="">
              <p:sp>
                <p:nvSpPr>
                  <p:cNvPr id="60" name="Rectangle 8"/>
                  <p:cNvSpPr>
                    <a:spLocks noRot="1" noChangeAspect="1" noMove="1" noResize="1" noEditPoints="1" noAdjustHandles="1" noChangeArrowheads="1" noChangeShapeType="1" noTextEdit="1"/>
                  </p:cNvSpPr>
                  <p:nvPr/>
                </p:nvSpPr>
                <p:spPr>
                  <a:xfrm>
                    <a:off x="3876170" y="4026451"/>
                    <a:ext cx="519566" cy="276999"/>
                  </a:xfrm>
                  <a:prstGeom prst="rect">
                    <a:avLst/>
                  </a:prstGeom>
                  <a:blipFill rotWithShape="0">
                    <a:blip r:embed="rId7"/>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1" name="Rectangle 8"/>
                  <p:cNvSpPr/>
                  <p:nvPr/>
                </p:nvSpPr>
                <p:spPr>
                  <a:xfrm>
                    <a:off x="4395736" y="3921586"/>
                    <a:ext cx="1427891" cy="450701"/>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𝑥</m:t>
                          </m:r>
                          <m:d>
                            <m:dPr>
                              <m:ctrlPr>
                                <a:rPr lang="pt-BR" sz="1200" b="0" i="1" smtClean="0">
                                  <a:latin typeface="Cambria Math" panose="02040503050406030204" pitchFamily="18" charset="0"/>
                                </a:rPr>
                              </m:ctrlPr>
                            </m:dPr>
                            <m:e>
                              <m:r>
                                <a:rPr lang="pt-BR" sz="1200" b="0" i="1" smtClean="0">
                                  <a:latin typeface="Cambria Math" panose="02040503050406030204" pitchFamily="18" charset="0"/>
                                </a:rPr>
                                <m:t>0</m:t>
                              </m:r>
                            </m:e>
                          </m:d>
                          <m:r>
                            <a:rPr lang="pt-BR" sz="1200" b="0" i="1" smtClean="0">
                              <a:latin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𝛼</m:t>
                          </m:r>
                          <m:f>
                            <m:fPr>
                              <m:ctrlPr>
                                <a:rPr lang="pt-BR" sz="1200" i="1">
                                  <a:latin typeface="Cambria Math" panose="02040503050406030204" pitchFamily="18" charset="0"/>
                                  <a:ea typeface="Cambria Math" panose="02040503050406030204" pitchFamily="18" charset="0"/>
                                </a:rPr>
                              </m:ctrlPr>
                            </m:fPr>
                            <m:num>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rPr>
                                <m:t>𝑥</m:t>
                              </m:r>
                              <m:d>
                                <m:dPr>
                                  <m:ctrlPr>
                                    <a:rPr lang="pt-BR" sz="1200" i="1">
                                      <a:latin typeface="Cambria Math" panose="02040503050406030204" pitchFamily="18" charset="0"/>
                                    </a:rPr>
                                  </m:ctrlPr>
                                </m:dPr>
                                <m:e>
                                  <m:r>
                                    <a:rPr lang="pt-BR" sz="1200" i="1">
                                      <a:latin typeface="Cambria Math" panose="02040503050406030204" pitchFamily="18" charset="0"/>
                                    </a:rPr>
                                    <m:t>0</m:t>
                                  </m:r>
                                </m:e>
                              </m:d>
                              <m:r>
                                <a:rPr lang="pt-BR" sz="1200" i="1">
                                  <a:latin typeface="Cambria Math" panose="02040503050406030204" pitchFamily="18" charset="0"/>
                                  <a:ea typeface="Cambria Math" panose="02040503050406030204" pitchFamily="18" charset="0"/>
                                </a:rPr>
                                <m:t>)</m:t>
                              </m:r>
                            </m:num>
                            <m:den>
                              <m:r>
                                <a:rPr lang="pt-BR" sz="1200" i="1">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𝑥</m:t>
                              </m:r>
                            </m:den>
                          </m:f>
                        </m:oMath>
                      </m:oMathPara>
                    </a14:m>
                    <a:endParaRPr lang="nl-BE" sz="1200" dirty="0"/>
                  </a:p>
                </p:txBody>
              </p:sp>
            </mc:Choice>
            <mc:Fallback xmlns="">
              <p:sp>
                <p:nvSpPr>
                  <p:cNvPr id="61" name="Rectangle 8"/>
                  <p:cNvSpPr>
                    <a:spLocks noRot="1" noChangeAspect="1" noMove="1" noResize="1" noEditPoints="1" noAdjustHandles="1" noChangeArrowheads="1" noChangeShapeType="1" noTextEdit="1"/>
                  </p:cNvSpPr>
                  <p:nvPr/>
                </p:nvSpPr>
                <p:spPr>
                  <a:xfrm>
                    <a:off x="4395736" y="3921586"/>
                    <a:ext cx="1427891" cy="450701"/>
                  </a:xfrm>
                  <a:prstGeom prst="rect">
                    <a:avLst/>
                  </a:prstGeom>
                  <a:blipFill rotWithShape="0">
                    <a:blip r:embed="rId8"/>
                    <a:stretch>
                      <a:fillRect b="-13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Rectangle 7"/>
                  <p:cNvSpPr/>
                  <p:nvPr/>
                </p:nvSpPr>
                <p:spPr>
                  <a:xfrm>
                    <a:off x="2527032" y="3406222"/>
                    <a:ext cx="736740" cy="276999"/>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r>
                                <a:rPr lang="pt-BR" sz="1200" i="1">
                                  <a:latin typeface="Cambria Math" panose="02040503050406030204" pitchFamily="18" charset="0"/>
                                </a:rPr>
                                <m:t>(0)</m:t>
                              </m:r>
                            </m:e>
                          </m:d>
                        </m:oMath>
                      </m:oMathPara>
                    </a14:m>
                    <a:endParaRPr lang="nl-BE" sz="1200" dirty="0"/>
                  </a:p>
                </p:txBody>
              </p:sp>
            </mc:Choice>
            <mc:Fallback xmlns="">
              <p:sp>
                <p:nvSpPr>
                  <p:cNvPr id="63" name="Rectangle 7"/>
                  <p:cNvSpPr>
                    <a:spLocks noRot="1" noChangeAspect="1" noMove="1" noResize="1" noEditPoints="1" noAdjustHandles="1" noChangeArrowheads="1" noChangeShapeType="1" noTextEdit="1"/>
                  </p:cNvSpPr>
                  <p:nvPr/>
                </p:nvSpPr>
                <p:spPr>
                  <a:xfrm>
                    <a:off x="2527032" y="3406222"/>
                    <a:ext cx="736740" cy="276999"/>
                  </a:xfrm>
                  <a:prstGeom prst="rect">
                    <a:avLst/>
                  </a:prstGeom>
                  <a:blipFill rotWithShape="0">
                    <a:blip r:embed="rId9"/>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Rectangle 7"/>
                  <p:cNvSpPr/>
                  <p:nvPr/>
                </p:nvSpPr>
                <p:spPr>
                  <a:xfrm>
                    <a:off x="1571307" y="2460494"/>
                    <a:ext cx="1719573" cy="507318"/>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d>
                                <m:dPr>
                                  <m:ctrlPr>
                                    <a:rPr lang="pt-BR" sz="1200" i="1">
                                      <a:latin typeface="Cambria Math" panose="02040503050406030204" pitchFamily="18" charset="0"/>
                                    </a:rPr>
                                  </m:ctrlPr>
                                </m:dPr>
                                <m:e>
                                  <m:r>
                                    <a:rPr lang="pt-BR" sz="1200" i="1">
                                      <a:latin typeface="Cambria Math" panose="02040503050406030204" pitchFamily="18" charset="0"/>
                                    </a:rPr>
                                    <m:t>0</m:t>
                                  </m:r>
                                </m:e>
                              </m:d>
                              <m:r>
                                <a:rPr lang="pt-BR" sz="1200" i="1">
                                  <a:latin typeface="Cambria Math" panose="02040503050406030204" pitchFamily="18" charset="0"/>
                                </a:rPr>
                                <m:t>+</m:t>
                              </m:r>
                              <m:r>
                                <a:rPr lang="pt-BR" sz="1200" i="1">
                                  <a:latin typeface="Cambria Math" panose="02040503050406030204" pitchFamily="18" charset="0"/>
                                  <a:ea typeface="Cambria Math" panose="02040503050406030204" pitchFamily="18" charset="0"/>
                                </a:rPr>
                                <m:t>𝛼</m:t>
                              </m:r>
                              <m:f>
                                <m:fPr>
                                  <m:ctrlPr>
                                    <a:rPr lang="pt-BR" sz="1200" i="1">
                                      <a:latin typeface="Cambria Math" panose="02040503050406030204" pitchFamily="18" charset="0"/>
                                      <a:ea typeface="Cambria Math" panose="02040503050406030204" pitchFamily="18" charset="0"/>
                                    </a:rPr>
                                  </m:ctrlPr>
                                </m:fPr>
                                <m:num>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rPr>
                                    <m:t>𝑥</m:t>
                                  </m:r>
                                  <m:d>
                                    <m:dPr>
                                      <m:ctrlPr>
                                        <a:rPr lang="pt-BR" sz="1200" i="1">
                                          <a:latin typeface="Cambria Math" panose="02040503050406030204" pitchFamily="18" charset="0"/>
                                        </a:rPr>
                                      </m:ctrlPr>
                                    </m:dPr>
                                    <m:e>
                                      <m:r>
                                        <a:rPr lang="pt-BR" sz="1200" i="1">
                                          <a:latin typeface="Cambria Math" panose="02040503050406030204" pitchFamily="18" charset="0"/>
                                        </a:rPr>
                                        <m:t>0</m:t>
                                      </m:r>
                                    </m:e>
                                  </m:d>
                                  <m:r>
                                    <a:rPr lang="pt-BR" sz="1200" i="1">
                                      <a:latin typeface="Cambria Math" panose="02040503050406030204" pitchFamily="18" charset="0"/>
                                      <a:ea typeface="Cambria Math" panose="02040503050406030204" pitchFamily="18" charset="0"/>
                                    </a:rPr>
                                    <m:t>)</m:t>
                                  </m:r>
                                </m:num>
                                <m:den>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𝑥</m:t>
                                  </m:r>
                                </m:den>
                              </m:f>
                            </m:e>
                          </m:d>
                        </m:oMath>
                      </m:oMathPara>
                    </a14:m>
                    <a:endParaRPr lang="nl-BE" sz="1200" dirty="0"/>
                  </a:p>
                </p:txBody>
              </p:sp>
            </mc:Choice>
            <mc:Fallback xmlns="">
              <p:sp>
                <p:nvSpPr>
                  <p:cNvPr id="65" name="Rectangle 7"/>
                  <p:cNvSpPr>
                    <a:spLocks noRot="1" noChangeAspect="1" noMove="1" noResize="1" noEditPoints="1" noAdjustHandles="1" noChangeArrowheads="1" noChangeShapeType="1" noTextEdit="1"/>
                  </p:cNvSpPr>
                  <p:nvPr/>
                </p:nvSpPr>
                <p:spPr>
                  <a:xfrm>
                    <a:off x="1571307" y="2460494"/>
                    <a:ext cx="1719573" cy="507318"/>
                  </a:xfrm>
                  <a:prstGeom prst="rect">
                    <a:avLst/>
                  </a:prstGeom>
                  <a:blipFill rotWithShape="0">
                    <a:blip r:embed="rId10"/>
                    <a:stretch>
                      <a:fillRect/>
                    </a:stretch>
                  </a:blipFill>
                </p:spPr>
                <p:txBody>
                  <a:bodyPr/>
                  <a:lstStyle/>
                  <a:p>
                    <a:r>
                      <a:rPr lang="pt-BR">
                        <a:noFill/>
                      </a:rPr>
                      <a:t> </a:t>
                    </a:r>
                  </a:p>
                </p:txBody>
              </p:sp>
            </mc:Fallback>
          </mc:AlternateContent>
          <p:cxnSp>
            <p:nvCxnSpPr>
              <p:cNvPr id="67" name="Conector em curva 66"/>
              <p:cNvCxnSpPr>
                <a:endCxn id="43" idx="1"/>
              </p:cNvCxnSpPr>
              <p:nvPr/>
            </p:nvCxnSpPr>
            <p:spPr>
              <a:xfrm rot="5400000" flipH="1" flipV="1">
                <a:off x="4100840" y="2735816"/>
                <a:ext cx="842396" cy="684202"/>
              </a:xfrm>
              <a:prstGeom prst="curvedConnector3">
                <a:avLst>
                  <a:gd name="adj1" fmla="val 129014"/>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Rectangle 7"/>
                <p:cNvSpPr/>
                <p:nvPr/>
              </p:nvSpPr>
              <p:spPr>
                <a:xfrm>
                  <a:off x="5265271" y="1841066"/>
                  <a:ext cx="2437334" cy="507318"/>
                </a:xfrm>
                <a:prstGeom prst="rect">
                  <a:avLst/>
                </a:prstGeom>
              </p:spPr>
              <p:txBody>
                <a:bodyPr wrap="none">
                  <a:spAutoFit/>
                </a:bodyPr>
                <a:lstStyle/>
                <a:p>
                  <a:pPr/>
                  <a14:m>
                    <m:oMathPara xmlns:m="http://schemas.openxmlformats.org/officeDocument/2006/math">
                      <m:oMath>
                        <m:r>
                          <a:rPr lang="pt-BR" sz="1200" i="1" smtClean="0">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d>
                              <m:dPr>
                                <m:ctrlPr>
                                  <a:rPr lang="pt-BR" sz="1200" i="1">
                                    <a:latin typeface="Cambria Math" panose="02040503050406030204" pitchFamily="18" charset="0"/>
                                  </a:rPr>
                                </m:ctrlPr>
                              </m:dPr>
                              <m:e>
                                <m:r>
                                  <a:rPr lang="pt-BR" sz="1200" i="1">
                                    <a:latin typeface="Cambria Math" panose="02040503050406030204" pitchFamily="18" charset="0"/>
                                  </a:rPr>
                                  <m:t>0</m:t>
                                </m:r>
                              </m:e>
                            </m:d>
                            <m:r>
                              <a:rPr lang="pt-BR" sz="1200" i="1">
                                <a:latin typeface="Cambria Math" panose="02040503050406030204" pitchFamily="18" charset="0"/>
                              </a:rPr>
                              <m:t>+</m:t>
                            </m:r>
                            <m:r>
                              <a:rPr lang="pt-BR" sz="1200" i="1">
                                <a:latin typeface="Cambria Math" panose="02040503050406030204" pitchFamily="18" charset="0"/>
                                <a:ea typeface="Cambria Math" panose="02040503050406030204" pitchFamily="18" charset="0"/>
                              </a:rPr>
                              <m:t>𝛼</m:t>
                            </m:r>
                            <m:f>
                              <m:fPr>
                                <m:ctrlPr>
                                  <a:rPr lang="pt-BR" sz="1200" i="1">
                                    <a:latin typeface="Cambria Math" panose="02040503050406030204" pitchFamily="18" charset="0"/>
                                    <a:ea typeface="Cambria Math" panose="02040503050406030204" pitchFamily="18" charset="0"/>
                                  </a:rPr>
                                </m:ctrlPr>
                              </m:fPr>
                              <m:num>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𝑓</m:t>
                                </m:r>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rPr>
                                  <m:t>𝑥</m:t>
                                </m:r>
                                <m:d>
                                  <m:dPr>
                                    <m:ctrlPr>
                                      <a:rPr lang="pt-BR" sz="1200" i="1">
                                        <a:latin typeface="Cambria Math" panose="02040503050406030204" pitchFamily="18" charset="0"/>
                                      </a:rPr>
                                    </m:ctrlPr>
                                  </m:dPr>
                                  <m:e>
                                    <m:r>
                                      <a:rPr lang="pt-BR" sz="1200" i="1">
                                        <a:latin typeface="Cambria Math" panose="02040503050406030204" pitchFamily="18" charset="0"/>
                                      </a:rPr>
                                      <m:t>0</m:t>
                                    </m:r>
                                  </m:e>
                                </m:d>
                                <m:r>
                                  <a:rPr lang="pt-BR" sz="1200" i="1">
                                    <a:latin typeface="Cambria Math" panose="02040503050406030204" pitchFamily="18" charset="0"/>
                                    <a:ea typeface="Cambria Math" panose="02040503050406030204" pitchFamily="18" charset="0"/>
                                  </a:rPr>
                                  <m:t>)</m:t>
                                </m:r>
                              </m:num>
                              <m:den>
                                <m:r>
                                  <a:rPr lang="pt-BR" sz="1200" i="1">
                                    <a:latin typeface="Cambria Math" panose="02040503050406030204" pitchFamily="18" charset="0"/>
                                    <a:ea typeface="Cambria Math" panose="02040503050406030204" pitchFamily="18" charset="0"/>
                                  </a:rPr>
                                  <m:t>𝜕</m:t>
                                </m:r>
                                <m:r>
                                  <a:rPr lang="pt-BR" sz="1200" i="1">
                                    <a:latin typeface="Cambria Math" panose="02040503050406030204" pitchFamily="18" charset="0"/>
                                    <a:ea typeface="Cambria Math" panose="02040503050406030204" pitchFamily="18" charset="0"/>
                                  </a:rPr>
                                  <m:t>𝑥</m:t>
                                </m:r>
                              </m:den>
                            </m:f>
                          </m:e>
                        </m:d>
                        <m:r>
                          <a:rPr lang="pt-BR" sz="1200" b="0" i="1" smtClean="0">
                            <a:latin typeface="Cambria Math" panose="02040503050406030204" pitchFamily="18" charset="0"/>
                          </a:rPr>
                          <m:t>&gt;</m:t>
                        </m:r>
                        <m:r>
                          <a:rPr lang="pt-BR" sz="1200" i="1">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𝑥</m:t>
                            </m:r>
                            <m:r>
                              <a:rPr lang="pt-BR" sz="1200" i="1">
                                <a:latin typeface="Cambria Math" panose="02040503050406030204" pitchFamily="18" charset="0"/>
                              </a:rPr>
                              <m:t>(0)</m:t>
                            </m:r>
                          </m:e>
                        </m:d>
                      </m:oMath>
                    </m:oMathPara>
                  </a14:m>
                  <a:endParaRPr lang="nl-BE" sz="1200" dirty="0"/>
                </a:p>
              </p:txBody>
            </p:sp>
          </mc:Choice>
          <mc:Fallback xmlns="">
            <p:sp>
              <p:nvSpPr>
                <p:cNvPr id="73" name="Rectangle 7"/>
                <p:cNvSpPr>
                  <a:spLocks noRot="1" noChangeAspect="1" noMove="1" noResize="1" noEditPoints="1" noAdjustHandles="1" noChangeArrowheads="1" noChangeShapeType="1" noTextEdit="1"/>
                </p:cNvSpPr>
                <p:nvPr/>
              </p:nvSpPr>
              <p:spPr>
                <a:xfrm>
                  <a:off x="5265271" y="1841066"/>
                  <a:ext cx="2437334" cy="507318"/>
                </a:xfrm>
                <a:prstGeom prst="rect">
                  <a:avLst/>
                </a:prstGeom>
                <a:blipFill rotWithShape="0">
                  <a:blip r:embed="rId11"/>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2573052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57189" y="1374591"/>
            <a:ext cx="5180153" cy="5190740"/>
            <a:chOff x="5430999" y="2878240"/>
            <a:chExt cx="5180153" cy="5190740"/>
          </a:xfrm>
        </p:grpSpPr>
        <p:grpSp>
          <p:nvGrpSpPr>
            <p:cNvPr id="4" name="Group 3"/>
            <p:cNvGrpSpPr/>
            <p:nvPr/>
          </p:nvGrpSpPr>
          <p:grpSpPr>
            <a:xfrm>
              <a:off x="5567384" y="3103324"/>
              <a:ext cx="4470595" cy="4965656"/>
              <a:chOff x="5567384" y="3103324"/>
              <a:chExt cx="4470595" cy="4965656"/>
            </a:xfrm>
          </p:grpSpPr>
          <p:grpSp>
            <p:nvGrpSpPr>
              <p:cNvPr id="5" name="Group 4"/>
              <p:cNvGrpSpPr/>
              <p:nvPr/>
            </p:nvGrpSpPr>
            <p:grpSpPr>
              <a:xfrm>
                <a:off x="6299200" y="3937084"/>
                <a:ext cx="2806700" cy="4131896"/>
                <a:chOff x="6299200" y="3937084"/>
                <a:chExt cx="2806700" cy="4131896"/>
              </a:xfrm>
            </p:grpSpPr>
            <p:grpSp>
              <p:nvGrpSpPr>
                <p:cNvPr id="10" name="Group 9"/>
                <p:cNvGrpSpPr/>
                <p:nvPr/>
              </p:nvGrpSpPr>
              <p:grpSpPr>
                <a:xfrm>
                  <a:off x="6299200" y="4001293"/>
                  <a:ext cx="2806700" cy="4067687"/>
                  <a:chOff x="5943600" y="2032000"/>
                  <a:chExt cx="2806700" cy="4067687"/>
                </a:xfrm>
              </p:grpSpPr>
              <p:sp>
                <p:nvSpPr>
                  <p:cNvPr id="20" name="Oval 19"/>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Rectangle 20"/>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cxnSp>
              <p:nvCxnSpPr>
                <p:cNvPr id="11" name="Straight Arrow Connector 10"/>
                <p:cNvCxnSpPr/>
                <p:nvPr/>
              </p:nvCxnSpPr>
              <p:spPr>
                <a:xfrm flipV="1">
                  <a:off x="6431853" y="4102100"/>
                  <a:ext cx="629347" cy="9271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8305800" y="4089400"/>
                  <a:ext cx="685800" cy="92710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Flowchart: Connector 12"/>
                <p:cNvSpPr/>
                <p:nvPr/>
              </p:nvSpPr>
              <p:spPr>
                <a:xfrm>
                  <a:off x="6713188" y="4527592"/>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Flowchart: Connector 13"/>
                <p:cNvSpPr/>
                <p:nvPr/>
              </p:nvSpPr>
              <p:spPr>
                <a:xfrm>
                  <a:off x="8562975" y="4464134"/>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5" name="Straight Arrow Connector 14"/>
                <p:cNvCxnSpPr/>
                <p:nvPr/>
              </p:nvCxnSpPr>
              <p:spPr>
                <a:xfrm>
                  <a:off x="7286625" y="3991768"/>
                  <a:ext cx="866775"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Flowchart: Connector 15"/>
                <p:cNvSpPr/>
                <p:nvPr/>
              </p:nvSpPr>
              <p:spPr>
                <a:xfrm>
                  <a:off x="7645400" y="3937084"/>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cxnSp>
            <p:nvCxnSpPr>
              <p:cNvPr id="6" name="Straight Arrow Connector 5"/>
              <p:cNvCxnSpPr/>
              <p:nvPr/>
            </p:nvCxnSpPr>
            <p:spPr>
              <a:xfrm>
                <a:off x="5600700" y="3357184"/>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5600700" y="5373686"/>
                <a:ext cx="4104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p:cNvSpPr/>
                  <p:nvPr/>
                </p:nvSpPr>
                <p:spPr>
                  <a:xfrm>
                    <a:off x="5567384" y="3103324"/>
                    <a:ext cx="693716"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m:oMathPara>
                    </a14:m>
                    <a:endParaRPr lang="nl-BE" dirty="0"/>
                  </a:p>
                </p:txBody>
              </p:sp>
            </mc:Choice>
            <mc:Fallback xmlns="">
              <p:sp>
                <p:nvSpPr>
                  <p:cNvPr id="8" name="Rectangle 7"/>
                  <p:cNvSpPr>
                    <a:spLocks noRot="1" noChangeAspect="1" noMove="1" noResize="1" noEditPoints="1" noAdjustHandles="1" noChangeArrowheads="1" noChangeShapeType="1" noTextEdit="1"/>
                  </p:cNvSpPr>
                  <p:nvPr/>
                </p:nvSpPr>
                <p:spPr>
                  <a:xfrm>
                    <a:off x="5567384" y="3103324"/>
                    <a:ext cx="693716" cy="369332"/>
                  </a:xfrm>
                  <a:prstGeom prst="rect">
                    <a:avLst/>
                  </a:prstGeom>
                  <a:blipFill>
                    <a:blip r:embed="rId3"/>
                    <a:stretch>
                      <a:fillRect b="-1333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9669994" y="5189020"/>
                    <a:ext cx="36798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𝑥</m:t>
                          </m:r>
                        </m:oMath>
                      </m:oMathPara>
                    </a14:m>
                    <a:endParaRPr lang="nl-BE" dirty="0"/>
                  </a:p>
                </p:txBody>
              </p:sp>
            </mc:Choice>
            <mc:Fallback xmlns="">
              <p:sp>
                <p:nvSpPr>
                  <p:cNvPr id="9" name="Rectangle 8"/>
                  <p:cNvSpPr>
                    <a:spLocks noRot="1" noChangeAspect="1" noMove="1" noResize="1" noEditPoints="1" noAdjustHandles="1" noChangeArrowheads="1" noChangeShapeType="1" noTextEdit="1"/>
                  </p:cNvSpPr>
                  <p:nvPr/>
                </p:nvSpPr>
                <p:spPr>
                  <a:xfrm>
                    <a:off x="9669994" y="5189020"/>
                    <a:ext cx="367985" cy="369332"/>
                  </a:xfrm>
                  <a:prstGeom prst="rect">
                    <a:avLst/>
                  </a:prstGeom>
                  <a:blipFill>
                    <a:blip r:embed="rId6"/>
                    <a:stretch>
                      <a:fillRect/>
                    </a:stretch>
                  </a:blipFill>
                </p:spPr>
                <p:txBody>
                  <a:bodyPr/>
                  <a:lstStyle/>
                  <a:p>
                    <a:r>
                      <a:rPr lang="nl-BE">
                        <a:noFill/>
                      </a:rPr>
                      <a:t> </a:t>
                    </a:r>
                  </a:p>
                </p:txBody>
              </p:sp>
            </mc:Fallback>
          </mc:AlternateContent>
        </p:grpSp>
        <mc:AlternateContent xmlns:mc="http://schemas.openxmlformats.org/markup-compatibility/2006" xmlns:a14="http://schemas.microsoft.com/office/drawing/2010/main">
          <mc:Choice Requires="a14">
            <p:sp>
              <p:nvSpPr>
                <p:cNvPr id="22" name="TextBox 21"/>
                <p:cNvSpPr txBox="1"/>
                <p:nvPr/>
              </p:nvSpPr>
              <p:spPr>
                <a:xfrm>
                  <a:off x="5430999" y="3591350"/>
                  <a:ext cx="1717458"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𝑓</m:t>
                        </m:r>
                        <m:r>
                          <a:rPr lang="pt-BR" sz="1400" i="1">
                            <a:latin typeface="Cambria Math" panose="02040503050406030204" pitchFamily="18" charset="0"/>
                            <a:ea typeface="Cambria Math" panose="02040503050406030204" pitchFamily="18" charset="0"/>
                          </a:rPr>
                          <m:t>&gt;0</m:t>
                        </m:r>
                      </m:oMath>
                    </m:oMathPara>
                  </a14:m>
                  <a:endParaRPr lang="en-US" sz="1400" dirty="0"/>
                </a:p>
                <a:p>
                  <a:pPr algn="ctr"/>
                  <a:r>
                    <a:rPr lang="en-US" sz="1400" dirty="0" err="1"/>
                    <a:t>gradiente</a:t>
                  </a:r>
                  <a:r>
                    <a:rPr lang="en-US" sz="1400" dirty="0"/>
                    <a:t> </a:t>
                  </a:r>
                  <a:r>
                    <a:rPr lang="en-US" sz="1400" dirty="0" err="1"/>
                    <a:t>positivo</a:t>
                  </a:r>
                  <a:endParaRPr lang="en-US" sz="1400" dirty="0"/>
                </a:p>
                <a:p>
                  <a:pPr algn="ctr"/>
                  <a:r>
                    <a:rPr lang="en-US" sz="1400" dirty="0"/>
                    <a:t>=</a:t>
                  </a:r>
                </a:p>
                <a:p>
                  <a:pPr algn="ctr"/>
                  <a:r>
                    <a:rPr lang="en-US" sz="1400" dirty="0" err="1"/>
                    <a:t>siga</a:t>
                  </a:r>
                  <a:r>
                    <a:rPr lang="en-US" sz="1400" dirty="0"/>
                    <a:t> </a:t>
                  </a:r>
                  <a:r>
                    <a:rPr lang="en-US" sz="1400" dirty="0" err="1"/>
                    <a:t>em</a:t>
                  </a:r>
                  <a:r>
                    <a:rPr lang="en-US" sz="1400" dirty="0"/>
                    <a:t> </a:t>
                  </a:r>
                  <a:r>
                    <a:rPr lang="en-US" sz="1400" dirty="0" err="1"/>
                    <a:t>frente</a:t>
                  </a:r>
                  <a:endParaRPr lang="nl-BE"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5430999" y="3591350"/>
                  <a:ext cx="1717458" cy="954107"/>
                </a:xfrm>
                <a:prstGeom prst="rect">
                  <a:avLst/>
                </a:prstGeom>
                <a:blipFill>
                  <a:blip r:embed="rId7"/>
                  <a:stretch>
                    <a:fillRect b="-5769"/>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8609519" y="3690209"/>
                  <a:ext cx="2001633"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𝑓</m:t>
                        </m:r>
                        <m:r>
                          <a:rPr lang="pt-BR" sz="1400" i="1">
                            <a:latin typeface="Cambria Math" panose="02040503050406030204" pitchFamily="18" charset="0"/>
                            <a:ea typeface="Cambria Math" panose="02040503050406030204" pitchFamily="18" charset="0"/>
                          </a:rPr>
                          <m:t>&lt;0</m:t>
                        </m:r>
                      </m:oMath>
                    </m:oMathPara>
                  </a14:m>
                  <a:endParaRPr lang="en-US" sz="1400" dirty="0"/>
                </a:p>
                <a:p>
                  <a:pPr algn="ctr"/>
                  <a:r>
                    <a:rPr lang="en-US" sz="1400" dirty="0" err="1"/>
                    <a:t>gradiente</a:t>
                  </a:r>
                  <a:r>
                    <a:rPr lang="en-US" sz="1400" dirty="0"/>
                    <a:t> </a:t>
                  </a:r>
                  <a:r>
                    <a:rPr lang="en-US" sz="1400" dirty="0" err="1"/>
                    <a:t>negativo</a:t>
                  </a:r>
                  <a:endParaRPr lang="en-US" sz="1400" dirty="0"/>
                </a:p>
                <a:p>
                  <a:pPr algn="ctr"/>
                  <a:r>
                    <a:rPr lang="en-US" sz="1400" dirty="0"/>
                    <a:t>=</a:t>
                  </a:r>
                </a:p>
                <a:p>
                  <a:pPr algn="ctr"/>
                  <a:r>
                    <a:rPr lang="en-US" sz="1400" dirty="0" err="1"/>
                    <a:t>siga</a:t>
                  </a:r>
                  <a:r>
                    <a:rPr lang="en-US" sz="1400" dirty="0"/>
                    <a:t> </a:t>
                  </a:r>
                  <a:r>
                    <a:rPr lang="en-US" sz="1400" dirty="0" err="1"/>
                    <a:t>na</a:t>
                  </a:r>
                  <a:r>
                    <a:rPr lang="en-US" sz="1400" dirty="0"/>
                    <a:t> </a:t>
                  </a:r>
                  <a:r>
                    <a:rPr lang="en-US" sz="1400" dirty="0" err="1"/>
                    <a:t>direção</a:t>
                  </a:r>
                  <a:r>
                    <a:rPr lang="en-US" sz="1400" dirty="0"/>
                    <a:t> </a:t>
                  </a:r>
                  <a:r>
                    <a:rPr lang="en-US" sz="1400" dirty="0" err="1"/>
                    <a:t>contrária</a:t>
                  </a:r>
                  <a:endParaRPr lang="nl-BE" sz="1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8609519" y="3690209"/>
                  <a:ext cx="2001633" cy="954107"/>
                </a:xfrm>
                <a:prstGeom prst="rect">
                  <a:avLst/>
                </a:prstGeom>
                <a:blipFill rotWithShape="0">
                  <a:blip r:embed="rId8"/>
                  <a:stretch>
                    <a:fillRect b="-576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7048803" y="2878240"/>
                  <a:ext cx="1300446"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𝑓</m:t>
                        </m:r>
                        <m:r>
                          <a:rPr lang="pt-BR" sz="1400" i="1">
                            <a:latin typeface="Cambria Math" panose="02040503050406030204" pitchFamily="18" charset="0"/>
                            <a:ea typeface="Cambria Math" panose="02040503050406030204" pitchFamily="18" charset="0"/>
                          </a:rPr>
                          <m:t>=0</m:t>
                        </m:r>
                      </m:oMath>
                    </m:oMathPara>
                  </a14:m>
                  <a:endParaRPr lang="en-US" sz="1400" dirty="0"/>
                </a:p>
                <a:p>
                  <a:pPr algn="ctr"/>
                  <a:r>
                    <a:rPr lang="en-US" sz="1400" dirty="0" err="1"/>
                    <a:t>gradiente</a:t>
                  </a:r>
                  <a:r>
                    <a:rPr lang="en-US" sz="1400" dirty="0"/>
                    <a:t> </a:t>
                  </a:r>
                  <a:r>
                    <a:rPr lang="en-US" sz="1400" dirty="0" err="1"/>
                    <a:t>nulo</a:t>
                  </a:r>
                  <a:endParaRPr lang="en-US" sz="1400" dirty="0"/>
                </a:p>
                <a:p>
                  <a:pPr algn="ctr"/>
                  <a:r>
                    <a:rPr lang="en-US" sz="1400" dirty="0"/>
                    <a:t>= </a:t>
                  </a:r>
                </a:p>
                <a:p>
                  <a:pPr algn="ctr"/>
                  <a:r>
                    <a:rPr lang="en-US" sz="1400" dirty="0" err="1"/>
                    <a:t>máximo</a:t>
                  </a:r>
                  <a:endParaRPr lang="nl-BE" sz="1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7048803" y="2878240"/>
                  <a:ext cx="1300446" cy="954107"/>
                </a:xfrm>
                <a:prstGeom prst="rect">
                  <a:avLst/>
                </a:prstGeom>
                <a:blipFill>
                  <a:blip r:embed="rId9"/>
                  <a:stretch>
                    <a:fillRect b="-5769"/>
                  </a:stretch>
                </a:blipFill>
              </p:spPr>
              <p:txBody>
                <a:bodyPr/>
                <a:lstStyle/>
                <a:p>
                  <a:r>
                    <a:rPr lang="nl-BE">
                      <a:noFill/>
                    </a:rPr>
                    <a:t> </a:t>
                  </a:r>
                </a:p>
              </p:txBody>
            </p:sp>
          </mc:Fallback>
        </mc:AlternateContent>
      </p:grpSp>
      <p:grpSp>
        <p:nvGrpSpPr>
          <p:cNvPr id="51" name="Group 50"/>
          <p:cNvGrpSpPr/>
          <p:nvPr/>
        </p:nvGrpSpPr>
        <p:grpSpPr>
          <a:xfrm>
            <a:off x="6071545" y="644806"/>
            <a:ext cx="5640437" cy="4262159"/>
            <a:chOff x="5482823" y="644806"/>
            <a:chExt cx="5640437" cy="4262159"/>
          </a:xfrm>
        </p:grpSpPr>
        <p:cxnSp>
          <p:nvCxnSpPr>
            <p:cNvPr id="36" name="Straight Arrow Connector 35"/>
            <p:cNvCxnSpPr/>
            <p:nvPr/>
          </p:nvCxnSpPr>
          <p:spPr>
            <a:xfrm>
              <a:off x="6854791" y="3502818"/>
              <a:ext cx="501018" cy="886734"/>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9054972" y="3513655"/>
              <a:ext cx="413575" cy="797704"/>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5" name="Group 34"/>
            <p:cNvGrpSpPr/>
            <p:nvPr/>
          </p:nvGrpSpPr>
          <p:grpSpPr>
            <a:xfrm rot="10800000">
              <a:off x="6769100" y="644806"/>
              <a:ext cx="2806700" cy="4067687"/>
              <a:chOff x="5943600" y="2032000"/>
              <a:chExt cx="2806700" cy="4067687"/>
            </a:xfrm>
          </p:grpSpPr>
          <p:sp>
            <p:nvSpPr>
              <p:cNvPr id="45" name="Oval 44"/>
              <p:cNvSpPr/>
              <p:nvPr/>
            </p:nvSpPr>
            <p:spPr>
              <a:xfrm>
                <a:off x="6012753" y="2032000"/>
                <a:ext cx="2661347" cy="3911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6" name="Rectangle 45"/>
              <p:cNvSpPr/>
              <p:nvPr/>
            </p:nvSpPr>
            <p:spPr>
              <a:xfrm>
                <a:off x="5943600" y="3415504"/>
                <a:ext cx="2806700" cy="268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38" name="Flowchart: Connector 37"/>
            <p:cNvSpPr/>
            <p:nvPr/>
          </p:nvSpPr>
          <p:spPr>
            <a:xfrm>
              <a:off x="7062438" y="3876205"/>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9" name="Flowchart: Connector 38"/>
            <p:cNvSpPr/>
            <p:nvPr/>
          </p:nvSpPr>
          <p:spPr>
            <a:xfrm>
              <a:off x="9236075" y="3812747"/>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40" name="Straight Arrow Connector 39"/>
            <p:cNvCxnSpPr/>
            <p:nvPr/>
          </p:nvCxnSpPr>
          <p:spPr>
            <a:xfrm>
              <a:off x="7756525" y="4724681"/>
              <a:ext cx="866775"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Flowchart: Connector 40"/>
            <p:cNvSpPr/>
            <p:nvPr/>
          </p:nvSpPr>
          <p:spPr>
            <a:xfrm>
              <a:off x="8115300" y="4669997"/>
              <a:ext cx="85725" cy="101516"/>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31" name="Straight Arrow Connector 30"/>
            <p:cNvCxnSpPr/>
            <p:nvPr/>
          </p:nvCxnSpPr>
          <p:spPr>
            <a:xfrm>
              <a:off x="5632450" y="2705797"/>
              <a:ext cx="0" cy="201600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5688730" y="4722299"/>
              <a:ext cx="4572000" cy="0"/>
            </a:xfrm>
            <a:prstGeom prst="straightConnector1">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p:cNvSpPr/>
                <p:nvPr/>
              </p:nvSpPr>
              <p:spPr>
                <a:xfrm>
                  <a:off x="5612617" y="2534819"/>
                  <a:ext cx="693716" cy="369332"/>
                </a:xfrm>
                <a:prstGeom prst="rect">
                  <a:avLst/>
                </a:prstGeom>
              </p:spPr>
              <p:txBody>
                <a:bodyPr wrap="none">
                  <a:spAutoFit/>
                </a:bodyPr>
                <a:lstStyle/>
                <a:p>
                  <a:pPr/>
                  <a14:m>
                    <m:oMathPara xmlns:m="http://schemas.openxmlformats.org/officeDocument/2006/math">
                      <m:oMath>
                        <m:r>
                          <a:rPr lang="pt-BR" i="1" smtClean="0">
                            <a:latin typeface="Cambria Math" panose="02040503050406030204" pitchFamily="18" charset="0"/>
                          </a:rPr>
                          <m:t>𝑓</m:t>
                        </m:r>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oMath>
                    </m:oMathPara>
                  </a14:m>
                  <a:endParaRPr lang="nl-BE" dirty="0"/>
                </a:p>
              </p:txBody>
            </p:sp>
          </mc:Choice>
          <mc:Fallback xmlns="">
            <p:sp>
              <p:nvSpPr>
                <p:cNvPr id="33" name="Rectangle 32"/>
                <p:cNvSpPr>
                  <a:spLocks noRot="1" noChangeAspect="1" noMove="1" noResize="1" noEditPoints="1" noAdjustHandles="1" noChangeArrowheads="1" noChangeShapeType="1" noTextEdit="1"/>
                </p:cNvSpPr>
                <p:nvPr/>
              </p:nvSpPr>
              <p:spPr>
                <a:xfrm>
                  <a:off x="5612617" y="2534819"/>
                  <a:ext cx="693716" cy="369332"/>
                </a:xfrm>
                <a:prstGeom prst="rect">
                  <a:avLst/>
                </a:prstGeom>
                <a:blipFill>
                  <a:blip r:embed="rId10"/>
                  <a:stretch>
                    <a:fillRect b="-1333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0139894" y="4537633"/>
                  <a:ext cx="367985" cy="369332"/>
                </a:xfrm>
                <a:prstGeom prst="rect">
                  <a:avLst/>
                </a:prstGeom>
              </p:spPr>
              <p:txBody>
                <a:bodyPr wrap="none">
                  <a:spAutoFit/>
                </a:bodyPr>
                <a:lstStyle/>
                <a:p>
                  <a:pPr/>
                  <a14:m>
                    <m:oMathPara xmlns:m="http://schemas.openxmlformats.org/officeDocument/2006/math">
                      <m:oMath>
                        <m:r>
                          <a:rPr lang="pt-BR" i="1">
                            <a:latin typeface="Cambria Math" panose="02040503050406030204" pitchFamily="18" charset="0"/>
                          </a:rPr>
                          <m:t>𝑥</m:t>
                        </m:r>
                      </m:oMath>
                    </m:oMathPara>
                  </a14:m>
                  <a:endParaRPr lang="nl-BE" dirty="0"/>
                </a:p>
              </p:txBody>
            </p:sp>
          </mc:Choice>
          <mc:Fallback xmlns="">
            <p:sp>
              <p:nvSpPr>
                <p:cNvPr id="34" name="Rectangle 33"/>
                <p:cNvSpPr>
                  <a:spLocks noRot="1" noChangeAspect="1" noMove="1" noResize="1" noEditPoints="1" noAdjustHandles="1" noChangeArrowheads="1" noChangeShapeType="1" noTextEdit="1"/>
                </p:cNvSpPr>
                <p:nvPr/>
              </p:nvSpPr>
              <p:spPr>
                <a:xfrm>
                  <a:off x="10139894" y="4537633"/>
                  <a:ext cx="367985" cy="369332"/>
                </a:xfrm>
                <a:prstGeom prst="rect">
                  <a:avLst/>
                </a:prstGeom>
                <a:blipFill>
                  <a:blip r:embed="rId11"/>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5482823" y="3543300"/>
                  <a:ext cx="1717458"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𝑓</m:t>
                        </m:r>
                        <m:r>
                          <a:rPr lang="pt-BR" sz="1400" i="1">
                            <a:latin typeface="Cambria Math" panose="02040503050406030204" pitchFamily="18" charset="0"/>
                            <a:ea typeface="Cambria Math" panose="02040503050406030204" pitchFamily="18" charset="0"/>
                          </a:rPr>
                          <m:t>&lt;0</m:t>
                        </m:r>
                      </m:oMath>
                    </m:oMathPara>
                  </a14:m>
                  <a:endParaRPr lang="en-US" sz="1400" dirty="0"/>
                </a:p>
                <a:p>
                  <a:pPr algn="ctr"/>
                  <a:r>
                    <a:rPr lang="en-US" sz="1400" dirty="0" err="1"/>
                    <a:t>gradiente</a:t>
                  </a:r>
                  <a:r>
                    <a:rPr lang="en-US" sz="1400" dirty="0"/>
                    <a:t> </a:t>
                  </a:r>
                  <a:r>
                    <a:rPr lang="en-US" sz="1400" dirty="0" err="1"/>
                    <a:t>negativo</a:t>
                  </a:r>
                  <a:endParaRPr lang="en-US" sz="1400" dirty="0"/>
                </a:p>
                <a:p>
                  <a:pPr algn="ctr"/>
                  <a:r>
                    <a:rPr lang="en-US" sz="1400" dirty="0"/>
                    <a:t>=</a:t>
                  </a:r>
                </a:p>
                <a:p>
                  <a:pPr algn="ctr"/>
                  <a:r>
                    <a:rPr lang="en-US" sz="1400" dirty="0" err="1"/>
                    <a:t>siga</a:t>
                  </a:r>
                  <a:r>
                    <a:rPr lang="en-US" sz="1400" dirty="0"/>
                    <a:t> </a:t>
                  </a:r>
                  <a:r>
                    <a:rPr lang="en-US" sz="1400" dirty="0" err="1"/>
                    <a:t>em</a:t>
                  </a:r>
                  <a:r>
                    <a:rPr lang="en-US" sz="1400" dirty="0"/>
                    <a:t> </a:t>
                  </a:r>
                  <a:r>
                    <a:rPr lang="en-US" sz="1400" dirty="0" err="1"/>
                    <a:t>frente</a:t>
                  </a:r>
                  <a:endParaRPr lang="en-US"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5482823" y="3543300"/>
                  <a:ext cx="1717458" cy="954107"/>
                </a:xfrm>
                <a:prstGeom prst="rect">
                  <a:avLst/>
                </a:prstGeom>
                <a:blipFill>
                  <a:blip r:embed="rId12"/>
                  <a:stretch>
                    <a:fillRect b="-5732"/>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9121947" y="3485076"/>
                  <a:ext cx="2001313" cy="954107"/>
                </a:xfrm>
                <a:prstGeom prst="rect">
                  <a:avLst/>
                </a:prstGeom>
                <a:noFill/>
              </p:spPr>
              <p:txBody>
                <a:bodyPr wrap="square" rtlCol="0">
                  <a:spAutoFit/>
                </a:bodyPr>
                <a:lstStyle/>
                <a:p>
                  <a:pPr algn="ctr"/>
                  <a14:m>
                    <m:oMathPara xmlns:m="http://schemas.openxmlformats.org/officeDocument/2006/math">
                      <m:oMath>
                        <m:r>
                          <a:rPr lang="pt-BR" sz="1400" i="1" smtClean="0">
                            <a:latin typeface="Cambria Math" panose="02040503050406030204" pitchFamily="18" charset="0"/>
                            <a:ea typeface="Cambria Math" panose="02040503050406030204" pitchFamily="18" charset="0"/>
                          </a:rPr>
                          <m:t>−</m:t>
                        </m:r>
                        <m:r>
                          <a:rPr lang="pt-BR" sz="1400" i="1" smtClean="0">
                            <a:latin typeface="Cambria Math" panose="02040503050406030204" pitchFamily="18" charset="0"/>
                            <a:ea typeface="Cambria Math" panose="02040503050406030204" pitchFamily="18" charset="0"/>
                          </a:rPr>
                          <m:t>𝛻</m:t>
                        </m:r>
                        <m:r>
                          <a:rPr lang="pt-BR" sz="1400" i="1" smtClean="0">
                            <a:latin typeface="Cambria Math" panose="02040503050406030204" pitchFamily="18" charset="0"/>
                            <a:ea typeface="Cambria Math" panose="02040503050406030204" pitchFamily="18" charset="0"/>
                          </a:rPr>
                          <m:t>𝑓</m:t>
                        </m:r>
                        <m:r>
                          <a:rPr lang="pt-BR" sz="1400" i="1" smtClean="0">
                            <a:latin typeface="Cambria Math" panose="02040503050406030204" pitchFamily="18" charset="0"/>
                            <a:ea typeface="Cambria Math" panose="02040503050406030204" pitchFamily="18" charset="0"/>
                          </a:rPr>
                          <m:t>&gt;0</m:t>
                        </m:r>
                      </m:oMath>
                    </m:oMathPara>
                  </a14:m>
                  <a:endParaRPr lang="en-US" sz="1400" dirty="0"/>
                </a:p>
                <a:p>
                  <a:pPr algn="ctr"/>
                  <a:r>
                    <a:rPr lang="en-US" sz="1400" dirty="0" err="1"/>
                    <a:t>gradiente</a:t>
                  </a:r>
                  <a:r>
                    <a:rPr lang="en-US" sz="1400" dirty="0"/>
                    <a:t> </a:t>
                  </a:r>
                  <a:r>
                    <a:rPr lang="en-US" sz="1400" dirty="0" err="1"/>
                    <a:t>positivo</a:t>
                  </a:r>
                  <a:endParaRPr lang="en-US" sz="1400" dirty="0"/>
                </a:p>
                <a:p>
                  <a:pPr algn="ctr"/>
                  <a:r>
                    <a:rPr lang="en-US" sz="1400" dirty="0"/>
                    <a:t>=</a:t>
                  </a:r>
                </a:p>
                <a:p>
                  <a:pPr algn="ctr"/>
                  <a:r>
                    <a:rPr lang="en-US" sz="1400" dirty="0" err="1"/>
                    <a:t>siga</a:t>
                  </a:r>
                  <a:r>
                    <a:rPr lang="en-US" sz="1400" dirty="0"/>
                    <a:t> </a:t>
                  </a:r>
                  <a:r>
                    <a:rPr lang="en-US" sz="1400" dirty="0" err="1"/>
                    <a:t>na</a:t>
                  </a:r>
                  <a:r>
                    <a:rPr lang="en-US" sz="1400" dirty="0"/>
                    <a:t> </a:t>
                  </a:r>
                  <a:r>
                    <a:rPr lang="en-US" sz="1400" dirty="0" err="1"/>
                    <a:t>direção</a:t>
                  </a:r>
                  <a:r>
                    <a:rPr lang="en-US" sz="1400" dirty="0"/>
                    <a:t> </a:t>
                  </a:r>
                  <a:r>
                    <a:rPr lang="en-US" sz="1400" dirty="0" err="1"/>
                    <a:t>contrária</a:t>
                  </a:r>
                  <a:endParaRPr lang="nl-BE"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9121947" y="3485076"/>
                  <a:ext cx="2001313" cy="954107"/>
                </a:xfrm>
                <a:prstGeom prst="rect">
                  <a:avLst/>
                </a:prstGeom>
                <a:blipFill rotWithShape="0">
                  <a:blip r:embed="rId13"/>
                  <a:stretch>
                    <a:fillRect b="-576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7488495" y="3655746"/>
                  <a:ext cx="1300446" cy="954107"/>
                </a:xfrm>
                <a:prstGeom prst="rect">
                  <a:avLst/>
                </a:prstGeom>
                <a:noFill/>
              </p:spPr>
              <p:txBody>
                <a:bodyPr wrap="square" rtlCol="0">
                  <a:spAutoFit/>
                </a:bodyPr>
                <a:lstStyle/>
                <a:p>
                  <a:pPr algn="ctr"/>
                  <a14:m>
                    <m:oMathPara xmlns:m="http://schemas.openxmlformats.org/officeDocument/2006/math">
                      <m:oMath>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𝑓</m:t>
                        </m:r>
                        <m:r>
                          <a:rPr lang="pt-BR" sz="1400" i="1">
                            <a:latin typeface="Cambria Math" panose="02040503050406030204" pitchFamily="18" charset="0"/>
                            <a:ea typeface="Cambria Math" panose="02040503050406030204" pitchFamily="18" charset="0"/>
                          </a:rPr>
                          <m:t>=0</m:t>
                        </m:r>
                      </m:oMath>
                    </m:oMathPara>
                  </a14:m>
                  <a:endParaRPr lang="en-US" sz="1400" dirty="0"/>
                </a:p>
                <a:p>
                  <a:pPr algn="ctr"/>
                  <a:r>
                    <a:rPr lang="en-US" sz="1400" dirty="0" err="1"/>
                    <a:t>gradiente</a:t>
                  </a:r>
                  <a:r>
                    <a:rPr lang="en-US" sz="1400" dirty="0"/>
                    <a:t> </a:t>
                  </a:r>
                  <a:r>
                    <a:rPr lang="en-US" sz="1400" dirty="0" err="1"/>
                    <a:t>nulo</a:t>
                  </a:r>
                  <a:endParaRPr lang="en-US" sz="1400" dirty="0"/>
                </a:p>
                <a:p>
                  <a:pPr algn="ctr"/>
                  <a:r>
                    <a:rPr lang="en-US" sz="1400" dirty="0"/>
                    <a:t>= </a:t>
                  </a:r>
                </a:p>
                <a:p>
                  <a:pPr algn="ctr"/>
                  <a:r>
                    <a:rPr lang="en-US" sz="1400" dirty="0" err="1"/>
                    <a:t>mínimo</a:t>
                  </a:r>
                  <a:endParaRPr lang="nl-BE"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7488495" y="3655746"/>
                  <a:ext cx="1300446" cy="954107"/>
                </a:xfrm>
                <a:prstGeom prst="rect">
                  <a:avLst/>
                </a:prstGeom>
                <a:blipFill>
                  <a:blip r:embed="rId14"/>
                  <a:stretch>
                    <a:fillRect b="-5769"/>
                  </a:stretch>
                </a:blipFill>
              </p:spPr>
              <p:txBody>
                <a:bodyPr/>
                <a:lstStyle/>
                <a:p>
                  <a:r>
                    <a:rPr lang="nl-BE">
                      <a:noFill/>
                    </a:rPr>
                    <a:t> </a:t>
                  </a:r>
                </a:p>
              </p:txBody>
            </p:sp>
          </mc:Fallback>
        </mc:AlternateContent>
      </p:grpSp>
    </p:spTree>
    <p:extLst>
      <p:ext uri="{BB962C8B-B14F-4D97-AF65-F5344CB8AC3E}">
        <p14:creationId xmlns:p14="http://schemas.microsoft.com/office/powerpoint/2010/main" val="23011437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0" name="Agrupar 189">
            <a:extLst>
              <a:ext uri="{FF2B5EF4-FFF2-40B4-BE49-F238E27FC236}">
                <a16:creationId xmlns:a16="http://schemas.microsoft.com/office/drawing/2014/main" id="{874324DE-A531-C171-6473-484BA971D4B8}"/>
              </a:ext>
            </a:extLst>
          </p:cNvPr>
          <p:cNvGrpSpPr/>
          <p:nvPr/>
        </p:nvGrpSpPr>
        <p:grpSpPr>
          <a:xfrm>
            <a:off x="1337467" y="1086304"/>
            <a:ext cx="9673078" cy="3689251"/>
            <a:chOff x="1337467" y="1086304"/>
            <a:chExt cx="9673078" cy="3689251"/>
          </a:xfrm>
        </p:grpSpPr>
        <p:grpSp>
          <p:nvGrpSpPr>
            <p:cNvPr id="166" name="Agrupar 165">
              <a:extLst>
                <a:ext uri="{FF2B5EF4-FFF2-40B4-BE49-F238E27FC236}">
                  <a16:creationId xmlns:a16="http://schemas.microsoft.com/office/drawing/2014/main" id="{51E50007-12A1-FC26-4581-73E1B4058F4E}"/>
                </a:ext>
              </a:extLst>
            </p:cNvPr>
            <p:cNvGrpSpPr/>
            <p:nvPr/>
          </p:nvGrpSpPr>
          <p:grpSpPr>
            <a:xfrm>
              <a:off x="1352145" y="1947473"/>
              <a:ext cx="7588478" cy="642026"/>
              <a:chOff x="1352145" y="3107987"/>
              <a:chExt cx="7588478" cy="642026"/>
            </a:xfrm>
          </p:grpSpPr>
          <p:sp>
            <p:nvSpPr>
              <p:cNvPr id="5" name="Retângulo 4">
                <a:extLst>
                  <a:ext uri="{FF2B5EF4-FFF2-40B4-BE49-F238E27FC236}">
                    <a16:creationId xmlns:a16="http://schemas.microsoft.com/office/drawing/2014/main" id="{C090B2AE-1690-7139-070F-015002BAF322}"/>
                  </a:ext>
                </a:extLst>
              </p:cNvPr>
              <p:cNvSpPr/>
              <p:nvPr/>
            </p:nvSpPr>
            <p:spPr>
              <a:xfrm>
                <a:off x="135214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CC5758AE-E652-D96F-5A61-AF180A287957}"/>
                  </a:ext>
                </a:extLst>
              </p:cNvPr>
              <p:cNvSpPr/>
              <p:nvPr/>
            </p:nvSpPr>
            <p:spPr>
              <a:xfrm>
                <a:off x="139786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B71871D2-40CB-863D-E4DD-A51AE85154C0}"/>
                  </a:ext>
                </a:extLst>
              </p:cNvPr>
              <p:cNvSpPr/>
              <p:nvPr/>
            </p:nvSpPr>
            <p:spPr>
              <a:xfrm>
                <a:off x="144358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C3551F1B-3125-6A6B-F865-A3C092217C7B}"/>
                  </a:ext>
                </a:extLst>
              </p:cNvPr>
              <p:cNvSpPr/>
              <p:nvPr/>
            </p:nvSpPr>
            <p:spPr>
              <a:xfrm>
                <a:off x="149556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40447942-8A1A-5204-8B14-223D2D0F69F6}"/>
                  </a:ext>
                </a:extLst>
              </p:cNvPr>
              <p:cNvSpPr/>
              <p:nvPr/>
            </p:nvSpPr>
            <p:spPr>
              <a:xfrm>
                <a:off x="154753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88C06DF8-8565-9D27-9F61-DFD7F4A2E35A}"/>
                  </a:ext>
                </a:extLst>
              </p:cNvPr>
              <p:cNvSpPr/>
              <p:nvPr/>
            </p:nvSpPr>
            <p:spPr>
              <a:xfrm>
                <a:off x="159325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5F77FBE9-C40C-D575-D35F-38B4BE40B221}"/>
                  </a:ext>
                </a:extLst>
              </p:cNvPr>
              <p:cNvSpPr/>
              <p:nvPr/>
            </p:nvSpPr>
            <p:spPr>
              <a:xfrm>
                <a:off x="163897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AFA2E51D-9728-9C94-FB07-C7C92E6E9CCB}"/>
                  </a:ext>
                </a:extLst>
              </p:cNvPr>
              <p:cNvSpPr/>
              <p:nvPr/>
            </p:nvSpPr>
            <p:spPr>
              <a:xfrm>
                <a:off x="168469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3CC6F6A8-975D-E928-3C12-4866A09C45AE}"/>
                  </a:ext>
                </a:extLst>
              </p:cNvPr>
              <p:cNvSpPr/>
              <p:nvPr/>
            </p:nvSpPr>
            <p:spPr>
              <a:xfrm>
                <a:off x="173667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3F812EC6-62AF-F689-F7DF-5B582CC82D81}"/>
                  </a:ext>
                </a:extLst>
              </p:cNvPr>
              <p:cNvSpPr/>
              <p:nvPr/>
            </p:nvSpPr>
            <p:spPr>
              <a:xfrm>
                <a:off x="178864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3ED01A2A-6201-69F8-7ABB-5A268CB6D1C5}"/>
                  </a:ext>
                </a:extLst>
              </p:cNvPr>
              <p:cNvSpPr/>
              <p:nvPr/>
            </p:nvSpPr>
            <p:spPr>
              <a:xfrm>
                <a:off x="183980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FA51FE04-1EAF-3D6B-C0CF-CFE8CA6BFF94}"/>
                  </a:ext>
                </a:extLst>
              </p:cNvPr>
              <p:cNvSpPr/>
              <p:nvPr/>
            </p:nvSpPr>
            <p:spPr>
              <a:xfrm>
                <a:off x="188552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769D4A31-690F-A77A-E1B4-219D07200E85}"/>
                  </a:ext>
                </a:extLst>
              </p:cNvPr>
              <p:cNvSpPr/>
              <p:nvPr/>
            </p:nvSpPr>
            <p:spPr>
              <a:xfrm>
                <a:off x="193124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FC507385-4EC0-EEEF-1271-DF6F90C161CE}"/>
                  </a:ext>
                </a:extLst>
              </p:cNvPr>
              <p:cNvSpPr/>
              <p:nvPr/>
            </p:nvSpPr>
            <p:spPr>
              <a:xfrm>
                <a:off x="198321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0" name="Retângulo 19">
                <a:extLst>
                  <a:ext uri="{FF2B5EF4-FFF2-40B4-BE49-F238E27FC236}">
                    <a16:creationId xmlns:a16="http://schemas.microsoft.com/office/drawing/2014/main" id="{36EF9603-F4F3-7FEA-5D45-2C6511AC19F0}"/>
                  </a:ext>
                </a:extLst>
              </p:cNvPr>
              <p:cNvSpPr/>
              <p:nvPr/>
            </p:nvSpPr>
            <p:spPr>
              <a:xfrm>
                <a:off x="203519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1" name="Retângulo 20">
                <a:extLst>
                  <a:ext uri="{FF2B5EF4-FFF2-40B4-BE49-F238E27FC236}">
                    <a16:creationId xmlns:a16="http://schemas.microsoft.com/office/drawing/2014/main" id="{2DA810EA-EC1B-4600-CE01-8DD31D60DB48}"/>
                  </a:ext>
                </a:extLst>
              </p:cNvPr>
              <p:cNvSpPr/>
              <p:nvPr/>
            </p:nvSpPr>
            <p:spPr>
              <a:xfrm>
                <a:off x="208061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2" name="Retângulo 21">
                <a:extLst>
                  <a:ext uri="{FF2B5EF4-FFF2-40B4-BE49-F238E27FC236}">
                    <a16:creationId xmlns:a16="http://schemas.microsoft.com/office/drawing/2014/main" id="{7DDC3053-871B-593C-B1B0-B5259075A59F}"/>
                  </a:ext>
                </a:extLst>
              </p:cNvPr>
              <p:cNvSpPr/>
              <p:nvPr/>
            </p:nvSpPr>
            <p:spPr>
              <a:xfrm>
                <a:off x="212633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0E0FF5BC-2875-3064-6958-31D868355F4A}"/>
                  </a:ext>
                </a:extLst>
              </p:cNvPr>
              <p:cNvSpPr/>
              <p:nvPr/>
            </p:nvSpPr>
            <p:spPr>
              <a:xfrm>
                <a:off x="217205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4" name="Retângulo 23">
                <a:extLst>
                  <a:ext uri="{FF2B5EF4-FFF2-40B4-BE49-F238E27FC236}">
                    <a16:creationId xmlns:a16="http://schemas.microsoft.com/office/drawing/2014/main" id="{69EAE7AA-A43D-0C3C-6C32-B58A1B93980E}"/>
                  </a:ext>
                </a:extLst>
              </p:cNvPr>
              <p:cNvSpPr/>
              <p:nvPr/>
            </p:nvSpPr>
            <p:spPr>
              <a:xfrm>
                <a:off x="222403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5" name="Retângulo 24">
                <a:extLst>
                  <a:ext uri="{FF2B5EF4-FFF2-40B4-BE49-F238E27FC236}">
                    <a16:creationId xmlns:a16="http://schemas.microsoft.com/office/drawing/2014/main" id="{EDA7866C-1A4A-F5DE-8644-0ED03FB74A0F}"/>
                  </a:ext>
                </a:extLst>
              </p:cNvPr>
              <p:cNvSpPr/>
              <p:nvPr/>
            </p:nvSpPr>
            <p:spPr>
              <a:xfrm>
                <a:off x="227600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6" name="Retângulo 25">
                <a:extLst>
                  <a:ext uri="{FF2B5EF4-FFF2-40B4-BE49-F238E27FC236}">
                    <a16:creationId xmlns:a16="http://schemas.microsoft.com/office/drawing/2014/main" id="{F82DBFA1-2785-1179-1A89-44B2F9CCADE2}"/>
                  </a:ext>
                </a:extLst>
              </p:cNvPr>
              <p:cNvSpPr/>
              <p:nvPr/>
            </p:nvSpPr>
            <p:spPr>
              <a:xfrm>
                <a:off x="232172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7" name="Retângulo 26">
                <a:extLst>
                  <a:ext uri="{FF2B5EF4-FFF2-40B4-BE49-F238E27FC236}">
                    <a16:creationId xmlns:a16="http://schemas.microsoft.com/office/drawing/2014/main" id="{BA6FDC90-67A2-79FE-A124-5CC636A28887}"/>
                  </a:ext>
                </a:extLst>
              </p:cNvPr>
              <p:cNvSpPr/>
              <p:nvPr/>
            </p:nvSpPr>
            <p:spPr>
              <a:xfrm>
                <a:off x="236744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DC83F211-0158-610E-C4E2-6921E5AFF0CD}"/>
                  </a:ext>
                </a:extLst>
              </p:cNvPr>
              <p:cNvSpPr/>
              <p:nvPr/>
            </p:nvSpPr>
            <p:spPr>
              <a:xfrm>
                <a:off x="241316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067E1DF2-BA5B-DDC1-0D37-7413F283029B}"/>
                  </a:ext>
                </a:extLst>
              </p:cNvPr>
              <p:cNvSpPr/>
              <p:nvPr/>
            </p:nvSpPr>
            <p:spPr>
              <a:xfrm>
                <a:off x="246514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0" name="Retângulo 29">
                <a:extLst>
                  <a:ext uri="{FF2B5EF4-FFF2-40B4-BE49-F238E27FC236}">
                    <a16:creationId xmlns:a16="http://schemas.microsoft.com/office/drawing/2014/main" id="{F1057B48-F8BD-4C3C-EC9A-A45DC3C3B4F5}"/>
                  </a:ext>
                </a:extLst>
              </p:cNvPr>
              <p:cNvSpPr/>
              <p:nvPr/>
            </p:nvSpPr>
            <p:spPr>
              <a:xfrm>
                <a:off x="251712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1" name="Retângulo 30">
                <a:extLst>
                  <a:ext uri="{FF2B5EF4-FFF2-40B4-BE49-F238E27FC236}">
                    <a16:creationId xmlns:a16="http://schemas.microsoft.com/office/drawing/2014/main" id="{135AFA98-59D9-77AC-B93B-D597095DE268}"/>
                  </a:ext>
                </a:extLst>
              </p:cNvPr>
              <p:cNvSpPr/>
              <p:nvPr/>
            </p:nvSpPr>
            <p:spPr>
              <a:xfrm>
                <a:off x="256827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2" name="Retângulo 31">
                <a:extLst>
                  <a:ext uri="{FF2B5EF4-FFF2-40B4-BE49-F238E27FC236}">
                    <a16:creationId xmlns:a16="http://schemas.microsoft.com/office/drawing/2014/main" id="{E4C3B867-4343-279A-19AF-3738F7555010}"/>
                  </a:ext>
                </a:extLst>
              </p:cNvPr>
              <p:cNvSpPr/>
              <p:nvPr/>
            </p:nvSpPr>
            <p:spPr>
              <a:xfrm>
                <a:off x="261399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3" name="Retângulo 32">
                <a:extLst>
                  <a:ext uri="{FF2B5EF4-FFF2-40B4-BE49-F238E27FC236}">
                    <a16:creationId xmlns:a16="http://schemas.microsoft.com/office/drawing/2014/main" id="{EE109854-C781-D4A1-14D6-FF9E7D031842}"/>
                  </a:ext>
                </a:extLst>
              </p:cNvPr>
              <p:cNvSpPr/>
              <p:nvPr/>
            </p:nvSpPr>
            <p:spPr>
              <a:xfrm>
                <a:off x="265971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4" name="Retângulo 33">
                <a:extLst>
                  <a:ext uri="{FF2B5EF4-FFF2-40B4-BE49-F238E27FC236}">
                    <a16:creationId xmlns:a16="http://schemas.microsoft.com/office/drawing/2014/main" id="{F5FB2EF9-3BAD-4918-4F33-29C68AEDBCC2}"/>
                  </a:ext>
                </a:extLst>
              </p:cNvPr>
              <p:cNvSpPr/>
              <p:nvPr/>
            </p:nvSpPr>
            <p:spPr>
              <a:xfrm>
                <a:off x="271169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5" name="Retângulo 34">
                <a:extLst>
                  <a:ext uri="{FF2B5EF4-FFF2-40B4-BE49-F238E27FC236}">
                    <a16:creationId xmlns:a16="http://schemas.microsoft.com/office/drawing/2014/main" id="{9816F552-7B43-7AF0-4994-F1F68BA447EF}"/>
                  </a:ext>
                </a:extLst>
              </p:cNvPr>
              <p:cNvSpPr/>
              <p:nvPr/>
            </p:nvSpPr>
            <p:spPr>
              <a:xfrm>
                <a:off x="276366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6" name="Retângulo 35">
                <a:extLst>
                  <a:ext uri="{FF2B5EF4-FFF2-40B4-BE49-F238E27FC236}">
                    <a16:creationId xmlns:a16="http://schemas.microsoft.com/office/drawing/2014/main" id="{7BFD8448-C8B6-B85F-1A57-96BBB2D344E7}"/>
                  </a:ext>
                </a:extLst>
              </p:cNvPr>
              <p:cNvSpPr/>
              <p:nvPr/>
            </p:nvSpPr>
            <p:spPr>
              <a:xfrm>
                <a:off x="280946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7" name="Retângulo 36">
                <a:extLst>
                  <a:ext uri="{FF2B5EF4-FFF2-40B4-BE49-F238E27FC236}">
                    <a16:creationId xmlns:a16="http://schemas.microsoft.com/office/drawing/2014/main" id="{EDEF60C8-B523-A8C1-37A5-57E3654E010D}"/>
                  </a:ext>
                </a:extLst>
              </p:cNvPr>
              <p:cNvSpPr/>
              <p:nvPr/>
            </p:nvSpPr>
            <p:spPr>
              <a:xfrm>
                <a:off x="285518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8" name="Retângulo 37">
                <a:extLst>
                  <a:ext uri="{FF2B5EF4-FFF2-40B4-BE49-F238E27FC236}">
                    <a16:creationId xmlns:a16="http://schemas.microsoft.com/office/drawing/2014/main" id="{C7DBC013-ECD5-FE5E-6F4F-773C6B2DC482}"/>
                  </a:ext>
                </a:extLst>
              </p:cNvPr>
              <p:cNvSpPr/>
              <p:nvPr/>
            </p:nvSpPr>
            <p:spPr>
              <a:xfrm>
                <a:off x="290090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39" name="Retângulo 38">
                <a:extLst>
                  <a:ext uri="{FF2B5EF4-FFF2-40B4-BE49-F238E27FC236}">
                    <a16:creationId xmlns:a16="http://schemas.microsoft.com/office/drawing/2014/main" id="{F8419711-4362-1AD4-3A42-E544CD650E56}"/>
                  </a:ext>
                </a:extLst>
              </p:cNvPr>
              <p:cNvSpPr/>
              <p:nvPr/>
            </p:nvSpPr>
            <p:spPr>
              <a:xfrm>
                <a:off x="295288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0" name="Retângulo 39">
                <a:extLst>
                  <a:ext uri="{FF2B5EF4-FFF2-40B4-BE49-F238E27FC236}">
                    <a16:creationId xmlns:a16="http://schemas.microsoft.com/office/drawing/2014/main" id="{832CAC75-EE30-9A38-7CF9-588E77D2AC4D}"/>
                  </a:ext>
                </a:extLst>
              </p:cNvPr>
              <p:cNvSpPr/>
              <p:nvPr/>
            </p:nvSpPr>
            <p:spPr>
              <a:xfrm>
                <a:off x="300485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1" name="Retângulo 40">
                <a:extLst>
                  <a:ext uri="{FF2B5EF4-FFF2-40B4-BE49-F238E27FC236}">
                    <a16:creationId xmlns:a16="http://schemas.microsoft.com/office/drawing/2014/main" id="{D9FF883A-B0C3-336E-6B62-E4733990397F}"/>
                  </a:ext>
                </a:extLst>
              </p:cNvPr>
              <p:cNvSpPr/>
              <p:nvPr/>
            </p:nvSpPr>
            <p:spPr>
              <a:xfrm>
                <a:off x="305057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2" name="Retângulo 41">
                <a:extLst>
                  <a:ext uri="{FF2B5EF4-FFF2-40B4-BE49-F238E27FC236}">
                    <a16:creationId xmlns:a16="http://schemas.microsoft.com/office/drawing/2014/main" id="{8B45AB0A-340E-5925-1EA6-48EE7EE58C10}"/>
                  </a:ext>
                </a:extLst>
              </p:cNvPr>
              <p:cNvSpPr/>
              <p:nvPr/>
            </p:nvSpPr>
            <p:spPr>
              <a:xfrm>
                <a:off x="309629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3" name="Retângulo 42">
                <a:extLst>
                  <a:ext uri="{FF2B5EF4-FFF2-40B4-BE49-F238E27FC236}">
                    <a16:creationId xmlns:a16="http://schemas.microsoft.com/office/drawing/2014/main" id="{C7AD75EC-0C3A-7412-1363-BCE95DF2CD7E}"/>
                  </a:ext>
                </a:extLst>
              </p:cNvPr>
              <p:cNvSpPr/>
              <p:nvPr/>
            </p:nvSpPr>
            <p:spPr>
              <a:xfrm>
                <a:off x="314201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4" name="Retângulo 43">
                <a:extLst>
                  <a:ext uri="{FF2B5EF4-FFF2-40B4-BE49-F238E27FC236}">
                    <a16:creationId xmlns:a16="http://schemas.microsoft.com/office/drawing/2014/main" id="{74110F97-6D66-78B7-9719-FAE005D56391}"/>
                  </a:ext>
                </a:extLst>
              </p:cNvPr>
              <p:cNvSpPr/>
              <p:nvPr/>
            </p:nvSpPr>
            <p:spPr>
              <a:xfrm>
                <a:off x="319399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5" name="Retângulo 44">
                <a:extLst>
                  <a:ext uri="{FF2B5EF4-FFF2-40B4-BE49-F238E27FC236}">
                    <a16:creationId xmlns:a16="http://schemas.microsoft.com/office/drawing/2014/main" id="{DBA912DB-0630-0B56-3830-5A6C70A0AC83}"/>
                  </a:ext>
                </a:extLst>
              </p:cNvPr>
              <p:cNvSpPr/>
              <p:nvPr/>
            </p:nvSpPr>
            <p:spPr>
              <a:xfrm>
                <a:off x="324597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6" name="Retângulo 45">
                <a:extLst>
                  <a:ext uri="{FF2B5EF4-FFF2-40B4-BE49-F238E27FC236}">
                    <a16:creationId xmlns:a16="http://schemas.microsoft.com/office/drawing/2014/main" id="{3E7AE1F6-5E30-34F0-62F9-9DC48E00098F}"/>
                  </a:ext>
                </a:extLst>
              </p:cNvPr>
              <p:cNvSpPr/>
              <p:nvPr/>
            </p:nvSpPr>
            <p:spPr>
              <a:xfrm>
                <a:off x="329712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7" name="Retângulo 46">
                <a:extLst>
                  <a:ext uri="{FF2B5EF4-FFF2-40B4-BE49-F238E27FC236}">
                    <a16:creationId xmlns:a16="http://schemas.microsoft.com/office/drawing/2014/main" id="{DE0F80E3-BA56-EA0F-E52D-823C61B4400E}"/>
                  </a:ext>
                </a:extLst>
              </p:cNvPr>
              <p:cNvSpPr/>
              <p:nvPr/>
            </p:nvSpPr>
            <p:spPr>
              <a:xfrm>
                <a:off x="334284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8" name="Retângulo 47">
                <a:extLst>
                  <a:ext uri="{FF2B5EF4-FFF2-40B4-BE49-F238E27FC236}">
                    <a16:creationId xmlns:a16="http://schemas.microsoft.com/office/drawing/2014/main" id="{171ED34B-E688-5514-67B2-E7EF8DEC47AF}"/>
                  </a:ext>
                </a:extLst>
              </p:cNvPr>
              <p:cNvSpPr/>
              <p:nvPr/>
            </p:nvSpPr>
            <p:spPr>
              <a:xfrm>
                <a:off x="338856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49" name="Retângulo 48">
                <a:extLst>
                  <a:ext uri="{FF2B5EF4-FFF2-40B4-BE49-F238E27FC236}">
                    <a16:creationId xmlns:a16="http://schemas.microsoft.com/office/drawing/2014/main" id="{B4BBFE11-58DD-611C-889F-8B1C78347B0E}"/>
                  </a:ext>
                </a:extLst>
              </p:cNvPr>
              <p:cNvSpPr/>
              <p:nvPr/>
            </p:nvSpPr>
            <p:spPr>
              <a:xfrm>
                <a:off x="344054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0" name="Retângulo 49">
                <a:extLst>
                  <a:ext uri="{FF2B5EF4-FFF2-40B4-BE49-F238E27FC236}">
                    <a16:creationId xmlns:a16="http://schemas.microsoft.com/office/drawing/2014/main" id="{04B458C9-CC15-E391-7667-EBDA721D0D7A}"/>
                  </a:ext>
                </a:extLst>
              </p:cNvPr>
              <p:cNvSpPr/>
              <p:nvPr/>
            </p:nvSpPr>
            <p:spPr>
              <a:xfrm>
                <a:off x="349251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1" name="Retângulo 50">
                <a:extLst>
                  <a:ext uri="{FF2B5EF4-FFF2-40B4-BE49-F238E27FC236}">
                    <a16:creationId xmlns:a16="http://schemas.microsoft.com/office/drawing/2014/main" id="{0F20B01B-AA5B-F493-0FEF-F0DA6ACA6E1D}"/>
                  </a:ext>
                </a:extLst>
              </p:cNvPr>
              <p:cNvSpPr/>
              <p:nvPr/>
            </p:nvSpPr>
            <p:spPr>
              <a:xfrm>
                <a:off x="353793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2" name="Retângulo 51">
                <a:extLst>
                  <a:ext uri="{FF2B5EF4-FFF2-40B4-BE49-F238E27FC236}">
                    <a16:creationId xmlns:a16="http://schemas.microsoft.com/office/drawing/2014/main" id="{0AB3C86C-EB78-1AD0-BBFD-84DF848B03F6}"/>
                  </a:ext>
                </a:extLst>
              </p:cNvPr>
              <p:cNvSpPr/>
              <p:nvPr/>
            </p:nvSpPr>
            <p:spPr>
              <a:xfrm>
                <a:off x="358365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3" name="Retângulo 52">
                <a:extLst>
                  <a:ext uri="{FF2B5EF4-FFF2-40B4-BE49-F238E27FC236}">
                    <a16:creationId xmlns:a16="http://schemas.microsoft.com/office/drawing/2014/main" id="{BC0CA8B2-9E11-BE65-0833-07716476AE64}"/>
                  </a:ext>
                </a:extLst>
              </p:cNvPr>
              <p:cNvSpPr/>
              <p:nvPr/>
            </p:nvSpPr>
            <p:spPr>
              <a:xfrm>
                <a:off x="362937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4" name="Retângulo 53">
                <a:extLst>
                  <a:ext uri="{FF2B5EF4-FFF2-40B4-BE49-F238E27FC236}">
                    <a16:creationId xmlns:a16="http://schemas.microsoft.com/office/drawing/2014/main" id="{2FBD80AB-6429-C6B7-0E86-D4DAE3CE9646}"/>
                  </a:ext>
                </a:extLst>
              </p:cNvPr>
              <p:cNvSpPr/>
              <p:nvPr/>
            </p:nvSpPr>
            <p:spPr>
              <a:xfrm>
                <a:off x="368135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5" name="Retângulo 54">
                <a:extLst>
                  <a:ext uri="{FF2B5EF4-FFF2-40B4-BE49-F238E27FC236}">
                    <a16:creationId xmlns:a16="http://schemas.microsoft.com/office/drawing/2014/main" id="{D74210B8-A8FE-7BEE-C887-527A109EB939}"/>
                  </a:ext>
                </a:extLst>
              </p:cNvPr>
              <p:cNvSpPr/>
              <p:nvPr/>
            </p:nvSpPr>
            <p:spPr>
              <a:xfrm>
                <a:off x="373333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6" name="Retângulo 55">
                <a:extLst>
                  <a:ext uri="{FF2B5EF4-FFF2-40B4-BE49-F238E27FC236}">
                    <a16:creationId xmlns:a16="http://schemas.microsoft.com/office/drawing/2014/main" id="{1CB0B3CC-9958-37CF-915B-1D27672743FF}"/>
                  </a:ext>
                </a:extLst>
              </p:cNvPr>
              <p:cNvSpPr/>
              <p:nvPr/>
            </p:nvSpPr>
            <p:spPr>
              <a:xfrm>
                <a:off x="377905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7" name="Retângulo 56">
                <a:extLst>
                  <a:ext uri="{FF2B5EF4-FFF2-40B4-BE49-F238E27FC236}">
                    <a16:creationId xmlns:a16="http://schemas.microsoft.com/office/drawing/2014/main" id="{7CC6BE33-C96E-48CB-C345-F0E39667CCF4}"/>
                  </a:ext>
                </a:extLst>
              </p:cNvPr>
              <p:cNvSpPr/>
              <p:nvPr/>
            </p:nvSpPr>
            <p:spPr>
              <a:xfrm>
                <a:off x="382476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8" name="Retângulo 57">
                <a:extLst>
                  <a:ext uri="{FF2B5EF4-FFF2-40B4-BE49-F238E27FC236}">
                    <a16:creationId xmlns:a16="http://schemas.microsoft.com/office/drawing/2014/main" id="{FFE0CCC3-F475-7741-76D4-AB281D604437}"/>
                  </a:ext>
                </a:extLst>
              </p:cNvPr>
              <p:cNvSpPr/>
              <p:nvPr/>
            </p:nvSpPr>
            <p:spPr>
              <a:xfrm>
                <a:off x="387048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9" name="Retângulo 58">
                <a:extLst>
                  <a:ext uri="{FF2B5EF4-FFF2-40B4-BE49-F238E27FC236}">
                    <a16:creationId xmlns:a16="http://schemas.microsoft.com/office/drawing/2014/main" id="{ED2B4EE7-4A02-ED5B-B16E-6B203F4FBBC8}"/>
                  </a:ext>
                </a:extLst>
              </p:cNvPr>
              <p:cNvSpPr/>
              <p:nvPr/>
            </p:nvSpPr>
            <p:spPr>
              <a:xfrm>
                <a:off x="392246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0" name="Retângulo 59">
                <a:extLst>
                  <a:ext uri="{FF2B5EF4-FFF2-40B4-BE49-F238E27FC236}">
                    <a16:creationId xmlns:a16="http://schemas.microsoft.com/office/drawing/2014/main" id="{47E1146C-1FF4-F5C3-7AA0-1B58E36ECC9C}"/>
                  </a:ext>
                </a:extLst>
              </p:cNvPr>
              <p:cNvSpPr/>
              <p:nvPr/>
            </p:nvSpPr>
            <p:spPr>
              <a:xfrm>
                <a:off x="397444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1" name="Retângulo 60">
                <a:extLst>
                  <a:ext uri="{FF2B5EF4-FFF2-40B4-BE49-F238E27FC236}">
                    <a16:creationId xmlns:a16="http://schemas.microsoft.com/office/drawing/2014/main" id="{DE781929-D7E3-B38E-2C30-3B52F95C926F}"/>
                  </a:ext>
                </a:extLst>
              </p:cNvPr>
              <p:cNvSpPr/>
              <p:nvPr/>
            </p:nvSpPr>
            <p:spPr>
              <a:xfrm>
                <a:off x="402559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2" name="Retângulo 61">
                <a:extLst>
                  <a:ext uri="{FF2B5EF4-FFF2-40B4-BE49-F238E27FC236}">
                    <a16:creationId xmlns:a16="http://schemas.microsoft.com/office/drawing/2014/main" id="{5F2DC5E3-E417-5D6B-5433-2DD098EA2A01}"/>
                  </a:ext>
                </a:extLst>
              </p:cNvPr>
              <p:cNvSpPr/>
              <p:nvPr/>
            </p:nvSpPr>
            <p:spPr>
              <a:xfrm>
                <a:off x="407131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3" name="Retângulo 62">
                <a:extLst>
                  <a:ext uri="{FF2B5EF4-FFF2-40B4-BE49-F238E27FC236}">
                    <a16:creationId xmlns:a16="http://schemas.microsoft.com/office/drawing/2014/main" id="{F1B729CE-A38B-E88B-0160-B01E4BE730E2}"/>
                  </a:ext>
                </a:extLst>
              </p:cNvPr>
              <p:cNvSpPr/>
              <p:nvPr/>
            </p:nvSpPr>
            <p:spPr>
              <a:xfrm>
                <a:off x="411703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4" name="Retângulo 63">
                <a:extLst>
                  <a:ext uri="{FF2B5EF4-FFF2-40B4-BE49-F238E27FC236}">
                    <a16:creationId xmlns:a16="http://schemas.microsoft.com/office/drawing/2014/main" id="{978109EE-CDAF-B7CC-827E-D6130DF7DD92}"/>
                  </a:ext>
                </a:extLst>
              </p:cNvPr>
              <p:cNvSpPr/>
              <p:nvPr/>
            </p:nvSpPr>
            <p:spPr>
              <a:xfrm>
                <a:off x="416901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5" name="Retângulo 64">
                <a:extLst>
                  <a:ext uri="{FF2B5EF4-FFF2-40B4-BE49-F238E27FC236}">
                    <a16:creationId xmlns:a16="http://schemas.microsoft.com/office/drawing/2014/main" id="{6A4E0436-30E4-AF70-6EB4-00DDB2D673C3}"/>
                  </a:ext>
                </a:extLst>
              </p:cNvPr>
              <p:cNvSpPr/>
              <p:nvPr/>
            </p:nvSpPr>
            <p:spPr>
              <a:xfrm>
                <a:off x="422099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6" name="Retângulo 65">
                <a:extLst>
                  <a:ext uri="{FF2B5EF4-FFF2-40B4-BE49-F238E27FC236}">
                    <a16:creationId xmlns:a16="http://schemas.microsoft.com/office/drawing/2014/main" id="{FA5E82DD-EE66-4202-46C7-6F78D637F74F}"/>
                  </a:ext>
                </a:extLst>
              </p:cNvPr>
              <p:cNvSpPr/>
              <p:nvPr/>
            </p:nvSpPr>
            <p:spPr>
              <a:xfrm>
                <a:off x="427631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7" name="Retângulo 66">
                <a:extLst>
                  <a:ext uri="{FF2B5EF4-FFF2-40B4-BE49-F238E27FC236}">
                    <a16:creationId xmlns:a16="http://schemas.microsoft.com/office/drawing/2014/main" id="{25F0ED29-A5B3-4FAA-E7C2-E9409A3ABBF0}"/>
                  </a:ext>
                </a:extLst>
              </p:cNvPr>
              <p:cNvSpPr/>
              <p:nvPr/>
            </p:nvSpPr>
            <p:spPr>
              <a:xfrm>
                <a:off x="432203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8" name="Retângulo 67">
                <a:extLst>
                  <a:ext uri="{FF2B5EF4-FFF2-40B4-BE49-F238E27FC236}">
                    <a16:creationId xmlns:a16="http://schemas.microsoft.com/office/drawing/2014/main" id="{F7558BC7-46E8-6101-629E-B8D93F027EDA}"/>
                  </a:ext>
                </a:extLst>
              </p:cNvPr>
              <p:cNvSpPr/>
              <p:nvPr/>
            </p:nvSpPr>
            <p:spPr>
              <a:xfrm>
                <a:off x="436775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69" name="Retângulo 68">
                <a:extLst>
                  <a:ext uri="{FF2B5EF4-FFF2-40B4-BE49-F238E27FC236}">
                    <a16:creationId xmlns:a16="http://schemas.microsoft.com/office/drawing/2014/main" id="{964749C8-71B1-5D45-9910-B8DB2636A5C5}"/>
                  </a:ext>
                </a:extLst>
              </p:cNvPr>
              <p:cNvSpPr/>
              <p:nvPr/>
            </p:nvSpPr>
            <p:spPr>
              <a:xfrm>
                <a:off x="441973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0" name="Retângulo 69">
                <a:extLst>
                  <a:ext uri="{FF2B5EF4-FFF2-40B4-BE49-F238E27FC236}">
                    <a16:creationId xmlns:a16="http://schemas.microsoft.com/office/drawing/2014/main" id="{460A0099-923F-AB92-1C1D-7B0EDB8C2E40}"/>
                  </a:ext>
                </a:extLst>
              </p:cNvPr>
              <p:cNvSpPr/>
              <p:nvPr/>
            </p:nvSpPr>
            <p:spPr>
              <a:xfrm>
                <a:off x="447171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D25770FD-6102-0089-D8A9-A2C89DD52ED4}"/>
                  </a:ext>
                </a:extLst>
              </p:cNvPr>
              <p:cNvSpPr/>
              <p:nvPr/>
            </p:nvSpPr>
            <p:spPr>
              <a:xfrm>
                <a:off x="451743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2" name="Retângulo 71">
                <a:extLst>
                  <a:ext uri="{FF2B5EF4-FFF2-40B4-BE49-F238E27FC236}">
                    <a16:creationId xmlns:a16="http://schemas.microsoft.com/office/drawing/2014/main" id="{0BE9258E-996B-8EA9-F3E8-EE8F42C91BA3}"/>
                  </a:ext>
                </a:extLst>
              </p:cNvPr>
              <p:cNvSpPr/>
              <p:nvPr/>
            </p:nvSpPr>
            <p:spPr>
              <a:xfrm>
                <a:off x="456314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3" name="Retângulo 72">
                <a:extLst>
                  <a:ext uri="{FF2B5EF4-FFF2-40B4-BE49-F238E27FC236}">
                    <a16:creationId xmlns:a16="http://schemas.microsoft.com/office/drawing/2014/main" id="{7F5EE5F6-4878-1877-4596-8F1F8818B7B0}"/>
                  </a:ext>
                </a:extLst>
              </p:cNvPr>
              <p:cNvSpPr/>
              <p:nvPr/>
            </p:nvSpPr>
            <p:spPr>
              <a:xfrm>
                <a:off x="460886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82F86829-C324-9B8E-B83F-1F824A1097E0}"/>
                  </a:ext>
                </a:extLst>
              </p:cNvPr>
              <p:cNvSpPr/>
              <p:nvPr/>
            </p:nvSpPr>
            <p:spPr>
              <a:xfrm>
                <a:off x="466084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5" name="Retângulo 74">
                <a:extLst>
                  <a:ext uri="{FF2B5EF4-FFF2-40B4-BE49-F238E27FC236}">
                    <a16:creationId xmlns:a16="http://schemas.microsoft.com/office/drawing/2014/main" id="{2805D7B9-B911-04C2-A2C6-C15EC42084B7}"/>
                  </a:ext>
                </a:extLst>
              </p:cNvPr>
              <p:cNvSpPr/>
              <p:nvPr/>
            </p:nvSpPr>
            <p:spPr>
              <a:xfrm>
                <a:off x="471282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6" name="Retângulo 75">
                <a:extLst>
                  <a:ext uri="{FF2B5EF4-FFF2-40B4-BE49-F238E27FC236}">
                    <a16:creationId xmlns:a16="http://schemas.microsoft.com/office/drawing/2014/main" id="{0FEFB681-8568-6129-3133-B98D2CC8A4E5}"/>
                  </a:ext>
                </a:extLst>
              </p:cNvPr>
              <p:cNvSpPr/>
              <p:nvPr/>
            </p:nvSpPr>
            <p:spPr>
              <a:xfrm>
                <a:off x="476397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7" name="Retângulo 76">
                <a:extLst>
                  <a:ext uri="{FF2B5EF4-FFF2-40B4-BE49-F238E27FC236}">
                    <a16:creationId xmlns:a16="http://schemas.microsoft.com/office/drawing/2014/main" id="{0E17B9AD-786E-7F34-5EB4-A184D61043F9}"/>
                  </a:ext>
                </a:extLst>
              </p:cNvPr>
              <p:cNvSpPr/>
              <p:nvPr/>
            </p:nvSpPr>
            <p:spPr>
              <a:xfrm>
                <a:off x="480969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8" name="Retângulo 77">
                <a:extLst>
                  <a:ext uri="{FF2B5EF4-FFF2-40B4-BE49-F238E27FC236}">
                    <a16:creationId xmlns:a16="http://schemas.microsoft.com/office/drawing/2014/main" id="{99E17D8B-849B-C94A-A29C-F2F41B0D137C}"/>
                  </a:ext>
                </a:extLst>
              </p:cNvPr>
              <p:cNvSpPr/>
              <p:nvPr/>
            </p:nvSpPr>
            <p:spPr>
              <a:xfrm>
                <a:off x="485541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9" name="Retângulo 78">
                <a:extLst>
                  <a:ext uri="{FF2B5EF4-FFF2-40B4-BE49-F238E27FC236}">
                    <a16:creationId xmlns:a16="http://schemas.microsoft.com/office/drawing/2014/main" id="{7AD82034-AF18-9E38-6EE9-6438557BD8BB}"/>
                  </a:ext>
                </a:extLst>
              </p:cNvPr>
              <p:cNvSpPr/>
              <p:nvPr/>
            </p:nvSpPr>
            <p:spPr>
              <a:xfrm>
                <a:off x="490739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0" name="Retângulo 79">
                <a:extLst>
                  <a:ext uri="{FF2B5EF4-FFF2-40B4-BE49-F238E27FC236}">
                    <a16:creationId xmlns:a16="http://schemas.microsoft.com/office/drawing/2014/main" id="{F043D9DC-7B11-6F29-D31B-3929A4EBD42C}"/>
                  </a:ext>
                </a:extLst>
              </p:cNvPr>
              <p:cNvSpPr/>
              <p:nvPr/>
            </p:nvSpPr>
            <p:spPr>
              <a:xfrm>
                <a:off x="495937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1" name="Retângulo 80">
                <a:extLst>
                  <a:ext uri="{FF2B5EF4-FFF2-40B4-BE49-F238E27FC236}">
                    <a16:creationId xmlns:a16="http://schemas.microsoft.com/office/drawing/2014/main" id="{A8E3ABFF-2767-35EB-5646-C220E8C09D6C}"/>
                  </a:ext>
                </a:extLst>
              </p:cNvPr>
              <p:cNvSpPr/>
              <p:nvPr/>
            </p:nvSpPr>
            <p:spPr>
              <a:xfrm>
                <a:off x="500479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2" name="Retângulo 81">
                <a:extLst>
                  <a:ext uri="{FF2B5EF4-FFF2-40B4-BE49-F238E27FC236}">
                    <a16:creationId xmlns:a16="http://schemas.microsoft.com/office/drawing/2014/main" id="{58D73D00-3671-CC87-19CB-D9D5ADFA13EA}"/>
                  </a:ext>
                </a:extLst>
              </p:cNvPr>
              <p:cNvSpPr/>
              <p:nvPr/>
            </p:nvSpPr>
            <p:spPr>
              <a:xfrm>
                <a:off x="505051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3" name="Retângulo 82">
                <a:extLst>
                  <a:ext uri="{FF2B5EF4-FFF2-40B4-BE49-F238E27FC236}">
                    <a16:creationId xmlns:a16="http://schemas.microsoft.com/office/drawing/2014/main" id="{6C97CDF1-ECBF-D261-A836-E867B85D7126}"/>
                  </a:ext>
                </a:extLst>
              </p:cNvPr>
              <p:cNvSpPr/>
              <p:nvPr/>
            </p:nvSpPr>
            <p:spPr>
              <a:xfrm>
                <a:off x="509622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4" name="Retângulo 83">
                <a:extLst>
                  <a:ext uri="{FF2B5EF4-FFF2-40B4-BE49-F238E27FC236}">
                    <a16:creationId xmlns:a16="http://schemas.microsoft.com/office/drawing/2014/main" id="{B6B6A22E-F1D3-A6E7-3C5F-CB3A7159024D}"/>
                  </a:ext>
                </a:extLst>
              </p:cNvPr>
              <p:cNvSpPr/>
              <p:nvPr/>
            </p:nvSpPr>
            <p:spPr>
              <a:xfrm>
                <a:off x="514820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5" name="Retângulo 84">
                <a:extLst>
                  <a:ext uri="{FF2B5EF4-FFF2-40B4-BE49-F238E27FC236}">
                    <a16:creationId xmlns:a16="http://schemas.microsoft.com/office/drawing/2014/main" id="{E135B88D-575A-62EA-6271-0459F34251A2}"/>
                  </a:ext>
                </a:extLst>
              </p:cNvPr>
              <p:cNvSpPr/>
              <p:nvPr/>
            </p:nvSpPr>
            <p:spPr>
              <a:xfrm>
                <a:off x="520018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6" name="Retângulo 85">
                <a:extLst>
                  <a:ext uri="{FF2B5EF4-FFF2-40B4-BE49-F238E27FC236}">
                    <a16:creationId xmlns:a16="http://schemas.microsoft.com/office/drawing/2014/main" id="{1CA98C76-8230-A84F-28D1-555463EBBF42}"/>
                  </a:ext>
                </a:extLst>
              </p:cNvPr>
              <p:cNvSpPr/>
              <p:nvPr/>
            </p:nvSpPr>
            <p:spPr>
              <a:xfrm>
                <a:off x="524590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7" name="Retângulo 86">
                <a:extLst>
                  <a:ext uri="{FF2B5EF4-FFF2-40B4-BE49-F238E27FC236}">
                    <a16:creationId xmlns:a16="http://schemas.microsoft.com/office/drawing/2014/main" id="{4F187B01-ACD7-9C15-16E7-16C8ED51B249}"/>
                  </a:ext>
                </a:extLst>
              </p:cNvPr>
              <p:cNvSpPr/>
              <p:nvPr/>
            </p:nvSpPr>
            <p:spPr>
              <a:xfrm>
                <a:off x="529162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8" name="Retângulo 87">
                <a:extLst>
                  <a:ext uri="{FF2B5EF4-FFF2-40B4-BE49-F238E27FC236}">
                    <a16:creationId xmlns:a16="http://schemas.microsoft.com/office/drawing/2014/main" id="{702A578B-7E5C-F001-A744-01A8FA391AE2}"/>
                  </a:ext>
                </a:extLst>
              </p:cNvPr>
              <p:cNvSpPr/>
              <p:nvPr/>
            </p:nvSpPr>
            <p:spPr>
              <a:xfrm>
                <a:off x="533734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9" name="Retângulo 88">
                <a:extLst>
                  <a:ext uri="{FF2B5EF4-FFF2-40B4-BE49-F238E27FC236}">
                    <a16:creationId xmlns:a16="http://schemas.microsoft.com/office/drawing/2014/main" id="{C893FA8D-6D2C-E618-EE2C-06D6050B6942}"/>
                  </a:ext>
                </a:extLst>
              </p:cNvPr>
              <p:cNvSpPr/>
              <p:nvPr/>
            </p:nvSpPr>
            <p:spPr>
              <a:xfrm>
                <a:off x="538931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0" name="Retângulo 89">
                <a:extLst>
                  <a:ext uri="{FF2B5EF4-FFF2-40B4-BE49-F238E27FC236}">
                    <a16:creationId xmlns:a16="http://schemas.microsoft.com/office/drawing/2014/main" id="{BE9BD7F4-ADBA-A8F3-5404-CBBB63D29A9E}"/>
                  </a:ext>
                </a:extLst>
              </p:cNvPr>
              <p:cNvSpPr/>
              <p:nvPr/>
            </p:nvSpPr>
            <p:spPr>
              <a:xfrm>
                <a:off x="544129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1" name="Retângulo 90">
                <a:extLst>
                  <a:ext uri="{FF2B5EF4-FFF2-40B4-BE49-F238E27FC236}">
                    <a16:creationId xmlns:a16="http://schemas.microsoft.com/office/drawing/2014/main" id="{B15E5ED5-7B90-A048-D1D0-008F22DA3D1A}"/>
                  </a:ext>
                </a:extLst>
              </p:cNvPr>
              <p:cNvSpPr/>
              <p:nvPr/>
            </p:nvSpPr>
            <p:spPr>
              <a:xfrm>
                <a:off x="549245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2" name="Retângulo 91">
                <a:extLst>
                  <a:ext uri="{FF2B5EF4-FFF2-40B4-BE49-F238E27FC236}">
                    <a16:creationId xmlns:a16="http://schemas.microsoft.com/office/drawing/2014/main" id="{27758E34-D6F8-E191-9274-81558DD3268A}"/>
                  </a:ext>
                </a:extLst>
              </p:cNvPr>
              <p:cNvSpPr/>
              <p:nvPr/>
            </p:nvSpPr>
            <p:spPr>
              <a:xfrm>
                <a:off x="553816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3" name="Retângulo 92">
                <a:extLst>
                  <a:ext uri="{FF2B5EF4-FFF2-40B4-BE49-F238E27FC236}">
                    <a16:creationId xmlns:a16="http://schemas.microsoft.com/office/drawing/2014/main" id="{F5C1DA38-73DA-4CD2-1116-E0F640747421}"/>
                  </a:ext>
                </a:extLst>
              </p:cNvPr>
              <p:cNvSpPr/>
              <p:nvPr/>
            </p:nvSpPr>
            <p:spPr>
              <a:xfrm>
                <a:off x="558388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4" name="Retângulo 93">
                <a:extLst>
                  <a:ext uri="{FF2B5EF4-FFF2-40B4-BE49-F238E27FC236}">
                    <a16:creationId xmlns:a16="http://schemas.microsoft.com/office/drawing/2014/main" id="{151E9EE5-7F4D-E353-B40A-00B5C40B1A0C}"/>
                  </a:ext>
                </a:extLst>
              </p:cNvPr>
              <p:cNvSpPr/>
              <p:nvPr/>
            </p:nvSpPr>
            <p:spPr>
              <a:xfrm>
                <a:off x="563586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5" name="Retângulo 94">
                <a:extLst>
                  <a:ext uri="{FF2B5EF4-FFF2-40B4-BE49-F238E27FC236}">
                    <a16:creationId xmlns:a16="http://schemas.microsoft.com/office/drawing/2014/main" id="{B3FEB88B-A5F0-74F9-1909-CAA2471EE251}"/>
                  </a:ext>
                </a:extLst>
              </p:cNvPr>
              <p:cNvSpPr/>
              <p:nvPr/>
            </p:nvSpPr>
            <p:spPr>
              <a:xfrm>
                <a:off x="568784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6" name="Retângulo 95">
                <a:extLst>
                  <a:ext uri="{FF2B5EF4-FFF2-40B4-BE49-F238E27FC236}">
                    <a16:creationId xmlns:a16="http://schemas.microsoft.com/office/drawing/2014/main" id="{74BF4572-226C-0EDE-D10B-FDBDE4BC3EA8}"/>
                  </a:ext>
                </a:extLst>
              </p:cNvPr>
              <p:cNvSpPr/>
              <p:nvPr/>
            </p:nvSpPr>
            <p:spPr>
              <a:xfrm>
                <a:off x="573364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7" name="Retângulo 96">
                <a:extLst>
                  <a:ext uri="{FF2B5EF4-FFF2-40B4-BE49-F238E27FC236}">
                    <a16:creationId xmlns:a16="http://schemas.microsoft.com/office/drawing/2014/main" id="{51BF116B-490E-D90F-8B86-F334CE612D4E}"/>
                  </a:ext>
                </a:extLst>
              </p:cNvPr>
              <p:cNvSpPr/>
              <p:nvPr/>
            </p:nvSpPr>
            <p:spPr>
              <a:xfrm>
                <a:off x="577936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8" name="Retângulo 97">
                <a:extLst>
                  <a:ext uri="{FF2B5EF4-FFF2-40B4-BE49-F238E27FC236}">
                    <a16:creationId xmlns:a16="http://schemas.microsoft.com/office/drawing/2014/main" id="{2A2E8A0E-B22C-1B9B-5776-39FB283E5B2D}"/>
                  </a:ext>
                </a:extLst>
              </p:cNvPr>
              <p:cNvSpPr/>
              <p:nvPr/>
            </p:nvSpPr>
            <p:spPr>
              <a:xfrm>
                <a:off x="582507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9" name="Retângulo 98">
                <a:extLst>
                  <a:ext uri="{FF2B5EF4-FFF2-40B4-BE49-F238E27FC236}">
                    <a16:creationId xmlns:a16="http://schemas.microsoft.com/office/drawing/2014/main" id="{1F94F492-0C89-BD28-0A25-463E92724658}"/>
                  </a:ext>
                </a:extLst>
              </p:cNvPr>
              <p:cNvSpPr/>
              <p:nvPr/>
            </p:nvSpPr>
            <p:spPr>
              <a:xfrm>
                <a:off x="587705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0" name="Retângulo 99">
                <a:extLst>
                  <a:ext uri="{FF2B5EF4-FFF2-40B4-BE49-F238E27FC236}">
                    <a16:creationId xmlns:a16="http://schemas.microsoft.com/office/drawing/2014/main" id="{0A902F4A-35B6-7CC8-B6AC-D3696F79B7D2}"/>
                  </a:ext>
                </a:extLst>
              </p:cNvPr>
              <p:cNvSpPr/>
              <p:nvPr/>
            </p:nvSpPr>
            <p:spPr>
              <a:xfrm>
                <a:off x="592903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1" name="Retângulo 100">
                <a:extLst>
                  <a:ext uri="{FF2B5EF4-FFF2-40B4-BE49-F238E27FC236}">
                    <a16:creationId xmlns:a16="http://schemas.microsoft.com/office/drawing/2014/main" id="{4ADA75AD-4148-48C0-9B0D-9EC0E070902E}"/>
                  </a:ext>
                </a:extLst>
              </p:cNvPr>
              <p:cNvSpPr/>
              <p:nvPr/>
            </p:nvSpPr>
            <p:spPr>
              <a:xfrm>
                <a:off x="597475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2" name="Retângulo 101">
                <a:extLst>
                  <a:ext uri="{FF2B5EF4-FFF2-40B4-BE49-F238E27FC236}">
                    <a16:creationId xmlns:a16="http://schemas.microsoft.com/office/drawing/2014/main" id="{3AD49400-7C82-4862-86CE-CA9732F4ED15}"/>
                  </a:ext>
                </a:extLst>
              </p:cNvPr>
              <p:cNvSpPr/>
              <p:nvPr/>
            </p:nvSpPr>
            <p:spPr>
              <a:xfrm>
                <a:off x="602047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3" name="Retângulo 102">
                <a:extLst>
                  <a:ext uri="{FF2B5EF4-FFF2-40B4-BE49-F238E27FC236}">
                    <a16:creationId xmlns:a16="http://schemas.microsoft.com/office/drawing/2014/main" id="{91AEEFAB-1EBA-E348-7A88-FD83D32C6361}"/>
                  </a:ext>
                </a:extLst>
              </p:cNvPr>
              <p:cNvSpPr/>
              <p:nvPr/>
            </p:nvSpPr>
            <p:spPr>
              <a:xfrm>
                <a:off x="606619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4" name="Retângulo 103">
                <a:extLst>
                  <a:ext uri="{FF2B5EF4-FFF2-40B4-BE49-F238E27FC236}">
                    <a16:creationId xmlns:a16="http://schemas.microsoft.com/office/drawing/2014/main" id="{B5C284A7-0DFB-4F0B-E920-EDB242DC6123}"/>
                  </a:ext>
                </a:extLst>
              </p:cNvPr>
              <p:cNvSpPr/>
              <p:nvPr/>
            </p:nvSpPr>
            <p:spPr>
              <a:xfrm>
                <a:off x="611816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5" name="Retângulo 104">
                <a:extLst>
                  <a:ext uri="{FF2B5EF4-FFF2-40B4-BE49-F238E27FC236}">
                    <a16:creationId xmlns:a16="http://schemas.microsoft.com/office/drawing/2014/main" id="{1042C349-1B21-832B-4F17-8114BABAD892}"/>
                  </a:ext>
                </a:extLst>
              </p:cNvPr>
              <p:cNvSpPr/>
              <p:nvPr/>
            </p:nvSpPr>
            <p:spPr>
              <a:xfrm>
                <a:off x="617014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6" name="Retângulo 105">
                <a:extLst>
                  <a:ext uri="{FF2B5EF4-FFF2-40B4-BE49-F238E27FC236}">
                    <a16:creationId xmlns:a16="http://schemas.microsoft.com/office/drawing/2014/main" id="{9F8E0A2A-67DC-6D87-C469-7E197ACF621A}"/>
                  </a:ext>
                </a:extLst>
              </p:cNvPr>
              <p:cNvSpPr/>
              <p:nvPr/>
            </p:nvSpPr>
            <p:spPr>
              <a:xfrm>
                <a:off x="622130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7" name="Retângulo 106">
                <a:extLst>
                  <a:ext uri="{FF2B5EF4-FFF2-40B4-BE49-F238E27FC236}">
                    <a16:creationId xmlns:a16="http://schemas.microsoft.com/office/drawing/2014/main" id="{DF29715C-3E51-CC4F-3023-FB016834702F}"/>
                  </a:ext>
                </a:extLst>
              </p:cNvPr>
              <p:cNvSpPr/>
              <p:nvPr/>
            </p:nvSpPr>
            <p:spPr>
              <a:xfrm>
                <a:off x="626701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8" name="Retângulo 107">
                <a:extLst>
                  <a:ext uri="{FF2B5EF4-FFF2-40B4-BE49-F238E27FC236}">
                    <a16:creationId xmlns:a16="http://schemas.microsoft.com/office/drawing/2014/main" id="{87DD1629-41A1-99B7-05BA-D903D2E1D6C0}"/>
                  </a:ext>
                </a:extLst>
              </p:cNvPr>
              <p:cNvSpPr/>
              <p:nvPr/>
            </p:nvSpPr>
            <p:spPr>
              <a:xfrm>
                <a:off x="631273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09" name="Retângulo 108">
                <a:extLst>
                  <a:ext uri="{FF2B5EF4-FFF2-40B4-BE49-F238E27FC236}">
                    <a16:creationId xmlns:a16="http://schemas.microsoft.com/office/drawing/2014/main" id="{A610433A-0038-B183-95A8-55CAF6A64CCF}"/>
                  </a:ext>
                </a:extLst>
              </p:cNvPr>
              <p:cNvSpPr/>
              <p:nvPr/>
            </p:nvSpPr>
            <p:spPr>
              <a:xfrm>
                <a:off x="636471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0" name="Retângulo 109">
                <a:extLst>
                  <a:ext uri="{FF2B5EF4-FFF2-40B4-BE49-F238E27FC236}">
                    <a16:creationId xmlns:a16="http://schemas.microsoft.com/office/drawing/2014/main" id="{12F09705-D504-5C31-32BC-745B98C4133C}"/>
                  </a:ext>
                </a:extLst>
              </p:cNvPr>
              <p:cNvSpPr/>
              <p:nvPr/>
            </p:nvSpPr>
            <p:spPr>
              <a:xfrm>
                <a:off x="641669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1" name="Retângulo 110">
                <a:extLst>
                  <a:ext uri="{FF2B5EF4-FFF2-40B4-BE49-F238E27FC236}">
                    <a16:creationId xmlns:a16="http://schemas.microsoft.com/office/drawing/2014/main" id="{EE36832C-AA71-06D1-EE06-D783CC1FB172}"/>
                  </a:ext>
                </a:extLst>
              </p:cNvPr>
              <p:cNvSpPr/>
              <p:nvPr/>
            </p:nvSpPr>
            <p:spPr>
              <a:xfrm>
                <a:off x="646211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2" name="Retângulo 111">
                <a:extLst>
                  <a:ext uri="{FF2B5EF4-FFF2-40B4-BE49-F238E27FC236}">
                    <a16:creationId xmlns:a16="http://schemas.microsoft.com/office/drawing/2014/main" id="{E18D21AF-D6C3-0C1B-38C5-775C155F84A8}"/>
                  </a:ext>
                </a:extLst>
              </p:cNvPr>
              <p:cNvSpPr/>
              <p:nvPr/>
            </p:nvSpPr>
            <p:spPr>
              <a:xfrm>
                <a:off x="650783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3" name="Retângulo 112">
                <a:extLst>
                  <a:ext uri="{FF2B5EF4-FFF2-40B4-BE49-F238E27FC236}">
                    <a16:creationId xmlns:a16="http://schemas.microsoft.com/office/drawing/2014/main" id="{BB77C768-50D1-D972-32BE-0C05C77B7BF3}"/>
                  </a:ext>
                </a:extLst>
              </p:cNvPr>
              <p:cNvSpPr/>
              <p:nvPr/>
            </p:nvSpPr>
            <p:spPr>
              <a:xfrm>
                <a:off x="655355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4" name="Retângulo 113">
                <a:extLst>
                  <a:ext uri="{FF2B5EF4-FFF2-40B4-BE49-F238E27FC236}">
                    <a16:creationId xmlns:a16="http://schemas.microsoft.com/office/drawing/2014/main" id="{0C328164-4AE4-E0FD-E9ED-776D4120C7E8}"/>
                  </a:ext>
                </a:extLst>
              </p:cNvPr>
              <p:cNvSpPr/>
              <p:nvPr/>
            </p:nvSpPr>
            <p:spPr>
              <a:xfrm>
                <a:off x="660552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5" name="Retângulo 114">
                <a:extLst>
                  <a:ext uri="{FF2B5EF4-FFF2-40B4-BE49-F238E27FC236}">
                    <a16:creationId xmlns:a16="http://schemas.microsoft.com/office/drawing/2014/main" id="{FCBE87AD-EE29-7B52-2D58-AC759BEF275D}"/>
                  </a:ext>
                </a:extLst>
              </p:cNvPr>
              <p:cNvSpPr/>
              <p:nvPr/>
            </p:nvSpPr>
            <p:spPr>
              <a:xfrm>
                <a:off x="665750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6" name="Retângulo 115">
                <a:extLst>
                  <a:ext uri="{FF2B5EF4-FFF2-40B4-BE49-F238E27FC236}">
                    <a16:creationId xmlns:a16="http://schemas.microsoft.com/office/drawing/2014/main" id="{66A96769-DA6D-EE19-804F-365BDEEFDE6E}"/>
                  </a:ext>
                </a:extLst>
              </p:cNvPr>
              <p:cNvSpPr/>
              <p:nvPr/>
            </p:nvSpPr>
            <p:spPr>
              <a:xfrm>
                <a:off x="670322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7" name="Retângulo 116">
                <a:extLst>
                  <a:ext uri="{FF2B5EF4-FFF2-40B4-BE49-F238E27FC236}">
                    <a16:creationId xmlns:a16="http://schemas.microsoft.com/office/drawing/2014/main" id="{87A53541-28EC-D61A-D5F4-91051B45DF34}"/>
                  </a:ext>
                </a:extLst>
              </p:cNvPr>
              <p:cNvSpPr/>
              <p:nvPr/>
            </p:nvSpPr>
            <p:spPr>
              <a:xfrm>
                <a:off x="674894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8" name="Retângulo 117">
                <a:extLst>
                  <a:ext uri="{FF2B5EF4-FFF2-40B4-BE49-F238E27FC236}">
                    <a16:creationId xmlns:a16="http://schemas.microsoft.com/office/drawing/2014/main" id="{2ADC45C0-C3D0-61D9-B156-409608BA5295}"/>
                  </a:ext>
                </a:extLst>
              </p:cNvPr>
              <p:cNvSpPr/>
              <p:nvPr/>
            </p:nvSpPr>
            <p:spPr>
              <a:xfrm>
                <a:off x="679466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19" name="Retângulo 118">
                <a:extLst>
                  <a:ext uri="{FF2B5EF4-FFF2-40B4-BE49-F238E27FC236}">
                    <a16:creationId xmlns:a16="http://schemas.microsoft.com/office/drawing/2014/main" id="{92C63730-263C-AF30-66D8-3E285647CCFF}"/>
                  </a:ext>
                </a:extLst>
              </p:cNvPr>
              <p:cNvSpPr/>
              <p:nvPr/>
            </p:nvSpPr>
            <p:spPr>
              <a:xfrm>
                <a:off x="684663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0" name="Retângulo 119">
                <a:extLst>
                  <a:ext uri="{FF2B5EF4-FFF2-40B4-BE49-F238E27FC236}">
                    <a16:creationId xmlns:a16="http://schemas.microsoft.com/office/drawing/2014/main" id="{55D39866-2F8C-33F5-A289-B70BE0ABA1CF}"/>
                  </a:ext>
                </a:extLst>
              </p:cNvPr>
              <p:cNvSpPr/>
              <p:nvPr/>
            </p:nvSpPr>
            <p:spPr>
              <a:xfrm>
                <a:off x="689861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1" name="Retângulo 120">
                <a:extLst>
                  <a:ext uri="{FF2B5EF4-FFF2-40B4-BE49-F238E27FC236}">
                    <a16:creationId xmlns:a16="http://schemas.microsoft.com/office/drawing/2014/main" id="{939AE7C7-75B9-89C1-D378-9FF48D0346CB}"/>
                  </a:ext>
                </a:extLst>
              </p:cNvPr>
              <p:cNvSpPr/>
              <p:nvPr/>
            </p:nvSpPr>
            <p:spPr>
              <a:xfrm>
                <a:off x="694977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2" name="Retângulo 121">
                <a:extLst>
                  <a:ext uri="{FF2B5EF4-FFF2-40B4-BE49-F238E27FC236}">
                    <a16:creationId xmlns:a16="http://schemas.microsoft.com/office/drawing/2014/main" id="{6643BD7B-77B3-C0B5-BC79-C17A3D9A7542}"/>
                  </a:ext>
                </a:extLst>
              </p:cNvPr>
              <p:cNvSpPr/>
              <p:nvPr/>
            </p:nvSpPr>
            <p:spPr>
              <a:xfrm>
                <a:off x="699549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3" name="Retângulo 122">
                <a:extLst>
                  <a:ext uri="{FF2B5EF4-FFF2-40B4-BE49-F238E27FC236}">
                    <a16:creationId xmlns:a16="http://schemas.microsoft.com/office/drawing/2014/main" id="{2A02E239-6BB7-D825-4E75-05A1F422DBE4}"/>
                  </a:ext>
                </a:extLst>
              </p:cNvPr>
              <p:cNvSpPr/>
              <p:nvPr/>
            </p:nvSpPr>
            <p:spPr>
              <a:xfrm>
                <a:off x="704121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4" name="Retângulo 123">
                <a:extLst>
                  <a:ext uri="{FF2B5EF4-FFF2-40B4-BE49-F238E27FC236}">
                    <a16:creationId xmlns:a16="http://schemas.microsoft.com/office/drawing/2014/main" id="{4A0BC4D7-61A7-F227-619E-90ACA0F25908}"/>
                  </a:ext>
                </a:extLst>
              </p:cNvPr>
              <p:cNvSpPr/>
              <p:nvPr/>
            </p:nvSpPr>
            <p:spPr>
              <a:xfrm>
                <a:off x="709318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5" name="Retângulo 124">
                <a:extLst>
                  <a:ext uri="{FF2B5EF4-FFF2-40B4-BE49-F238E27FC236}">
                    <a16:creationId xmlns:a16="http://schemas.microsoft.com/office/drawing/2014/main" id="{12CB305E-3716-53B0-22C4-DE096A0E6321}"/>
                  </a:ext>
                </a:extLst>
              </p:cNvPr>
              <p:cNvSpPr/>
              <p:nvPr/>
            </p:nvSpPr>
            <p:spPr>
              <a:xfrm>
                <a:off x="714516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6" name="Retângulo 125">
                <a:extLst>
                  <a:ext uri="{FF2B5EF4-FFF2-40B4-BE49-F238E27FC236}">
                    <a16:creationId xmlns:a16="http://schemas.microsoft.com/office/drawing/2014/main" id="{878FD5FF-AA85-E5BC-0A82-3527550DE6A4}"/>
                  </a:ext>
                </a:extLst>
              </p:cNvPr>
              <p:cNvSpPr/>
              <p:nvPr/>
            </p:nvSpPr>
            <p:spPr>
              <a:xfrm>
                <a:off x="719103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7" name="Retângulo 126">
                <a:extLst>
                  <a:ext uri="{FF2B5EF4-FFF2-40B4-BE49-F238E27FC236}">
                    <a16:creationId xmlns:a16="http://schemas.microsoft.com/office/drawing/2014/main" id="{BEDC8DE3-E9DF-EEAB-548A-F1A5F77880E7}"/>
                  </a:ext>
                </a:extLst>
              </p:cNvPr>
              <p:cNvSpPr/>
              <p:nvPr/>
            </p:nvSpPr>
            <p:spPr>
              <a:xfrm>
                <a:off x="723675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8" name="Retângulo 127">
                <a:extLst>
                  <a:ext uri="{FF2B5EF4-FFF2-40B4-BE49-F238E27FC236}">
                    <a16:creationId xmlns:a16="http://schemas.microsoft.com/office/drawing/2014/main" id="{6F83CFDA-5683-33F3-DA3C-7CD024EDA5E8}"/>
                  </a:ext>
                </a:extLst>
              </p:cNvPr>
              <p:cNvSpPr/>
              <p:nvPr/>
            </p:nvSpPr>
            <p:spPr>
              <a:xfrm>
                <a:off x="728247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29" name="Retângulo 128">
                <a:extLst>
                  <a:ext uri="{FF2B5EF4-FFF2-40B4-BE49-F238E27FC236}">
                    <a16:creationId xmlns:a16="http://schemas.microsoft.com/office/drawing/2014/main" id="{D52DDAE1-15AC-1ED4-3CC8-13773FE10061}"/>
                  </a:ext>
                </a:extLst>
              </p:cNvPr>
              <p:cNvSpPr/>
              <p:nvPr/>
            </p:nvSpPr>
            <p:spPr>
              <a:xfrm>
                <a:off x="733444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0" name="Retângulo 129">
                <a:extLst>
                  <a:ext uri="{FF2B5EF4-FFF2-40B4-BE49-F238E27FC236}">
                    <a16:creationId xmlns:a16="http://schemas.microsoft.com/office/drawing/2014/main" id="{5635E914-1D78-01AD-76A4-CE61F019F025}"/>
                  </a:ext>
                </a:extLst>
              </p:cNvPr>
              <p:cNvSpPr/>
              <p:nvPr/>
            </p:nvSpPr>
            <p:spPr>
              <a:xfrm>
                <a:off x="738642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1" name="Retângulo 130">
                <a:extLst>
                  <a:ext uri="{FF2B5EF4-FFF2-40B4-BE49-F238E27FC236}">
                    <a16:creationId xmlns:a16="http://schemas.microsoft.com/office/drawing/2014/main" id="{0BD3ED3F-0F1E-FDC2-FC7C-3060819080A0}"/>
                  </a:ext>
                </a:extLst>
              </p:cNvPr>
              <p:cNvSpPr/>
              <p:nvPr/>
            </p:nvSpPr>
            <p:spPr>
              <a:xfrm>
                <a:off x="743758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2" name="Retângulo 131">
                <a:extLst>
                  <a:ext uri="{FF2B5EF4-FFF2-40B4-BE49-F238E27FC236}">
                    <a16:creationId xmlns:a16="http://schemas.microsoft.com/office/drawing/2014/main" id="{4DC1FAEA-07B3-BC72-B07C-216C1AF96917}"/>
                  </a:ext>
                </a:extLst>
              </p:cNvPr>
              <p:cNvSpPr/>
              <p:nvPr/>
            </p:nvSpPr>
            <p:spPr>
              <a:xfrm>
                <a:off x="747488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3" name="Retângulo 132">
                <a:extLst>
                  <a:ext uri="{FF2B5EF4-FFF2-40B4-BE49-F238E27FC236}">
                    <a16:creationId xmlns:a16="http://schemas.microsoft.com/office/drawing/2014/main" id="{91774DE3-0F3E-E269-88CD-D32E8AD67AD1}"/>
                  </a:ext>
                </a:extLst>
              </p:cNvPr>
              <p:cNvSpPr/>
              <p:nvPr/>
            </p:nvSpPr>
            <p:spPr>
              <a:xfrm>
                <a:off x="752902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4" name="Retângulo 133">
                <a:extLst>
                  <a:ext uri="{FF2B5EF4-FFF2-40B4-BE49-F238E27FC236}">
                    <a16:creationId xmlns:a16="http://schemas.microsoft.com/office/drawing/2014/main" id="{9E003D2A-05DF-5F01-168D-3045514A1D7C}"/>
                  </a:ext>
                </a:extLst>
              </p:cNvPr>
              <p:cNvSpPr/>
              <p:nvPr/>
            </p:nvSpPr>
            <p:spPr>
              <a:xfrm>
                <a:off x="758099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5" name="Retângulo 134">
                <a:extLst>
                  <a:ext uri="{FF2B5EF4-FFF2-40B4-BE49-F238E27FC236}">
                    <a16:creationId xmlns:a16="http://schemas.microsoft.com/office/drawing/2014/main" id="{8FF6FB31-F15A-15B5-FA47-A9E0208F9F9A}"/>
                  </a:ext>
                </a:extLst>
              </p:cNvPr>
              <p:cNvSpPr/>
              <p:nvPr/>
            </p:nvSpPr>
            <p:spPr>
              <a:xfrm>
                <a:off x="763297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6" name="Retângulo 135">
                <a:extLst>
                  <a:ext uri="{FF2B5EF4-FFF2-40B4-BE49-F238E27FC236}">
                    <a16:creationId xmlns:a16="http://schemas.microsoft.com/office/drawing/2014/main" id="{E3DCE17A-60BF-D5A1-9D03-1AA60F4161D8}"/>
                  </a:ext>
                </a:extLst>
              </p:cNvPr>
              <p:cNvSpPr/>
              <p:nvPr/>
            </p:nvSpPr>
            <p:spPr>
              <a:xfrm>
                <a:off x="767877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7" name="Retângulo 136">
                <a:extLst>
                  <a:ext uri="{FF2B5EF4-FFF2-40B4-BE49-F238E27FC236}">
                    <a16:creationId xmlns:a16="http://schemas.microsoft.com/office/drawing/2014/main" id="{665993A4-F3A0-7BD0-8B9D-8CFD9D7BCB62}"/>
                  </a:ext>
                </a:extLst>
              </p:cNvPr>
              <p:cNvSpPr/>
              <p:nvPr/>
            </p:nvSpPr>
            <p:spPr>
              <a:xfrm>
                <a:off x="772449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8" name="Retângulo 137">
                <a:extLst>
                  <a:ext uri="{FF2B5EF4-FFF2-40B4-BE49-F238E27FC236}">
                    <a16:creationId xmlns:a16="http://schemas.microsoft.com/office/drawing/2014/main" id="{F561827A-2867-AAA0-7EE7-85B54E4A82FE}"/>
                  </a:ext>
                </a:extLst>
              </p:cNvPr>
              <p:cNvSpPr/>
              <p:nvPr/>
            </p:nvSpPr>
            <p:spPr>
              <a:xfrm>
                <a:off x="777021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39" name="Retângulo 138">
                <a:extLst>
                  <a:ext uri="{FF2B5EF4-FFF2-40B4-BE49-F238E27FC236}">
                    <a16:creationId xmlns:a16="http://schemas.microsoft.com/office/drawing/2014/main" id="{381D38C4-803C-CA63-3512-31FB47D8828F}"/>
                  </a:ext>
                </a:extLst>
              </p:cNvPr>
              <p:cNvSpPr/>
              <p:nvPr/>
            </p:nvSpPr>
            <p:spPr>
              <a:xfrm>
                <a:off x="782218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0" name="Retângulo 139">
                <a:extLst>
                  <a:ext uri="{FF2B5EF4-FFF2-40B4-BE49-F238E27FC236}">
                    <a16:creationId xmlns:a16="http://schemas.microsoft.com/office/drawing/2014/main" id="{C84BC027-8B5C-5701-BB1A-2C9433334EFC}"/>
                  </a:ext>
                </a:extLst>
              </p:cNvPr>
              <p:cNvSpPr/>
              <p:nvPr/>
            </p:nvSpPr>
            <p:spPr>
              <a:xfrm>
                <a:off x="787416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1" name="Retângulo 140">
                <a:extLst>
                  <a:ext uri="{FF2B5EF4-FFF2-40B4-BE49-F238E27FC236}">
                    <a16:creationId xmlns:a16="http://schemas.microsoft.com/office/drawing/2014/main" id="{2AF83CF6-3BF5-E668-2CEA-6DE81442E3AB}"/>
                  </a:ext>
                </a:extLst>
              </p:cNvPr>
              <p:cNvSpPr/>
              <p:nvPr/>
            </p:nvSpPr>
            <p:spPr>
              <a:xfrm>
                <a:off x="791988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2" name="Retângulo 141">
                <a:extLst>
                  <a:ext uri="{FF2B5EF4-FFF2-40B4-BE49-F238E27FC236}">
                    <a16:creationId xmlns:a16="http://schemas.microsoft.com/office/drawing/2014/main" id="{86CFB45E-D145-6C8A-735D-CA0B60DED9B4}"/>
                  </a:ext>
                </a:extLst>
              </p:cNvPr>
              <p:cNvSpPr/>
              <p:nvPr/>
            </p:nvSpPr>
            <p:spPr>
              <a:xfrm>
                <a:off x="796560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3" name="Retângulo 142">
                <a:extLst>
                  <a:ext uri="{FF2B5EF4-FFF2-40B4-BE49-F238E27FC236}">
                    <a16:creationId xmlns:a16="http://schemas.microsoft.com/office/drawing/2014/main" id="{78BA15B2-1EE3-551C-CC6C-D4B39056AABA}"/>
                  </a:ext>
                </a:extLst>
              </p:cNvPr>
              <p:cNvSpPr/>
              <p:nvPr/>
            </p:nvSpPr>
            <p:spPr>
              <a:xfrm>
                <a:off x="801132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4" name="Retângulo 143">
                <a:extLst>
                  <a:ext uri="{FF2B5EF4-FFF2-40B4-BE49-F238E27FC236}">
                    <a16:creationId xmlns:a16="http://schemas.microsoft.com/office/drawing/2014/main" id="{1BD37C0F-54F0-DBEC-D264-AF9DA2130DF9}"/>
                  </a:ext>
                </a:extLst>
              </p:cNvPr>
              <p:cNvSpPr/>
              <p:nvPr/>
            </p:nvSpPr>
            <p:spPr>
              <a:xfrm>
                <a:off x="8063299"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5" name="Retângulo 144">
                <a:extLst>
                  <a:ext uri="{FF2B5EF4-FFF2-40B4-BE49-F238E27FC236}">
                    <a16:creationId xmlns:a16="http://schemas.microsoft.com/office/drawing/2014/main" id="{F9F473F4-0F91-5DE0-2587-01D102400632}"/>
                  </a:ext>
                </a:extLst>
              </p:cNvPr>
              <p:cNvSpPr/>
              <p:nvPr/>
            </p:nvSpPr>
            <p:spPr>
              <a:xfrm>
                <a:off x="811527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6" name="Retângulo 145">
                <a:extLst>
                  <a:ext uri="{FF2B5EF4-FFF2-40B4-BE49-F238E27FC236}">
                    <a16:creationId xmlns:a16="http://schemas.microsoft.com/office/drawing/2014/main" id="{42C7FB20-FD08-57EC-C189-93014AB989BA}"/>
                  </a:ext>
                </a:extLst>
              </p:cNvPr>
              <p:cNvSpPr/>
              <p:nvPr/>
            </p:nvSpPr>
            <p:spPr>
              <a:xfrm>
                <a:off x="8166432"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7" name="Retângulo 146">
                <a:extLst>
                  <a:ext uri="{FF2B5EF4-FFF2-40B4-BE49-F238E27FC236}">
                    <a16:creationId xmlns:a16="http://schemas.microsoft.com/office/drawing/2014/main" id="{B532A5AB-45AF-4C64-1009-0A9D836DC2B6}"/>
                  </a:ext>
                </a:extLst>
              </p:cNvPr>
              <p:cNvSpPr/>
              <p:nvPr/>
            </p:nvSpPr>
            <p:spPr>
              <a:xfrm>
                <a:off x="821215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8" name="Retângulo 147">
                <a:extLst>
                  <a:ext uri="{FF2B5EF4-FFF2-40B4-BE49-F238E27FC236}">
                    <a16:creationId xmlns:a16="http://schemas.microsoft.com/office/drawing/2014/main" id="{030C4A43-79DF-7679-8881-921D0D6F4F2A}"/>
                  </a:ext>
                </a:extLst>
              </p:cNvPr>
              <p:cNvSpPr/>
              <p:nvPr/>
            </p:nvSpPr>
            <p:spPr>
              <a:xfrm>
                <a:off x="825787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49" name="Retângulo 148">
                <a:extLst>
                  <a:ext uri="{FF2B5EF4-FFF2-40B4-BE49-F238E27FC236}">
                    <a16:creationId xmlns:a16="http://schemas.microsoft.com/office/drawing/2014/main" id="{CDEA5941-882A-831C-4BD6-A61B059C3A15}"/>
                  </a:ext>
                </a:extLst>
              </p:cNvPr>
              <p:cNvSpPr/>
              <p:nvPr/>
            </p:nvSpPr>
            <p:spPr>
              <a:xfrm>
                <a:off x="830984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0" name="Retângulo 149">
                <a:extLst>
                  <a:ext uri="{FF2B5EF4-FFF2-40B4-BE49-F238E27FC236}">
                    <a16:creationId xmlns:a16="http://schemas.microsoft.com/office/drawing/2014/main" id="{E3B39CA4-B73C-FCFE-F7D3-3453AE2B4F2D}"/>
                  </a:ext>
                </a:extLst>
              </p:cNvPr>
              <p:cNvSpPr/>
              <p:nvPr/>
            </p:nvSpPr>
            <p:spPr>
              <a:xfrm>
                <a:off x="836182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1" name="Retângulo 150">
                <a:extLst>
                  <a:ext uri="{FF2B5EF4-FFF2-40B4-BE49-F238E27FC236}">
                    <a16:creationId xmlns:a16="http://schemas.microsoft.com/office/drawing/2014/main" id="{A5465F1C-3A6E-4639-04F6-2E4C12C51732}"/>
                  </a:ext>
                </a:extLst>
              </p:cNvPr>
              <p:cNvSpPr/>
              <p:nvPr/>
            </p:nvSpPr>
            <p:spPr>
              <a:xfrm>
                <a:off x="840724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2" name="Retângulo 151">
                <a:extLst>
                  <a:ext uri="{FF2B5EF4-FFF2-40B4-BE49-F238E27FC236}">
                    <a16:creationId xmlns:a16="http://schemas.microsoft.com/office/drawing/2014/main" id="{5C83ECAB-9F86-D6F0-B76C-CBFB58EF6DE1}"/>
                  </a:ext>
                </a:extLst>
              </p:cNvPr>
              <p:cNvSpPr/>
              <p:nvPr/>
            </p:nvSpPr>
            <p:spPr>
              <a:xfrm>
                <a:off x="845296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3" name="Retângulo 152">
                <a:extLst>
                  <a:ext uri="{FF2B5EF4-FFF2-40B4-BE49-F238E27FC236}">
                    <a16:creationId xmlns:a16="http://schemas.microsoft.com/office/drawing/2014/main" id="{B98D478C-7466-D76E-1642-DDB763D16B0D}"/>
                  </a:ext>
                </a:extLst>
              </p:cNvPr>
              <p:cNvSpPr/>
              <p:nvPr/>
            </p:nvSpPr>
            <p:spPr>
              <a:xfrm>
                <a:off x="8498683"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4" name="Retângulo 153">
                <a:extLst>
                  <a:ext uri="{FF2B5EF4-FFF2-40B4-BE49-F238E27FC236}">
                    <a16:creationId xmlns:a16="http://schemas.microsoft.com/office/drawing/2014/main" id="{D7DCDC24-CDB6-6495-A7E4-9776ACE4DEA1}"/>
                  </a:ext>
                </a:extLst>
              </p:cNvPr>
              <p:cNvSpPr/>
              <p:nvPr/>
            </p:nvSpPr>
            <p:spPr>
              <a:xfrm>
                <a:off x="8550660"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5" name="Retângulo 154">
                <a:extLst>
                  <a:ext uri="{FF2B5EF4-FFF2-40B4-BE49-F238E27FC236}">
                    <a16:creationId xmlns:a16="http://schemas.microsoft.com/office/drawing/2014/main" id="{456C0618-2DE1-EBB6-3861-F3A83615CCA0}"/>
                  </a:ext>
                </a:extLst>
              </p:cNvPr>
              <p:cNvSpPr/>
              <p:nvPr/>
            </p:nvSpPr>
            <p:spPr>
              <a:xfrm>
                <a:off x="8602637"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6" name="Retângulo 155">
                <a:extLst>
                  <a:ext uri="{FF2B5EF4-FFF2-40B4-BE49-F238E27FC236}">
                    <a16:creationId xmlns:a16="http://schemas.microsoft.com/office/drawing/2014/main" id="{28A57B6B-AEEB-3C5E-06D3-2A7A79592D84}"/>
                  </a:ext>
                </a:extLst>
              </p:cNvPr>
              <p:cNvSpPr/>
              <p:nvPr/>
            </p:nvSpPr>
            <p:spPr>
              <a:xfrm>
                <a:off x="8648356"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7" name="Retângulo 156">
                <a:extLst>
                  <a:ext uri="{FF2B5EF4-FFF2-40B4-BE49-F238E27FC236}">
                    <a16:creationId xmlns:a16="http://schemas.microsoft.com/office/drawing/2014/main" id="{BA3596E4-894C-2E24-81F6-E1EBE284FA5B}"/>
                  </a:ext>
                </a:extLst>
              </p:cNvPr>
              <p:cNvSpPr/>
              <p:nvPr/>
            </p:nvSpPr>
            <p:spPr>
              <a:xfrm>
                <a:off x="8694075"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8" name="Retângulo 157">
                <a:extLst>
                  <a:ext uri="{FF2B5EF4-FFF2-40B4-BE49-F238E27FC236}">
                    <a16:creationId xmlns:a16="http://schemas.microsoft.com/office/drawing/2014/main" id="{696EA1EE-17E8-2B4B-E9BF-954B685E7CD2}"/>
                  </a:ext>
                </a:extLst>
              </p:cNvPr>
              <p:cNvSpPr/>
              <p:nvPr/>
            </p:nvSpPr>
            <p:spPr>
              <a:xfrm>
                <a:off x="873979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59" name="Retângulo 158">
                <a:extLst>
                  <a:ext uri="{FF2B5EF4-FFF2-40B4-BE49-F238E27FC236}">
                    <a16:creationId xmlns:a16="http://schemas.microsoft.com/office/drawing/2014/main" id="{A7A4DD71-22E8-CCDE-B393-B5744215772D}"/>
                  </a:ext>
                </a:extLst>
              </p:cNvPr>
              <p:cNvSpPr/>
              <p:nvPr/>
            </p:nvSpPr>
            <p:spPr>
              <a:xfrm>
                <a:off x="8791771"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60" name="Retângulo 159">
                <a:extLst>
                  <a:ext uri="{FF2B5EF4-FFF2-40B4-BE49-F238E27FC236}">
                    <a16:creationId xmlns:a16="http://schemas.microsoft.com/office/drawing/2014/main" id="{0F7FE19A-03E7-B3AB-4E02-D823A2317F59}"/>
                  </a:ext>
                </a:extLst>
              </p:cNvPr>
              <p:cNvSpPr/>
              <p:nvPr/>
            </p:nvSpPr>
            <p:spPr>
              <a:xfrm>
                <a:off x="8843748"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161" name="Retângulo 160">
                <a:extLst>
                  <a:ext uri="{FF2B5EF4-FFF2-40B4-BE49-F238E27FC236}">
                    <a16:creationId xmlns:a16="http://schemas.microsoft.com/office/drawing/2014/main" id="{FAFA9B95-8B11-7293-E69A-C105E1E36199}"/>
                  </a:ext>
                </a:extLst>
              </p:cNvPr>
              <p:cNvSpPr/>
              <p:nvPr/>
            </p:nvSpPr>
            <p:spPr>
              <a:xfrm>
                <a:off x="8894904" y="3107987"/>
                <a:ext cx="45719" cy="6420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grpSp>
        <p:sp>
          <p:nvSpPr>
            <p:cNvPr id="168" name="Retângulo 167">
              <a:extLst>
                <a:ext uri="{FF2B5EF4-FFF2-40B4-BE49-F238E27FC236}">
                  <a16:creationId xmlns:a16="http://schemas.microsoft.com/office/drawing/2014/main" id="{AECBED73-AD4F-43EB-7D96-A40DFA43F8C8}"/>
                </a:ext>
              </a:extLst>
            </p:cNvPr>
            <p:cNvSpPr/>
            <p:nvPr/>
          </p:nvSpPr>
          <p:spPr>
            <a:xfrm>
              <a:off x="1352145" y="4133529"/>
              <a:ext cx="7577846" cy="6420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pt-BR" dirty="0"/>
            </a:p>
          </p:txBody>
        </p:sp>
        <p:grpSp>
          <p:nvGrpSpPr>
            <p:cNvPr id="185" name="Agrupar 184">
              <a:extLst>
                <a:ext uri="{FF2B5EF4-FFF2-40B4-BE49-F238E27FC236}">
                  <a16:creationId xmlns:a16="http://schemas.microsoft.com/office/drawing/2014/main" id="{AD37BA6E-C865-ADBD-211C-52B8953F6840}"/>
                </a:ext>
              </a:extLst>
            </p:cNvPr>
            <p:cNvGrpSpPr/>
            <p:nvPr/>
          </p:nvGrpSpPr>
          <p:grpSpPr>
            <a:xfrm>
              <a:off x="1364454" y="3040501"/>
              <a:ext cx="7554987" cy="642026"/>
              <a:chOff x="1375004" y="4212076"/>
              <a:chExt cx="7554987" cy="642026"/>
            </a:xfrm>
          </p:grpSpPr>
          <p:sp>
            <p:nvSpPr>
              <p:cNvPr id="178" name="Retângulo 177">
                <a:extLst>
                  <a:ext uri="{FF2B5EF4-FFF2-40B4-BE49-F238E27FC236}">
                    <a16:creationId xmlns:a16="http://schemas.microsoft.com/office/drawing/2014/main" id="{D8CD319A-7161-8D17-8587-136C8E4F8A7A}"/>
                  </a:ext>
                </a:extLst>
              </p:cNvPr>
              <p:cNvSpPr/>
              <p:nvPr/>
            </p:nvSpPr>
            <p:spPr>
              <a:xfrm>
                <a:off x="1375004" y="4212076"/>
                <a:ext cx="1822074" cy="64202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9" name="Retângulo 178">
                <a:extLst>
                  <a:ext uri="{FF2B5EF4-FFF2-40B4-BE49-F238E27FC236}">
                    <a16:creationId xmlns:a16="http://schemas.microsoft.com/office/drawing/2014/main" id="{A2A99C4C-5D0C-824D-A4D6-ABB230CB435C}"/>
                  </a:ext>
                </a:extLst>
              </p:cNvPr>
              <p:cNvSpPr/>
              <p:nvPr/>
            </p:nvSpPr>
            <p:spPr>
              <a:xfrm>
                <a:off x="3197078" y="4212076"/>
                <a:ext cx="1885633" cy="64202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0" name="Retângulo 179">
                <a:extLst>
                  <a:ext uri="{FF2B5EF4-FFF2-40B4-BE49-F238E27FC236}">
                    <a16:creationId xmlns:a16="http://schemas.microsoft.com/office/drawing/2014/main" id="{C15B3EF6-1FC8-55A0-240A-2585715AF0E2}"/>
                  </a:ext>
                </a:extLst>
              </p:cNvPr>
              <p:cNvSpPr/>
              <p:nvPr/>
            </p:nvSpPr>
            <p:spPr>
              <a:xfrm>
                <a:off x="5100513" y="4212076"/>
                <a:ext cx="1885634" cy="64202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1" name="Retângulo 180">
                <a:extLst>
                  <a:ext uri="{FF2B5EF4-FFF2-40B4-BE49-F238E27FC236}">
                    <a16:creationId xmlns:a16="http://schemas.microsoft.com/office/drawing/2014/main" id="{8E22285E-78A7-F469-128E-C586737ABACC}"/>
                  </a:ext>
                </a:extLst>
              </p:cNvPr>
              <p:cNvSpPr/>
              <p:nvPr/>
            </p:nvSpPr>
            <p:spPr>
              <a:xfrm>
                <a:off x="6995491" y="4212076"/>
                <a:ext cx="1934500" cy="64202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84" name="CaixaDeTexto 183">
              <a:extLst>
                <a:ext uri="{FF2B5EF4-FFF2-40B4-BE49-F238E27FC236}">
                  <a16:creationId xmlns:a16="http://schemas.microsoft.com/office/drawing/2014/main" id="{BA1A97F0-7AA3-050C-183D-3D6B6194FB0F}"/>
                </a:ext>
              </a:extLst>
            </p:cNvPr>
            <p:cNvSpPr txBox="1"/>
            <p:nvPr/>
          </p:nvSpPr>
          <p:spPr>
            <a:xfrm>
              <a:off x="2042607" y="1086304"/>
              <a:ext cx="6096000" cy="369332"/>
            </a:xfrm>
            <a:prstGeom prst="rect">
              <a:avLst/>
            </a:prstGeom>
            <a:noFill/>
          </p:spPr>
          <p:txBody>
            <a:bodyPr wrap="square">
              <a:spAutoFit/>
            </a:bodyPr>
            <a:lstStyle/>
            <a:p>
              <a:pPr algn="ctr"/>
              <a:r>
                <a:rPr lang="pt-BR" dirty="0"/>
                <a:t>Conjunto total de amostras</a:t>
              </a:r>
            </a:p>
          </p:txBody>
        </p:sp>
        <p:sp>
          <p:nvSpPr>
            <p:cNvPr id="186" name="Chave Esquerda 185">
              <a:extLst>
                <a:ext uri="{FF2B5EF4-FFF2-40B4-BE49-F238E27FC236}">
                  <a16:creationId xmlns:a16="http://schemas.microsoft.com/office/drawing/2014/main" id="{18E53243-ED2D-8D66-285C-D8AA74A7E945}"/>
                </a:ext>
              </a:extLst>
            </p:cNvPr>
            <p:cNvSpPr/>
            <p:nvPr/>
          </p:nvSpPr>
          <p:spPr>
            <a:xfrm rot="5400000">
              <a:off x="5027290" y="-2193351"/>
              <a:ext cx="227554" cy="7607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7" name="CaixaDeTexto 186">
              <a:extLst>
                <a:ext uri="{FF2B5EF4-FFF2-40B4-BE49-F238E27FC236}">
                  <a16:creationId xmlns:a16="http://schemas.microsoft.com/office/drawing/2014/main" id="{290A1955-8D1D-03E6-85C0-166E191BE2C6}"/>
                </a:ext>
              </a:extLst>
            </p:cNvPr>
            <p:cNvSpPr txBox="1"/>
            <p:nvPr/>
          </p:nvSpPr>
          <p:spPr>
            <a:xfrm>
              <a:off x="9029345" y="2052248"/>
              <a:ext cx="1981200" cy="461665"/>
            </a:xfrm>
            <a:prstGeom prst="rect">
              <a:avLst/>
            </a:prstGeom>
            <a:noFill/>
          </p:spPr>
          <p:txBody>
            <a:bodyPr wrap="square" rtlCol="0">
              <a:spAutoFit/>
            </a:bodyPr>
            <a:lstStyle/>
            <a:p>
              <a:pPr algn="ctr"/>
              <a:r>
                <a:rPr lang="pt-BR" sz="1200" dirty="0"/>
                <a:t>Modelo é atualizado usando uma única amostra por vez</a:t>
              </a:r>
            </a:p>
          </p:txBody>
        </p:sp>
        <p:sp>
          <p:nvSpPr>
            <p:cNvPr id="188" name="CaixaDeTexto 187">
              <a:extLst>
                <a:ext uri="{FF2B5EF4-FFF2-40B4-BE49-F238E27FC236}">
                  <a16:creationId xmlns:a16="http://schemas.microsoft.com/office/drawing/2014/main" id="{47851D0C-1BD4-0595-C5A2-BE99928C28E8}"/>
                </a:ext>
              </a:extLst>
            </p:cNvPr>
            <p:cNvSpPr txBox="1"/>
            <p:nvPr/>
          </p:nvSpPr>
          <p:spPr>
            <a:xfrm>
              <a:off x="9005474" y="3036196"/>
              <a:ext cx="1981200" cy="646331"/>
            </a:xfrm>
            <a:prstGeom prst="rect">
              <a:avLst/>
            </a:prstGeom>
            <a:noFill/>
          </p:spPr>
          <p:txBody>
            <a:bodyPr wrap="square" rtlCol="0">
              <a:spAutoFit/>
            </a:bodyPr>
            <a:lstStyle/>
            <a:p>
              <a:pPr algn="ctr"/>
              <a:r>
                <a:rPr lang="pt-BR" sz="1200" dirty="0"/>
                <a:t>Modelo é atualizado usando um subconjunto de amostra por vez</a:t>
              </a:r>
            </a:p>
          </p:txBody>
        </p:sp>
        <p:sp>
          <p:nvSpPr>
            <p:cNvPr id="189" name="CaixaDeTexto 188">
              <a:extLst>
                <a:ext uri="{FF2B5EF4-FFF2-40B4-BE49-F238E27FC236}">
                  <a16:creationId xmlns:a16="http://schemas.microsoft.com/office/drawing/2014/main" id="{8ACB0A8F-64A0-9585-2EB8-61F8625E60AE}"/>
                </a:ext>
              </a:extLst>
            </p:cNvPr>
            <p:cNvSpPr txBox="1"/>
            <p:nvPr/>
          </p:nvSpPr>
          <p:spPr>
            <a:xfrm>
              <a:off x="9005474" y="4223709"/>
              <a:ext cx="1981200" cy="461665"/>
            </a:xfrm>
            <a:prstGeom prst="rect">
              <a:avLst/>
            </a:prstGeom>
            <a:noFill/>
          </p:spPr>
          <p:txBody>
            <a:bodyPr wrap="square" rtlCol="0">
              <a:spAutoFit/>
            </a:bodyPr>
            <a:lstStyle/>
            <a:p>
              <a:pPr algn="ctr"/>
              <a:r>
                <a:rPr lang="pt-BR" sz="1200" dirty="0"/>
                <a:t>Modelo é atualizado usando todas as amostra por vez</a:t>
              </a:r>
            </a:p>
          </p:txBody>
        </p:sp>
      </p:grpSp>
    </p:spTree>
    <p:extLst>
      <p:ext uri="{BB962C8B-B14F-4D97-AF65-F5344CB8AC3E}">
        <p14:creationId xmlns:p14="http://schemas.microsoft.com/office/powerpoint/2010/main" val="102951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22305</TotalTime>
  <Words>11067</Words>
  <Application>Microsoft Office PowerPoint</Application>
  <PresentationFormat>Widescreen</PresentationFormat>
  <Paragraphs>797</Paragraphs>
  <Slides>59</Slides>
  <Notes>33</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59</vt:i4>
      </vt:variant>
    </vt:vector>
  </HeadingPairs>
  <TitlesOfParts>
    <vt:vector size="68" baseType="lpstr">
      <vt:lpstr>Arial</vt:lpstr>
      <vt:lpstr>Calibri</vt:lpstr>
      <vt:lpstr>Calibri Light</vt:lpstr>
      <vt:lpstr>Cambria Math</vt:lpstr>
      <vt:lpstr>Courier New</vt:lpstr>
      <vt:lpstr>Georgia</vt:lpstr>
      <vt:lpstr>Söhne</vt:lpstr>
      <vt:lpstr>Wingdings</vt:lpstr>
      <vt:lpstr>Office Theme</vt:lpstr>
      <vt:lpstr>T319 - Introdução ao Aprendizado de Máquina: Regressão Linear (Parte II)</vt:lpstr>
      <vt:lpstr>Recapitulando</vt:lpstr>
      <vt:lpstr>Vetor gradiente</vt:lpstr>
      <vt:lpstr>Vetor gradiente</vt:lpstr>
      <vt:lpstr>Vetor gradiente</vt:lpstr>
      <vt:lpstr>Vetor gradiente</vt:lpstr>
      <vt:lpstr>Vetor gradiente</vt:lpstr>
      <vt:lpstr>O vetor gradiente indica o caminho para o ponto de máximo da função</vt:lpstr>
      <vt:lpstr>O vetor gradiente indica o caminho para o ponto de máximo da função</vt:lpstr>
      <vt:lpstr>O vetor gradiente indica o caminho para o ponto de máximo da função</vt:lpstr>
      <vt:lpstr>Algoritmo do gradiente ascendente</vt:lpstr>
      <vt:lpstr>Algoritmo do gradiente ascendente</vt:lpstr>
      <vt:lpstr>Algoritmo do gradiente ascendente</vt:lpstr>
      <vt:lpstr>Apresentação do PowerPoint</vt:lpstr>
      <vt:lpstr>Algoritmo do gradiente descendente</vt:lpstr>
      <vt:lpstr>Algoritmo do gradiente descendente</vt:lpstr>
      <vt:lpstr>Algoritmo do gradiente descendente</vt:lpstr>
      <vt:lpstr>Algoritmo do gradiente descendente</vt:lpstr>
      <vt:lpstr>Observação</vt:lpstr>
      <vt:lpstr>Apresentação do PowerPoint</vt:lpstr>
      <vt:lpstr>Características do gradiente descendente</vt:lpstr>
      <vt:lpstr>Apresentação do PowerPoint</vt:lpstr>
      <vt:lpstr>O algoritmo do gradiente do descendente</vt:lpstr>
      <vt:lpstr>Calculando o vetor gradiente</vt:lpstr>
      <vt:lpstr>Calculando o vetor gradiente</vt:lpstr>
      <vt:lpstr>Atualizando os pesos</vt:lpstr>
      <vt:lpstr>Atualizando os pesos</vt:lpstr>
      <vt:lpstr>Versões do gradiente descendente</vt:lpstr>
      <vt:lpstr>Gradiente descendente em batelada</vt:lpstr>
      <vt:lpstr>Características do GD em batelada</vt:lpstr>
      <vt:lpstr>Gradiente descendente estocástico</vt:lpstr>
      <vt:lpstr>Gradiente descendente estocástico</vt:lpstr>
      <vt:lpstr>Características do GD estocástico</vt:lpstr>
      <vt:lpstr>Gradiente descendente em mini-lotes</vt:lpstr>
      <vt:lpstr>Gradiente descendente em mini-lotes</vt:lpstr>
      <vt:lpstr>Características do GD em mini-lotes</vt:lpstr>
      <vt:lpstr>Tarefas</vt:lpstr>
      <vt:lpstr>Referências </vt:lpstr>
      <vt:lpstr>Apresentação do PowerPoint</vt:lpstr>
      <vt:lpstr>Apresentação do PowerPoint</vt:lpstr>
      <vt:lpstr>Apresentação do PowerPoint</vt:lpstr>
      <vt:lpstr>Cálculo do vetor gradiente</vt:lpstr>
      <vt:lpstr>Cálculo do vetor gradiente</vt:lpstr>
      <vt:lpstr>Cálculo do vetor gradiente</vt:lpstr>
      <vt:lpstr>Cálculo do vetor gradiente</vt:lpstr>
      <vt:lpstr>Cálculo do vetor gradiente</vt:lpstr>
      <vt:lpstr>Cálculo do vetor gradiente</vt:lpstr>
      <vt:lpstr>Cálculo do vetor gradiente</vt:lpstr>
      <vt:lpstr>Equação de atualização dos pesos</vt:lpstr>
      <vt:lpstr>Equação de atualização dos pesos</vt:lpstr>
      <vt:lpstr>Apresentação do PowerPoint</vt:lpstr>
      <vt:lpstr>Cálculo do vetor gradiente</vt:lpstr>
      <vt:lpstr>Cálculo do vetor gradiente</vt:lpstr>
      <vt:lpstr>FIGURAS</vt:lpstr>
      <vt:lpstr>Apresentação do PowerPoint</vt:lpstr>
      <vt:lpstr>Apresentação do PowerPoint</vt:lpstr>
      <vt:lpstr>Apresentação do PowerPoint</vt:lpstr>
      <vt:lpstr>Apresentação do PowerPoint</vt:lpstr>
      <vt:lpstr>Apresentação do PowerPoint</vt:lpstr>
    </vt:vector>
  </TitlesOfParts>
  <Company>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Felipe Augusto Pereira de Figueiredo (UGent-imec)</dc:creator>
  <cp:lastModifiedBy>Felipe Augusto Pereira de Figueiredo</cp:lastModifiedBy>
  <cp:revision>2549</cp:revision>
  <dcterms:created xsi:type="dcterms:W3CDTF">2020-02-17T11:18:32Z</dcterms:created>
  <dcterms:modified xsi:type="dcterms:W3CDTF">2026-09-11T18:51:56Z</dcterms:modified>
</cp:coreProperties>
</file>